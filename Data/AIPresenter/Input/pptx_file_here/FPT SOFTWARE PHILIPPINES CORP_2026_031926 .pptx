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45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3740" y="97027"/>
            <a:ext cx="3698112" cy="573481"/>
          </a:xfrm>
          <a:prstGeom prst="rect">
            <a:avLst/>
          </a:prstGeom>
        </p:spPr>
        <p:txBody>
          <a:bodyPr wrap="square" lIns="0" tIns="0" rIns="0" bIns="0">
            <a:spAutoFit/>
          </a:bodyPr>
          <a:lstStyle>
            <a:lvl1pPr>
              <a:defRPr sz="2000" b="1" i="0">
                <a:solidFill>
                  <a:srgbClr val="7E7E7E"/>
                </a:solidFill>
                <a:latin typeface="Arial" panose="020B0604020202020204"/>
                <a:cs typeface="Arial" panose="020B0604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Footer Placeholder 3"/>
          <p:cNvSpPr>
            <a:spLocks noGrp="1"/>
          </p:cNvSpPr>
          <p:nvPr>
            <p:ph type="ftr" sz="quarter" idx="10"/>
          </p:nvPr>
        </p:nvSpPr>
        <p:spPr/>
        <p:txBody>
          <a:bodyPr/>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5" name="Date Placeholder 4"/>
          <p:cNvSpPr>
            <a:spLocks noGrp="1"/>
          </p:cNvSpPr>
          <p:nvPr>
            <p:ph type="dt" sz="half" idx="11"/>
          </p:nvPr>
        </p:nvSpPr>
        <p:spPr/>
        <p:txBody>
          <a:bodyPr/>
          <a:p>
            <a:pPr lvl="0" eaLnBrk="1" hangingPunct="1">
              <a:buNone/>
            </a:pPr>
            <a:fld id="{BB962C8B-B14F-4D97-AF65-F5344CB8AC3E}" type="datetimeFigureOut">
              <a:rPr lang="en-US" altLang="x-none"/>
            </a:fld>
            <a:endParaRPr lang="en-US" altLang="x-none"/>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Footer Placeholder 3"/>
          <p:cNvSpPr>
            <a:spLocks noGrp="1"/>
          </p:cNvSpPr>
          <p:nvPr>
            <p:ph type="ftr" sz="quarter" idx="10"/>
          </p:nvPr>
        </p:nvSpPr>
        <p:spPr/>
        <p:txBody>
          <a:bodyPr/>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5" name="Date Placeholder 4"/>
          <p:cNvSpPr>
            <a:spLocks noGrp="1"/>
          </p:cNvSpPr>
          <p:nvPr>
            <p:ph type="dt" sz="half" idx="11"/>
          </p:nvPr>
        </p:nvSpPr>
        <p:spPr/>
        <p:txBody>
          <a:bodyPr/>
          <a:p>
            <a:pPr lvl="0" eaLnBrk="1" hangingPunct="1">
              <a:buNone/>
            </a:pPr>
            <a:fld id="{BB962C8B-B14F-4D97-AF65-F5344CB8AC3E}" type="datetime1">
              <a:rPr lang="en-US" altLang="x-none"/>
            </a:fld>
            <a:endParaRPr lang="en-US" altLang="x-none"/>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Arial" panose="020B0604020202020204"/>
                <a:cs typeface="Arial" panose="020B0604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Footer Placeholder 4"/>
          <p:cNvSpPr>
            <a:spLocks noGrp="1"/>
          </p:cNvSpPr>
          <p:nvPr>
            <p:ph type="ftr" sz="quarter" idx="10"/>
          </p:nvPr>
        </p:nvSpPr>
        <p:spPr/>
        <p:txBody>
          <a:bodyPr/>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6" name="Date Placeholder 5"/>
          <p:cNvSpPr>
            <a:spLocks noGrp="1"/>
          </p:cNvSpPr>
          <p:nvPr>
            <p:ph type="dt" sz="half" idx="11"/>
          </p:nvPr>
        </p:nvSpPr>
        <p:spPr/>
        <p:txBody>
          <a:bodyPr/>
          <a:p>
            <a:pPr lvl="0" eaLnBrk="1" hangingPunct="1">
              <a:buNone/>
            </a:pPr>
            <a:fld id="{BB962C8B-B14F-4D97-AF65-F5344CB8AC3E}" type="datetimeFigureOut">
              <a:rPr lang="en-US" altLang="x-none"/>
            </a:fld>
            <a:endParaRPr lang="en-US" altLang="x-none"/>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Arial" panose="020B0604020202020204"/>
                <a:cs typeface="Arial" panose="020B0604020202020204"/>
              </a:defRPr>
            </a:lvl1pPr>
          </a:lstStyle>
          <a:p/>
        </p:txBody>
      </p:sp>
      <p:sp>
        <p:nvSpPr>
          <p:cNvPr id="3" name="Footer Placeholder 2"/>
          <p:cNvSpPr>
            <a:spLocks noGrp="1"/>
          </p:cNvSpPr>
          <p:nvPr>
            <p:ph type="ftr" sz="quarter" idx="10"/>
          </p:nvPr>
        </p:nvSpPr>
        <p:spPr/>
        <p:txBody>
          <a:bodyPr/>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4" name="Date Placeholder 3"/>
          <p:cNvSpPr>
            <a:spLocks noGrp="1"/>
          </p:cNvSpPr>
          <p:nvPr>
            <p:ph type="dt" sz="half" idx="11"/>
          </p:nvPr>
        </p:nvSpPr>
        <p:spPr/>
        <p:txBody>
          <a:bodyPr/>
          <a:p>
            <a:pPr lvl="0" eaLnBrk="1" hangingPunct="1">
              <a:buNone/>
            </a:pPr>
            <a:fld id="{BB962C8B-B14F-4D97-AF65-F5344CB8AC3E}" type="datetimeFigureOut">
              <a:rPr lang="en-US" altLang="x-none"/>
            </a:fld>
            <a:endParaRPr lang="en-US" altLang="x-none"/>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2050" name="bg object 16"/>
          <p:cNvPicPr>
            <a:picLocks noChangeAspect="1"/>
          </p:cNvPicPr>
          <p:nvPr/>
        </p:nvPicPr>
        <p:blipFill>
          <a:blip r:embed="rId2"/>
          <a:stretch>
            <a:fillRect/>
          </a:stretch>
        </p:blipFill>
        <p:spPr>
          <a:xfrm>
            <a:off x="1074738" y="6424613"/>
            <a:ext cx="103187" cy="127000"/>
          </a:xfrm>
          <a:prstGeom prst="rect">
            <a:avLst/>
          </a:prstGeom>
          <a:noFill/>
          <a:ln w="9525">
            <a:noFill/>
          </a:ln>
        </p:spPr>
      </p:pic>
      <p:pic>
        <p:nvPicPr>
          <p:cNvPr id="2051" name="bg object 17"/>
          <p:cNvPicPr>
            <a:picLocks noChangeAspect="1"/>
          </p:cNvPicPr>
          <p:nvPr/>
        </p:nvPicPr>
        <p:blipFill>
          <a:blip r:embed="rId3"/>
          <a:stretch>
            <a:fillRect/>
          </a:stretch>
        </p:blipFill>
        <p:spPr>
          <a:xfrm>
            <a:off x="1203325" y="6424613"/>
            <a:ext cx="101600" cy="123825"/>
          </a:xfrm>
          <a:prstGeom prst="rect">
            <a:avLst/>
          </a:prstGeom>
          <a:noFill/>
          <a:ln w="9525">
            <a:noFill/>
          </a:ln>
        </p:spPr>
      </p:pic>
      <p:pic>
        <p:nvPicPr>
          <p:cNvPr id="2052" name="bg object 18"/>
          <p:cNvPicPr>
            <a:picLocks noChangeAspect="1"/>
          </p:cNvPicPr>
          <p:nvPr/>
        </p:nvPicPr>
        <p:blipFill>
          <a:blip r:embed="rId4"/>
          <a:stretch>
            <a:fillRect/>
          </a:stretch>
        </p:blipFill>
        <p:spPr>
          <a:xfrm>
            <a:off x="1327150" y="6427788"/>
            <a:ext cx="100013" cy="123825"/>
          </a:xfrm>
          <a:prstGeom prst="rect">
            <a:avLst/>
          </a:prstGeom>
          <a:noFill/>
          <a:ln w="9525">
            <a:noFill/>
          </a:ln>
        </p:spPr>
      </p:pic>
      <p:sp>
        <p:nvSpPr>
          <p:cNvPr id="2053" name="bg object 19"/>
          <p:cNvSpPr/>
          <p:nvPr/>
        </p:nvSpPr>
        <p:spPr>
          <a:xfrm>
            <a:off x="1457325" y="6361113"/>
            <a:ext cx="26988" cy="188912"/>
          </a:xfrm>
          <a:custGeom>
            <a:avLst/>
            <a:gdLst/>
            <a:ahLst/>
            <a:cxnLst/>
            <a:pathLst>
              <a:path w="27305" h="188595">
                <a:moveTo>
                  <a:pt x="27118" y="0"/>
                </a:moveTo>
                <a:lnTo>
                  <a:pt x="0" y="26966"/>
                </a:lnTo>
                <a:lnTo>
                  <a:pt x="0" y="188009"/>
                </a:lnTo>
                <a:lnTo>
                  <a:pt x="27118" y="188009"/>
                </a:lnTo>
                <a:lnTo>
                  <a:pt x="27118" y="0"/>
                </a:lnTo>
                <a:close/>
              </a:path>
            </a:pathLst>
          </a:custGeom>
          <a:solidFill>
            <a:srgbClr val="000000">
              <a:alpha val="100000"/>
            </a:srgbClr>
          </a:solidFill>
          <a:ln w="9525">
            <a:noFill/>
          </a:ln>
        </p:spPr>
        <p:txBody>
          <a:bodyPr/>
          <a:p>
            <a:endParaRPr lang="en-US"/>
          </a:p>
        </p:txBody>
      </p:sp>
      <p:pic>
        <p:nvPicPr>
          <p:cNvPr id="2054" name="bg object 20"/>
          <p:cNvPicPr>
            <a:picLocks noChangeAspect="1"/>
          </p:cNvPicPr>
          <p:nvPr/>
        </p:nvPicPr>
        <p:blipFill>
          <a:blip r:embed="rId5"/>
          <a:stretch>
            <a:fillRect/>
          </a:stretch>
        </p:blipFill>
        <p:spPr>
          <a:xfrm>
            <a:off x="1511300" y="6362700"/>
            <a:ext cx="234950" cy="188913"/>
          </a:xfrm>
          <a:prstGeom prst="rect">
            <a:avLst/>
          </a:prstGeom>
          <a:noFill/>
          <a:ln w="9525">
            <a:noFill/>
          </a:ln>
        </p:spPr>
      </p:pic>
      <p:pic>
        <p:nvPicPr>
          <p:cNvPr id="2055" name="bg object 21"/>
          <p:cNvPicPr>
            <a:picLocks noChangeAspect="1"/>
          </p:cNvPicPr>
          <p:nvPr/>
        </p:nvPicPr>
        <p:blipFill>
          <a:blip r:embed="rId6"/>
          <a:stretch>
            <a:fillRect/>
          </a:stretch>
        </p:blipFill>
        <p:spPr>
          <a:xfrm>
            <a:off x="890588" y="6378575"/>
            <a:ext cx="163512" cy="169863"/>
          </a:xfrm>
          <a:prstGeom prst="rect">
            <a:avLst/>
          </a:prstGeom>
          <a:noFill/>
          <a:ln w="9525">
            <a:noFill/>
          </a:ln>
        </p:spPr>
      </p:pic>
      <p:sp>
        <p:nvSpPr>
          <p:cNvPr id="2056" name="bg object 22"/>
          <p:cNvSpPr/>
          <p:nvPr/>
        </p:nvSpPr>
        <p:spPr>
          <a:xfrm>
            <a:off x="461963" y="6348413"/>
            <a:ext cx="214312" cy="233362"/>
          </a:xfrm>
          <a:custGeom>
            <a:avLst/>
            <a:gdLst/>
            <a:ahLst/>
            <a:cxnLst/>
            <a:pathLst>
              <a:path w="214629" h="234315">
                <a:moveTo>
                  <a:pt x="42976" y="0"/>
                </a:moveTo>
                <a:lnTo>
                  <a:pt x="0" y="42697"/>
                </a:lnTo>
                <a:lnTo>
                  <a:pt x="0" y="233705"/>
                </a:lnTo>
                <a:lnTo>
                  <a:pt x="42976" y="191008"/>
                </a:lnTo>
                <a:lnTo>
                  <a:pt x="42976" y="0"/>
                </a:lnTo>
                <a:close/>
              </a:path>
              <a:path w="214629" h="234315">
                <a:moveTo>
                  <a:pt x="128930" y="0"/>
                </a:moveTo>
                <a:lnTo>
                  <a:pt x="85953" y="42697"/>
                </a:lnTo>
                <a:lnTo>
                  <a:pt x="85953" y="233705"/>
                </a:lnTo>
                <a:lnTo>
                  <a:pt x="128930" y="191008"/>
                </a:lnTo>
                <a:lnTo>
                  <a:pt x="128930" y="0"/>
                </a:lnTo>
                <a:close/>
              </a:path>
              <a:path w="214629" h="234315">
                <a:moveTo>
                  <a:pt x="214122" y="0"/>
                </a:moveTo>
                <a:lnTo>
                  <a:pt x="171145" y="42697"/>
                </a:lnTo>
                <a:lnTo>
                  <a:pt x="171145" y="233705"/>
                </a:lnTo>
                <a:lnTo>
                  <a:pt x="214122" y="191008"/>
                </a:lnTo>
                <a:lnTo>
                  <a:pt x="214122" y="0"/>
                </a:lnTo>
                <a:close/>
              </a:path>
            </a:pathLst>
          </a:custGeom>
          <a:solidFill>
            <a:srgbClr val="00A757">
              <a:alpha val="100000"/>
            </a:srgbClr>
          </a:solidFill>
          <a:ln w="9525">
            <a:noFill/>
          </a:ln>
        </p:spPr>
        <p:txBody>
          <a:bodyPr/>
          <a:p>
            <a:endParaRPr lang="en-US"/>
          </a:p>
        </p:txBody>
      </p:sp>
      <p:sp>
        <p:nvSpPr>
          <p:cNvPr id="2057" name="bg object 23"/>
          <p:cNvSpPr/>
          <p:nvPr/>
        </p:nvSpPr>
        <p:spPr>
          <a:xfrm>
            <a:off x="2801938" y="301625"/>
            <a:ext cx="8102600" cy="85090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2058" name="bg object 24"/>
          <p:cNvSpPr/>
          <p:nvPr/>
        </p:nvSpPr>
        <p:spPr>
          <a:xfrm>
            <a:off x="2801938" y="301625"/>
            <a:ext cx="8102600" cy="85090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2059" name="bg object 25"/>
          <p:cNvSpPr/>
          <p:nvPr/>
        </p:nvSpPr>
        <p:spPr>
          <a:xfrm>
            <a:off x="1289050" y="300038"/>
            <a:ext cx="1400175" cy="850900"/>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2060" name="bg object 26"/>
          <p:cNvSpPr/>
          <p:nvPr/>
        </p:nvSpPr>
        <p:spPr>
          <a:xfrm>
            <a:off x="1289050" y="300038"/>
            <a:ext cx="1400175" cy="850900"/>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2061" name="bg object 27"/>
          <p:cNvPicPr>
            <a:picLocks noChangeAspect="1"/>
          </p:cNvPicPr>
          <p:nvPr/>
        </p:nvPicPr>
        <p:blipFill>
          <a:blip r:embed="rId7"/>
          <a:stretch>
            <a:fillRect/>
          </a:stretch>
        </p:blipFill>
        <p:spPr>
          <a:xfrm>
            <a:off x="1512888" y="363538"/>
            <a:ext cx="822325" cy="725487"/>
          </a:xfrm>
          <a:prstGeom prst="rect">
            <a:avLst/>
          </a:prstGeom>
          <a:noFill/>
          <a:ln w="9525">
            <a:noFill/>
          </a:ln>
        </p:spPr>
      </p:pic>
      <p:sp>
        <p:nvSpPr>
          <p:cNvPr id="33" name="Holder 2"/>
          <p:cNvSpPr>
            <a:spLocks noGrp="1"/>
          </p:cNvSpPr>
          <p:nvPr>
            <p:ph type="ftr" sz="quarter" idx="3"/>
          </p:nvPr>
        </p:nvSpPr>
        <p:spPr>
          <a:xfrm>
            <a:off x="5875338" y="6689725"/>
            <a:ext cx="441325" cy="127000"/>
          </a:xfrm>
          <a:prstGeom prst="rect">
            <a:avLst/>
          </a:prstGeom>
        </p:spPr>
        <p:txBody>
          <a:bodyPr wrap="square" lIns="0" tIns="0" rIns="0" bIns="0">
            <a:spAutoFit/>
          </a:bodyPr>
          <a:lstStyle>
            <a:lvl1pPr>
              <a:defRPr sz="800" b="0" i="0">
                <a:solidFill>
                  <a:schemeClr val="tx1"/>
                </a:solidFill>
                <a:latin typeface="Calibri" panose="020F0502020204030204"/>
                <a:cs typeface="Calibri" panose="020F0502020204030204"/>
              </a:defRPr>
            </a:lvl1p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2065" name="Holder 3"/>
          <p:cNvSpPr>
            <a:spLocks noGrp="1"/>
          </p:cNvSpPr>
          <p:nvPr>
            <p:ph type="dt" sz="half" idx="2"/>
          </p:nvPr>
        </p:nvSpPr>
        <p:spPr>
          <a:xfrm>
            <a:off x="609600" y="6378575"/>
            <a:ext cx="2803525" cy="342900"/>
          </a:xfrm>
          <a:prstGeom prst="rect">
            <a:avLst/>
          </a:prstGeom>
          <a:noFill/>
          <a:ln w="9525">
            <a:noFill/>
          </a:ln>
        </p:spPr>
        <p:txBody>
          <a:bodyPr lIns="0" tIns="0" rIns="0" bIns="0" anchor="t" anchorCtr="0">
            <a:spAutoFit/>
          </a:bodyPr>
          <a:p>
            <a:pPr eaLnBrk="1" hangingPunct="1">
              <a:buNone/>
            </a:pPr>
            <a:fld id="{BB962C8B-B14F-4D97-AF65-F5344CB8AC3E}" type="datetimeFigureOut">
              <a:rPr lang="en-US" altLang="x-none"/>
            </a:fld>
            <a:endParaRPr lang="en-US" altLang="x-none"/>
          </a:p>
        </p:txBody>
      </p:sp>
      <p:sp>
        <p:nvSpPr>
          <p:cNvPr id="2066" name="Holder 4"/>
          <p:cNvSpPr>
            <a:spLocks noGrp="1"/>
          </p:cNvSpPr>
          <p:nvPr>
            <p:ph type="sldNum" sz="quarter" idx="4"/>
          </p:nvPr>
        </p:nvSpPr>
        <p:spPr>
          <a:xfrm>
            <a:off x="8778875" y="6378575"/>
            <a:ext cx="2803525" cy="342900"/>
          </a:xfrm>
          <a:prstGeom prst="rect">
            <a:avLst/>
          </a:prstGeom>
          <a:noFill/>
          <a:ln w="9525">
            <a:noFill/>
          </a:ln>
        </p:spPr>
        <p:txBody>
          <a:bodyPr lIns="0" tIns="0" rIns="0" bIns="0" anchor="t" anchorCtr="0">
            <a:spAutoFit/>
          </a:bodyPr>
          <a:p>
            <a:pPr algn="r" eaLnBrk="1" hangingPunct="1">
              <a:buNone/>
            </a:pPr>
            <a:fld id="{9A0DB2DC-4C9A-4742-B13C-FB6460FD3503}"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5.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bg object 16"/>
          <p:cNvPicPr>
            <a:picLocks noChangeAspect="1"/>
          </p:cNvPicPr>
          <p:nvPr/>
        </p:nvPicPr>
        <p:blipFill>
          <a:blip r:embed="rId6"/>
          <a:stretch>
            <a:fillRect/>
          </a:stretch>
        </p:blipFill>
        <p:spPr>
          <a:xfrm>
            <a:off x="1074738" y="6424613"/>
            <a:ext cx="103187" cy="127000"/>
          </a:xfrm>
          <a:prstGeom prst="rect">
            <a:avLst/>
          </a:prstGeom>
          <a:noFill/>
          <a:ln w="9525">
            <a:noFill/>
          </a:ln>
        </p:spPr>
      </p:pic>
      <p:pic>
        <p:nvPicPr>
          <p:cNvPr id="1027" name="bg object 17"/>
          <p:cNvPicPr>
            <a:picLocks noChangeAspect="1"/>
          </p:cNvPicPr>
          <p:nvPr/>
        </p:nvPicPr>
        <p:blipFill>
          <a:blip r:embed="rId7"/>
          <a:stretch>
            <a:fillRect/>
          </a:stretch>
        </p:blipFill>
        <p:spPr>
          <a:xfrm>
            <a:off x="1203325" y="6424613"/>
            <a:ext cx="101600" cy="123825"/>
          </a:xfrm>
          <a:prstGeom prst="rect">
            <a:avLst/>
          </a:prstGeom>
          <a:noFill/>
          <a:ln w="9525">
            <a:noFill/>
          </a:ln>
        </p:spPr>
      </p:pic>
      <p:pic>
        <p:nvPicPr>
          <p:cNvPr id="1028" name="bg object 18"/>
          <p:cNvPicPr>
            <a:picLocks noChangeAspect="1"/>
          </p:cNvPicPr>
          <p:nvPr/>
        </p:nvPicPr>
        <p:blipFill>
          <a:blip r:embed="rId8"/>
          <a:stretch>
            <a:fillRect/>
          </a:stretch>
        </p:blipFill>
        <p:spPr>
          <a:xfrm>
            <a:off x="1327150" y="6427788"/>
            <a:ext cx="100013" cy="123825"/>
          </a:xfrm>
          <a:prstGeom prst="rect">
            <a:avLst/>
          </a:prstGeom>
          <a:noFill/>
          <a:ln w="9525">
            <a:noFill/>
          </a:ln>
        </p:spPr>
      </p:pic>
      <p:sp>
        <p:nvSpPr>
          <p:cNvPr id="1029" name="bg object 19"/>
          <p:cNvSpPr/>
          <p:nvPr/>
        </p:nvSpPr>
        <p:spPr>
          <a:xfrm>
            <a:off x="1457325" y="6361113"/>
            <a:ext cx="26988" cy="188912"/>
          </a:xfrm>
          <a:custGeom>
            <a:avLst/>
            <a:gdLst/>
            <a:ahLst/>
            <a:cxnLst/>
            <a:pathLst>
              <a:path w="27305" h="188595">
                <a:moveTo>
                  <a:pt x="27118" y="0"/>
                </a:moveTo>
                <a:lnTo>
                  <a:pt x="0" y="26966"/>
                </a:lnTo>
                <a:lnTo>
                  <a:pt x="0" y="188009"/>
                </a:lnTo>
                <a:lnTo>
                  <a:pt x="27118" y="188009"/>
                </a:lnTo>
                <a:lnTo>
                  <a:pt x="27118" y="0"/>
                </a:lnTo>
                <a:close/>
              </a:path>
            </a:pathLst>
          </a:custGeom>
          <a:solidFill>
            <a:srgbClr val="000000">
              <a:alpha val="100000"/>
            </a:srgbClr>
          </a:solidFill>
          <a:ln w="9525">
            <a:noFill/>
          </a:ln>
        </p:spPr>
        <p:txBody>
          <a:bodyPr/>
          <a:p>
            <a:endParaRPr lang="en-US"/>
          </a:p>
        </p:txBody>
      </p:sp>
      <p:pic>
        <p:nvPicPr>
          <p:cNvPr id="1030" name="bg object 20"/>
          <p:cNvPicPr>
            <a:picLocks noChangeAspect="1"/>
          </p:cNvPicPr>
          <p:nvPr/>
        </p:nvPicPr>
        <p:blipFill>
          <a:blip r:embed="rId9"/>
          <a:stretch>
            <a:fillRect/>
          </a:stretch>
        </p:blipFill>
        <p:spPr>
          <a:xfrm>
            <a:off x="1511300" y="6362700"/>
            <a:ext cx="234950" cy="188913"/>
          </a:xfrm>
          <a:prstGeom prst="rect">
            <a:avLst/>
          </a:prstGeom>
          <a:noFill/>
          <a:ln w="9525">
            <a:noFill/>
          </a:ln>
        </p:spPr>
      </p:pic>
      <p:pic>
        <p:nvPicPr>
          <p:cNvPr id="1031" name="bg object 21"/>
          <p:cNvPicPr>
            <a:picLocks noChangeAspect="1"/>
          </p:cNvPicPr>
          <p:nvPr/>
        </p:nvPicPr>
        <p:blipFill>
          <a:blip r:embed="rId10"/>
          <a:stretch>
            <a:fillRect/>
          </a:stretch>
        </p:blipFill>
        <p:spPr>
          <a:xfrm>
            <a:off x="890588" y="6378575"/>
            <a:ext cx="163512" cy="169863"/>
          </a:xfrm>
          <a:prstGeom prst="rect">
            <a:avLst/>
          </a:prstGeom>
          <a:noFill/>
          <a:ln w="9525">
            <a:noFill/>
          </a:ln>
        </p:spPr>
      </p:pic>
      <p:sp>
        <p:nvSpPr>
          <p:cNvPr id="1032" name="bg object 22"/>
          <p:cNvSpPr/>
          <p:nvPr/>
        </p:nvSpPr>
        <p:spPr>
          <a:xfrm>
            <a:off x="461963" y="6348413"/>
            <a:ext cx="214312" cy="233362"/>
          </a:xfrm>
          <a:custGeom>
            <a:avLst/>
            <a:gdLst/>
            <a:ahLst/>
            <a:cxnLst/>
            <a:pathLst>
              <a:path w="214629" h="234315">
                <a:moveTo>
                  <a:pt x="42976" y="0"/>
                </a:moveTo>
                <a:lnTo>
                  <a:pt x="0" y="42697"/>
                </a:lnTo>
                <a:lnTo>
                  <a:pt x="0" y="233705"/>
                </a:lnTo>
                <a:lnTo>
                  <a:pt x="42976" y="191008"/>
                </a:lnTo>
                <a:lnTo>
                  <a:pt x="42976" y="0"/>
                </a:lnTo>
                <a:close/>
              </a:path>
              <a:path w="214629" h="234315">
                <a:moveTo>
                  <a:pt x="128930" y="0"/>
                </a:moveTo>
                <a:lnTo>
                  <a:pt x="85953" y="42697"/>
                </a:lnTo>
                <a:lnTo>
                  <a:pt x="85953" y="233705"/>
                </a:lnTo>
                <a:lnTo>
                  <a:pt x="128930" y="191008"/>
                </a:lnTo>
                <a:lnTo>
                  <a:pt x="128930" y="0"/>
                </a:lnTo>
                <a:close/>
              </a:path>
              <a:path w="214629" h="234315">
                <a:moveTo>
                  <a:pt x="214122" y="0"/>
                </a:moveTo>
                <a:lnTo>
                  <a:pt x="171145" y="42697"/>
                </a:lnTo>
                <a:lnTo>
                  <a:pt x="171145" y="233705"/>
                </a:lnTo>
                <a:lnTo>
                  <a:pt x="214122" y="191008"/>
                </a:lnTo>
                <a:lnTo>
                  <a:pt x="214122" y="0"/>
                </a:lnTo>
                <a:close/>
              </a:path>
            </a:pathLst>
          </a:custGeom>
          <a:solidFill>
            <a:srgbClr val="00A757">
              <a:alpha val="100000"/>
            </a:srgbClr>
          </a:solidFill>
          <a:ln w="9525">
            <a:noFill/>
          </a:ln>
        </p:spPr>
        <p:txBody>
          <a:bodyPr/>
          <a:p>
            <a:endParaRPr lang="en-US"/>
          </a:p>
        </p:txBody>
      </p:sp>
      <p:sp>
        <p:nvSpPr>
          <p:cNvPr id="1033" name="Holder 2"/>
          <p:cNvSpPr>
            <a:spLocks noGrp="1"/>
          </p:cNvSpPr>
          <p:nvPr>
            <p:ph type="title"/>
          </p:nvPr>
        </p:nvSpPr>
        <p:spPr>
          <a:xfrm>
            <a:off x="1435100" y="419100"/>
            <a:ext cx="9321800" cy="1079500"/>
          </a:xfrm>
          <a:prstGeom prst="rect">
            <a:avLst/>
          </a:prstGeom>
          <a:noFill/>
          <a:ln w="9525">
            <a:noFill/>
          </a:ln>
        </p:spPr>
        <p:txBody>
          <a:bodyPr lIns="0" tIns="0" rIns="0" bIns="0">
            <a:spAutoFit/>
          </a:bodyPr>
          <a:p>
            <a:pPr lvl="0"/>
          </a:p>
        </p:txBody>
      </p:sp>
      <p:sp>
        <p:nvSpPr>
          <p:cNvPr id="1034" name="Holder 3"/>
          <p:cNvSpPr>
            <a:spLocks noGrp="1"/>
          </p:cNvSpPr>
          <p:nvPr>
            <p:ph type="body" idx="1"/>
          </p:nvPr>
        </p:nvSpPr>
        <p:spPr>
          <a:xfrm>
            <a:off x="6181725" y="1306513"/>
            <a:ext cx="5773738" cy="3838575"/>
          </a:xfrm>
          <a:prstGeom prst="rect">
            <a:avLst/>
          </a:prstGeom>
          <a:noFill/>
          <a:ln w="9525">
            <a:noFill/>
          </a:ln>
        </p:spPr>
        <p:txBody>
          <a:bodyPr lIns="0" tIns="0" rIns="0" bIns="0">
            <a:spAutoFit/>
          </a:bodyPr>
          <a:p>
            <a:pPr lvl="0"/>
          </a:p>
        </p:txBody>
      </p:sp>
      <p:sp>
        <p:nvSpPr>
          <p:cNvPr id="4" name="Holder 4"/>
          <p:cNvSpPr>
            <a:spLocks noGrp="1"/>
          </p:cNvSpPr>
          <p:nvPr>
            <p:ph type="ftr" sz="quarter" idx="5"/>
          </p:nvPr>
        </p:nvSpPr>
        <p:spPr>
          <a:xfrm>
            <a:off x="5875338" y="6689725"/>
            <a:ext cx="441325" cy="127000"/>
          </a:xfrm>
          <a:prstGeom prst="rect">
            <a:avLst/>
          </a:prstGeom>
        </p:spPr>
        <p:txBody>
          <a:bodyPr wrap="square" lIns="0" tIns="0" rIns="0" bIns="0">
            <a:spAutoFit/>
          </a:bodyPr>
          <a:lstStyle>
            <a:lvl1pPr>
              <a:defRPr sz="800" b="0" i="0">
                <a:solidFill>
                  <a:schemeClr val="tx1"/>
                </a:solidFill>
                <a:latin typeface="Calibri" panose="020F0502020204030204"/>
                <a:cs typeface="Calibri" panose="020F0502020204030204"/>
              </a:defRPr>
            </a:lvl1p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1036" name="Holder 5"/>
          <p:cNvSpPr>
            <a:spLocks noGrp="1"/>
          </p:cNvSpPr>
          <p:nvPr>
            <p:ph type="dt" sz="half" idx="6"/>
          </p:nvPr>
        </p:nvSpPr>
        <p:spPr>
          <a:xfrm>
            <a:off x="609600" y="6378575"/>
            <a:ext cx="2803525" cy="342900"/>
          </a:xfrm>
          <a:prstGeom prst="rect">
            <a:avLst/>
          </a:prstGeom>
          <a:noFill/>
          <a:ln w="9525">
            <a:noFill/>
          </a:ln>
        </p:spPr>
        <p:txBody>
          <a:bodyPr lIns="0" tIns="0" rIns="0" bIns="0">
            <a:spAutoFit/>
          </a:bodyPr>
          <a:lstStyle>
            <a:lvl1pPr>
              <a:defRPr>
                <a:solidFill>
                  <a:srgbClr val="898989"/>
                </a:solidFill>
              </a:defRPr>
            </a:lvl1pPr>
          </a:lstStyle>
          <a:p>
            <a:pPr lvl="0" eaLnBrk="1" hangingPunct="1">
              <a:buNone/>
            </a:pPr>
            <a:fld id="{BB962C8B-B14F-4D97-AF65-F5344CB8AC3E}" type="datetime1">
              <a:rPr lang="en-US" altLang="x-none"/>
            </a:fld>
            <a:endParaRPr lang="en-US" altLang="x-none"/>
          </a:p>
        </p:txBody>
      </p:sp>
      <p:sp>
        <p:nvSpPr>
          <p:cNvPr id="1037" name="Holder 6"/>
          <p:cNvSpPr>
            <a:spLocks noGrp="1"/>
          </p:cNvSpPr>
          <p:nvPr>
            <p:ph type="sldNum" sz="quarter" idx="7"/>
          </p:nvPr>
        </p:nvSpPr>
        <p:spPr>
          <a:xfrm>
            <a:off x="8778875" y="6378575"/>
            <a:ext cx="2803525" cy="342900"/>
          </a:xfrm>
          <a:prstGeom prst="rect">
            <a:avLst/>
          </a:prstGeom>
          <a:noFill/>
          <a:ln w="9525">
            <a:noFill/>
          </a:ln>
        </p:spPr>
        <p:txBody>
          <a:bodyPr lIns="0" tIns="0" rIns="0" bIns="0">
            <a:spAutoFit/>
          </a:bodyPr>
          <a:lstStyle>
            <a:lvl1pPr algn="r">
              <a:defRPr>
                <a:solidFill>
                  <a:srgbClr val="898989"/>
                </a:solidFill>
              </a:defRPr>
            </a:lvl1pPr>
          </a:lstStyle>
          <a:p>
            <a:pPr lvl="0" eaLnBrk="1" hangingPunct="1">
              <a:buNone/>
            </a:pPr>
            <a:fld id="{9A0DB2DC-4C9A-4742-B13C-FB6460FD3503}"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phclaims@manulife.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www.manulife.com.ph/"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4" name="object 2"/>
          <p:cNvGrpSpPr/>
          <p:nvPr/>
        </p:nvGrpSpPr>
        <p:grpSpPr>
          <a:xfrm>
            <a:off x="9010650" y="-6350"/>
            <a:ext cx="3181350" cy="6870700"/>
            <a:chOff x="9010142" y="-6350"/>
            <a:chExt cx="3181985" cy="6870700"/>
          </a:xfrm>
        </p:grpSpPr>
        <p:sp>
          <p:nvSpPr>
            <p:cNvPr id="3078" name="object 3"/>
            <p:cNvSpPr/>
            <p:nvPr/>
          </p:nvSpPr>
          <p:spPr>
            <a:xfrm>
              <a:off x="9016492" y="0"/>
              <a:ext cx="967740" cy="6858000"/>
            </a:xfrm>
            <a:custGeom>
              <a:avLst/>
              <a:gdLst/>
              <a:ahLst/>
              <a:cxnLst/>
              <a:pathLst>
                <a:path w="967740" h="6858000">
                  <a:moveTo>
                    <a:pt x="0" y="6858000"/>
                  </a:moveTo>
                  <a:lnTo>
                    <a:pt x="967485" y="6858000"/>
                  </a:lnTo>
                  <a:lnTo>
                    <a:pt x="967485" y="0"/>
                  </a:lnTo>
                  <a:lnTo>
                    <a:pt x="0" y="0"/>
                  </a:lnTo>
                  <a:lnTo>
                    <a:pt x="0" y="6858000"/>
                  </a:lnTo>
                  <a:close/>
                </a:path>
              </a:pathLst>
            </a:custGeom>
            <a:solidFill>
              <a:srgbClr val="282B3D">
                <a:alpha val="100000"/>
              </a:srgbClr>
            </a:solidFill>
            <a:ln w="9525">
              <a:noFill/>
            </a:ln>
          </p:spPr>
          <p:txBody>
            <a:bodyPr/>
            <a:p>
              <a:endParaRPr lang="en-US"/>
            </a:p>
          </p:txBody>
        </p:sp>
        <p:sp>
          <p:nvSpPr>
            <p:cNvPr id="3079" name="object 4"/>
            <p:cNvSpPr/>
            <p:nvPr/>
          </p:nvSpPr>
          <p:spPr>
            <a:xfrm>
              <a:off x="9016492" y="0"/>
              <a:ext cx="2208530" cy="6858000"/>
            </a:xfrm>
            <a:custGeom>
              <a:avLst/>
              <a:gdLst/>
              <a:ahLst/>
              <a:cxnLst/>
              <a:pathLst>
                <a:path w="2208529" h="6858000">
                  <a:moveTo>
                    <a:pt x="0" y="6858000"/>
                  </a:moveTo>
                  <a:lnTo>
                    <a:pt x="2208022" y="6858000"/>
                  </a:lnTo>
                  <a:lnTo>
                    <a:pt x="2208022" y="0"/>
                  </a:lnTo>
                  <a:lnTo>
                    <a:pt x="0" y="0"/>
                  </a:lnTo>
                  <a:lnTo>
                    <a:pt x="0" y="6858000"/>
                  </a:lnTo>
                  <a:close/>
                </a:path>
              </a:pathLst>
            </a:custGeom>
            <a:noFill/>
            <a:ln w="12700" cap="flat" cmpd="sng">
              <a:solidFill>
                <a:srgbClr val="282B3D">
                  <a:alpha val="100000"/>
                </a:srgbClr>
              </a:solidFill>
              <a:prstDash val="solid"/>
              <a:headEnd type="none" w="med" len="med"/>
              <a:tailEnd type="none" w="med" len="med"/>
            </a:ln>
          </p:spPr>
          <p:txBody>
            <a:bodyPr/>
            <a:p>
              <a:endParaRPr lang="en-US"/>
            </a:p>
          </p:txBody>
        </p:sp>
        <p:sp>
          <p:nvSpPr>
            <p:cNvPr id="3080" name="object 5"/>
            <p:cNvSpPr/>
            <p:nvPr/>
          </p:nvSpPr>
          <p:spPr>
            <a:xfrm>
              <a:off x="9983978" y="0"/>
              <a:ext cx="2208530" cy="6858000"/>
            </a:xfrm>
            <a:custGeom>
              <a:avLst/>
              <a:gdLst/>
              <a:ahLst/>
              <a:cxnLst/>
              <a:pathLst>
                <a:path w="2208529" h="6858000">
                  <a:moveTo>
                    <a:pt x="2208022" y="0"/>
                  </a:moveTo>
                  <a:lnTo>
                    <a:pt x="0" y="0"/>
                  </a:lnTo>
                  <a:lnTo>
                    <a:pt x="0" y="6858000"/>
                  </a:lnTo>
                  <a:lnTo>
                    <a:pt x="2208022" y="6858000"/>
                  </a:lnTo>
                  <a:lnTo>
                    <a:pt x="2208022" y="0"/>
                  </a:lnTo>
                  <a:close/>
                </a:path>
              </a:pathLst>
            </a:custGeom>
            <a:solidFill>
              <a:srgbClr val="00A757">
                <a:alpha val="100000"/>
              </a:srgbClr>
            </a:solidFill>
            <a:ln w="9525">
              <a:noFill/>
            </a:ln>
          </p:spPr>
          <p:txBody>
            <a:bodyPr/>
            <a:p>
              <a:endParaRPr lang="en-US"/>
            </a:p>
          </p:txBody>
        </p:sp>
      </p:grpSp>
      <p:sp>
        <p:nvSpPr>
          <p:cNvPr id="6" name="object 6"/>
          <p:cNvSpPr txBox="1">
            <a:spLocks noGrp="1"/>
          </p:cNvSpPr>
          <p:nvPr>
            <p:ph type="title"/>
          </p:nvPr>
        </p:nvSpPr>
        <p:spPr>
          <a:xfrm>
            <a:off x="652463" y="1206500"/>
            <a:ext cx="6645275" cy="1550988"/>
          </a:xfrm>
        </p:spPr>
        <p:txBody>
          <a:bodyPr vert="horz" wrap="square" lIns="0" tIns="13335" rIns="0" bIns="0" rtlCol="0">
            <a:spAutoFit/>
          </a:bodyPr>
          <a:p>
            <a:pPr marL="12700" indent="0" eaLnBrk="1" hangingPunct="1">
              <a:spcBef>
                <a:spcPts val="100"/>
              </a:spcBef>
              <a:buNone/>
            </a:pPr>
            <a:r>
              <a:rPr lang="en-US" altLang="zh-CN" sz="5000">
                <a:solidFill>
                  <a:srgbClr val="000000"/>
                </a:solidFill>
                <a:latin typeface="Arial" panose="020B0604020202020204" pitchFamily="34" charset="0"/>
                <a:ea typeface="+mj-ea"/>
                <a:cs typeface="Arial" panose="020B0604020202020204" pitchFamily="34" charset="0"/>
              </a:rPr>
              <a:t>Group Life Insurance Benefits Orientation</a:t>
            </a:r>
            <a:endParaRPr lang="en-US" altLang="zh-CN" sz="5000">
              <a:latin typeface="Arial" panose="020B0604020202020204" pitchFamily="34" charset="0"/>
              <a:ea typeface="Arial" panose="020B0604020202020204" pitchFamily="34" charset="0"/>
              <a:cs typeface="+mj-cs"/>
            </a:endParaRPr>
          </a:p>
        </p:txBody>
      </p:sp>
      <p:sp>
        <p:nvSpPr>
          <p:cNvPr id="8" name="object 8"/>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7" name="object 7"/>
          <p:cNvSpPr txBox="1"/>
          <p:nvPr/>
        </p:nvSpPr>
        <p:spPr>
          <a:xfrm>
            <a:off x="731838" y="3998913"/>
            <a:ext cx="7016750" cy="94138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kern="0" cap="none" spc="0" normalizeH="0" baseline="0" noProof="0" dirty="0">
                <a:solidFill>
                  <a:sysClr val="windowText" lastClr="000000"/>
                </a:solidFill>
                <a:latin typeface="Tahoma" panose="020B0604030504040204"/>
                <a:cs typeface="Tahoma" panose="020B0604030504040204"/>
              </a:rPr>
              <a:t>For</a:t>
            </a:r>
            <a:r>
              <a:rPr kumimoji="0" sz="2000" kern="0" cap="none" spc="-105" normalizeH="0" baseline="0" noProof="0" dirty="0">
                <a:solidFill>
                  <a:sysClr val="windowText" lastClr="000000"/>
                </a:solidFill>
                <a:latin typeface="Tahoma" panose="020B0604030504040204"/>
                <a:cs typeface="Tahoma" panose="020B0604030504040204"/>
              </a:rPr>
              <a:t> </a:t>
            </a:r>
            <a:r>
              <a:rPr kumimoji="0" sz="2000" kern="0" cap="none" spc="0" normalizeH="0" baseline="0" noProof="0" dirty="0">
                <a:solidFill>
                  <a:sysClr val="windowText" lastClr="000000"/>
                </a:solidFill>
                <a:latin typeface="Tahoma" panose="020B0604030504040204"/>
                <a:cs typeface="Tahoma" panose="020B0604030504040204"/>
              </a:rPr>
              <a:t>the</a:t>
            </a:r>
            <a:r>
              <a:rPr kumimoji="0" sz="2000" kern="0" cap="none" spc="-80" normalizeH="0" baseline="0" noProof="0" dirty="0">
                <a:solidFill>
                  <a:sysClr val="windowText" lastClr="000000"/>
                </a:solidFill>
                <a:latin typeface="Tahoma" panose="020B0604030504040204"/>
                <a:cs typeface="Tahoma" panose="020B0604030504040204"/>
              </a:rPr>
              <a:t> </a:t>
            </a:r>
            <a:r>
              <a:rPr kumimoji="0" sz="2000" kern="0" cap="none" spc="0" normalizeH="0" baseline="0" noProof="0" dirty="0">
                <a:solidFill>
                  <a:sysClr val="windowText" lastClr="000000"/>
                </a:solidFill>
                <a:latin typeface="Tahoma" panose="020B0604030504040204"/>
                <a:cs typeface="Tahoma" panose="020B0604030504040204"/>
              </a:rPr>
              <a:t>Employees</a:t>
            </a:r>
            <a:r>
              <a:rPr kumimoji="0" sz="2000" kern="0" cap="none" spc="-110" normalizeH="0" baseline="0" noProof="0" dirty="0">
                <a:solidFill>
                  <a:sysClr val="windowText" lastClr="000000"/>
                </a:solidFill>
                <a:latin typeface="Tahoma" panose="020B0604030504040204"/>
                <a:cs typeface="Tahoma" panose="020B0604030504040204"/>
              </a:rPr>
              <a:t> </a:t>
            </a:r>
            <a:r>
              <a:rPr kumimoji="0" sz="2000" kern="0" cap="none" spc="-50" normalizeH="0" baseline="0" noProof="0" dirty="0">
                <a:solidFill>
                  <a:sysClr val="windowText" lastClr="000000"/>
                </a:solidFill>
                <a:latin typeface="Tahoma" panose="020B0604030504040204"/>
                <a:cs typeface="Tahoma" panose="020B0604030504040204"/>
              </a:rPr>
              <a:t>of:</a:t>
            </a:r>
            <a:r>
              <a:rPr kumimoji="0" sz="2000" kern="0" cap="none" spc="-95" normalizeH="0" baseline="0" noProof="0" dirty="0">
                <a:solidFill>
                  <a:sysClr val="windowText" lastClr="000000"/>
                </a:solidFill>
                <a:latin typeface="Tahoma" panose="020B0604030504040204"/>
                <a:cs typeface="Tahoma" panose="020B0604030504040204"/>
              </a:rPr>
              <a:t> </a:t>
            </a:r>
            <a:r>
              <a:rPr kumimoji="0" sz="2000" b="1" kern="0" cap="none" spc="0" normalizeH="0" baseline="0" noProof="0" dirty="0">
                <a:solidFill>
                  <a:srgbClr val="00AF50"/>
                </a:solidFill>
                <a:latin typeface="Arial" panose="020B0604020202020204"/>
                <a:cs typeface="Arial" panose="020B0604020202020204"/>
              </a:rPr>
              <a:t>FPT</a:t>
            </a:r>
            <a:r>
              <a:rPr kumimoji="0" sz="2000" b="1" kern="0" cap="none" spc="-20" normalizeH="0" baseline="0" noProof="0" dirty="0">
                <a:solidFill>
                  <a:srgbClr val="00AF50"/>
                </a:solidFill>
                <a:latin typeface="Arial" panose="020B0604020202020204"/>
                <a:cs typeface="Arial" panose="020B0604020202020204"/>
              </a:rPr>
              <a:t> </a:t>
            </a:r>
            <a:r>
              <a:rPr kumimoji="0" sz="2000" b="1" kern="0" cap="none" spc="-95" normalizeH="0" baseline="0" noProof="0" dirty="0">
                <a:solidFill>
                  <a:srgbClr val="00AF50"/>
                </a:solidFill>
                <a:latin typeface="Arial" panose="020B0604020202020204"/>
                <a:cs typeface="Arial" panose="020B0604020202020204"/>
              </a:rPr>
              <a:t>SOFTWARE</a:t>
            </a:r>
            <a:r>
              <a:rPr kumimoji="0" sz="2000" b="1" kern="0" cap="none" spc="-40" normalizeH="0" baseline="0" noProof="0" dirty="0">
                <a:solidFill>
                  <a:srgbClr val="00AF50"/>
                </a:solidFill>
                <a:latin typeface="Arial" panose="020B0604020202020204"/>
                <a:cs typeface="Arial" panose="020B0604020202020204"/>
              </a:rPr>
              <a:t> </a:t>
            </a:r>
            <a:r>
              <a:rPr kumimoji="0" sz="2000" b="1" kern="0" cap="none" spc="55" normalizeH="0" baseline="0" noProof="0" dirty="0">
                <a:solidFill>
                  <a:srgbClr val="00AF50"/>
                </a:solidFill>
                <a:latin typeface="Arial" panose="020B0604020202020204"/>
                <a:cs typeface="Arial" panose="020B0604020202020204"/>
              </a:rPr>
              <a:t>PHILIPPINES</a:t>
            </a:r>
            <a:r>
              <a:rPr kumimoji="0" sz="2000" b="1" kern="0" cap="none" spc="-35" normalizeH="0" baseline="0" noProof="0" dirty="0">
                <a:solidFill>
                  <a:srgbClr val="00AF50"/>
                </a:solidFill>
                <a:latin typeface="Arial" panose="020B0604020202020204"/>
                <a:cs typeface="Arial" panose="020B0604020202020204"/>
              </a:rPr>
              <a:t> </a:t>
            </a:r>
            <a:r>
              <a:rPr kumimoji="0" sz="2000" b="1" kern="0" cap="none" spc="-10" normalizeH="0" baseline="0" noProof="0" dirty="0">
                <a:solidFill>
                  <a:srgbClr val="00AF50"/>
                </a:solidFill>
                <a:latin typeface="Arial" panose="020B0604020202020204"/>
                <a:cs typeface="Arial" panose="020B0604020202020204"/>
              </a:rPr>
              <a:t>CORP.</a:t>
            </a:r>
            <a:endParaRPr kumimoji="0" sz="2000" kern="0" cap="none" spc="0" normalizeH="0" baseline="0" noProof="0">
              <a:solidFill>
                <a:sysClr val="windowText" lastClr="000000"/>
              </a:solidFill>
              <a:latin typeface="Arial" panose="020B0604020202020204"/>
              <a:cs typeface="Arial" panose="020B0604020202020204"/>
            </a:endParaRPr>
          </a:p>
          <a:p>
            <a:pPr marR="0" defTabSz="914400" eaLnBrk="1" fontAlgn="auto" hangingPunct="1">
              <a:spcBef>
                <a:spcPts val="45"/>
              </a:spcBef>
              <a:spcAft>
                <a:spcPts val="0"/>
              </a:spcAft>
              <a:buClrTx/>
              <a:buSzTx/>
              <a:buFontTx/>
              <a:buNone/>
              <a:defRPr/>
            </a:pPr>
            <a:endParaRPr kumimoji="0" sz="205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0"/>
              </a:spcBef>
              <a:spcAft>
                <a:spcPts val="0"/>
              </a:spcAft>
              <a:buClrTx/>
              <a:buSzTx/>
              <a:buFontTx/>
              <a:buNone/>
              <a:defRPr/>
            </a:pPr>
            <a:r>
              <a:rPr kumimoji="0" sz="2000" kern="0" cap="none" spc="0" normalizeH="0" baseline="0" noProof="0" dirty="0">
                <a:solidFill>
                  <a:sysClr val="windowText" lastClr="000000"/>
                </a:solidFill>
                <a:latin typeface="Tahoma" panose="020B0604030504040204"/>
                <a:cs typeface="Tahoma" panose="020B0604030504040204"/>
              </a:rPr>
              <a:t>Policy Effective </a:t>
            </a:r>
            <a:r>
              <a:rPr kumimoji="0" sz="2000" kern="0" cap="none" spc="-25" normalizeH="0" baseline="0" noProof="0" dirty="0">
                <a:solidFill>
                  <a:sysClr val="windowText" lastClr="000000"/>
                </a:solidFill>
                <a:latin typeface="Tahoma" panose="020B0604030504040204"/>
                <a:cs typeface="Tahoma" panose="020B0604030504040204"/>
              </a:rPr>
              <a:t>Date:</a:t>
            </a:r>
            <a:r>
              <a:rPr kumimoji="0" sz="2000" kern="0" cap="none" spc="-5" normalizeH="0" baseline="0" noProof="0" dirty="0">
                <a:solidFill>
                  <a:sysClr val="windowText" lastClr="000000"/>
                </a:solidFill>
                <a:latin typeface="Tahoma" panose="020B0604030504040204"/>
                <a:cs typeface="Tahoma" panose="020B0604030504040204"/>
              </a:rPr>
              <a:t> </a:t>
            </a:r>
            <a:r>
              <a:rPr kumimoji="0" sz="2000" b="1" kern="0" cap="none" spc="0" normalizeH="0" baseline="0" noProof="0" dirty="0">
                <a:solidFill>
                  <a:srgbClr val="00A757"/>
                </a:solidFill>
                <a:latin typeface="Arial" panose="020B0604020202020204"/>
                <a:cs typeface="Arial" panose="020B0604020202020204"/>
              </a:rPr>
              <a:t>April</a:t>
            </a:r>
            <a:r>
              <a:rPr kumimoji="0" sz="2000" b="1" kern="0" cap="none" spc="45" normalizeH="0" baseline="0" noProof="0" dirty="0">
                <a:solidFill>
                  <a:srgbClr val="00A757"/>
                </a:solidFill>
                <a:latin typeface="Arial" panose="020B0604020202020204"/>
                <a:cs typeface="Arial" panose="020B0604020202020204"/>
              </a:rPr>
              <a:t> </a:t>
            </a:r>
            <a:r>
              <a:rPr kumimoji="0" sz="2000" b="1" kern="0" cap="none" spc="0" normalizeH="0" baseline="0" noProof="0" dirty="0">
                <a:solidFill>
                  <a:srgbClr val="00A757"/>
                </a:solidFill>
                <a:latin typeface="Arial" panose="020B0604020202020204"/>
                <a:cs typeface="Arial" panose="020B0604020202020204"/>
              </a:rPr>
              <a:t>01,</a:t>
            </a:r>
            <a:r>
              <a:rPr kumimoji="0" sz="2000" b="1" kern="0" cap="none" spc="80" normalizeH="0" baseline="0" noProof="0" dirty="0">
                <a:solidFill>
                  <a:srgbClr val="00A757"/>
                </a:solidFill>
                <a:latin typeface="Arial" panose="020B0604020202020204"/>
                <a:cs typeface="Arial" panose="020B0604020202020204"/>
              </a:rPr>
              <a:t> </a:t>
            </a:r>
            <a:r>
              <a:rPr kumimoji="0" sz="2000" b="1" kern="0" cap="none" spc="110" normalizeH="0" baseline="0" noProof="0" dirty="0">
                <a:solidFill>
                  <a:srgbClr val="00A757"/>
                </a:solidFill>
                <a:latin typeface="Arial" panose="020B0604020202020204"/>
                <a:cs typeface="Arial" panose="020B0604020202020204"/>
              </a:rPr>
              <a:t>2026</a:t>
            </a:r>
            <a:endParaRPr kumimoji="0" sz="2000" kern="0" cap="none" spc="0" normalizeH="0" baseline="0" noProof="0">
              <a:solidFill>
                <a:sysClr val="windowText" lastClr="000000"/>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904875" y="1117600"/>
            <a:ext cx="5883275" cy="514350"/>
          </a:xfr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defRPr/>
            </a:pPr>
            <a:r>
              <a:rPr kumimoji="0" sz="3200" b="1" i="0" u="none" strike="noStrike" kern="0" cap="none" spc="145" normalizeH="0" baseline="0" noProof="0" dirty="0">
                <a:ln>
                  <a:noFill/>
                </a:ln>
                <a:solidFill>
                  <a:srgbClr val="282B3D"/>
                </a:solidFill>
                <a:effectLst/>
                <a:uLnTx/>
                <a:uFillTx/>
                <a:latin typeface="Arial" panose="020B0604020202020204"/>
                <a:ea typeface="+mj-ea"/>
                <a:cs typeface="Arial" panose="020B0604020202020204"/>
              </a:rPr>
              <a:t>Manulife</a:t>
            </a:r>
            <a:r>
              <a:rPr kumimoji="0" sz="3200" b="1" i="0" u="none" strike="noStrike" kern="0" cap="none" spc="10" normalizeH="0" baseline="0" noProof="0" dirty="0">
                <a:ln>
                  <a:noFill/>
                </a:ln>
                <a:solidFill>
                  <a:srgbClr val="282B3D"/>
                </a:solidFill>
                <a:effectLst/>
                <a:uLnTx/>
                <a:uFillTx/>
                <a:latin typeface="Arial" panose="020B0604020202020204"/>
                <a:ea typeface="+mj-ea"/>
                <a:cs typeface="Arial" panose="020B0604020202020204"/>
              </a:rPr>
              <a:t> </a:t>
            </a:r>
            <a:r>
              <a:rPr kumimoji="0" sz="3200" b="1" i="0" u="none" strike="noStrike" kern="0" cap="none" spc="110" normalizeH="0" baseline="0" noProof="0" dirty="0">
                <a:ln>
                  <a:noFill/>
                </a:ln>
                <a:solidFill>
                  <a:srgbClr val="282B3D"/>
                </a:solidFill>
                <a:effectLst/>
                <a:uLnTx/>
                <a:uFillTx/>
                <a:latin typeface="Arial" panose="020B0604020202020204"/>
                <a:ea typeface="+mj-ea"/>
                <a:cs typeface="Arial" panose="020B0604020202020204"/>
              </a:rPr>
              <a:t>in</a:t>
            </a:r>
            <a:r>
              <a:rPr kumimoji="0" sz="3200" b="1" i="0" u="none" strike="noStrike" kern="0" cap="none" spc="40" normalizeH="0" baseline="0" noProof="0" dirty="0">
                <a:ln>
                  <a:noFill/>
                </a:ln>
                <a:solidFill>
                  <a:srgbClr val="282B3D"/>
                </a:solidFill>
                <a:effectLst/>
                <a:uLnTx/>
                <a:uFillTx/>
                <a:latin typeface="Arial" panose="020B0604020202020204"/>
                <a:ea typeface="+mj-ea"/>
                <a:cs typeface="Arial" panose="020B0604020202020204"/>
              </a:rPr>
              <a:t> </a:t>
            </a:r>
            <a:r>
              <a:rPr kumimoji="0" sz="3200" b="1" i="0" u="none" strike="noStrike" kern="0" cap="none" spc="125" normalizeH="0" baseline="0" noProof="0" dirty="0">
                <a:ln>
                  <a:noFill/>
                </a:ln>
                <a:solidFill>
                  <a:srgbClr val="282B3D"/>
                </a:solidFill>
                <a:effectLst/>
                <a:uLnTx/>
                <a:uFillTx/>
                <a:latin typeface="Arial" panose="020B0604020202020204"/>
                <a:ea typeface="+mj-ea"/>
                <a:cs typeface="Arial" panose="020B0604020202020204"/>
              </a:rPr>
              <a:t>the</a:t>
            </a:r>
            <a:r>
              <a:rPr kumimoji="0" sz="3200" b="1" i="0" u="none" strike="noStrike" kern="0" cap="none" spc="40" normalizeH="0" baseline="0" noProof="0" dirty="0">
                <a:ln>
                  <a:noFill/>
                </a:ln>
                <a:solidFill>
                  <a:srgbClr val="282B3D"/>
                </a:solidFill>
                <a:effectLst/>
                <a:uLnTx/>
                <a:uFillTx/>
                <a:latin typeface="Arial" panose="020B0604020202020204"/>
                <a:ea typeface="+mj-ea"/>
                <a:cs typeface="Arial" panose="020B0604020202020204"/>
              </a:rPr>
              <a:t> </a:t>
            </a:r>
            <a:r>
              <a:rPr kumimoji="0" sz="3200" b="1" i="0" u="none" strike="noStrike" kern="0" cap="none" spc="-10" normalizeH="0" baseline="0" noProof="0" dirty="0">
                <a:ln>
                  <a:noFill/>
                </a:ln>
                <a:solidFill>
                  <a:srgbClr val="282B3D"/>
                </a:solidFill>
                <a:effectLst/>
                <a:uLnTx/>
                <a:uFillTx/>
                <a:latin typeface="Arial" panose="020B0604020202020204"/>
                <a:ea typeface="+mj-ea"/>
                <a:cs typeface="Arial" panose="020B0604020202020204"/>
              </a:rPr>
              <a:t>Philippines…</a:t>
            </a:r>
            <a:endParaRPr kumimoji="0" sz="32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pic>
        <p:nvPicPr>
          <p:cNvPr id="4099" name="object 3"/>
          <p:cNvPicPr>
            <a:picLocks noChangeAspect="1"/>
          </p:cNvPicPr>
          <p:nvPr/>
        </p:nvPicPr>
        <p:blipFill>
          <a:blip r:embed="rId1"/>
          <a:stretch>
            <a:fillRect/>
          </a:stretch>
        </p:blipFill>
        <p:spPr>
          <a:xfrm>
            <a:off x="677863" y="1292225"/>
            <a:ext cx="161925" cy="171450"/>
          </a:xfrm>
          <a:prstGeom prst="rect">
            <a:avLst/>
          </a:prstGeom>
          <a:noFill/>
          <a:ln w="9525">
            <a:noFill/>
          </a:ln>
        </p:spPr>
      </p:pic>
      <p:sp>
        <p:nvSpPr>
          <p:cNvPr id="4" name="object 4"/>
          <p:cNvSpPr txBox="1"/>
          <p:nvPr/>
        </p:nvSpPr>
        <p:spPr>
          <a:xfrm>
            <a:off x="2043113" y="2124075"/>
            <a:ext cx="1204913"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10" normalizeH="0" baseline="0" noProof="0" dirty="0">
                <a:solidFill>
                  <a:sysClr val="windowText" lastClr="000000"/>
                </a:solidFill>
                <a:latin typeface="Arial" panose="020B0604020202020204"/>
                <a:cs typeface="Arial" panose="020B0604020202020204"/>
              </a:rPr>
              <a:t>Established</a:t>
            </a:r>
            <a:endParaRPr kumimoji="0" kern="0" cap="none" spc="0" normalizeH="0" baseline="0" noProof="0">
              <a:solidFill>
                <a:sysClr val="windowText" lastClr="000000"/>
              </a:solidFill>
              <a:latin typeface="Arial" panose="020B0604020202020204"/>
              <a:cs typeface="Arial" panose="020B0604020202020204"/>
            </a:endParaRPr>
          </a:p>
        </p:txBody>
      </p:sp>
      <p:sp>
        <p:nvSpPr>
          <p:cNvPr id="5" name="object 5"/>
          <p:cNvSpPr txBox="1"/>
          <p:nvPr/>
        </p:nvSpPr>
        <p:spPr>
          <a:xfrm>
            <a:off x="1547813" y="2532063"/>
            <a:ext cx="2162175" cy="11223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7200" b="1" kern="0" cap="none" spc="175" normalizeH="0" baseline="0" noProof="0" dirty="0">
                <a:solidFill>
                  <a:srgbClr val="5E5F73"/>
                </a:solidFill>
                <a:latin typeface="Arial" panose="020B0604020202020204"/>
                <a:cs typeface="Arial" panose="020B0604020202020204"/>
              </a:rPr>
              <a:t>1907</a:t>
            </a:r>
            <a:endParaRPr kumimoji="0" sz="7200" kern="0" cap="none" spc="0" normalizeH="0" baseline="0" noProof="0">
              <a:solidFill>
                <a:sysClr val="windowText" lastClr="000000"/>
              </a:solidFill>
              <a:latin typeface="Arial" panose="020B0604020202020204"/>
              <a:cs typeface="Arial" panose="020B0604020202020204"/>
            </a:endParaRPr>
          </a:p>
        </p:txBody>
      </p:sp>
      <p:pic>
        <p:nvPicPr>
          <p:cNvPr id="4102" name="object 6"/>
          <p:cNvPicPr>
            <a:picLocks noChangeAspect="1"/>
          </p:cNvPicPr>
          <p:nvPr/>
        </p:nvPicPr>
        <p:blipFill>
          <a:blip r:embed="rId2"/>
          <a:stretch>
            <a:fillRect/>
          </a:stretch>
        </p:blipFill>
        <p:spPr>
          <a:xfrm>
            <a:off x="1693863" y="3832225"/>
            <a:ext cx="1728787" cy="1676400"/>
          </a:xfrm>
          <a:prstGeom prst="rect">
            <a:avLst/>
          </a:prstGeom>
          <a:noFill/>
          <a:ln w="9525">
            <a:noFill/>
          </a:ln>
        </p:spPr>
      </p:pic>
      <p:sp>
        <p:nvSpPr>
          <p:cNvPr id="7" name="object 7"/>
          <p:cNvSpPr txBox="1"/>
          <p:nvPr/>
        </p:nvSpPr>
        <p:spPr>
          <a:xfrm>
            <a:off x="4789488" y="1997075"/>
            <a:ext cx="2736850" cy="1022350"/>
          </a:xfrm>
          <a:prstGeom prst="rect">
            <a:avLst/>
          </a:prstGeom>
        </p:spPr>
        <p:txBody>
          <a:bodyPr vert="horz" wrap="square" lIns="0" tIns="112395" rIns="0" bIns="0" rtlCol="0">
            <a:spAutoFit/>
          </a:bodyPr>
          <a:lstStyle/>
          <a:p>
            <a:pPr marR="0" algn="ctr" defTabSz="914400" eaLnBrk="1" fontAlgn="auto" hangingPunct="1">
              <a:spcBef>
                <a:spcPts val="885"/>
              </a:spcBef>
              <a:spcAft>
                <a:spcPts val="0"/>
              </a:spcAft>
              <a:buClrTx/>
              <a:buSzTx/>
              <a:buFontTx/>
              <a:buNone/>
              <a:defRPr/>
            </a:pPr>
            <a:r>
              <a:rPr kumimoji="0" kern="0" cap="none" spc="-195" normalizeH="0" baseline="0" noProof="0" dirty="0">
                <a:solidFill>
                  <a:sysClr val="windowText" lastClr="000000"/>
                </a:solidFill>
                <a:latin typeface="Verdana" panose="020B0604030504040204"/>
                <a:cs typeface="Verdana" panose="020B0604030504040204"/>
              </a:rPr>
              <a:t>Wholly-</a:t>
            </a:r>
            <a:r>
              <a:rPr kumimoji="0" kern="0" cap="none" spc="-185" normalizeH="0" baseline="0" noProof="0" dirty="0">
                <a:solidFill>
                  <a:sysClr val="windowText" lastClr="000000"/>
                </a:solidFill>
                <a:latin typeface="Verdana" panose="020B0604030504040204"/>
                <a:cs typeface="Verdana" panose="020B0604030504040204"/>
              </a:rPr>
              <a:t>owned</a:t>
            </a:r>
            <a:r>
              <a:rPr kumimoji="0" kern="0" cap="none" spc="-40" normalizeH="0" baseline="0" noProof="0" dirty="0">
                <a:solidFill>
                  <a:sysClr val="windowText" lastClr="000000"/>
                </a:solidFill>
                <a:latin typeface="Verdana" panose="020B0604030504040204"/>
                <a:cs typeface="Verdana" panose="020B0604030504040204"/>
              </a:rPr>
              <a:t> </a:t>
            </a:r>
            <a:r>
              <a:rPr kumimoji="0" kern="0" cap="none" spc="-114" normalizeH="0" baseline="0" noProof="0" dirty="0">
                <a:solidFill>
                  <a:sysClr val="windowText" lastClr="000000"/>
                </a:solidFill>
                <a:latin typeface="Verdana" panose="020B0604030504040204"/>
                <a:cs typeface="Verdana" panose="020B0604030504040204"/>
              </a:rPr>
              <a:t>subsidiary</a:t>
            </a:r>
            <a:r>
              <a:rPr kumimoji="0" kern="0" cap="none" spc="-65" normalizeH="0" baseline="0" noProof="0" dirty="0">
                <a:solidFill>
                  <a:sysClr val="windowText" lastClr="000000"/>
                </a:solidFill>
                <a:latin typeface="Verdana" panose="020B0604030504040204"/>
                <a:cs typeface="Verdana" panose="020B0604030504040204"/>
              </a:rPr>
              <a:t> </a:t>
            </a:r>
            <a:r>
              <a:rPr kumimoji="0" kern="0" cap="none" spc="-25" normalizeH="0" baseline="0" noProof="0" dirty="0">
                <a:solidFill>
                  <a:sysClr val="windowText" lastClr="000000"/>
                </a:solidFill>
                <a:latin typeface="Verdana" panose="020B0604030504040204"/>
                <a:cs typeface="Verdana" panose="020B0604030504040204"/>
              </a:rPr>
              <a:t>of</a:t>
            </a:r>
            <a:endParaRPr kumimoji="0" kern="0" cap="none" spc="0" normalizeH="0" baseline="0" noProof="0">
              <a:solidFill>
                <a:sysClr val="windowText" lastClr="000000"/>
              </a:solidFill>
              <a:latin typeface="Verdana" panose="020B0604030504040204"/>
              <a:cs typeface="Verdana" panose="020B0604030504040204"/>
            </a:endParaRPr>
          </a:p>
          <a:p>
            <a:pPr marR="0" algn="ctr" defTabSz="914400" eaLnBrk="1" fontAlgn="auto" hangingPunct="1">
              <a:lnSpc>
                <a:spcPts val="2055"/>
              </a:lnSpc>
              <a:spcBef>
                <a:spcPts val="795"/>
              </a:spcBef>
              <a:spcAft>
                <a:spcPts val="0"/>
              </a:spcAft>
              <a:buClrTx/>
              <a:buSzTx/>
              <a:buFontTx/>
              <a:buNone/>
              <a:defRPr/>
            </a:pPr>
            <a:r>
              <a:rPr kumimoji="0" kern="0" cap="none" spc="-105" normalizeH="0" baseline="0" noProof="0" dirty="0">
                <a:solidFill>
                  <a:srgbClr val="00A757"/>
                </a:solidFill>
                <a:latin typeface="Verdana" panose="020B0604030504040204"/>
                <a:cs typeface="Verdana" panose="020B0604030504040204"/>
              </a:rPr>
              <a:t>Manulife</a:t>
            </a:r>
            <a:r>
              <a:rPr kumimoji="0" kern="0" cap="none" spc="-125" normalizeH="0" baseline="0" noProof="0" dirty="0">
                <a:solidFill>
                  <a:srgbClr val="00A757"/>
                </a:solidFill>
                <a:latin typeface="Verdana" panose="020B0604030504040204"/>
                <a:cs typeface="Verdana" panose="020B0604030504040204"/>
              </a:rPr>
              <a:t> </a:t>
            </a:r>
            <a:r>
              <a:rPr kumimoji="0" kern="0" cap="none" spc="-125" normalizeH="0" baseline="0" noProof="0" dirty="0">
                <a:solidFill>
                  <a:sysClr val="windowText" lastClr="000000"/>
                </a:solidFill>
                <a:latin typeface="Verdana" panose="020B0604030504040204"/>
                <a:cs typeface="Verdana" panose="020B0604030504040204"/>
              </a:rPr>
              <a:t>based</a:t>
            </a:r>
            <a:r>
              <a:rPr kumimoji="0" kern="0" cap="none" spc="-105" normalizeH="0" baseline="0" noProof="0" dirty="0">
                <a:solidFill>
                  <a:sysClr val="windowText" lastClr="000000"/>
                </a:solidFill>
                <a:latin typeface="Verdana" panose="020B0604030504040204"/>
                <a:cs typeface="Verdana" panose="020B0604030504040204"/>
              </a:rPr>
              <a:t> in</a:t>
            </a:r>
            <a:r>
              <a:rPr kumimoji="0" kern="0" cap="none" spc="-100" normalizeH="0" baseline="0" noProof="0" dirty="0">
                <a:solidFill>
                  <a:sysClr val="windowText" lastClr="000000"/>
                </a:solidFill>
                <a:latin typeface="Verdana" panose="020B0604030504040204"/>
                <a:cs typeface="Verdana" panose="020B0604030504040204"/>
              </a:rPr>
              <a:t> </a:t>
            </a:r>
            <a:r>
              <a:rPr kumimoji="0" kern="0" cap="none" spc="-80" normalizeH="0" baseline="0" noProof="0" dirty="0">
                <a:solidFill>
                  <a:sysClr val="windowText" lastClr="000000"/>
                </a:solidFill>
                <a:latin typeface="Verdana" panose="020B0604030504040204"/>
                <a:cs typeface="Verdana" panose="020B0604030504040204"/>
              </a:rPr>
              <a:t>Toronto,</a:t>
            </a:r>
            <a:endParaRPr kumimoji="0" kern="0" cap="none" spc="0" normalizeH="0" baseline="0" noProof="0">
              <a:solidFill>
                <a:sysClr val="windowText" lastClr="000000"/>
              </a:solidFill>
              <a:latin typeface="Verdana" panose="020B0604030504040204"/>
              <a:cs typeface="Verdana" panose="020B0604030504040204"/>
            </a:endParaRPr>
          </a:p>
          <a:p>
            <a:pPr marL="635" marR="0" algn="ctr" defTabSz="914400" eaLnBrk="1" fontAlgn="auto" hangingPunct="1">
              <a:lnSpc>
                <a:spcPts val="2055"/>
              </a:lnSpc>
              <a:spcBef>
                <a:spcPts val="0"/>
              </a:spcBef>
              <a:spcAft>
                <a:spcPts val="0"/>
              </a:spcAft>
              <a:buClrTx/>
              <a:buSzTx/>
              <a:buFontTx/>
              <a:buNone/>
              <a:defRPr/>
            </a:pPr>
            <a:r>
              <a:rPr kumimoji="0" kern="0" cap="none" spc="-10" normalizeH="0" baseline="0" noProof="0" dirty="0">
                <a:solidFill>
                  <a:sysClr val="windowText" lastClr="000000"/>
                </a:solidFill>
                <a:latin typeface="Verdana" panose="020B0604030504040204"/>
                <a:cs typeface="Verdana" panose="020B0604030504040204"/>
              </a:rPr>
              <a:t>Canada</a:t>
            </a:r>
            <a:endParaRPr kumimoji="0" kern="0" cap="none" spc="0" normalizeH="0" baseline="0" noProof="0">
              <a:solidFill>
                <a:sysClr val="windowText" lastClr="000000"/>
              </a:solidFill>
              <a:latin typeface="Verdana" panose="020B0604030504040204"/>
              <a:cs typeface="Verdana" panose="020B0604030504040204"/>
            </a:endParaRPr>
          </a:p>
        </p:txBody>
      </p:sp>
      <p:pic>
        <p:nvPicPr>
          <p:cNvPr id="4104" name="object 8"/>
          <p:cNvPicPr>
            <a:picLocks noChangeAspect="1"/>
          </p:cNvPicPr>
          <p:nvPr/>
        </p:nvPicPr>
        <p:blipFill>
          <a:blip r:embed="rId3"/>
          <a:stretch>
            <a:fillRect/>
          </a:stretch>
        </p:blipFill>
        <p:spPr>
          <a:xfrm>
            <a:off x="4629150" y="2747963"/>
            <a:ext cx="3057525" cy="2990850"/>
          </a:xfrm>
          <a:prstGeom prst="rect">
            <a:avLst/>
          </a:prstGeom>
          <a:noFill/>
          <a:ln w="9525">
            <a:noFill/>
          </a:ln>
        </p:spPr>
      </p:pic>
      <p:sp>
        <p:nvSpPr>
          <p:cNvPr id="9" name="object 9"/>
          <p:cNvSpPr txBox="1"/>
          <p:nvPr/>
        </p:nvSpPr>
        <p:spPr>
          <a:xfrm>
            <a:off x="8870950" y="2151063"/>
            <a:ext cx="2232025" cy="1041400"/>
          </a:xfrm>
          <a:prstGeom prst="rect">
            <a:avLst/>
          </a:prstGeom>
        </p:spPr>
        <p:txBody>
          <a:bodyPr vert="horz" wrap="square" lIns="0" tIns="43815" rIns="0" bIns="0" rtlCol="0">
            <a:spAutoFit/>
          </a:bodyPr>
          <a:p>
            <a:pPr marL="11430" algn="ctr" eaLnBrk="1" hangingPunct="1">
              <a:lnSpc>
                <a:spcPts val="1940"/>
              </a:lnSpc>
              <a:spcBef>
                <a:spcPts val="350"/>
              </a:spcBef>
              <a:buNone/>
            </a:pPr>
            <a:r>
              <a:rPr lang="en-US" altLang="zh-CN">
                <a:solidFill>
                  <a:srgbClr val="000000"/>
                </a:solidFill>
                <a:latin typeface="Verdana" panose="020B0604030504040204" pitchFamily="34" charset="0"/>
                <a:cs typeface="Verdana" panose="020B0604030504040204" pitchFamily="34" charset="0"/>
              </a:rPr>
              <a:t>With a </a:t>
            </a:r>
            <a:r>
              <a:rPr lang="en-US" altLang="zh-CN">
                <a:solidFill>
                  <a:srgbClr val="00A757"/>
                </a:solidFill>
                <a:latin typeface="Verdana" panose="020B0604030504040204" pitchFamily="34" charset="0"/>
                <a:cs typeface="Verdana" panose="020B0604030504040204" pitchFamily="34" charset="0"/>
              </a:rPr>
              <a:t>dynamic management team </a:t>
            </a:r>
            <a:r>
              <a:rPr lang="en-US" altLang="zh-CN">
                <a:solidFill>
                  <a:srgbClr val="000000"/>
                </a:solidFill>
                <a:latin typeface="Verdana" panose="020B0604030504040204" pitchFamily="34" charset="0"/>
                <a:cs typeface="Verdana" panose="020B0604030504040204" pitchFamily="34" charset="0"/>
              </a:rPr>
              <a:t>composed of financial services experts</a:t>
            </a:r>
            <a:endParaRPr lang="en-US" altLang="zh-CN">
              <a:solidFill>
                <a:srgbClr val="000000"/>
              </a:solidFill>
              <a:latin typeface="Verdana" panose="020B0604030504040204" pitchFamily="34" charset="0"/>
              <a:ea typeface="Verdana" panose="020B0604030504040204" pitchFamily="34" charset="0"/>
            </a:endParaRPr>
          </a:p>
        </p:txBody>
      </p:sp>
      <p:pic>
        <p:nvPicPr>
          <p:cNvPr id="4106" name="object 10"/>
          <p:cNvPicPr>
            <a:picLocks noChangeAspect="1"/>
          </p:cNvPicPr>
          <p:nvPr/>
        </p:nvPicPr>
        <p:blipFill>
          <a:blip r:embed="rId4"/>
          <a:stretch>
            <a:fillRect/>
          </a:stretch>
        </p:blipFill>
        <p:spPr>
          <a:xfrm>
            <a:off x="9036050" y="3651250"/>
            <a:ext cx="1841500" cy="1766888"/>
          </a:xfrm>
          <a:prstGeom prst="rect">
            <a:avLst/>
          </a:prstGeom>
          <a:noFill/>
          <a:ln w="9525">
            <a:noFill/>
          </a:ln>
        </p:spPr>
      </p:pic>
      <p:sp>
        <p:nvSpPr>
          <p:cNvPr id="11" name="object 11"/>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3262313" y="207963"/>
            <a:ext cx="5667375" cy="482600"/>
          </a:xfr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Group</a:t>
            </a:r>
            <a:r>
              <a:rPr kumimoji="0" sz="3000" b="1" i="0" u="none" strike="noStrike" kern="0" cap="none" spc="40"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65" normalizeH="0" baseline="0" noProof="0" dirty="0">
                <a:ln>
                  <a:noFill/>
                </a:ln>
                <a:solidFill>
                  <a:srgbClr val="000000"/>
                </a:solidFill>
                <a:effectLst/>
                <a:uLnTx/>
                <a:uFillTx/>
                <a:latin typeface="Arial" panose="020B0604020202020204"/>
                <a:ea typeface="+mj-ea"/>
                <a:cs typeface="Arial" panose="020B0604020202020204"/>
              </a:rPr>
              <a:t>Life</a:t>
            </a:r>
            <a:r>
              <a:rPr kumimoji="0" sz="3000" b="1" i="0" u="none" strike="noStrike" kern="0" cap="none" spc="40"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70" normalizeH="0" baseline="0" noProof="0" dirty="0">
                <a:ln>
                  <a:noFill/>
                </a:ln>
                <a:solidFill>
                  <a:srgbClr val="000000"/>
                </a:solidFill>
                <a:effectLst/>
                <a:uLnTx/>
                <a:uFillTx/>
                <a:latin typeface="Arial" panose="020B0604020202020204"/>
                <a:ea typeface="+mj-ea"/>
                <a:cs typeface="Arial" panose="020B0604020202020204"/>
              </a:rPr>
              <a:t>Insurance</a:t>
            </a:r>
            <a:r>
              <a:rPr kumimoji="0" sz="3000" b="1" i="0" u="none" strike="noStrike" kern="0" cap="none" spc="2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Benefits</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grpSp>
        <p:nvGrpSpPr>
          <p:cNvPr id="5123" name="object 3"/>
          <p:cNvGrpSpPr/>
          <p:nvPr/>
        </p:nvGrpSpPr>
        <p:grpSpPr>
          <a:xfrm>
            <a:off x="2533650" y="849313"/>
            <a:ext cx="2189163" cy="2547937"/>
            <a:chOff x="2533586" y="848550"/>
            <a:chExt cx="2188845" cy="2548890"/>
          </a:xfrm>
        </p:grpSpPr>
        <p:sp>
          <p:nvSpPr>
            <p:cNvPr id="5151" name="object 4"/>
            <p:cNvSpPr/>
            <p:nvPr/>
          </p:nvSpPr>
          <p:spPr>
            <a:xfrm>
              <a:off x="2547873" y="862838"/>
              <a:ext cx="2160270" cy="2520315"/>
            </a:xfrm>
            <a:custGeom>
              <a:avLst/>
              <a:gdLst/>
              <a:ahLst/>
              <a:cxnLst/>
              <a:pathLst>
                <a:path w="2160270" h="2520315">
                  <a:moveTo>
                    <a:pt x="2023237" y="0"/>
                  </a:moveTo>
                  <a:lnTo>
                    <a:pt x="136778" y="0"/>
                  </a:lnTo>
                  <a:lnTo>
                    <a:pt x="93537" y="6970"/>
                  </a:lnTo>
                  <a:lnTo>
                    <a:pt x="55988" y="26383"/>
                  </a:lnTo>
                  <a:lnTo>
                    <a:pt x="26383" y="55988"/>
                  </a:lnTo>
                  <a:lnTo>
                    <a:pt x="6970" y="93537"/>
                  </a:lnTo>
                  <a:lnTo>
                    <a:pt x="0" y="136778"/>
                  </a:lnTo>
                  <a:lnTo>
                    <a:pt x="0" y="2383282"/>
                  </a:lnTo>
                  <a:lnTo>
                    <a:pt x="6970" y="2426523"/>
                  </a:lnTo>
                  <a:lnTo>
                    <a:pt x="26383" y="2464072"/>
                  </a:lnTo>
                  <a:lnTo>
                    <a:pt x="55988" y="2493677"/>
                  </a:lnTo>
                  <a:lnTo>
                    <a:pt x="93537" y="2513090"/>
                  </a:lnTo>
                  <a:lnTo>
                    <a:pt x="136778" y="2520061"/>
                  </a:lnTo>
                  <a:lnTo>
                    <a:pt x="2023237" y="2520061"/>
                  </a:lnTo>
                  <a:lnTo>
                    <a:pt x="2066478" y="2513090"/>
                  </a:lnTo>
                  <a:lnTo>
                    <a:pt x="2104027" y="2493677"/>
                  </a:lnTo>
                  <a:lnTo>
                    <a:pt x="2133632" y="2464072"/>
                  </a:lnTo>
                  <a:lnTo>
                    <a:pt x="2153045" y="2426523"/>
                  </a:lnTo>
                  <a:lnTo>
                    <a:pt x="2160016" y="2383282"/>
                  </a:lnTo>
                  <a:lnTo>
                    <a:pt x="2160016" y="136778"/>
                  </a:lnTo>
                  <a:lnTo>
                    <a:pt x="2153045" y="93537"/>
                  </a:lnTo>
                  <a:lnTo>
                    <a:pt x="2133632" y="55988"/>
                  </a:lnTo>
                  <a:lnTo>
                    <a:pt x="2104027" y="26383"/>
                  </a:lnTo>
                  <a:lnTo>
                    <a:pt x="2066478" y="6970"/>
                  </a:lnTo>
                  <a:lnTo>
                    <a:pt x="2023237" y="0"/>
                  </a:lnTo>
                  <a:close/>
                </a:path>
              </a:pathLst>
            </a:custGeom>
            <a:solidFill>
              <a:srgbClr val="00A757">
                <a:alpha val="100000"/>
              </a:srgbClr>
            </a:solidFill>
            <a:ln w="9525">
              <a:noFill/>
            </a:ln>
          </p:spPr>
          <p:txBody>
            <a:bodyPr/>
            <a:p>
              <a:endParaRPr lang="en-US"/>
            </a:p>
          </p:txBody>
        </p:sp>
        <p:sp>
          <p:nvSpPr>
            <p:cNvPr id="5152" name="object 5"/>
            <p:cNvSpPr/>
            <p:nvPr/>
          </p:nvSpPr>
          <p:spPr>
            <a:xfrm>
              <a:off x="2547873" y="862838"/>
              <a:ext cx="2160270" cy="2520315"/>
            </a:xfrm>
            <a:custGeom>
              <a:avLst/>
              <a:gdLst/>
              <a:ahLst/>
              <a:cxnLst/>
              <a:pathLst>
                <a:path w="2160270" h="2520315">
                  <a:moveTo>
                    <a:pt x="0" y="136778"/>
                  </a:moveTo>
                  <a:lnTo>
                    <a:pt x="6970" y="93537"/>
                  </a:lnTo>
                  <a:lnTo>
                    <a:pt x="26383" y="55988"/>
                  </a:lnTo>
                  <a:lnTo>
                    <a:pt x="55988" y="26383"/>
                  </a:lnTo>
                  <a:lnTo>
                    <a:pt x="93537" y="6970"/>
                  </a:lnTo>
                  <a:lnTo>
                    <a:pt x="136778" y="0"/>
                  </a:lnTo>
                  <a:lnTo>
                    <a:pt x="2023237" y="0"/>
                  </a:lnTo>
                  <a:lnTo>
                    <a:pt x="2066478" y="6970"/>
                  </a:lnTo>
                  <a:lnTo>
                    <a:pt x="2104027" y="26383"/>
                  </a:lnTo>
                  <a:lnTo>
                    <a:pt x="2133632" y="55988"/>
                  </a:lnTo>
                  <a:lnTo>
                    <a:pt x="2153045" y="93537"/>
                  </a:lnTo>
                  <a:lnTo>
                    <a:pt x="2160016" y="136778"/>
                  </a:lnTo>
                  <a:lnTo>
                    <a:pt x="2160016" y="2383282"/>
                  </a:lnTo>
                  <a:lnTo>
                    <a:pt x="2153045" y="2426523"/>
                  </a:lnTo>
                  <a:lnTo>
                    <a:pt x="2133632" y="2464072"/>
                  </a:lnTo>
                  <a:lnTo>
                    <a:pt x="2104027" y="2493677"/>
                  </a:lnTo>
                  <a:lnTo>
                    <a:pt x="2066478" y="2513090"/>
                  </a:lnTo>
                  <a:lnTo>
                    <a:pt x="2023237" y="2520061"/>
                  </a:lnTo>
                  <a:lnTo>
                    <a:pt x="136778" y="2520061"/>
                  </a:lnTo>
                  <a:lnTo>
                    <a:pt x="93537" y="2513090"/>
                  </a:lnTo>
                  <a:lnTo>
                    <a:pt x="55988" y="2493677"/>
                  </a:lnTo>
                  <a:lnTo>
                    <a:pt x="26383" y="2464072"/>
                  </a:lnTo>
                  <a:lnTo>
                    <a:pt x="6970" y="2426523"/>
                  </a:lnTo>
                  <a:lnTo>
                    <a:pt x="0" y="2383282"/>
                  </a:lnTo>
                  <a:lnTo>
                    <a:pt x="0" y="13677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5153" name="object 6"/>
            <p:cNvSpPr/>
            <p:nvPr/>
          </p:nvSpPr>
          <p:spPr>
            <a:xfrm>
              <a:off x="2727959" y="1042924"/>
              <a:ext cx="1800225" cy="1080135"/>
            </a:xfrm>
            <a:custGeom>
              <a:avLst/>
              <a:gdLst/>
              <a:ahLst/>
              <a:cxnLst/>
              <a:pathLst>
                <a:path w="1800225" h="1080135">
                  <a:moveTo>
                    <a:pt x="1731517" y="0"/>
                  </a:moveTo>
                  <a:lnTo>
                    <a:pt x="68325" y="0"/>
                  </a:lnTo>
                  <a:lnTo>
                    <a:pt x="41737" y="5371"/>
                  </a:lnTo>
                  <a:lnTo>
                    <a:pt x="20018" y="20018"/>
                  </a:lnTo>
                  <a:lnTo>
                    <a:pt x="5371" y="41737"/>
                  </a:lnTo>
                  <a:lnTo>
                    <a:pt x="0" y="68325"/>
                  </a:lnTo>
                  <a:lnTo>
                    <a:pt x="0" y="1011554"/>
                  </a:lnTo>
                  <a:lnTo>
                    <a:pt x="5371" y="1038217"/>
                  </a:lnTo>
                  <a:lnTo>
                    <a:pt x="20018" y="1059973"/>
                  </a:lnTo>
                  <a:lnTo>
                    <a:pt x="41737" y="1074634"/>
                  </a:lnTo>
                  <a:lnTo>
                    <a:pt x="68325" y="1080008"/>
                  </a:lnTo>
                  <a:lnTo>
                    <a:pt x="1731517" y="1080008"/>
                  </a:lnTo>
                  <a:lnTo>
                    <a:pt x="1758180" y="1074634"/>
                  </a:lnTo>
                  <a:lnTo>
                    <a:pt x="1779936" y="1059973"/>
                  </a:lnTo>
                  <a:lnTo>
                    <a:pt x="1794597" y="1038217"/>
                  </a:lnTo>
                  <a:lnTo>
                    <a:pt x="1799970" y="1011554"/>
                  </a:lnTo>
                  <a:lnTo>
                    <a:pt x="1799970" y="68325"/>
                  </a:lnTo>
                  <a:lnTo>
                    <a:pt x="1794597" y="41737"/>
                  </a:lnTo>
                  <a:lnTo>
                    <a:pt x="1779936" y="20018"/>
                  </a:lnTo>
                  <a:lnTo>
                    <a:pt x="1758180" y="5371"/>
                  </a:lnTo>
                  <a:lnTo>
                    <a:pt x="1731517" y="0"/>
                  </a:lnTo>
                  <a:close/>
                </a:path>
              </a:pathLst>
            </a:custGeom>
            <a:solidFill>
              <a:srgbClr val="E8E9EB">
                <a:alpha val="100000"/>
              </a:srgbClr>
            </a:solidFill>
            <a:ln w="9525">
              <a:noFill/>
            </a:ln>
          </p:spPr>
          <p:txBody>
            <a:bodyPr/>
            <a:p>
              <a:endParaRPr lang="en-US"/>
            </a:p>
          </p:txBody>
        </p:sp>
      </p:grpSp>
      <p:sp>
        <p:nvSpPr>
          <p:cNvPr id="7" name="object 7"/>
          <p:cNvSpPr txBox="1"/>
          <p:nvPr/>
        </p:nvSpPr>
        <p:spPr>
          <a:xfrm>
            <a:off x="3151188" y="2211388"/>
            <a:ext cx="952500" cy="484188"/>
          </a:xfrm>
          <a:prstGeom prst="rect">
            <a:avLst/>
          </a:prstGeom>
        </p:spPr>
        <p:txBody>
          <a:bodyPr vert="horz" wrap="square" lIns="0" tIns="12700" rIns="0" bIns="0" rtlCol="0">
            <a:spAutoFit/>
          </a:bodyPr>
          <a:lstStyle/>
          <a:p>
            <a:pPr marR="0" algn="ctr" defTabSz="914400" eaLnBrk="1" fontAlgn="auto" hangingPunct="1">
              <a:spcBef>
                <a:spcPts val="100"/>
              </a:spcBef>
              <a:spcAft>
                <a:spcPts val="0"/>
              </a:spcAft>
              <a:buClrTx/>
              <a:buSzTx/>
              <a:buFontTx/>
              <a:buNone/>
              <a:defRPr/>
            </a:pPr>
            <a:r>
              <a:rPr kumimoji="0" sz="1500" b="1" kern="0" cap="none" spc="0" normalizeH="0" baseline="0" noProof="0" dirty="0">
                <a:solidFill>
                  <a:srgbClr val="FFFFFF"/>
                </a:solidFill>
                <a:latin typeface="Arial" panose="020B0604020202020204"/>
                <a:cs typeface="Arial" panose="020B0604020202020204"/>
              </a:rPr>
              <a:t>Basic</a:t>
            </a:r>
            <a:r>
              <a:rPr kumimoji="0" sz="1500" b="1" kern="0" cap="none" spc="25" normalizeH="0" baseline="0" noProof="0" dirty="0">
                <a:solidFill>
                  <a:srgbClr val="FFFFFF"/>
                </a:solidFill>
                <a:latin typeface="Arial" panose="020B0604020202020204"/>
                <a:cs typeface="Arial" panose="020B0604020202020204"/>
              </a:rPr>
              <a:t> </a:t>
            </a:r>
            <a:r>
              <a:rPr kumimoji="0" sz="1500" b="1" kern="0" cap="none" spc="-20" normalizeH="0" baseline="0" noProof="0" dirty="0">
                <a:solidFill>
                  <a:srgbClr val="FFFFFF"/>
                </a:solidFill>
                <a:latin typeface="Arial" panose="020B0604020202020204"/>
                <a:cs typeface="Arial" panose="020B0604020202020204"/>
              </a:rPr>
              <a:t>Life</a:t>
            </a:r>
            <a:endParaRPr kumimoji="0" sz="1500" kern="0" cap="none" spc="0" normalizeH="0" baseline="0" noProof="0">
              <a:solidFill>
                <a:sysClr val="windowText" lastClr="000000"/>
              </a:solidFill>
              <a:latin typeface="Arial" panose="020B0604020202020204"/>
              <a:cs typeface="Arial" panose="020B0604020202020204"/>
            </a:endParaRPr>
          </a:p>
          <a:p>
            <a:pPr marL="635" marR="0" algn="ctr" defTabSz="914400" eaLnBrk="1" fontAlgn="auto" hangingPunct="1">
              <a:spcBef>
                <a:spcPts val="0"/>
              </a:spcBef>
              <a:spcAft>
                <a:spcPts val="0"/>
              </a:spcAft>
              <a:buClrTx/>
              <a:buSzTx/>
              <a:buFontTx/>
              <a:buNone/>
              <a:defRPr/>
            </a:pPr>
            <a:r>
              <a:rPr kumimoji="0" sz="1500" b="1" kern="0" cap="none" spc="-20" normalizeH="0" baseline="0" noProof="0" dirty="0">
                <a:solidFill>
                  <a:srgbClr val="FFFFFF"/>
                </a:solidFill>
                <a:latin typeface="Arial" panose="020B0604020202020204"/>
                <a:cs typeface="Arial" panose="020B0604020202020204"/>
              </a:rPr>
              <a:t>(BL)</a:t>
            </a:r>
            <a:endParaRPr kumimoji="0" sz="1500" kern="0" cap="none" spc="0" normalizeH="0" baseline="0" noProof="0">
              <a:solidFill>
                <a:sysClr val="windowText" lastClr="000000"/>
              </a:solidFill>
              <a:latin typeface="Arial" panose="020B0604020202020204"/>
              <a:cs typeface="Arial" panose="020B0604020202020204"/>
            </a:endParaRPr>
          </a:p>
        </p:txBody>
      </p:sp>
      <p:pic>
        <p:nvPicPr>
          <p:cNvPr id="5125" name="object 8"/>
          <p:cNvPicPr>
            <a:picLocks noChangeAspect="1"/>
          </p:cNvPicPr>
          <p:nvPr/>
        </p:nvPicPr>
        <p:blipFill>
          <a:blip r:embed="rId1"/>
          <a:stretch>
            <a:fillRect/>
          </a:stretch>
        </p:blipFill>
        <p:spPr>
          <a:xfrm>
            <a:off x="3167063" y="1222375"/>
            <a:ext cx="922337" cy="720725"/>
          </a:xfrm>
          <a:prstGeom prst="rect">
            <a:avLst/>
          </a:prstGeom>
          <a:noFill/>
          <a:ln w="9525">
            <a:noFill/>
          </a:ln>
        </p:spPr>
      </p:pic>
      <p:grpSp>
        <p:nvGrpSpPr>
          <p:cNvPr id="5126" name="object 9"/>
          <p:cNvGrpSpPr/>
          <p:nvPr/>
        </p:nvGrpSpPr>
        <p:grpSpPr>
          <a:xfrm>
            <a:off x="5262563" y="857250"/>
            <a:ext cx="2189162" cy="2547938"/>
            <a:chOff x="5262181" y="856932"/>
            <a:chExt cx="2188845" cy="2548890"/>
          </a:xfrm>
        </p:grpSpPr>
        <p:sp>
          <p:nvSpPr>
            <p:cNvPr id="5148" name="object 10"/>
            <p:cNvSpPr/>
            <p:nvPr/>
          </p:nvSpPr>
          <p:spPr>
            <a:xfrm>
              <a:off x="5276469" y="871219"/>
              <a:ext cx="2160270" cy="2520315"/>
            </a:xfrm>
            <a:custGeom>
              <a:avLst/>
              <a:gdLst/>
              <a:ahLst/>
              <a:cxnLst/>
              <a:pathLst>
                <a:path w="2160270" h="2520315">
                  <a:moveTo>
                    <a:pt x="2023236" y="0"/>
                  </a:moveTo>
                  <a:lnTo>
                    <a:pt x="136651" y="0"/>
                  </a:lnTo>
                  <a:lnTo>
                    <a:pt x="93471" y="6969"/>
                  </a:lnTo>
                  <a:lnTo>
                    <a:pt x="55961" y="26375"/>
                  </a:lnTo>
                  <a:lnTo>
                    <a:pt x="26375" y="55961"/>
                  </a:lnTo>
                  <a:lnTo>
                    <a:pt x="6969" y="93472"/>
                  </a:lnTo>
                  <a:lnTo>
                    <a:pt x="0" y="136651"/>
                  </a:lnTo>
                  <a:lnTo>
                    <a:pt x="0" y="2383281"/>
                  </a:lnTo>
                  <a:lnTo>
                    <a:pt x="6969" y="2426462"/>
                  </a:lnTo>
                  <a:lnTo>
                    <a:pt x="26375" y="2463972"/>
                  </a:lnTo>
                  <a:lnTo>
                    <a:pt x="55961" y="2493558"/>
                  </a:lnTo>
                  <a:lnTo>
                    <a:pt x="93472" y="2512964"/>
                  </a:lnTo>
                  <a:lnTo>
                    <a:pt x="136651" y="2519933"/>
                  </a:lnTo>
                  <a:lnTo>
                    <a:pt x="2023236" y="2519933"/>
                  </a:lnTo>
                  <a:lnTo>
                    <a:pt x="2066416" y="2512964"/>
                  </a:lnTo>
                  <a:lnTo>
                    <a:pt x="2103927" y="2493558"/>
                  </a:lnTo>
                  <a:lnTo>
                    <a:pt x="2133513" y="2463972"/>
                  </a:lnTo>
                  <a:lnTo>
                    <a:pt x="2152919" y="2426461"/>
                  </a:lnTo>
                  <a:lnTo>
                    <a:pt x="2159888" y="2383281"/>
                  </a:lnTo>
                  <a:lnTo>
                    <a:pt x="2159888" y="136651"/>
                  </a:lnTo>
                  <a:lnTo>
                    <a:pt x="2152919" y="93471"/>
                  </a:lnTo>
                  <a:lnTo>
                    <a:pt x="2133513" y="55961"/>
                  </a:lnTo>
                  <a:lnTo>
                    <a:pt x="2103927" y="26375"/>
                  </a:lnTo>
                  <a:lnTo>
                    <a:pt x="2066416" y="6969"/>
                  </a:lnTo>
                  <a:lnTo>
                    <a:pt x="2023236" y="0"/>
                  </a:lnTo>
                  <a:close/>
                </a:path>
              </a:pathLst>
            </a:custGeom>
            <a:solidFill>
              <a:srgbClr val="00A757">
                <a:alpha val="100000"/>
              </a:srgbClr>
            </a:solidFill>
            <a:ln w="9525">
              <a:noFill/>
            </a:ln>
          </p:spPr>
          <p:txBody>
            <a:bodyPr/>
            <a:p>
              <a:endParaRPr lang="en-US"/>
            </a:p>
          </p:txBody>
        </p:sp>
        <p:sp>
          <p:nvSpPr>
            <p:cNvPr id="5149" name="object 11"/>
            <p:cNvSpPr/>
            <p:nvPr/>
          </p:nvSpPr>
          <p:spPr>
            <a:xfrm>
              <a:off x="5276469" y="871219"/>
              <a:ext cx="2160270" cy="2520315"/>
            </a:xfrm>
            <a:custGeom>
              <a:avLst/>
              <a:gdLst/>
              <a:ahLst/>
              <a:cxnLst/>
              <a:pathLst>
                <a:path w="2160270" h="2520315">
                  <a:moveTo>
                    <a:pt x="0" y="136651"/>
                  </a:moveTo>
                  <a:lnTo>
                    <a:pt x="6969" y="93472"/>
                  </a:lnTo>
                  <a:lnTo>
                    <a:pt x="26375" y="55961"/>
                  </a:lnTo>
                  <a:lnTo>
                    <a:pt x="55961" y="26375"/>
                  </a:lnTo>
                  <a:lnTo>
                    <a:pt x="93471" y="6969"/>
                  </a:lnTo>
                  <a:lnTo>
                    <a:pt x="136651" y="0"/>
                  </a:lnTo>
                  <a:lnTo>
                    <a:pt x="2023236" y="0"/>
                  </a:lnTo>
                  <a:lnTo>
                    <a:pt x="2066416" y="6969"/>
                  </a:lnTo>
                  <a:lnTo>
                    <a:pt x="2103927" y="26375"/>
                  </a:lnTo>
                  <a:lnTo>
                    <a:pt x="2133513" y="55961"/>
                  </a:lnTo>
                  <a:lnTo>
                    <a:pt x="2152919" y="93471"/>
                  </a:lnTo>
                  <a:lnTo>
                    <a:pt x="2159888" y="136651"/>
                  </a:lnTo>
                  <a:lnTo>
                    <a:pt x="2159888" y="2383281"/>
                  </a:lnTo>
                  <a:lnTo>
                    <a:pt x="2152919" y="2426461"/>
                  </a:lnTo>
                  <a:lnTo>
                    <a:pt x="2133513" y="2463972"/>
                  </a:lnTo>
                  <a:lnTo>
                    <a:pt x="2103927" y="2493558"/>
                  </a:lnTo>
                  <a:lnTo>
                    <a:pt x="2066416" y="2512964"/>
                  </a:lnTo>
                  <a:lnTo>
                    <a:pt x="2023236" y="2519933"/>
                  </a:lnTo>
                  <a:lnTo>
                    <a:pt x="136651" y="2519933"/>
                  </a:lnTo>
                  <a:lnTo>
                    <a:pt x="93472" y="2512964"/>
                  </a:lnTo>
                  <a:lnTo>
                    <a:pt x="55961" y="2493558"/>
                  </a:lnTo>
                  <a:lnTo>
                    <a:pt x="26375" y="2463972"/>
                  </a:lnTo>
                  <a:lnTo>
                    <a:pt x="6969" y="2426462"/>
                  </a:lnTo>
                  <a:lnTo>
                    <a:pt x="0" y="2383281"/>
                  </a:lnTo>
                  <a:lnTo>
                    <a:pt x="0" y="13665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5150" name="object 12"/>
            <p:cNvSpPr/>
            <p:nvPr/>
          </p:nvSpPr>
          <p:spPr>
            <a:xfrm>
              <a:off x="5456428" y="1051178"/>
              <a:ext cx="1800225" cy="1080135"/>
            </a:xfrm>
            <a:custGeom>
              <a:avLst/>
              <a:gdLst/>
              <a:ahLst/>
              <a:cxnLst/>
              <a:pathLst>
                <a:path w="1800225" h="1080135">
                  <a:moveTo>
                    <a:pt x="1731645" y="0"/>
                  </a:moveTo>
                  <a:lnTo>
                    <a:pt x="68325" y="0"/>
                  </a:lnTo>
                  <a:lnTo>
                    <a:pt x="41737" y="5371"/>
                  </a:lnTo>
                  <a:lnTo>
                    <a:pt x="20018" y="20018"/>
                  </a:lnTo>
                  <a:lnTo>
                    <a:pt x="5371" y="41737"/>
                  </a:lnTo>
                  <a:lnTo>
                    <a:pt x="0" y="68325"/>
                  </a:lnTo>
                  <a:lnTo>
                    <a:pt x="0" y="1011682"/>
                  </a:lnTo>
                  <a:lnTo>
                    <a:pt x="5371" y="1038270"/>
                  </a:lnTo>
                  <a:lnTo>
                    <a:pt x="20018" y="1059989"/>
                  </a:lnTo>
                  <a:lnTo>
                    <a:pt x="41737" y="1074636"/>
                  </a:lnTo>
                  <a:lnTo>
                    <a:pt x="68325" y="1080008"/>
                  </a:lnTo>
                  <a:lnTo>
                    <a:pt x="1731645" y="1080008"/>
                  </a:lnTo>
                  <a:lnTo>
                    <a:pt x="1758233" y="1074636"/>
                  </a:lnTo>
                  <a:lnTo>
                    <a:pt x="1779952" y="1059989"/>
                  </a:lnTo>
                  <a:lnTo>
                    <a:pt x="1794599" y="1038270"/>
                  </a:lnTo>
                  <a:lnTo>
                    <a:pt x="1799971" y="1011682"/>
                  </a:lnTo>
                  <a:lnTo>
                    <a:pt x="1799971" y="68325"/>
                  </a:lnTo>
                  <a:lnTo>
                    <a:pt x="1794599" y="41737"/>
                  </a:lnTo>
                  <a:lnTo>
                    <a:pt x="1779952" y="20018"/>
                  </a:lnTo>
                  <a:lnTo>
                    <a:pt x="1758233" y="5371"/>
                  </a:lnTo>
                  <a:lnTo>
                    <a:pt x="1731645" y="0"/>
                  </a:lnTo>
                  <a:close/>
                </a:path>
              </a:pathLst>
            </a:custGeom>
            <a:solidFill>
              <a:srgbClr val="E8E9EB">
                <a:alpha val="100000"/>
              </a:srgbClr>
            </a:solidFill>
            <a:ln w="9525">
              <a:noFill/>
            </a:ln>
          </p:spPr>
          <p:txBody>
            <a:bodyPr/>
            <a:p>
              <a:endParaRPr lang="en-US"/>
            </a:p>
          </p:txBody>
        </p:sp>
      </p:grpSp>
      <p:sp>
        <p:nvSpPr>
          <p:cNvPr id="13" name="object 13"/>
          <p:cNvSpPr txBox="1"/>
          <p:nvPr/>
        </p:nvSpPr>
        <p:spPr>
          <a:xfrm>
            <a:off x="5559425" y="2220913"/>
            <a:ext cx="1595438" cy="1092200"/>
          </a:xfrm>
          <a:prstGeom prst="rect">
            <a:avLst/>
          </a:prstGeom>
        </p:spPr>
        <p:txBody>
          <a:bodyPr vert="horz" wrap="square" lIns="0" tIns="13335" rIns="0" bIns="0" rtlCol="0">
            <a:spAutoFit/>
          </a:bodyPr>
          <a:p>
            <a:pPr marL="12700" algn="ctr" eaLnBrk="1" hangingPunct="1">
              <a:spcBef>
                <a:spcPts val="100"/>
              </a:spcBef>
              <a:buNone/>
            </a:pPr>
            <a:r>
              <a:rPr lang="en-US" altLang="zh-CN" sz="1400" b="1">
                <a:solidFill>
                  <a:srgbClr val="FFFFFF"/>
                </a:solidFill>
                <a:cs typeface="Arial" panose="020B0604020202020204" pitchFamily="34" charset="0"/>
              </a:rPr>
              <a:t>Accidental Death, Dismemberment &amp; Disablement Benefit</a:t>
            </a:r>
            <a:endParaRPr lang="en-US" altLang="zh-CN" sz="1400">
              <a:solidFill>
                <a:srgbClr val="000000"/>
              </a:solidFill>
              <a:cs typeface="Arial" panose="020B0604020202020204" pitchFamily="34" charset="0"/>
            </a:endParaRPr>
          </a:p>
          <a:p>
            <a:pPr marL="12700" algn="ctr" eaLnBrk="1" hangingPunct="1">
              <a:buNone/>
            </a:pPr>
            <a:r>
              <a:rPr lang="en-US" altLang="zh-CN" sz="1400" b="1">
                <a:solidFill>
                  <a:srgbClr val="FFFFFF"/>
                </a:solidFill>
                <a:cs typeface="Arial" panose="020B0604020202020204" pitchFamily="34" charset="0"/>
              </a:rPr>
              <a:t>(ADD&amp;D)</a:t>
            </a:r>
            <a:endParaRPr lang="en-US" altLang="zh-CN" sz="1400">
              <a:solidFill>
                <a:srgbClr val="000000"/>
              </a:solidFill>
              <a:ea typeface="Arial" panose="020B0604020202020204" pitchFamily="34" charset="0"/>
            </a:endParaRPr>
          </a:p>
        </p:txBody>
      </p:sp>
      <p:pic>
        <p:nvPicPr>
          <p:cNvPr id="5128" name="object 14"/>
          <p:cNvPicPr>
            <a:picLocks noChangeAspect="1"/>
          </p:cNvPicPr>
          <p:nvPr/>
        </p:nvPicPr>
        <p:blipFill>
          <a:blip r:embed="rId2"/>
          <a:stretch>
            <a:fillRect/>
          </a:stretch>
        </p:blipFill>
        <p:spPr>
          <a:xfrm>
            <a:off x="5945188" y="1225550"/>
            <a:ext cx="822325" cy="725488"/>
          </a:xfrm>
          <a:prstGeom prst="rect">
            <a:avLst/>
          </a:prstGeom>
          <a:noFill/>
          <a:ln w="9525">
            <a:noFill/>
          </a:ln>
        </p:spPr>
      </p:pic>
      <p:grpSp>
        <p:nvGrpSpPr>
          <p:cNvPr id="5129" name="object 15"/>
          <p:cNvGrpSpPr/>
          <p:nvPr/>
        </p:nvGrpSpPr>
        <p:grpSpPr>
          <a:xfrm>
            <a:off x="3921125" y="3787775"/>
            <a:ext cx="2189163" cy="2547938"/>
            <a:chOff x="3921696" y="3787457"/>
            <a:chExt cx="2188845" cy="2548890"/>
          </a:xfrm>
        </p:grpSpPr>
        <p:sp>
          <p:nvSpPr>
            <p:cNvPr id="5145" name="object 16"/>
            <p:cNvSpPr/>
            <p:nvPr/>
          </p:nvSpPr>
          <p:spPr>
            <a:xfrm>
              <a:off x="3935984" y="3801745"/>
              <a:ext cx="2160270" cy="2520315"/>
            </a:xfrm>
            <a:custGeom>
              <a:avLst/>
              <a:gdLst/>
              <a:ahLst/>
              <a:cxnLst/>
              <a:pathLst>
                <a:path w="2160270" h="2520315">
                  <a:moveTo>
                    <a:pt x="2023237" y="0"/>
                  </a:moveTo>
                  <a:lnTo>
                    <a:pt x="136778" y="0"/>
                  </a:lnTo>
                  <a:lnTo>
                    <a:pt x="93537" y="6970"/>
                  </a:lnTo>
                  <a:lnTo>
                    <a:pt x="55988" y="26383"/>
                  </a:lnTo>
                  <a:lnTo>
                    <a:pt x="26383" y="55988"/>
                  </a:lnTo>
                  <a:lnTo>
                    <a:pt x="6970" y="93537"/>
                  </a:lnTo>
                  <a:lnTo>
                    <a:pt x="0" y="136778"/>
                  </a:lnTo>
                  <a:lnTo>
                    <a:pt x="0" y="2383269"/>
                  </a:lnTo>
                  <a:lnTo>
                    <a:pt x="6970" y="2426486"/>
                  </a:lnTo>
                  <a:lnTo>
                    <a:pt x="26383" y="2464019"/>
                  </a:lnTo>
                  <a:lnTo>
                    <a:pt x="55988" y="2493617"/>
                  </a:lnTo>
                  <a:lnTo>
                    <a:pt x="93537" y="2513027"/>
                  </a:lnTo>
                  <a:lnTo>
                    <a:pt x="136778" y="2519997"/>
                  </a:lnTo>
                  <a:lnTo>
                    <a:pt x="2023237" y="2519997"/>
                  </a:lnTo>
                  <a:lnTo>
                    <a:pt x="2066478" y="2513027"/>
                  </a:lnTo>
                  <a:lnTo>
                    <a:pt x="2104027" y="2493617"/>
                  </a:lnTo>
                  <a:lnTo>
                    <a:pt x="2133632" y="2464019"/>
                  </a:lnTo>
                  <a:lnTo>
                    <a:pt x="2153045" y="2426486"/>
                  </a:lnTo>
                  <a:lnTo>
                    <a:pt x="2160016" y="2383269"/>
                  </a:lnTo>
                  <a:lnTo>
                    <a:pt x="2160016" y="136778"/>
                  </a:lnTo>
                  <a:lnTo>
                    <a:pt x="2153045" y="93537"/>
                  </a:lnTo>
                  <a:lnTo>
                    <a:pt x="2133632" y="55988"/>
                  </a:lnTo>
                  <a:lnTo>
                    <a:pt x="2104027" y="26383"/>
                  </a:lnTo>
                  <a:lnTo>
                    <a:pt x="2066478" y="6970"/>
                  </a:lnTo>
                  <a:lnTo>
                    <a:pt x="2023237" y="0"/>
                  </a:lnTo>
                  <a:close/>
                </a:path>
              </a:pathLst>
            </a:custGeom>
            <a:solidFill>
              <a:srgbClr val="00A757">
                <a:alpha val="100000"/>
              </a:srgbClr>
            </a:solidFill>
            <a:ln w="9525">
              <a:noFill/>
            </a:ln>
          </p:spPr>
          <p:txBody>
            <a:bodyPr/>
            <a:p>
              <a:endParaRPr lang="en-US"/>
            </a:p>
          </p:txBody>
        </p:sp>
        <p:sp>
          <p:nvSpPr>
            <p:cNvPr id="5146" name="object 17"/>
            <p:cNvSpPr/>
            <p:nvPr/>
          </p:nvSpPr>
          <p:spPr>
            <a:xfrm>
              <a:off x="3935984" y="3801745"/>
              <a:ext cx="2160270" cy="2520315"/>
            </a:xfrm>
            <a:custGeom>
              <a:avLst/>
              <a:gdLst/>
              <a:ahLst/>
              <a:cxnLst/>
              <a:pathLst>
                <a:path w="2160270" h="2520315">
                  <a:moveTo>
                    <a:pt x="0" y="136778"/>
                  </a:moveTo>
                  <a:lnTo>
                    <a:pt x="6970" y="93537"/>
                  </a:lnTo>
                  <a:lnTo>
                    <a:pt x="26383" y="55988"/>
                  </a:lnTo>
                  <a:lnTo>
                    <a:pt x="55988" y="26383"/>
                  </a:lnTo>
                  <a:lnTo>
                    <a:pt x="93537" y="6970"/>
                  </a:lnTo>
                  <a:lnTo>
                    <a:pt x="136778" y="0"/>
                  </a:lnTo>
                  <a:lnTo>
                    <a:pt x="2023237" y="0"/>
                  </a:lnTo>
                  <a:lnTo>
                    <a:pt x="2066478" y="6970"/>
                  </a:lnTo>
                  <a:lnTo>
                    <a:pt x="2104027" y="26383"/>
                  </a:lnTo>
                  <a:lnTo>
                    <a:pt x="2133632" y="55988"/>
                  </a:lnTo>
                  <a:lnTo>
                    <a:pt x="2153045" y="93537"/>
                  </a:lnTo>
                  <a:lnTo>
                    <a:pt x="2160016" y="136778"/>
                  </a:lnTo>
                  <a:lnTo>
                    <a:pt x="2160016" y="2383269"/>
                  </a:lnTo>
                  <a:lnTo>
                    <a:pt x="2153045" y="2426486"/>
                  </a:lnTo>
                  <a:lnTo>
                    <a:pt x="2133632" y="2464019"/>
                  </a:lnTo>
                  <a:lnTo>
                    <a:pt x="2104027" y="2493617"/>
                  </a:lnTo>
                  <a:lnTo>
                    <a:pt x="2066478" y="2513027"/>
                  </a:lnTo>
                  <a:lnTo>
                    <a:pt x="2023237" y="2519997"/>
                  </a:lnTo>
                  <a:lnTo>
                    <a:pt x="136778" y="2519997"/>
                  </a:lnTo>
                  <a:lnTo>
                    <a:pt x="93537" y="2513027"/>
                  </a:lnTo>
                  <a:lnTo>
                    <a:pt x="55988" y="2493617"/>
                  </a:lnTo>
                  <a:lnTo>
                    <a:pt x="26383" y="2464019"/>
                  </a:lnTo>
                  <a:lnTo>
                    <a:pt x="6970" y="2426486"/>
                  </a:lnTo>
                  <a:lnTo>
                    <a:pt x="0" y="2383269"/>
                  </a:lnTo>
                  <a:lnTo>
                    <a:pt x="0" y="13677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5147" name="object 18"/>
            <p:cNvSpPr/>
            <p:nvPr/>
          </p:nvSpPr>
          <p:spPr>
            <a:xfrm>
              <a:off x="4124833" y="3981704"/>
              <a:ext cx="1800225" cy="1080135"/>
            </a:xfrm>
            <a:custGeom>
              <a:avLst/>
              <a:gdLst/>
              <a:ahLst/>
              <a:cxnLst/>
              <a:pathLst>
                <a:path w="1800225" h="1080135">
                  <a:moveTo>
                    <a:pt x="1731644" y="0"/>
                  </a:moveTo>
                  <a:lnTo>
                    <a:pt x="68325" y="0"/>
                  </a:lnTo>
                  <a:lnTo>
                    <a:pt x="41737" y="5373"/>
                  </a:lnTo>
                  <a:lnTo>
                    <a:pt x="20018" y="20034"/>
                  </a:lnTo>
                  <a:lnTo>
                    <a:pt x="5371" y="41790"/>
                  </a:lnTo>
                  <a:lnTo>
                    <a:pt x="0" y="68453"/>
                  </a:lnTo>
                  <a:lnTo>
                    <a:pt x="0" y="1011682"/>
                  </a:lnTo>
                  <a:lnTo>
                    <a:pt x="5371" y="1038270"/>
                  </a:lnTo>
                  <a:lnTo>
                    <a:pt x="20018" y="1059989"/>
                  </a:lnTo>
                  <a:lnTo>
                    <a:pt x="41737" y="1074636"/>
                  </a:lnTo>
                  <a:lnTo>
                    <a:pt x="68325" y="1080008"/>
                  </a:lnTo>
                  <a:lnTo>
                    <a:pt x="1731644" y="1080008"/>
                  </a:lnTo>
                  <a:lnTo>
                    <a:pt x="1758233" y="1074636"/>
                  </a:lnTo>
                  <a:lnTo>
                    <a:pt x="1779952" y="1059989"/>
                  </a:lnTo>
                  <a:lnTo>
                    <a:pt x="1794599" y="1038270"/>
                  </a:lnTo>
                  <a:lnTo>
                    <a:pt x="1799970" y="1011682"/>
                  </a:lnTo>
                  <a:lnTo>
                    <a:pt x="1799970" y="68453"/>
                  </a:lnTo>
                  <a:lnTo>
                    <a:pt x="1794599" y="41790"/>
                  </a:lnTo>
                  <a:lnTo>
                    <a:pt x="1779952" y="20034"/>
                  </a:lnTo>
                  <a:lnTo>
                    <a:pt x="1758233" y="5373"/>
                  </a:lnTo>
                  <a:lnTo>
                    <a:pt x="1731644" y="0"/>
                  </a:lnTo>
                  <a:close/>
                </a:path>
              </a:pathLst>
            </a:custGeom>
            <a:solidFill>
              <a:srgbClr val="E8E9EB">
                <a:alpha val="100000"/>
              </a:srgbClr>
            </a:solidFill>
            <a:ln w="9525">
              <a:noFill/>
            </a:ln>
          </p:spPr>
          <p:txBody>
            <a:bodyPr/>
            <a:p>
              <a:endParaRPr lang="en-US"/>
            </a:p>
          </p:txBody>
        </p:sp>
      </p:grpSp>
      <p:sp>
        <p:nvSpPr>
          <p:cNvPr id="19" name="object 19"/>
          <p:cNvSpPr txBox="1"/>
          <p:nvPr/>
        </p:nvSpPr>
        <p:spPr>
          <a:xfrm>
            <a:off x="4243388" y="5151438"/>
            <a:ext cx="1546225" cy="711200"/>
          </a:xfrm>
          <a:prstGeom prst="rect">
            <a:avLst/>
          </a:prstGeom>
        </p:spPr>
        <p:txBody>
          <a:bodyPr vert="horz" wrap="square" lIns="0" tIns="12700" rIns="0" bIns="0" rtlCol="0">
            <a:spAutoFit/>
          </a:bodyPr>
          <a:p>
            <a:pPr marL="12700" algn="ctr" eaLnBrk="1" hangingPunct="1">
              <a:spcBef>
                <a:spcPts val="100"/>
              </a:spcBef>
              <a:buNone/>
            </a:pPr>
            <a:r>
              <a:rPr lang="en-US" altLang="zh-CN" sz="1500" b="1">
                <a:solidFill>
                  <a:srgbClr val="FFFFFF"/>
                </a:solidFill>
                <a:cs typeface="Arial" panose="020B0604020202020204" pitchFamily="34" charset="0"/>
              </a:rPr>
              <a:t>Terminal Illness Benefit</a:t>
            </a:r>
            <a:endParaRPr lang="en-US" altLang="zh-CN" sz="1500">
              <a:solidFill>
                <a:srgbClr val="000000"/>
              </a:solidFill>
              <a:cs typeface="Arial" panose="020B0604020202020204" pitchFamily="34" charset="0"/>
            </a:endParaRPr>
          </a:p>
          <a:p>
            <a:pPr marL="12700" algn="ctr" eaLnBrk="1" hangingPunct="1">
              <a:buNone/>
            </a:pPr>
            <a:r>
              <a:rPr lang="en-US" altLang="zh-CN" sz="1500" b="1">
                <a:solidFill>
                  <a:srgbClr val="FFFFFF"/>
                </a:solidFill>
                <a:cs typeface="Arial" panose="020B0604020202020204" pitchFamily="34" charset="0"/>
              </a:rPr>
              <a:t>(TIB)</a:t>
            </a:r>
            <a:endParaRPr lang="en-US" altLang="zh-CN" sz="1500">
              <a:solidFill>
                <a:srgbClr val="000000"/>
              </a:solidFill>
              <a:ea typeface="Arial" panose="020B0604020202020204" pitchFamily="34" charset="0"/>
            </a:endParaRPr>
          </a:p>
        </p:txBody>
      </p:sp>
      <p:pic>
        <p:nvPicPr>
          <p:cNvPr id="5131" name="object 20"/>
          <p:cNvPicPr>
            <a:picLocks noChangeAspect="1"/>
          </p:cNvPicPr>
          <p:nvPr/>
        </p:nvPicPr>
        <p:blipFill>
          <a:blip r:embed="rId3"/>
          <a:stretch>
            <a:fillRect/>
          </a:stretch>
        </p:blipFill>
        <p:spPr>
          <a:xfrm>
            <a:off x="4618038" y="4113213"/>
            <a:ext cx="795337" cy="811212"/>
          </a:xfrm>
          <a:prstGeom prst="rect">
            <a:avLst/>
          </a:prstGeom>
          <a:noFill/>
          <a:ln w="9525">
            <a:noFill/>
          </a:ln>
        </p:spPr>
      </p:pic>
      <p:grpSp>
        <p:nvGrpSpPr>
          <p:cNvPr id="5132" name="object 21"/>
          <p:cNvGrpSpPr/>
          <p:nvPr/>
        </p:nvGrpSpPr>
        <p:grpSpPr>
          <a:xfrm>
            <a:off x="7989888" y="849313"/>
            <a:ext cx="2189162" cy="2547937"/>
            <a:chOff x="7990649" y="848550"/>
            <a:chExt cx="2188845" cy="2548890"/>
          </a:xfrm>
        </p:grpSpPr>
        <p:sp>
          <p:nvSpPr>
            <p:cNvPr id="5142" name="object 22"/>
            <p:cNvSpPr/>
            <p:nvPr/>
          </p:nvSpPr>
          <p:spPr>
            <a:xfrm>
              <a:off x="8004936" y="862838"/>
              <a:ext cx="2160270" cy="2520315"/>
            </a:xfrm>
            <a:custGeom>
              <a:avLst/>
              <a:gdLst/>
              <a:ahLst/>
              <a:cxnLst/>
              <a:pathLst>
                <a:path w="2160270" h="2520315">
                  <a:moveTo>
                    <a:pt x="2023237" y="0"/>
                  </a:moveTo>
                  <a:lnTo>
                    <a:pt x="136779" y="0"/>
                  </a:lnTo>
                  <a:lnTo>
                    <a:pt x="93537" y="6970"/>
                  </a:lnTo>
                  <a:lnTo>
                    <a:pt x="55988" y="26383"/>
                  </a:lnTo>
                  <a:lnTo>
                    <a:pt x="26383" y="55988"/>
                  </a:lnTo>
                  <a:lnTo>
                    <a:pt x="6970" y="93537"/>
                  </a:lnTo>
                  <a:lnTo>
                    <a:pt x="0" y="136778"/>
                  </a:lnTo>
                  <a:lnTo>
                    <a:pt x="0" y="2383282"/>
                  </a:lnTo>
                  <a:lnTo>
                    <a:pt x="6970" y="2426523"/>
                  </a:lnTo>
                  <a:lnTo>
                    <a:pt x="26383" y="2464072"/>
                  </a:lnTo>
                  <a:lnTo>
                    <a:pt x="55988" y="2493677"/>
                  </a:lnTo>
                  <a:lnTo>
                    <a:pt x="93537" y="2513090"/>
                  </a:lnTo>
                  <a:lnTo>
                    <a:pt x="136779" y="2520061"/>
                  </a:lnTo>
                  <a:lnTo>
                    <a:pt x="2023237" y="2520061"/>
                  </a:lnTo>
                  <a:lnTo>
                    <a:pt x="2066478" y="2513090"/>
                  </a:lnTo>
                  <a:lnTo>
                    <a:pt x="2104027" y="2493677"/>
                  </a:lnTo>
                  <a:lnTo>
                    <a:pt x="2133632" y="2464072"/>
                  </a:lnTo>
                  <a:lnTo>
                    <a:pt x="2153045" y="2426523"/>
                  </a:lnTo>
                  <a:lnTo>
                    <a:pt x="2160016" y="2383282"/>
                  </a:lnTo>
                  <a:lnTo>
                    <a:pt x="2160016" y="136778"/>
                  </a:lnTo>
                  <a:lnTo>
                    <a:pt x="2153045" y="93537"/>
                  </a:lnTo>
                  <a:lnTo>
                    <a:pt x="2133632" y="55988"/>
                  </a:lnTo>
                  <a:lnTo>
                    <a:pt x="2104027" y="26383"/>
                  </a:lnTo>
                  <a:lnTo>
                    <a:pt x="2066478" y="6970"/>
                  </a:lnTo>
                  <a:lnTo>
                    <a:pt x="2023237" y="0"/>
                  </a:lnTo>
                  <a:close/>
                </a:path>
              </a:pathLst>
            </a:custGeom>
            <a:solidFill>
              <a:srgbClr val="00A757">
                <a:alpha val="100000"/>
              </a:srgbClr>
            </a:solidFill>
            <a:ln w="9525">
              <a:noFill/>
            </a:ln>
          </p:spPr>
          <p:txBody>
            <a:bodyPr/>
            <a:p>
              <a:endParaRPr lang="en-US"/>
            </a:p>
          </p:txBody>
        </p:sp>
        <p:sp>
          <p:nvSpPr>
            <p:cNvPr id="5143" name="object 23"/>
            <p:cNvSpPr/>
            <p:nvPr/>
          </p:nvSpPr>
          <p:spPr>
            <a:xfrm>
              <a:off x="8004936" y="862838"/>
              <a:ext cx="2160270" cy="2520315"/>
            </a:xfrm>
            <a:custGeom>
              <a:avLst/>
              <a:gdLst/>
              <a:ahLst/>
              <a:cxnLst/>
              <a:pathLst>
                <a:path w="2160270" h="2520315">
                  <a:moveTo>
                    <a:pt x="0" y="136778"/>
                  </a:moveTo>
                  <a:lnTo>
                    <a:pt x="6970" y="93537"/>
                  </a:lnTo>
                  <a:lnTo>
                    <a:pt x="26383" y="55988"/>
                  </a:lnTo>
                  <a:lnTo>
                    <a:pt x="55988" y="26383"/>
                  </a:lnTo>
                  <a:lnTo>
                    <a:pt x="93537" y="6970"/>
                  </a:lnTo>
                  <a:lnTo>
                    <a:pt x="136779" y="0"/>
                  </a:lnTo>
                  <a:lnTo>
                    <a:pt x="2023237" y="0"/>
                  </a:lnTo>
                  <a:lnTo>
                    <a:pt x="2066478" y="6970"/>
                  </a:lnTo>
                  <a:lnTo>
                    <a:pt x="2104027" y="26383"/>
                  </a:lnTo>
                  <a:lnTo>
                    <a:pt x="2133632" y="55988"/>
                  </a:lnTo>
                  <a:lnTo>
                    <a:pt x="2153045" y="93537"/>
                  </a:lnTo>
                  <a:lnTo>
                    <a:pt x="2160016" y="136778"/>
                  </a:lnTo>
                  <a:lnTo>
                    <a:pt x="2160016" y="2383282"/>
                  </a:lnTo>
                  <a:lnTo>
                    <a:pt x="2153045" y="2426523"/>
                  </a:lnTo>
                  <a:lnTo>
                    <a:pt x="2133632" y="2464072"/>
                  </a:lnTo>
                  <a:lnTo>
                    <a:pt x="2104027" y="2493677"/>
                  </a:lnTo>
                  <a:lnTo>
                    <a:pt x="2066478" y="2513090"/>
                  </a:lnTo>
                  <a:lnTo>
                    <a:pt x="2023237" y="2520061"/>
                  </a:lnTo>
                  <a:lnTo>
                    <a:pt x="136779" y="2520061"/>
                  </a:lnTo>
                  <a:lnTo>
                    <a:pt x="93537" y="2513090"/>
                  </a:lnTo>
                  <a:lnTo>
                    <a:pt x="55988" y="2493677"/>
                  </a:lnTo>
                  <a:lnTo>
                    <a:pt x="26383" y="2464072"/>
                  </a:lnTo>
                  <a:lnTo>
                    <a:pt x="6970" y="2426523"/>
                  </a:lnTo>
                  <a:lnTo>
                    <a:pt x="0" y="2383282"/>
                  </a:lnTo>
                  <a:lnTo>
                    <a:pt x="0" y="13677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5144" name="object 24"/>
            <p:cNvSpPr/>
            <p:nvPr/>
          </p:nvSpPr>
          <p:spPr>
            <a:xfrm>
              <a:off x="8193785" y="1042924"/>
              <a:ext cx="1800225" cy="1080135"/>
            </a:xfrm>
            <a:custGeom>
              <a:avLst/>
              <a:gdLst/>
              <a:ahLst/>
              <a:cxnLst/>
              <a:pathLst>
                <a:path w="1800225" h="1080135">
                  <a:moveTo>
                    <a:pt x="1731645" y="0"/>
                  </a:moveTo>
                  <a:lnTo>
                    <a:pt x="68325" y="0"/>
                  </a:lnTo>
                  <a:lnTo>
                    <a:pt x="41737" y="5371"/>
                  </a:lnTo>
                  <a:lnTo>
                    <a:pt x="20018" y="20018"/>
                  </a:lnTo>
                  <a:lnTo>
                    <a:pt x="5371" y="41737"/>
                  </a:lnTo>
                  <a:lnTo>
                    <a:pt x="0" y="68325"/>
                  </a:lnTo>
                  <a:lnTo>
                    <a:pt x="0" y="1011554"/>
                  </a:lnTo>
                  <a:lnTo>
                    <a:pt x="5371" y="1038217"/>
                  </a:lnTo>
                  <a:lnTo>
                    <a:pt x="20018" y="1059973"/>
                  </a:lnTo>
                  <a:lnTo>
                    <a:pt x="41737" y="1074634"/>
                  </a:lnTo>
                  <a:lnTo>
                    <a:pt x="68325" y="1080008"/>
                  </a:lnTo>
                  <a:lnTo>
                    <a:pt x="1731645" y="1080008"/>
                  </a:lnTo>
                  <a:lnTo>
                    <a:pt x="1758233" y="1074634"/>
                  </a:lnTo>
                  <a:lnTo>
                    <a:pt x="1779952" y="1059973"/>
                  </a:lnTo>
                  <a:lnTo>
                    <a:pt x="1794599" y="1038217"/>
                  </a:lnTo>
                  <a:lnTo>
                    <a:pt x="1799971" y="1011554"/>
                  </a:lnTo>
                  <a:lnTo>
                    <a:pt x="1799971" y="68325"/>
                  </a:lnTo>
                  <a:lnTo>
                    <a:pt x="1794599" y="41737"/>
                  </a:lnTo>
                  <a:lnTo>
                    <a:pt x="1779952" y="20018"/>
                  </a:lnTo>
                  <a:lnTo>
                    <a:pt x="1758233" y="5371"/>
                  </a:lnTo>
                  <a:lnTo>
                    <a:pt x="1731645" y="0"/>
                  </a:lnTo>
                  <a:close/>
                </a:path>
              </a:pathLst>
            </a:custGeom>
            <a:solidFill>
              <a:srgbClr val="E8E9EB">
                <a:alpha val="100000"/>
              </a:srgbClr>
            </a:solidFill>
            <a:ln w="9525">
              <a:noFill/>
            </a:ln>
          </p:spPr>
          <p:txBody>
            <a:bodyPr/>
            <a:p>
              <a:endParaRPr lang="en-US"/>
            </a:p>
          </p:txBody>
        </p:sp>
      </p:grpSp>
      <p:sp>
        <p:nvSpPr>
          <p:cNvPr id="25" name="object 25"/>
          <p:cNvSpPr txBox="1"/>
          <p:nvPr/>
        </p:nvSpPr>
        <p:spPr>
          <a:xfrm>
            <a:off x="8278813" y="2217738"/>
            <a:ext cx="1611313" cy="939800"/>
          </a:xfrm>
          <a:prstGeom prst="rect">
            <a:avLst/>
          </a:prstGeom>
        </p:spPr>
        <p:txBody>
          <a:bodyPr vert="horz" wrap="square" lIns="0" tIns="12700" rIns="0" bIns="0" rtlCol="0">
            <a:spAutoFit/>
          </a:bodyPr>
          <a:p>
            <a:pPr marL="12700" algn="ctr" eaLnBrk="1" hangingPunct="1">
              <a:spcBef>
                <a:spcPts val="100"/>
              </a:spcBef>
              <a:buNone/>
            </a:pPr>
            <a:r>
              <a:rPr lang="en-US" altLang="zh-CN" sz="1500" b="1">
                <a:solidFill>
                  <a:srgbClr val="FFFFFF"/>
                </a:solidFill>
                <a:cs typeface="Arial" panose="020B0604020202020204" pitchFamily="34" charset="0"/>
              </a:rPr>
              <a:t>Total Permanent Disability  Benefit</a:t>
            </a:r>
            <a:endParaRPr lang="en-US" altLang="zh-CN" sz="1500">
              <a:solidFill>
                <a:srgbClr val="000000"/>
              </a:solidFill>
              <a:cs typeface="Arial" panose="020B0604020202020204" pitchFamily="34" charset="0"/>
            </a:endParaRPr>
          </a:p>
          <a:p>
            <a:pPr marL="12700" algn="ctr" eaLnBrk="1" hangingPunct="1">
              <a:buNone/>
            </a:pPr>
            <a:r>
              <a:rPr lang="en-US" altLang="zh-CN" sz="1500" b="1">
                <a:solidFill>
                  <a:srgbClr val="FFFFFF"/>
                </a:solidFill>
                <a:cs typeface="Arial" panose="020B0604020202020204" pitchFamily="34" charset="0"/>
              </a:rPr>
              <a:t>(TPDB)</a:t>
            </a:r>
            <a:endParaRPr lang="en-US" altLang="zh-CN" sz="1500">
              <a:solidFill>
                <a:srgbClr val="000000"/>
              </a:solidFill>
              <a:ea typeface="Arial" panose="020B0604020202020204" pitchFamily="34" charset="0"/>
            </a:endParaRPr>
          </a:p>
        </p:txBody>
      </p:sp>
      <p:pic>
        <p:nvPicPr>
          <p:cNvPr id="5134" name="object 26"/>
          <p:cNvPicPr>
            <a:picLocks noChangeAspect="1"/>
          </p:cNvPicPr>
          <p:nvPr/>
        </p:nvPicPr>
        <p:blipFill>
          <a:blip r:embed="rId4"/>
          <a:stretch>
            <a:fillRect/>
          </a:stretch>
        </p:blipFill>
        <p:spPr>
          <a:xfrm>
            <a:off x="8707438" y="1193800"/>
            <a:ext cx="773112" cy="773113"/>
          </a:xfrm>
          <a:prstGeom prst="rect">
            <a:avLst/>
          </a:prstGeom>
          <a:noFill/>
          <a:ln w="9525">
            <a:noFill/>
          </a:ln>
        </p:spPr>
      </p:pic>
      <p:grpSp>
        <p:nvGrpSpPr>
          <p:cNvPr id="5135" name="object 27"/>
          <p:cNvGrpSpPr/>
          <p:nvPr/>
        </p:nvGrpSpPr>
        <p:grpSpPr>
          <a:xfrm>
            <a:off x="6592888" y="3787775"/>
            <a:ext cx="2189162" cy="2547938"/>
            <a:chOff x="6592506" y="3787457"/>
            <a:chExt cx="2188845" cy="2548890"/>
          </a:xfrm>
        </p:grpSpPr>
        <p:sp>
          <p:nvSpPr>
            <p:cNvPr id="5139" name="object 28"/>
            <p:cNvSpPr/>
            <p:nvPr/>
          </p:nvSpPr>
          <p:spPr>
            <a:xfrm>
              <a:off x="6606793" y="3801745"/>
              <a:ext cx="2160270" cy="2520315"/>
            </a:xfrm>
            <a:custGeom>
              <a:avLst/>
              <a:gdLst/>
              <a:ahLst/>
              <a:cxnLst/>
              <a:pathLst>
                <a:path w="2160270" h="2520315">
                  <a:moveTo>
                    <a:pt x="2023236" y="0"/>
                  </a:moveTo>
                  <a:lnTo>
                    <a:pt x="136651" y="0"/>
                  </a:lnTo>
                  <a:lnTo>
                    <a:pt x="93472" y="6970"/>
                  </a:lnTo>
                  <a:lnTo>
                    <a:pt x="55961" y="26383"/>
                  </a:lnTo>
                  <a:lnTo>
                    <a:pt x="26375" y="55988"/>
                  </a:lnTo>
                  <a:lnTo>
                    <a:pt x="6969" y="93537"/>
                  </a:lnTo>
                  <a:lnTo>
                    <a:pt x="0" y="136778"/>
                  </a:lnTo>
                  <a:lnTo>
                    <a:pt x="0" y="2383269"/>
                  </a:lnTo>
                  <a:lnTo>
                    <a:pt x="6969" y="2426486"/>
                  </a:lnTo>
                  <a:lnTo>
                    <a:pt x="26375" y="2464019"/>
                  </a:lnTo>
                  <a:lnTo>
                    <a:pt x="55961" y="2493617"/>
                  </a:lnTo>
                  <a:lnTo>
                    <a:pt x="93472" y="2513027"/>
                  </a:lnTo>
                  <a:lnTo>
                    <a:pt x="136651" y="2519997"/>
                  </a:lnTo>
                  <a:lnTo>
                    <a:pt x="2023236" y="2519997"/>
                  </a:lnTo>
                  <a:lnTo>
                    <a:pt x="2066478" y="2513027"/>
                  </a:lnTo>
                  <a:lnTo>
                    <a:pt x="2104027" y="2493617"/>
                  </a:lnTo>
                  <a:lnTo>
                    <a:pt x="2133632" y="2464019"/>
                  </a:lnTo>
                  <a:lnTo>
                    <a:pt x="2153045" y="2426486"/>
                  </a:lnTo>
                  <a:lnTo>
                    <a:pt x="2160015" y="2383269"/>
                  </a:lnTo>
                  <a:lnTo>
                    <a:pt x="2160015" y="136778"/>
                  </a:lnTo>
                  <a:lnTo>
                    <a:pt x="2153045" y="93537"/>
                  </a:lnTo>
                  <a:lnTo>
                    <a:pt x="2133632" y="55988"/>
                  </a:lnTo>
                  <a:lnTo>
                    <a:pt x="2104027" y="26383"/>
                  </a:lnTo>
                  <a:lnTo>
                    <a:pt x="2066478" y="6970"/>
                  </a:lnTo>
                  <a:lnTo>
                    <a:pt x="2023236" y="0"/>
                  </a:lnTo>
                  <a:close/>
                </a:path>
              </a:pathLst>
            </a:custGeom>
            <a:solidFill>
              <a:srgbClr val="00A757">
                <a:alpha val="100000"/>
              </a:srgbClr>
            </a:solidFill>
            <a:ln w="9525">
              <a:noFill/>
            </a:ln>
          </p:spPr>
          <p:txBody>
            <a:bodyPr/>
            <a:p>
              <a:endParaRPr lang="en-US"/>
            </a:p>
          </p:txBody>
        </p:sp>
        <p:sp>
          <p:nvSpPr>
            <p:cNvPr id="5140" name="object 29"/>
            <p:cNvSpPr/>
            <p:nvPr/>
          </p:nvSpPr>
          <p:spPr>
            <a:xfrm>
              <a:off x="6606793" y="3801745"/>
              <a:ext cx="2160270" cy="2520315"/>
            </a:xfrm>
            <a:custGeom>
              <a:avLst/>
              <a:gdLst/>
              <a:ahLst/>
              <a:cxnLst/>
              <a:pathLst>
                <a:path w="2160270" h="2520315">
                  <a:moveTo>
                    <a:pt x="0" y="136778"/>
                  </a:moveTo>
                  <a:lnTo>
                    <a:pt x="6969" y="93537"/>
                  </a:lnTo>
                  <a:lnTo>
                    <a:pt x="26375" y="55988"/>
                  </a:lnTo>
                  <a:lnTo>
                    <a:pt x="55961" y="26383"/>
                  </a:lnTo>
                  <a:lnTo>
                    <a:pt x="93472" y="6970"/>
                  </a:lnTo>
                  <a:lnTo>
                    <a:pt x="136651" y="0"/>
                  </a:lnTo>
                  <a:lnTo>
                    <a:pt x="2023236" y="0"/>
                  </a:lnTo>
                  <a:lnTo>
                    <a:pt x="2066478" y="6970"/>
                  </a:lnTo>
                  <a:lnTo>
                    <a:pt x="2104027" y="26383"/>
                  </a:lnTo>
                  <a:lnTo>
                    <a:pt x="2133632" y="55988"/>
                  </a:lnTo>
                  <a:lnTo>
                    <a:pt x="2153045" y="93537"/>
                  </a:lnTo>
                  <a:lnTo>
                    <a:pt x="2160015" y="136778"/>
                  </a:lnTo>
                  <a:lnTo>
                    <a:pt x="2160015" y="2383269"/>
                  </a:lnTo>
                  <a:lnTo>
                    <a:pt x="2153045" y="2426486"/>
                  </a:lnTo>
                  <a:lnTo>
                    <a:pt x="2133632" y="2464019"/>
                  </a:lnTo>
                  <a:lnTo>
                    <a:pt x="2104027" y="2493617"/>
                  </a:lnTo>
                  <a:lnTo>
                    <a:pt x="2066478" y="2513027"/>
                  </a:lnTo>
                  <a:lnTo>
                    <a:pt x="2023236" y="2519997"/>
                  </a:lnTo>
                  <a:lnTo>
                    <a:pt x="136651" y="2519997"/>
                  </a:lnTo>
                  <a:lnTo>
                    <a:pt x="93472" y="2513027"/>
                  </a:lnTo>
                  <a:lnTo>
                    <a:pt x="55961" y="2493617"/>
                  </a:lnTo>
                  <a:lnTo>
                    <a:pt x="26375" y="2464019"/>
                  </a:lnTo>
                  <a:lnTo>
                    <a:pt x="6969" y="2426486"/>
                  </a:lnTo>
                  <a:lnTo>
                    <a:pt x="0" y="2383269"/>
                  </a:lnTo>
                  <a:lnTo>
                    <a:pt x="0" y="13677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sp>
          <p:nvSpPr>
            <p:cNvPr id="5141" name="object 30"/>
            <p:cNvSpPr/>
            <p:nvPr/>
          </p:nvSpPr>
          <p:spPr>
            <a:xfrm>
              <a:off x="6786752" y="4013708"/>
              <a:ext cx="1800225" cy="1080135"/>
            </a:xfrm>
            <a:custGeom>
              <a:avLst/>
              <a:gdLst/>
              <a:ahLst/>
              <a:cxnLst/>
              <a:pathLst>
                <a:path w="1800225" h="1080135">
                  <a:moveTo>
                    <a:pt x="1731645" y="0"/>
                  </a:moveTo>
                  <a:lnTo>
                    <a:pt x="68325" y="0"/>
                  </a:lnTo>
                  <a:lnTo>
                    <a:pt x="41737" y="5373"/>
                  </a:lnTo>
                  <a:lnTo>
                    <a:pt x="20018" y="20034"/>
                  </a:lnTo>
                  <a:lnTo>
                    <a:pt x="5371" y="41790"/>
                  </a:lnTo>
                  <a:lnTo>
                    <a:pt x="0" y="68453"/>
                  </a:lnTo>
                  <a:lnTo>
                    <a:pt x="0" y="1011682"/>
                  </a:lnTo>
                  <a:lnTo>
                    <a:pt x="5371" y="1038270"/>
                  </a:lnTo>
                  <a:lnTo>
                    <a:pt x="20018" y="1059989"/>
                  </a:lnTo>
                  <a:lnTo>
                    <a:pt x="41737" y="1074636"/>
                  </a:lnTo>
                  <a:lnTo>
                    <a:pt x="68325" y="1080008"/>
                  </a:lnTo>
                  <a:lnTo>
                    <a:pt x="1731645" y="1080008"/>
                  </a:lnTo>
                  <a:lnTo>
                    <a:pt x="1758233" y="1074636"/>
                  </a:lnTo>
                  <a:lnTo>
                    <a:pt x="1779952" y="1059989"/>
                  </a:lnTo>
                  <a:lnTo>
                    <a:pt x="1794599" y="1038270"/>
                  </a:lnTo>
                  <a:lnTo>
                    <a:pt x="1799971" y="1011682"/>
                  </a:lnTo>
                  <a:lnTo>
                    <a:pt x="1799971" y="68453"/>
                  </a:lnTo>
                  <a:lnTo>
                    <a:pt x="1794599" y="41790"/>
                  </a:lnTo>
                  <a:lnTo>
                    <a:pt x="1779952" y="20034"/>
                  </a:lnTo>
                  <a:lnTo>
                    <a:pt x="1758233" y="5373"/>
                  </a:lnTo>
                  <a:lnTo>
                    <a:pt x="1731645" y="0"/>
                  </a:lnTo>
                  <a:close/>
                </a:path>
              </a:pathLst>
            </a:custGeom>
            <a:solidFill>
              <a:srgbClr val="E8E9EB">
                <a:alpha val="100000"/>
              </a:srgbClr>
            </a:solidFill>
            <a:ln w="9525">
              <a:noFill/>
            </a:ln>
          </p:spPr>
          <p:txBody>
            <a:bodyPr/>
            <a:p>
              <a:endParaRPr lang="en-US"/>
            </a:p>
          </p:txBody>
        </p:sp>
      </p:grpSp>
      <p:sp>
        <p:nvSpPr>
          <p:cNvPr id="31" name="object 31"/>
          <p:cNvSpPr txBox="1"/>
          <p:nvPr/>
        </p:nvSpPr>
        <p:spPr>
          <a:xfrm>
            <a:off x="7181850" y="5135563"/>
            <a:ext cx="1030288" cy="941388"/>
          </a:xfrm>
          <a:prstGeom prst="rect">
            <a:avLst/>
          </a:prstGeom>
        </p:spPr>
        <p:txBody>
          <a:bodyPr vert="horz" wrap="square" lIns="0" tIns="12700" rIns="0" bIns="0" rtlCol="0">
            <a:spAutoFit/>
          </a:bodyPr>
          <a:p>
            <a:pPr marL="12700" indent="1905" algn="ctr" eaLnBrk="1" hangingPunct="1">
              <a:spcBef>
                <a:spcPts val="100"/>
              </a:spcBef>
              <a:buNone/>
            </a:pPr>
            <a:r>
              <a:rPr lang="en-US" altLang="zh-CN" sz="1500" b="1">
                <a:solidFill>
                  <a:srgbClr val="FFFFFF"/>
                </a:solidFill>
                <a:cs typeface="Arial" panose="020B0604020202020204" pitchFamily="34" charset="0"/>
              </a:rPr>
              <a:t>Family Assistance Benefit (FAB)</a:t>
            </a:r>
            <a:endParaRPr lang="en-US" altLang="zh-CN" sz="1500">
              <a:solidFill>
                <a:srgbClr val="000000"/>
              </a:solidFill>
              <a:ea typeface="Arial" panose="020B0604020202020204" pitchFamily="34" charset="0"/>
            </a:endParaRPr>
          </a:p>
        </p:txBody>
      </p:sp>
      <p:pic>
        <p:nvPicPr>
          <p:cNvPr id="5137" name="object 32"/>
          <p:cNvPicPr>
            <a:picLocks noChangeAspect="1"/>
          </p:cNvPicPr>
          <p:nvPr/>
        </p:nvPicPr>
        <p:blipFill>
          <a:blip r:embed="rId5"/>
          <a:stretch>
            <a:fillRect/>
          </a:stretch>
        </p:blipFill>
        <p:spPr>
          <a:xfrm>
            <a:off x="7210425" y="4071938"/>
            <a:ext cx="954088" cy="954087"/>
          </a:xfrm>
          <a:prstGeom prst="rect">
            <a:avLst/>
          </a:prstGeom>
          <a:noFill/>
          <a:ln w="9525">
            <a:noFill/>
          </a:ln>
        </p:spPr>
      </p:pic>
      <p:sp>
        <p:nvSpPr>
          <p:cNvPr id="33" name="object 33"/>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411163" y="174625"/>
            <a:ext cx="3656013" cy="33020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b="1" kern="0" cap="none" spc="0" normalizeH="0" baseline="0" noProof="0" dirty="0">
                <a:solidFill>
                  <a:srgbClr val="7E7E7E"/>
                </a:solidFill>
                <a:latin typeface="Arial" panose="020B0604020202020204"/>
                <a:cs typeface="Arial" panose="020B0604020202020204"/>
              </a:rPr>
              <a:t>Group</a:t>
            </a:r>
            <a:r>
              <a:rPr kumimoji="0" sz="2000" b="1" kern="0" cap="none" spc="135" normalizeH="0" baseline="0" noProof="0" dirty="0">
                <a:solidFill>
                  <a:srgbClr val="7E7E7E"/>
                </a:solidFill>
                <a:latin typeface="Arial" panose="020B0604020202020204"/>
                <a:cs typeface="Arial" panose="020B0604020202020204"/>
              </a:rPr>
              <a:t> </a:t>
            </a:r>
            <a:r>
              <a:rPr kumimoji="0" sz="2000" b="1" kern="0" cap="none" spc="50" normalizeH="0" baseline="0" noProof="0" dirty="0">
                <a:solidFill>
                  <a:srgbClr val="7E7E7E"/>
                </a:solidFill>
                <a:latin typeface="Arial" panose="020B0604020202020204"/>
                <a:cs typeface="Arial" panose="020B0604020202020204"/>
              </a:rPr>
              <a:t>Life</a:t>
            </a:r>
            <a:r>
              <a:rPr kumimoji="0" sz="2000" b="1" kern="0" cap="none" spc="140" normalizeH="0" baseline="0" noProof="0" dirty="0">
                <a:solidFill>
                  <a:srgbClr val="7E7E7E"/>
                </a:solidFill>
                <a:latin typeface="Arial" panose="020B0604020202020204"/>
                <a:cs typeface="Arial" panose="020B0604020202020204"/>
              </a:rPr>
              <a:t> </a:t>
            </a:r>
            <a:r>
              <a:rPr kumimoji="0" sz="2000" b="1" kern="0" cap="none" spc="0" normalizeH="0" baseline="0" noProof="0" dirty="0">
                <a:solidFill>
                  <a:srgbClr val="7E7E7E"/>
                </a:solidFill>
                <a:latin typeface="Arial" panose="020B0604020202020204"/>
                <a:cs typeface="Arial" panose="020B0604020202020204"/>
              </a:rPr>
              <a:t>Insurance</a:t>
            </a:r>
            <a:r>
              <a:rPr kumimoji="0" sz="2000" b="1" kern="0" cap="none" spc="175" normalizeH="0" baseline="0" noProof="0" dirty="0">
                <a:solidFill>
                  <a:srgbClr val="7E7E7E"/>
                </a:solidFill>
                <a:latin typeface="Arial" panose="020B0604020202020204"/>
                <a:cs typeface="Arial" panose="020B0604020202020204"/>
              </a:rPr>
              <a:t> </a:t>
            </a:r>
            <a:r>
              <a:rPr kumimoji="0" sz="2000" b="1" kern="0" cap="none" spc="40" normalizeH="0" baseline="0" noProof="0" dirty="0">
                <a:solidFill>
                  <a:srgbClr val="7E7E7E"/>
                </a:solidFill>
                <a:latin typeface="Arial" panose="020B0604020202020204"/>
                <a:cs typeface="Arial" panose="020B0604020202020204"/>
              </a:rPr>
              <a:t>Benefit</a:t>
            </a:r>
            <a:endParaRPr kumimoji="0" sz="2000" kern="0" cap="none" spc="0" normalizeH="0" baseline="0" noProof="0">
              <a:solidFill>
                <a:sysClr val="windowText" lastClr="000000"/>
              </a:solidFill>
              <a:latin typeface="Arial" panose="020B0604020202020204"/>
              <a:cs typeface="Arial" panose="020B0604020202020204"/>
            </a:endParaRPr>
          </a:p>
        </p:txBody>
      </p:sp>
      <p:pic>
        <p:nvPicPr>
          <p:cNvPr id="6147" name="object 3"/>
          <p:cNvPicPr>
            <a:picLocks noChangeAspect="1"/>
          </p:cNvPicPr>
          <p:nvPr/>
        </p:nvPicPr>
        <p:blipFill>
          <a:blip r:embed="rId1"/>
          <a:stretch>
            <a:fillRect/>
          </a:stretch>
        </p:blipFill>
        <p:spPr>
          <a:xfrm>
            <a:off x="4467225" y="1281113"/>
            <a:ext cx="4333875" cy="531812"/>
          </a:xfrm>
          <a:prstGeom prst="rect">
            <a:avLst/>
          </a:prstGeom>
          <a:noFill/>
          <a:ln w="9525">
            <a:noFill/>
          </a:ln>
        </p:spPr>
      </p:pic>
      <p:sp>
        <p:nvSpPr>
          <p:cNvPr id="4" name="object 4"/>
          <p:cNvSpPr txBox="1">
            <a:spLocks noGrp="1"/>
          </p:cNvSpPr>
          <p:nvPr>
            <p:ph type="title"/>
          </p:nvPr>
        </p:nvSpPr>
        <p:spPr>
          <a:xfrm>
            <a:off x="4467225" y="1184275"/>
            <a:ext cx="4359275" cy="635000"/>
          </a:xfr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defRPr/>
            </a:pPr>
            <a:r>
              <a:rPr kumimoji="0" sz="4000" b="1" i="0" u="none" strike="noStrike" kern="0" cap="none" spc="-60" normalizeH="0" baseline="0" noProof="0" dirty="0">
                <a:ln>
                  <a:noFill/>
                </a:ln>
                <a:solidFill>
                  <a:srgbClr val="000000"/>
                </a:solidFill>
                <a:effectLst/>
                <a:uLnTx/>
                <a:uFillTx/>
                <a:latin typeface="Arial" panose="020B0604020202020204"/>
                <a:ea typeface="+mj-ea"/>
                <a:cs typeface="Arial" panose="020B0604020202020204"/>
              </a:rPr>
              <a:t>Who</a:t>
            </a:r>
            <a:r>
              <a:rPr kumimoji="0" sz="4000" b="1" i="0" u="none" strike="noStrike" kern="0" cap="none" spc="-75" normalizeH="0" baseline="0" noProof="0" dirty="0">
                <a:ln>
                  <a:noFill/>
                </a:ln>
                <a:solidFill>
                  <a:srgbClr val="000000"/>
                </a:solidFill>
                <a:effectLst/>
                <a:uLnTx/>
                <a:uFillTx/>
                <a:latin typeface="Arial" panose="020B0604020202020204"/>
                <a:ea typeface="+mj-ea"/>
                <a:cs typeface="Arial" panose="020B0604020202020204"/>
              </a:rPr>
              <a:t> </a:t>
            </a:r>
            <a:r>
              <a:rPr kumimoji="0" sz="4000" b="1" i="0" u="none" strike="noStrike" kern="0" cap="none" spc="180" normalizeH="0" baseline="0" noProof="0" dirty="0">
                <a:ln>
                  <a:noFill/>
                </a:ln>
                <a:solidFill>
                  <a:srgbClr val="000000"/>
                </a:solidFill>
                <a:effectLst/>
                <a:uLnTx/>
                <a:uFillTx/>
                <a:latin typeface="Arial" panose="020B0604020202020204"/>
                <a:ea typeface="+mj-ea"/>
                <a:cs typeface="Arial" panose="020B0604020202020204"/>
              </a:rPr>
              <a:t>are</a:t>
            </a:r>
            <a:r>
              <a:rPr kumimoji="0" sz="4000" b="1" i="0" u="none" strike="noStrike" kern="0" cap="none" spc="-90" normalizeH="0" baseline="0" noProof="0" dirty="0">
                <a:ln>
                  <a:noFill/>
                </a:ln>
                <a:solidFill>
                  <a:srgbClr val="000000"/>
                </a:solidFill>
                <a:effectLst/>
                <a:uLnTx/>
                <a:uFillTx/>
                <a:latin typeface="Arial" panose="020B0604020202020204"/>
                <a:ea typeface="+mj-ea"/>
                <a:cs typeface="Arial" panose="020B0604020202020204"/>
              </a:rPr>
              <a:t> </a:t>
            </a:r>
            <a:r>
              <a:rPr kumimoji="0" sz="40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Eligible?</a:t>
            </a:r>
            <a:endParaRPr kumimoji="0" sz="4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sp>
        <p:nvSpPr>
          <p:cNvPr id="5" name="object 5"/>
          <p:cNvSpPr txBox="1"/>
          <p:nvPr/>
        </p:nvSpPr>
        <p:spPr>
          <a:xfrm>
            <a:off x="4443413" y="2051050"/>
            <a:ext cx="6256338" cy="3381375"/>
          </a:xfrm>
          <a:prstGeom prst="rect">
            <a:avLst/>
          </a:prstGeom>
        </p:spPr>
        <p:txBody>
          <a:bodyPr vert="horz" wrap="square" lIns="0" tIns="13335" rIns="0" bIns="0" rtlCol="0">
            <a:spAutoFit/>
          </a:bodyPr>
          <a:p>
            <a:pPr marL="12700" algn="just" eaLnBrk="1" hangingPunct="1">
              <a:spcBef>
                <a:spcPts val="100"/>
              </a:spcBef>
              <a:buNone/>
            </a:pPr>
            <a:r>
              <a:rPr lang="en-US" altLang="zh-CN" sz="2000">
                <a:solidFill>
                  <a:srgbClr val="000000"/>
                </a:solidFill>
                <a:latin typeface="Tahoma" panose="020B0604030504040204" pitchFamily="34" charset="0"/>
                <a:cs typeface="Tahoma" panose="020B0604030504040204" pitchFamily="34" charset="0"/>
              </a:rPr>
              <a:t>All active, regular and full-time employees who are at least 18 to 65 years of age and are in good health at the inception of the policy.</a:t>
            </a:r>
            <a:endParaRPr lang="en-US" altLang="zh-CN" sz="2000">
              <a:solidFill>
                <a:srgbClr val="000000"/>
              </a:solidFill>
              <a:latin typeface="Tahoma" panose="020B0604030504040204" pitchFamily="34" charset="0"/>
              <a:cs typeface="Tahoma" panose="020B0604030504040204" pitchFamily="34" charset="0"/>
            </a:endParaRPr>
          </a:p>
          <a:p>
            <a:pPr marL="12700" eaLnBrk="1" hangingPunct="1">
              <a:spcBef>
                <a:spcPts val="50"/>
              </a:spcBef>
              <a:buNone/>
            </a:pPr>
            <a:endParaRPr lang="en-US" altLang="zh-CN" sz="1900">
              <a:solidFill>
                <a:srgbClr val="000000"/>
              </a:solidFill>
              <a:latin typeface="Tahoma" panose="020B0604030504040204" pitchFamily="34" charset="0"/>
              <a:cs typeface="Tahoma" panose="020B0604030504040204" pitchFamily="34" charset="0"/>
            </a:endParaRPr>
          </a:p>
          <a:p>
            <a:pPr marL="12700" eaLnBrk="1" hangingPunct="1">
              <a:buNone/>
            </a:pPr>
            <a:r>
              <a:rPr lang="en-US" altLang="zh-CN" sz="2000">
                <a:solidFill>
                  <a:srgbClr val="000000"/>
                </a:solidFill>
                <a:latin typeface="Tahoma" panose="020B0604030504040204" pitchFamily="34" charset="0"/>
                <a:cs typeface="Tahoma" panose="020B0604030504040204" pitchFamily="34" charset="0"/>
              </a:rPr>
              <a:t>Future	full-time	employees	shall	be	enrolled	upon</a:t>
            </a:r>
            <a:endParaRPr lang="en-US" altLang="zh-CN" sz="2000">
              <a:solidFill>
                <a:srgbClr val="000000"/>
              </a:solidFill>
              <a:latin typeface="Tahoma" panose="020B0604030504040204" pitchFamily="34" charset="0"/>
              <a:cs typeface="Tahoma" panose="020B0604030504040204" pitchFamily="34" charset="0"/>
            </a:endParaRPr>
          </a:p>
          <a:p>
            <a:pPr marL="12700" eaLnBrk="1" hangingPunct="1">
              <a:buNone/>
            </a:pPr>
            <a:r>
              <a:rPr lang="en-US" altLang="zh-CN" sz="2000">
                <a:solidFill>
                  <a:srgbClr val="000000"/>
                </a:solidFill>
                <a:latin typeface="Tahoma" panose="020B0604030504040204" pitchFamily="34" charset="0"/>
                <a:cs typeface="Tahoma" panose="020B0604030504040204" pitchFamily="34" charset="0"/>
              </a:rPr>
              <a:t>eligibility.</a:t>
            </a:r>
            <a:endParaRPr lang="en-US" altLang="zh-CN" sz="2000">
              <a:solidFill>
                <a:srgbClr val="000000"/>
              </a:solidFill>
              <a:latin typeface="Tahoma" panose="020B0604030504040204" pitchFamily="34" charset="0"/>
              <a:cs typeface="Tahoma" panose="020B0604030504040204" pitchFamily="34" charset="0"/>
            </a:endParaRPr>
          </a:p>
          <a:p>
            <a:pPr marL="12700" eaLnBrk="1" hangingPunct="1">
              <a:spcBef>
                <a:spcPts val="50"/>
              </a:spcBef>
              <a:buNone/>
            </a:pPr>
            <a:endParaRPr lang="en-US" altLang="zh-CN" sz="1900">
              <a:solidFill>
                <a:srgbClr val="000000"/>
              </a:solidFill>
              <a:latin typeface="Tahoma" panose="020B0604030504040204" pitchFamily="34" charset="0"/>
              <a:cs typeface="Tahoma" panose="020B0604030504040204" pitchFamily="34" charset="0"/>
            </a:endParaRPr>
          </a:p>
          <a:p>
            <a:pPr marL="12700" algn="just" eaLnBrk="1" hangingPunct="1">
              <a:buNone/>
            </a:pPr>
            <a:r>
              <a:rPr lang="en-US" altLang="zh-CN" sz="2000">
                <a:solidFill>
                  <a:srgbClr val="000000"/>
                </a:solidFill>
                <a:latin typeface="Tahoma" panose="020B0604030504040204" pitchFamily="34" charset="0"/>
                <a:cs typeface="Tahoma" panose="020B0604030504040204" pitchFamily="34" charset="0"/>
              </a:rPr>
              <a:t>Probationary Employee will be covered under NEL upon confirming that they undergo and passed medical exam prior  to  employment;  otherwise  their  coverage  is subject for First Peso Underwriting.</a:t>
            </a:r>
            <a:endParaRPr lang="en-US" altLang="zh-CN" sz="2000">
              <a:solidFill>
                <a:srgbClr val="000000"/>
              </a:solidFill>
              <a:latin typeface="Tahoma" panose="020B0604030504040204" pitchFamily="34" charset="0"/>
              <a:ea typeface="Tahoma" panose="020B0604030504040204" pitchFamily="34" charset="0"/>
            </a:endParaRPr>
          </a:p>
        </p:txBody>
      </p:sp>
      <p:pic>
        <p:nvPicPr>
          <p:cNvPr id="6150" name="object 6"/>
          <p:cNvPicPr>
            <a:picLocks noChangeAspect="1"/>
          </p:cNvPicPr>
          <p:nvPr/>
        </p:nvPicPr>
        <p:blipFill>
          <a:blip r:embed="rId2"/>
          <a:stretch>
            <a:fillRect/>
          </a:stretch>
        </p:blipFill>
        <p:spPr>
          <a:xfrm>
            <a:off x="1833563" y="2103438"/>
            <a:ext cx="2324100" cy="2495550"/>
          </a:xfrm>
          <a:prstGeom prst="rect">
            <a:avLst/>
          </a:prstGeom>
          <a:noFill/>
          <a:ln w="9525">
            <a:noFill/>
          </a:ln>
        </p:spPr>
      </p:pic>
      <p:sp>
        <p:nvSpPr>
          <p:cNvPr id="7" name="object 7"/>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ctrTitle"/>
          </p:nvPr>
        </p:nvSpPr>
        <p:spPr>
          <a:xfrm>
            <a:off x="314325" y="96838"/>
            <a:ext cx="3697288" cy="573088"/>
          </a:xfr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defRPr/>
            </a:pPr>
            <a:r>
              <a:rPr kumimoji="0" sz="2000" b="1" i="0" u="none" strike="noStrike" kern="0" cap="none" spc="0" normalizeH="0" baseline="0" noProof="0" dirty="0">
                <a:ln>
                  <a:noFill/>
                </a:ln>
                <a:solidFill>
                  <a:srgbClr val="7E7E7E"/>
                </a:solidFill>
                <a:effectLst/>
                <a:uLnTx/>
                <a:uFillTx/>
                <a:latin typeface="Arial" panose="020B0604020202020204"/>
                <a:ea typeface="+mj-ea"/>
                <a:cs typeface="Arial" panose="020B0604020202020204"/>
              </a:rPr>
              <a:t>Group</a:t>
            </a:r>
            <a:r>
              <a:rPr kumimoji="0" sz="2000" b="1" i="0" u="none" strike="noStrike" kern="0" cap="none" spc="13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50" normalizeH="0" baseline="0" noProof="0" dirty="0">
                <a:ln>
                  <a:noFill/>
                </a:ln>
                <a:solidFill>
                  <a:srgbClr val="7E7E7E"/>
                </a:solidFill>
                <a:effectLst/>
                <a:uLnTx/>
                <a:uFillTx/>
                <a:latin typeface="Arial" panose="020B0604020202020204"/>
                <a:ea typeface="+mj-ea"/>
                <a:cs typeface="Arial" panose="020B0604020202020204"/>
              </a:rPr>
              <a:t>Life</a:t>
            </a:r>
            <a:r>
              <a:rPr kumimoji="0" sz="2000" b="1" i="0" u="none" strike="noStrike" kern="0" cap="none" spc="140"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rgbClr val="7E7E7E"/>
                </a:solidFill>
                <a:effectLst/>
                <a:uLnTx/>
                <a:uFillTx/>
                <a:latin typeface="Arial" panose="020B0604020202020204"/>
                <a:ea typeface="+mj-ea"/>
                <a:cs typeface="Arial" panose="020B0604020202020204"/>
              </a:rPr>
              <a:t>Insurance</a:t>
            </a:r>
            <a:r>
              <a:rPr kumimoji="0" sz="2000" b="1" i="0" u="none" strike="noStrike" kern="0" cap="none" spc="17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40" normalizeH="0" baseline="0" noProof="0" dirty="0">
                <a:ln>
                  <a:noFill/>
                </a:ln>
                <a:solidFill>
                  <a:srgbClr val="7E7E7E"/>
                </a:solidFill>
                <a:effectLst/>
                <a:uLnTx/>
                <a:uFillTx/>
                <a:latin typeface="Arial" panose="020B0604020202020204"/>
                <a:ea typeface="+mj-ea"/>
                <a:cs typeface="Arial" panose="020B0604020202020204"/>
              </a:rPr>
              <a:t>Benefit</a:t>
            </a:r>
            <a:endParaRPr kumimoji="0" sz="2000" b="1" i="0" u="none" strike="noStrike" kern="0" cap="none" spc="40" normalizeH="0" baseline="0" noProof="0" dirty="0">
              <a:ln>
                <a:noFill/>
              </a:ln>
              <a:solidFill>
                <a:srgbClr val="7E7E7E"/>
              </a:solidFill>
              <a:effectLst/>
              <a:uLnTx/>
              <a:uFillTx/>
              <a:latin typeface="Arial" panose="020B0604020202020204"/>
              <a:ea typeface="+mj-ea"/>
              <a:cs typeface="Arial" panose="020B0604020202020204"/>
            </a:endParaRPr>
          </a:p>
        </p:txBody>
      </p:sp>
      <p:sp>
        <p:nvSpPr>
          <p:cNvPr id="7171" name="object 3"/>
          <p:cNvSpPr/>
          <p:nvPr/>
        </p:nvSpPr>
        <p:spPr>
          <a:xfrm>
            <a:off x="1489075" y="1179513"/>
            <a:ext cx="9213850" cy="527050"/>
          </a:xfrm>
          <a:custGeom>
            <a:avLst/>
            <a:gdLst/>
            <a:ahLst/>
            <a:cxnLst/>
            <a:pathLst>
              <a:path w="9215120" h="528319">
                <a:moveTo>
                  <a:pt x="9127109" y="0"/>
                </a:moveTo>
                <a:lnTo>
                  <a:pt x="88010" y="0"/>
                </a:lnTo>
                <a:lnTo>
                  <a:pt x="53738" y="6911"/>
                </a:lnTo>
                <a:lnTo>
                  <a:pt x="25765" y="25765"/>
                </a:lnTo>
                <a:lnTo>
                  <a:pt x="6911" y="53738"/>
                </a:lnTo>
                <a:lnTo>
                  <a:pt x="0" y="88011"/>
                </a:lnTo>
                <a:lnTo>
                  <a:pt x="0" y="439927"/>
                </a:lnTo>
                <a:lnTo>
                  <a:pt x="6911" y="474126"/>
                </a:lnTo>
                <a:lnTo>
                  <a:pt x="25765" y="502062"/>
                </a:lnTo>
                <a:lnTo>
                  <a:pt x="53738" y="520902"/>
                </a:lnTo>
                <a:lnTo>
                  <a:pt x="88010" y="527812"/>
                </a:lnTo>
                <a:lnTo>
                  <a:pt x="9127109" y="527812"/>
                </a:lnTo>
                <a:lnTo>
                  <a:pt x="9161327" y="520902"/>
                </a:lnTo>
                <a:lnTo>
                  <a:pt x="9189307" y="502062"/>
                </a:lnTo>
                <a:lnTo>
                  <a:pt x="9208190" y="474126"/>
                </a:lnTo>
                <a:lnTo>
                  <a:pt x="9215119" y="439927"/>
                </a:lnTo>
                <a:lnTo>
                  <a:pt x="9215119" y="88011"/>
                </a:lnTo>
                <a:lnTo>
                  <a:pt x="9208190" y="53738"/>
                </a:lnTo>
                <a:lnTo>
                  <a:pt x="9189307" y="25765"/>
                </a:lnTo>
                <a:lnTo>
                  <a:pt x="9161327" y="6911"/>
                </a:lnTo>
                <a:lnTo>
                  <a:pt x="9127109" y="0"/>
                </a:lnTo>
                <a:close/>
              </a:path>
            </a:pathLst>
          </a:custGeom>
          <a:solidFill>
            <a:srgbClr val="E8E9EB">
              <a:alpha val="100000"/>
            </a:srgbClr>
          </a:solidFill>
          <a:ln w="9525">
            <a:noFill/>
          </a:ln>
        </p:spPr>
        <p:txBody>
          <a:bodyPr/>
          <a:p>
            <a:endParaRPr lang="en-US"/>
          </a:p>
        </p:txBody>
      </p:sp>
      <p:sp>
        <p:nvSpPr>
          <p:cNvPr id="4" name="object 4"/>
          <p:cNvSpPr txBox="1"/>
          <p:nvPr/>
        </p:nvSpPr>
        <p:spPr>
          <a:xfrm>
            <a:off x="1935163" y="1228725"/>
            <a:ext cx="8320088" cy="406400"/>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2500" b="1" kern="0" cap="none" spc="0" normalizeH="0" baseline="0" noProof="0" dirty="0">
                <a:solidFill>
                  <a:sysClr val="windowText" lastClr="000000"/>
                </a:solidFill>
                <a:latin typeface="Arial" panose="020B0604020202020204"/>
                <a:cs typeface="Arial" panose="020B0604020202020204"/>
              </a:rPr>
              <a:t>Schedule</a:t>
            </a:r>
            <a:r>
              <a:rPr kumimoji="0" sz="2500" b="1" kern="0" cap="none" spc="75" normalizeH="0" baseline="0" noProof="0" dirty="0">
                <a:solidFill>
                  <a:sysClr val="windowText" lastClr="000000"/>
                </a:solidFill>
                <a:latin typeface="Arial" panose="020B0604020202020204"/>
                <a:cs typeface="Arial" panose="020B0604020202020204"/>
              </a:rPr>
              <a:t> </a:t>
            </a:r>
            <a:r>
              <a:rPr kumimoji="0" sz="2500" b="1" kern="0" cap="none" spc="0" normalizeH="0" baseline="0" noProof="0" dirty="0">
                <a:solidFill>
                  <a:sysClr val="windowText" lastClr="000000"/>
                </a:solidFill>
                <a:latin typeface="Arial" panose="020B0604020202020204"/>
                <a:cs typeface="Arial" panose="020B0604020202020204"/>
              </a:rPr>
              <a:t>of</a:t>
            </a:r>
            <a:r>
              <a:rPr kumimoji="0" sz="2500" b="1" kern="0" cap="none" spc="35" normalizeH="0" baseline="0" noProof="0" dirty="0">
                <a:solidFill>
                  <a:sysClr val="windowText" lastClr="000000"/>
                </a:solidFill>
                <a:latin typeface="Arial" panose="020B0604020202020204"/>
                <a:cs typeface="Arial" panose="020B0604020202020204"/>
              </a:rPr>
              <a:t> </a:t>
            </a:r>
            <a:r>
              <a:rPr kumimoji="0" sz="2500" b="1" kern="0" cap="none" spc="0" normalizeH="0" baseline="0" noProof="0" dirty="0">
                <a:solidFill>
                  <a:sysClr val="windowText" lastClr="000000"/>
                </a:solidFill>
                <a:latin typeface="Arial" panose="020B0604020202020204"/>
                <a:cs typeface="Arial" panose="020B0604020202020204"/>
              </a:rPr>
              <a:t>Coverage</a:t>
            </a:r>
            <a:r>
              <a:rPr kumimoji="0" sz="2500" b="1" kern="0" cap="none" spc="75" normalizeH="0" baseline="0" noProof="0" dirty="0">
                <a:solidFill>
                  <a:sysClr val="windowText" lastClr="000000"/>
                </a:solidFill>
                <a:latin typeface="Arial" panose="020B0604020202020204"/>
                <a:cs typeface="Arial" panose="020B0604020202020204"/>
              </a:rPr>
              <a:t> </a:t>
            </a:r>
            <a:r>
              <a:rPr kumimoji="0" sz="2500" b="1" kern="0" cap="none" spc="50" normalizeH="0" baseline="0" noProof="0" dirty="0">
                <a:solidFill>
                  <a:sysClr val="windowText" lastClr="000000"/>
                </a:solidFill>
                <a:latin typeface="Arial" panose="020B0604020202020204"/>
                <a:cs typeface="Arial" panose="020B0604020202020204"/>
              </a:rPr>
              <a:t>for</a:t>
            </a:r>
            <a:r>
              <a:rPr kumimoji="0" sz="2500" b="1" kern="0" cap="none" spc="45" normalizeH="0" baseline="0" noProof="0" dirty="0">
                <a:solidFill>
                  <a:sysClr val="windowText" lastClr="000000"/>
                </a:solidFill>
                <a:latin typeface="Arial" panose="020B0604020202020204"/>
                <a:cs typeface="Arial" panose="020B0604020202020204"/>
              </a:rPr>
              <a:t> </a:t>
            </a:r>
            <a:r>
              <a:rPr kumimoji="0" sz="2500" b="1" kern="0" cap="none" spc="-20" normalizeH="0" baseline="0" noProof="0" dirty="0">
                <a:solidFill>
                  <a:sysClr val="windowText" lastClr="000000"/>
                </a:solidFill>
                <a:latin typeface="Arial" panose="020B0604020202020204"/>
                <a:cs typeface="Arial" panose="020B0604020202020204"/>
              </a:rPr>
              <a:t>ALL</a:t>
            </a:r>
            <a:r>
              <a:rPr kumimoji="0" sz="2500" b="1" kern="0" cap="none" spc="60" normalizeH="0" baseline="0" noProof="0" dirty="0">
                <a:solidFill>
                  <a:sysClr val="windowText" lastClr="000000"/>
                </a:solidFill>
                <a:latin typeface="Arial" panose="020B0604020202020204"/>
                <a:cs typeface="Arial" panose="020B0604020202020204"/>
              </a:rPr>
              <a:t> </a:t>
            </a:r>
            <a:r>
              <a:rPr kumimoji="0" sz="2500" b="1" kern="0" cap="none" spc="90" normalizeH="0" baseline="0" noProof="0" dirty="0">
                <a:solidFill>
                  <a:sysClr val="windowText" lastClr="000000"/>
                </a:solidFill>
                <a:latin typeface="Arial" panose="020B0604020202020204"/>
                <a:cs typeface="Arial" panose="020B0604020202020204"/>
              </a:rPr>
              <a:t>the</a:t>
            </a:r>
            <a:r>
              <a:rPr kumimoji="0" sz="2500" b="1" kern="0" cap="none" spc="45" normalizeH="0" baseline="0" noProof="0" dirty="0">
                <a:solidFill>
                  <a:sysClr val="windowText" lastClr="000000"/>
                </a:solidFill>
                <a:latin typeface="Arial" panose="020B0604020202020204"/>
                <a:cs typeface="Arial" panose="020B0604020202020204"/>
              </a:rPr>
              <a:t> </a:t>
            </a:r>
            <a:r>
              <a:rPr kumimoji="0" sz="2500" b="1" kern="0" cap="none" spc="50" normalizeH="0" baseline="0" noProof="0" dirty="0">
                <a:solidFill>
                  <a:sysClr val="windowText" lastClr="000000"/>
                </a:solidFill>
                <a:latin typeface="Arial" panose="020B0604020202020204"/>
                <a:cs typeface="Arial" panose="020B0604020202020204"/>
              </a:rPr>
              <a:t>Eligible</a:t>
            </a:r>
            <a:r>
              <a:rPr kumimoji="0" sz="2500" b="1" kern="0" cap="none" spc="75" normalizeH="0" baseline="0" noProof="0" dirty="0">
                <a:solidFill>
                  <a:sysClr val="windowText" lastClr="000000"/>
                </a:solidFill>
                <a:latin typeface="Arial" panose="020B0604020202020204"/>
                <a:cs typeface="Arial" panose="020B0604020202020204"/>
              </a:rPr>
              <a:t> </a:t>
            </a:r>
            <a:r>
              <a:rPr kumimoji="0" sz="2500" b="1" kern="0" cap="none" spc="-10" normalizeH="0" baseline="0" noProof="0" dirty="0">
                <a:solidFill>
                  <a:sysClr val="windowText" lastClr="000000"/>
                </a:solidFill>
                <a:latin typeface="Arial" panose="020B0604020202020204"/>
                <a:cs typeface="Arial" panose="020B0604020202020204"/>
              </a:rPr>
              <a:t>Employees</a:t>
            </a:r>
            <a:endParaRPr kumimoji="0" sz="2500" kern="0" cap="none" spc="0" normalizeH="0" baseline="0" noProof="0">
              <a:solidFill>
                <a:sysClr val="windowText" lastClr="000000"/>
              </a:solidFill>
              <a:latin typeface="Arial" panose="020B0604020202020204"/>
              <a:cs typeface="Arial" panose="020B0604020202020204"/>
            </a:endParaRPr>
          </a:p>
        </p:txBody>
      </p:sp>
      <p:pic>
        <p:nvPicPr>
          <p:cNvPr id="7173" name="object 5"/>
          <p:cNvPicPr>
            <a:picLocks noChangeAspect="1"/>
          </p:cNvPicPr>
          <p:nvPr/>
        </p:nvPicPr>
        <p:blipFill>
          <a:blip r:embed="rId1"/>
          <a:stretch>
            <a:fillRect/>
          </a:stretch>
        </p:blipFill>
        <p:spPr>
          <a:xfrm>
            <a:off x="804863" y="1951038"/>
            <a:ext cx="10641012" cy="3454400"/>
          </a:xfrm>
          <a:prstGeom prst="rect">
            <a:avLst/>
          </a:prstGeom>
          <a:noFill/>
          <a:ln w="9525">
            <a:noFill/>
          </a:ln>
        </p:spPr>
      </p:pic>
      <p:sp>
        <p:nvSpPr>
          <p:cNvPr id="6" name="object 6"/>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008313" y="492125"/>
            <a:ext cx="7748588" cy="454025"/>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b="1" kern="0" cap="none" spc="-10" normalizeH="0" baseline="0" noProof="0" dirty="0">
                <a:solidFill>
                  <a:srgbClr val="FFFFFF"/>
                </a:solidFill>
                <a:latin typeface="Arial" panose="020B0604020202020204"/>
                <a:cs typeface="Arial" panose="020B0604020202020204"/>
              </a:rPr>
              <a:t>ACCIDENTAL</a:t>
            </a:r>
            <a:r>
              <a:rPr kumimoji="0" sz="1600" b="1" kern="0" cap="none" spc="12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DEATH,</a:t>
            </a:r>
            <a:r>
              <a:rPr kumimoji="0" sz="1600" b="1" kern="0" cap="none" spc="75"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DISMEMBERMENT,</a:t>
            </a:r>
            <a:r>
              <a:rPr kumimoji="0" sz="1600" b="1" kern="0" cap="none" spc="114"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&amp;</a:t>
            </a:r>
            <a:r>
              <a:rPr kumimoji="0" sz="1600" b="1" kern="0" cap="none" spc="6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DISABLEMENT</a:t>
            </a:r>
            <a:r>
              <a:rPr kumimoji="0" sz="1600" b="1" kern="0" cap="none" spc="13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BENEFIT</a:t>
            </a:r>
            <a:r>
              <a:rPr kumimoji="0" sz="1600" b="1" kern="0" cap="none" spc="95" normalizeH="0" baseline="0" noProof="0" dirty="0">
                <a:solidFill>
                  <a:srgbClr val="FFFFFF"/>
                </a:solidFill>
                <a:latin typeface="Arial" panose="020B0604020202020204"/>
                <a:cs typeface="Arial" panose="020B0604020202020204"/>
              </a:rPr>
              <a:t> </a:t>
            </a:r>
            <a:r>
              <a:rPr kumimoji="0" sz="1600" b="1" kern="0" cap="none" spc="-10" normalizeH="0" baseline="0" noProof="0" dirty="0">
                <a:solidFill>
                  <a:srgbClr val="FFFFFF"/>
                </a:solidFill>
                <a:latin typeface="Arial" panose="020B0604020202020204"/>
                <a:cs typeface="Arial" panose="020B0604020202020204"/>
              </a:rPr>
              <a:t>(ADD&amp;D)</a:t>
            </a:r>
            <a:endParaRPr kumimoji="0" sz="16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15"/>
              </a:spcBef>
              <a:spcAft>
                <a:spcPts val="0"/>
              </a:spcAft>
              <a:buClrTx/>
              <a:buSzTx/>
              <a:buFontTx/>
              <a:buNone/>
              <a:defRPr/>
            </a:pPr>
            <a:r>
              <a:rPr kumimoji="0" sz="1200" kern="0" cap="none" spc="0" normalizeH="0" baseline="0" noProof="0" dirty="0">
                <a:solidFill>
                  <a:srgbClr val="FFFFFF"/>
                </a:solidFill>
                <a:latin typeface="Tahoma" panose="020B0604030504040204"/>
                <a:cs typeface="Tahoma" panose="020B0604030504040204"/>
              </a:rPr>
              <a:t>GROUP</a:t>
            </a:r>
            <a:r>
              <a:rPr kumimoji="0" sz="1200" kern="0" cap="none" spc="-5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LIFE</a:t>
            </a:r>
            <a:r>
              <a:rPr kumimoji="0" sz="1200" kern="0" cap="none" spc="-6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INSURANCE</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3" name="object 3"/>
          <p:cNvSpPr txBox="1"/>
          <p:nvPr/>
        </p:nvSpPr>
        <p:spPr>
          <a:xfrm>
            <a:off x="1366838" y="1431925"/>
            <a:ext cx="8896350" cy="2312988"/>
          </a:xfrm>
          <a:prstGeom prst="rect">
            <a:avLst/>
          </a:prstGeom>
        </p:spPr>
        <p:txBody>
          <a:bodyPr vert="horz" wrap="square" lIns="0" tIns="12700" rIns="0" bIns="0" rtlCol="0">
            <a:spAutoFit/>
          </a:bodyPr>
          <a:p>
            <a:pPr marL="12700" eaLnBrk="1" hangingPunct="1">
              <a:lnSpc>
                <a:spcPct val="150000"/>
              </a:lnSpc>
              <a:spcBef>
                <a:spcPts val="100"/>
              </a:spcBef>
              <a:buNone/>
            </a:pPr>
            <a:r>
              <a:rPr lang="en-US" altLang="zh-CN" sz="2000">
                <a:solidFill>
                  <a:srgbClr val="000000"/>
                </a:solidFill>
                <a:latin typeface="Tahoma" panose="020B0604030504040204" pitchFamily="34" charset="0"/>
                <a:cs typeface="Tahoma" panose="020B0604030504040204" pitchFamily="34" charset="0"/>
              </a:rPr>
              <a:t>Should an insured employee suffer a loss, or any bodily injury (directly and independently of all other causes), affected solely through external, violent and accidental means, within one hundred eighty (180) days from the said accident, Manulife will pay the employee, if living, otherwise, his/her designated beneficiary/ies, an amount equal to the benefit specified in the policy.</a:t>
            </a:r>
            <a:endParaRPr lang="en-US" altLang="zh-CN" sz="2000">
              <a:solidFill>
                <a:srgbClr val="000000"/>
              </a:solidFill>
              <a:latin typeface="Tahoma" panose="020B0604030504040204" pitchFamily="34" charset="0"/>
              <a:ea typeface="Tahoma" panose="020B0604030504040204" pitchFamily="34" charset="0"/>
            </a:endParaRPr>
          </a:p>
        </p:txBody>
      </p:sp>
      <p:pic>
        <p:nvPicPr>
          <p:cNvPr id="8196" name="object 4"/>
          <p:cNvPicPr>
            <a:picLocks noChangeAspect="1"/>
          </p:cNvPicPr>
          <p:nvPr/>
        </p:nvPicPr>
        <p:blipFill>
          <a:blip r:embed="rId1"/>
          <a:stretch>
            <a:fillRect/>
          </a:stretch>
        </p:blipFill>
        <p:spPr>
          <a:xfrm>
            <a:off x="9101138" y="3125788"/>
            <a:ext cx="2435225" cy="2436812"/>
          </a:xfrm>
          <a:prstGeom prst="rect">
            <a:avLst/>
          </a:prstGeom>
          <a:noFill/>
          <a:ln w="9525">
            <a:noFill/>
          </a:ln>
        </p:spPr>
      </p:pic>
      <p:sp>
        <p:nvSpPr>
          <p:cNvPr id="5" name="object 5"/>
          <p:cNvSpPr txBox="1">
            <a:spLocks noGrp="1"/>
          </p:cNvSpPr>
          <p:nvPr>
            <p:ph type="ftr" sz="quarter" idx="3"/>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8" name="Table 9217"/>
          <p:cNvGraphicFramePr/>
          <p:nvPr/>
        </p:nvGraphicFramePr>
        <p:xfrm>
          <a:off x="6181725" y="1306513"/>
          <a:ext cx="5759450" cy="3838575"/>
        </p:xfrm>
        <a:graphic>
          <a:graphicData uri="http://schemas.openxmlformats.org/drawingml/2006/table">
            <a:tbl>
              <a:tblPr/>
              <a:tblGrid>
                <a:gridCol w="2879725"/>
                <a:gridCol w="2879725"/>
              </a:tblGrid>
              <a:tr h="2889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b="1">
                          <a:solidFill>
                            <a:srgbClr val="FFFFFF"/>
                          </a:solidFill>
                          <a:cs typeface="Arial" panose="020B0604020202020204" pitchFamily="34" charset="0"/>
                        </a:rPr>
                        <a:t>LOSS</a:t>
                      </a:r>
                      <a:endParaRPr lang="en-US" sz="1200">
                        <a:ea typeface="Arial" panose="020B060402020202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282B3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3175" lvl="0" indent="0" algn="ctr" eaLnBrk="1" hangingPunct="1">
                        <a:spcBef>
                          <a:spcPts val="325"/>
                        </a:spcBef>
                        <a:buNone/>
                      </a:pPr>
                      <a:r>
                        <a:rPr lang="en-US" altLang="zh-CN" sz="1200" b="1">
                          <a:solidFill>
                            <a:srgbClr val="FFFFFF"/>
                          </a:solidFill>
                          <a:cs typeface="Arial" panose="020B0604020202020204" pitchFamily="34" charset="0"/>
                        </a:rPr>
                        <a:t>%</a:t>
                      </a:r>
                      <a:endParaRPr lang="en-US" sz="1200">
                        <a:ea typeface="Arial" panose="020B060402020202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282B3D"/>
                    </a:solidFill>
                  </a:tcPr>
                </a:tc>
              </a:tr>
              <a:tr h="2873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Hearing of one ear</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a:latin typeface="Tahoma" panose="020B0604030504040204" pitchFamily="34" charset="0"/>
                          <a:cs typeface="Tahoma" panose="020B0604030504040204" pitchFamily="34" charset="0"/>
                        </a:rPr>
                        <a:t>50%</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73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Whole leg</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a:latin typeface="Tahoma" panose="020B0604030504040204" pitchFamily="34" charset="0"/>
                          <a:cs typeface="Tahoma" panose="020B0604030504040204" pitchFamily="34" charset="0"/>
                        </a:rPr>
                        <a:t>50%</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73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Lower Leg</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a:latin typeface="Tahoma" panose="020B0604030504040204" pitchFamily="34" charset="0"/>
                          <a:cs typeface="Tahoma" panose="020B0604030504040204" pitchFamily="34" charset="0"/>
                        </a:rPr>
                        <a:t>40%</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10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All four fingers and thumb of either hand</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a:latin typeface="Tahoma" panose="020B0604030504040204" pitchFamily="34" charset="0"/>
                          <a:cs typeface="Tahoma" panose="020B0604030504040204" pitchFamily="34" charset="0"/>
                        </a:rPr>
                        <a:t>40%</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73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Thumb</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spcBef>
                          <a:spcPts val="325"/>
                        </a:spcBef>
                        <a:buNone/>
                      </a:pPr>
                      <a:r>
                        <a:rPr lang="en-US" altLang="zh-CN" sz="1200">
                          <a:latin typeface="Tahoma" panose="020B0604030504040204" pitchFamily="34" charset="0"/>
                          <a:cs typeface="Tahoma" panose="020B0604030504040204" pitchFamily="34" charset="0"/>
                        </a:rPr>
                        <a:t>20%</a:t>
                      </a:r>
                      <a:endParaRPr lang="en-US" sz="1200">
                        <a:latin typeface="Tahoma" panose="020B0604030504040204" pitchFamily="34" charset="0"/>
                        <a:ea typeface="Tahoma" panose="020B0604030504040204" pitchFamily="34" charset="0"/>
                      </a:endParaRPr>
                    </a:p>
                  </a:txBody>
                  <a:tcPr marL="0" marR="0" marT="4127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0556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Fingers of one hand</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index finger</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middle finger</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ring finger</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little finger</a:t>
                      </a:r>
                      <a:endParaRPr lang="en-US" sz="1200">
                        <a:latin typeface="Tahoma" panose="020B0604030504040204" pitchFamily="34" charset="0"/>
                        <a:ea typeface="Tahoma" panose="020B0604030504040204" pitchFamily="34" charset="0"/>
                      </a:endParaRPr>
                    </a:p>
                  </a:txBody>
                  <a:tcPr marL="0" marR="0" marT="4191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spcBef>
                          <a:spcPts val="50"/>
                        </a:spcBef>
                        <a:buNone/>
                      </a:pPr>
                      <a:endParaRPr lang="en-US" altLang="zh-CN" sz="1500">
                        <a:latin typeface="Times New Roman" panose="02020603050405020304" pitchFamily="18" charset="0"/>
                        <a:cs typeface="Times New Roman" panose="02020603050405020304" pitchFamily="18" charset="0"/>
                      </a:endParaRPr>
                    </a:p>
                    <a:p>
                      <a:pPr lvl="0" algn="ctr" eaLnBrk="1" hangingPunct="1">
                        <a:buNone/>
                      </a:pPr>
                      <a:r>
                        <a:rPr lang="en-US" altLang="zh-CN" sz="1200">
                          <a:latin typeface="Tahoma" panose="020B0604030504040204" pitchFamily="34" charset="0"/>
                          <a:cs typeface="Tahoma" panose="020B0604030504040204" pitchFamily="34" charset="0"/>
                        </a:rPr>
                        <a:t>10%</a:t>
                      </a:r>
                      <a:endParaRPr lang="en-US" altLang="zh-CN" sz="1200">
                        <a:latin typeface="Tahoma" panose="020B0604030504040204" pitchFamily="34" charset="0"/>
                        <a:cs typeface="Tahoma" panose="020B0604030504040204" pitchFamily="34" charset="0"/>
                      </a:endParaRPr>
                    </a:p>
                    <a:p>
                      <a:pPr lvl="0" algn="ctr" eaLnBrk="1" hangingPunct="1">
                        <a:buNone/>
                      </a:pPr>
                      <a:r>
                        <a:rPr lang="en-US" altLang="zh-CN" sz="1200">
                          <a:latin typeface="Tahoma" panose="020B0604030504040204" pitchFamily="34" charset="0"/>
                          <a:cs typeface="Tahoma" panose="020B0604030504040204" pitchFamily="34" charset="0"/>
                        </a:rPr>
                        <a:t>5%</a:t>
                      </a:r>
                      <a:endParaRPr lang="en-US" altLang="zh-CN" sz="1200">
                        <a:latin typeface="Tahoma" panose="020B0604030504040204" pitchFamily="34" charset="0"/>
                        <a:cs typeface="Tahoma" panose="020B0604030504040204" pitchFamily="34" charset="0"/>
                      </a:endParaRPr>
                    </a:p>
                    <a:p>
                      <a:pPr lvl="0" algn="ctr" eaLnBrk="1" hangingPunct="1">
                        <a:buNone/>
                      </a:pPr>
                      <a:r>
                        <a:rPr lang="en-US" altLang="zh-CN" sz="1200">
                          <a:latin typeface="Tahoma" panose="020B0604030504040204" pitchFamily="34" charset="0"/>
                          <a:cs typeface="Tahoma" panose="020B0604030504040204" pitchFamily="34" charset="0"/>
                        </a:rPr>
                        <a:t>3%</a:t>
                      </a:r>
                      <a:endParaRPr lang="en-US" altLang="zh-CN" sz="1200">
                        <a:latin typeface="Tahoma" panose="020B0604030504040204" pitchFamily="34" charset="0"/>
                        <a:cs typeface="Tahoma" panose="020B0604030504040204" pitchFamily="34" charset="0"/>
                      </a:endParaRPr>
                    </a:p>
                    <a:p>
                      <a:pPr lvl="0" algn="ctr" eaLnBrk="1" hangingPunct="1">
                        <a:buNone/>
                      </a:pPr>
                      <a:r>
                        <a:rPr lang="en-US" altLang="zh-CN" sz="1200">
                          <a:latin typeface="Tahoma" panose="020B0604030504040204" pitchFamily="34" charset="0"/>
                          <a:cs typeface="Tahoma" panose="020B0604030504040204" pitchFamily="34" charset="0"/>
                        </a:rPr>
                        <a:t>2%</a:t>
                      </a:r>
                      <a:endParaRPr lang="en-US" sz="1200">
                        <a:latin typeface="Tahoma" panose="020B0604030504040204" pitchFamily="34" charset="0"/>
                        <a:ea typeface="Tahoma" panose="020B0604030504040204" pitchFamily="34" charset="0"/>
                      </a:endParaRPr>
                    </a:p>
                  </a:txBody>
                  <a:tcPr marL="0" marR="0" marT="571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636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92075" lvl="0" indent="0" eaLnBrk="1" hangingPunct="1">
                        <a:spcBef>
                          <a:spcPts val="325"/>
                        </a:spcBef>
                        <a:buNone/>
                      </a:pPr>
                      <a:r>
                        <a:rPr lang="en-US" altLang="zh-CN" sz="1200">
                          <a:latin typeface="Tahoma" panose="020B0604030504040204" pitchFamily="34" charset="0"/>
                          <a:cs typeface="Tahoma" panose="020B0604030504040204" pitchFamily="34" charset="0"/>
                        </a:rPr>
                        <a:t>Toes of one foot</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all</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big toe</a:t>
                      </a:r>
                      <a:endParaRPr lang="en-US" altLang="zh-CN" sz="1200">
                        <a:latin typeface="Tahoma" panose="020B0604030504040204" pitchFamily="34" charset="0"/>
                        <a:cs typeface="Tahoma" panose="020B0604030504040204" pitchFamily="34" charset="0"/>
                      </a:endParaRPr>
                    </a:p>
                    <a:p>
                      <a:pPr marL="92075" lvl="0" indent="0" eaLnBrk="1" hangingPunct="1">
                        <a:buChar char="-"/>
                      </a:pPr>
                      <a:r>
                        <a:rPr lang="en-US" altLang="zh-CN" sz="1200">
                          <a:latin typeface="Tahoma" panose="020B0604030504040204" pitchFamily="34" charset="0"/>
                          <a:cs typeface="Tahoma" panose="020B0604030504040204" pitchFamily="34" charset="0"/>
                        </a:rPr>
                        <a:t>any toe other than big, each</a:t>
                      </a:r>
                      <a:endParaRPr lang="en-US" sz="1200">
                        <a:latin typeface="Tahoma" panose="020B0604030504040204" pitchFamily="34" charset="0"/>
                        <a:ea typeface="Tahoma" panose="020B0604030504040204" pitchFamily="34" charset="0"/>
                      </a:endParaRPr>
                    </a:p>
                  </a:txBody>
                  <a:tcPr marL="0" marR="0" marT="4191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spcBef>
                          <a:spcPts val="50"/>
                        </a:spcBef>
                        <a:buNone/>
                      </a:pPr>
                      <a:endParaRPr lang="en-US" altLang="zh-CN" sz="1500">
                        <a:latin typeface="Times New Roman" panose="02020603050405020304" pitchFamily="18" charset="0"/>
                        <a:cs typeface="Times New Roman" panose="02020603050405020304" pitchFamily="18" charset="0"/>
                      </a:endParaRPr>
                    </a:p>
                    <a:p>
                      <a:pPr lvl="0" algn="ctr" eaLnBrk="1" hangingPunct="1">
                        <a:buNone/>
                      </a:pPr>
                      <a:r>
                        <a:rPr lang="en-US" altLang="zh-CN" sz="1200">
                          <a:latin typeface="Tahoma" panose="020B0604030504040204" pitchFamily="34" charset="0"/>
                          <a:cs typeface="Tahoma" panose="020B0604030504040204" pitchFamily="34" charset="0"/>
                        </a:rPr>
                        <a:t>10%</a:t>
                      </a:r>
                      <a:endParaRPr lang="en-US" altLang="zh-CN" sz="1200">
                        <a:latin typeface="Tahoma" panose="020B0604030504040204" pitchFamily="34" charset="0"/>
                        <a:cs typeface="Tahoma" panose="020B0604030504040204" pitchFamily="34" charset="0"/>
                      </a:endParaRPr>
                    </a:p>
                    <a:p>
                      <a:pPr lvl="0" algn="ctr" eaLnBrk="1" hangingPunct="1">
                        <a:buNone/>
                      </a:pPr>
                      <a:r>
                        <a:rPr lang="en-US" altLang="zh-CN" sz="1200">
                          <a:latin typeface="Tahoma" panose="020B0604030504040204" pitchFamily="34" charset="0"/>
                          <a:cs typeface="Tahoma" panose="020B0604030504040204" pitchFamily="34" charset="0"/>
                        </a:rPr>
                        <a:t>5%</a:t>
                      </a:r>
                      <a:endParaRPr lang="en-US" altLang="zh-CN" sz="1200">
                        <a:latin typeface="Tahoma" panose="020B0604030504040204" pitchFamily="34" charset="0"/>
                        <a:cs typeface="Tahoma" panose="020B0604030504040204" pitchFamily="34" charset="0"/>
                      </a:endParaRPr>
                    </a:p>
                    <a:p>
                      <a:pPr lvl="0" algn="ctr" eaLnBrk="1" hangingPunct="1">
                        <a:buNone/>
                      </a:pPr>
                      <a:r>
                        <a:rPr lang="en-US" altLang="zh-CN" sz="1200">
                          <a:latin typeface="Tahoma" panose="020B0604030504040204" pitchFamily="34" charset="0"/>
                          <a:cs typeface="Tahoma" panose="020B0604030504040204" pitchFamily="34" charset="0"/>
                        </a:rPr>
                        <a:t>1%</a:t>
                      </a:r>
                      <a:endParaRPr lang="en-US" sz="1200">
                        <a:latin typeface="Tahoma" panose="020B0604030504040204" pitchFamily="34" charset="0"/>
                        <a:ea typeface="Tahoma" panose="020B0604030504040204" pitchFamily="34" charset="0"/>
                      </a:endParaRPr>
                    </a:p>
                  </a:txBody>
                  <a:tcPr marL="0" marR="0" marT="5715"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3" name="object 3"/>
          <p:cNvGraphicFramePr>
            <a:graphicFrameLocks noGrp="1"/>
          </p:cNvGraphicFramePr>
          <p:nvPr/>
        </p:nvGraphicFramePr>
        <p:xfrm>
          <a:off x="236538" y="1306513"/>
          <a:ext cx="5759450" cy="3835400"/>
        </p:xfrm>
        <a:graphic>
          <a:graphicData uri="http://schemas.openxmlformats.org/drawingml/2006/table">
            <a:tbl>
              <a:tblPr firstRow="1" bandRow="1">
                <a:tableStyleId>{2D5ABB26-0587-4C30-8999-92F81FD0307C}</a:tableStyleId>
              </a:tblPr>
              <a:tblGrid>
                <a:gridCol w="2879725"/>
                <a:gridCol w="2879725"/>
              </a:tblGrid>
              <a:tr h="273685">
                <a:tc>
                  <a:txBody>
                    <a:bodyPr/>
                    <a:lstStyle/>
                    <a:p>
                      <a:pPr algn="ctr">
                        <a:lnSpc>
                          <a:spcPct val="100000"/>
                        </a:lnSpc>
                        <a:spcBef>
                          <a:spcPts val="325"/>
                        </a:spcBef>
                      </a:pPr>
                      <a:r>
                        <a:rPr sz="1200" b="1" spc="-20" dirty="0">
                          <a:solidFill>
                            <a:srgbClr val="FFFFFF"/>
                          </a:solidFill>
                          <a:latin typeface="Arial" panose="020B0604020202020204"/>
                          <a:cs typeface="Arial" panose="020B0604020202020204"/>
                        </a:rPr>
                        <a:t>LOSS</a:t>
                      </a:r>
                      <a:endParaRPr sz="1200">
                        <a:latin typeface="Arial" panose="020B0604020202020204"/>
                        <a:cs typeface="Arial" panose="020B060402020202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282B3D"/>
                    </a:solidFill>
                  </a:tcPr>
                </a:tc>
                <a:tc>
                  <a:txBody>
                    <a:bodyPr/>
                    <a:lstStyle/>
                    <a:p>
                      <a:pPr marL="1270" algn="ctr">
                        <a:lnSpc>
                          <a:spcPct val="100000"/>
                        </a:lnSpc>
                        <a:spcBef>
                          <a:spcPts val="325"/>
                        </a:spcBef>
                      </a:pPr>
                      <a:r>
                        <a:rPr sz="1200" b="1" dirty="0">
                          <a:solidFill>
                            <a:srgbClr val="FFFFFF"/>
                          </a:solidFill>
                          <a:latin typeface="Arial" panose="020B0604020202020204"/>
                          <a:cs typeface="Arial" panose="020B0604020202020204"/>
                        </a:rPr>
                        <a:t>%</a:t>
                      </a:r>
                      <a:endParaRPr sz="1200">
                        <a:latin typeface="Arial" panose="020B0604020202020204"/>
                        <a:cs typeface="Arial" panose="020B060402020202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282B3D"/>
                    </a:solidFill>
                  </a:tcPr>
                </a:tc>
              </a:tr>
              <a:tr h="274320">
                <a:tc>
                  <a:txBody>
                    <a:bodyPr/>
                    <a:lstStyle/>
                    <a:p>
                      <a:pPr marL="91440">
                        <a:lnSpc>
                          <a:spcPct val="100000"/>
                        </a:lnSpc>
                        <a:spcBef>
                          <a:spcPts val="325"/>
                        </a:spcBef>
                      </a:pPr>
                      <a:r>
                        <a:rPr sz="1200" spc="-20" dirty="0">
                          <a:latin typeface="Tahoma" panose="020B0604030504040204"/>
                          <a:cs typeface="Tahoma" panose="020B0604030504040204"/>
                        </a:rPr>
                        <a:t>Life</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a:lstStyle/>
                    <a:p>
                      <a:pPr marL="91440">
                        <a:lnSpc>
                          <a:spcPct val="100000"/>
                        </a:lnSpc>
                        <a:spcBef>
                          <a:spcPts val="325"/>
                        </a:spcBef>
                      </a:pPr>
                      <a:r>
                        <a:rPr sz="1200" spc="-65" dirty="0">
                          <a:latin typeface="Tahoma" panose="020B0604030504040204"/>
                          <a:cs typeface="Tahoma" panose="020B0604030504040204"/>
                        </a:rPr>
                        <a:t>Two</a:t>
                      </a:r>
                      <a:r>
                        <a:rPr sz="1200" spc="-30" dirty="0">
                          <a:latin typeface="Tahoma" panose="020B0604030504040204"/>
                          <a:cs typeface="Tahoma" panose="020B0604030504040204"/>
                        </a:rPr>
                        <a:t> </a:t>
                      </a:r>
                      <a:r>
                        <a:rPr sz="1200" spc="-10" dirty="0">
                          <a:latin typeface="Tahoma" panose="020B0604030504040204"/>
                          <a:cs typeface="Tahoma" panose="020B0604030504040204"/>
                        </a:rPr>
                        <a:t>hands</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25"/>
                        </a:spcBef>
                      </a:pPr>
                      <a:r>
                        <a:rPr sz="1200" spc="-65" dirty="0">
                          <a:latin typeface="Tahoma" panose="020B0604030504040204"/>
                          <a:cs typeface="Tahoma" panose="020B0604030504040204"/>
                        </a:rPr>
                        <a:t>Two</a:t>
                      </a:r>
                      <a:r>
                        <a:rPr sz="1200" spc="-30" dirty="0">
                          <a:latin typeface="Tahoma" panose="020B0604030504040204"/>
                          <a:cs typeface="Tahoma" panose="020B0604030504040204"/>
                        </a:rPr>
                        <a:t> </a:t>
                      </a:r>
                      <a:r>
                        <a:rPr sz="1200" spc="-20" dirty="0">
                          <a:latin typeface="Tahoma" panose="020B0604030504040204"/>
                          <a:cs typeface="Tahoma" panose="020B0604030504040204"/>
                        </a:rPr>
                        <a:t>feet</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a:lstStyle/>
                    <a:p>
                      <a:pPr marL="91440">
                        <a:lnSpc>
                          <a:spcPct val="100000"/>
                        </a:lnSpc>
                        <a:spcBef>
                          <a:spcPts val="325"/>
                        </a:spcBef>
                      </a:pPr>
                      <a:r>
                        <a:rPr sz="1200" dirty="0">
                          <a:latin typeface="Tahoma" panose="020B0604030504040204"/>
                          <a:cs typeface="Tahoma" panose="020B0604030504040204"/>
                        </a:rPr>
                        <a:t>Sight</a:t>
                      </a:r>
                      <a:r>
                        <a:rPr sz="1200" spc="-35" dirty="0">
                          <a:latin typeface="Tahoma" panose="020B0604030504040204"/>
                          <a:cs typeface="Tahoma" panose="020B0604030504040204"/>
                        </a:rPr>
                        <a:t> </a:t>
                      </a:r>
                      <a:r>
                        <a:rPr sz="1200" dirty="0">
                          <a:latin typeface="Tahoma" panose="020B0604030504040204"/>
                          <a:cs typeface="Tahoma" panose="020B0604030504040204"/>
                        </a:rPr>
                        <a:t>of</a:t>
                      </a:r>
                      <a:r>
                        <a:rPr sz="1200" spc="-25" dirty="0">
                          <a:latin typeface="Tahoma" panose="020B0604030504040204"/>
                          <a:cs typeface="Tahoma" panose="020B0604030504040204"/>
                        </a:rPr>
                        <a:t> two</a:t>
                      </a:r>
                      <a:r>
                        <a:rPr sz="1200" spc="-40" dirty="0">
                          <a:latin typeface="Tahoma" panose="020B0604030504040204"/>
                          <a:cs typeface="Tahoma" panose="020B0604030504040204"/>
                        </a:rPr>
                        <a:t> </a:t>
                      </a:r>
                      <a:r>
                        <a:rPr sz="1200" spc="-20" dirty="0">
                          <a:latin typeface="Tahoma" panose="020B0604030504040204"/>
                          <a:cs typeface="Tahoma" panose="020B0604030504040204"/>
                        </a:rPr>
                        <a:t>eyes</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25"/>
                        </a:spcBef>
                      </a:pPr>
                      <a:r>
                        <a:rPr sz="1200" spc="-35" dirty="0">
                          <a:latin typeface="Tahoma" panose="020B0604030504040204"/>
                          <a:cs typeface="Tahoma" panose="020B0604030504040204"/>
                        </a:rPr>
                        <a:t>One</a:t>
                      </a:r>
                      <a:r>
                        <a:rPr sz="1200" spc="-50" dirty="0">
                          <a:latin typeface="Tahoma" panose="020B0604030504040204"/>
                          <a:cs typeface="Tahoma" panose="020B0604030504040204"/>
                        </a:rPr>
                        <a:t> </a:t>
                      </a:r>
                      <a:r>
                        <a:rPr sz="1200" dirty="0">
                          <a:latin typeface="Tahoma" panose="020B0604030504040204"/>
                          <a:cs typeface="Tahoma" panose="020B0604030504040204"/>
                        </a:rPr>
                        <a:t>hand</a:t>
                      </a:r>
                      <a:r>
                        <a:rPr sz="1200" spc="-50" dirty="0">
                          <a:latin typeface="Tahoma" panose="020B0604030504040204"/>
                          <a:cs typeface="Tahoma" panose="020B0604030504040204"/>
                        </a:rPr>
                        <a:t> </a:t>
                      </a:r>
                      <a:r>
                        <a:rPr sz="1200" dirty="0">
                          <a:latin typeface="Tahoma" panose="020B0604030504040204"/>
                          <a:cs typeface="Tahoma" panose="020B0604030504040204"/>
                        </a:rPr>
                        <a:t>and</a:t>
                      </a:r>
                      <a:r>
                        <a:rPr sz="1200" spc="-55" dirty="0">
                          <a:latin typeface="Tahoma" panose="020B0604030504040204"/>
                          <a:cs typeface="Tahoma" panose="020B0604030504040204"/>
                        </a:rPr>
                        <a:t> </a:t>
                      </a:r>
                      <a:r>
                        <a:rPr sz="1200" spc="-20" dirty="0">
                          <a:latin typeface="Tahoma" panose="020B0604030504040204"/>
                          <a:cs typeface="Tahoma" panose="020B0604030504040204"/>
                        </a:rPr>
                        <a:t>one</a:t>
                      </a:r>
                      <a:r>
                        <a:rPr sz="1200" spc="-55" dirty="0">
                          <a:latin typeface="Tahoma" panose="020B0604030504040204"/>
                          <a:cs typeface="Tahoma" panose="020B0604030504040204"/>
                        </a:rPr>
                        <a:t> </a:t>
                      </a:r>
                      <a:r>
                        <a:rPr sz="1200" spc="-20" dirty="0">
                          <a:latin typeface="Tahoma" panose="020B0604030504040204"/>
                          <a:cs typeface="Tahoma" panose="020B0604030504040204"/>
                        </a:rPr>
                        <a:t>foot</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a:lstStyle/>
                    <a:p>
                      <a:pPr marL="91440">
                        <a:lnSpc>
                          <a:spcPct val="100000"/>
                        </a:lnSpc>
                        <a:spcBef>
                          <a:spcPts val="325"/>
                        </a:spcBef>
                      </a:pPr>
                      <a:r>
                        <a:rPr sz="1200" spc="-35" dirty="0">
                          <a:latin typeface="Tahoma" panose="020B0604030504040204"/>
                          <a:cs typeface="Tahoma" panose="020B0604030504040204"/>
                        </a:rPr>
                        <a:t>One</a:t>
                      </a:r>
                      <a:r>
                        <a:rPr sz="1200" spc="-45" dirty="0">
                          <a:latin typeface="Tahoma" panose="020B0604030504040204"/>
                          <a:cs typeface="Tahoma" panose="020B0604030504040204"/>
                        </a:rPr>
                        <a:t> </a:t>
                      </a:r>
                      <a:r>
                        <a:rPr sz="1200" dirty="0">
                          <a:latin typeface="Tahoma" panose="020B0604030504040204"/>
                          <a:cs typeface="Tahoma" panose="020B0604030504040204"/>
                        </a:rPr>
                        <a:t>hand</a:t>
                      </a:r>
                      <a:r>
                        <a:rPr sz="1200" spc="-50" dirty="0">
                          <a:latin typeface="Tahoma" panose="020B0604030504040204"/>
                          <a:cs typeface="Tahoma" panose="020B0604030504040204"/>
                        </a:rPr>
                        <a:t> </a:t>
                      </a:r>
                      <a:r>
                        <a:rPr sz="1200" dirty="0">
                          <a:latin typeface="Tahoma" panose="020B0604030504040204"/>
                          <a:cs typeface="Tahoma" panose="020B0604030504040204"/>
                        </a:rPr>
                        <a:t>and</a:t>
                      </a:r>
                      <a:r>
                        <a:rPr sz="1200" spc="-50" dirty="0">
                          <a:latin typeface="Tahoma" panose="020B0604030504040204"/>
                          <a:cs typeface="Tahoma" panose="020B0604030504040204"/>
                        </a:rPr>
                        <a:t> </a:t>
                      </a:r>
                      <a:r>
                        <a:rPr sz="1200" dirty="0">
                          <a:latin typeface="Tahoma" panose="020B0604030504040204"/>
                          <a:cs typeface="Tahoma" panose="020B0604030504040204"/>
                        </a:rPr>
                        <a:t>sight</a:t>
                      </a:r>
                      <a:r>
                        <a:rPr sz="1200" spc="-45" dirty="0">
                          <a:latin typeface="Tahoma" panose="020B0604030504040204"/>
                          <a:cs typeface="Tahoma" panose="020B0604030504040204"/>
                        </a:rPr>
                        <a:t> </a:t>
                      </a:r>
                      <a:r>
                        <a:rPr sz="1200" dirty="0">
                          <a:latin typeface="Tahoma" panose="020B0604030504040204"/>
                          <a:cs typeface="Tahoma" panose="020B0604030504040204"/>
                        </a:rPr>
                        <a:t>of</a:t>
                      </a:r>
                      <a:r>
                        <a:rPr sz="1200" spc="-35" dirty="0">
                          <a:latin typeface="Tahoma" panose="020B0604030504040204"/>
                          <a:cs typeface="Tahoma" panose="020B0604030504040204"/>
                        </a:rPr>
                        <a:t> </a:t>
                      </a:r>
                      <a:r>
                        <a:rPr sz="1200" spc="-10" dirty="0">
                          <a:latin typeface="Tahoma" panose="020B0604030504040204"/>
                          <a:cs typeface="Tahoma" panose="020B0604030504040204"/>
                        </a:rPr>
                        <a:t>one</a:t>
                      </a:r>
                      <a:r>
                        <a:rPr sz="1200" spc="-45" dirty="0">
                          <a:latin typeface="Tahoma" panose="020B0604030504040204"/>
                          <a:cs typeface="Tahoma" panose="020B0604030504040204"/>
                        </a:rPr>
                        <a:t> </a:t>
                      </a:r>
                      <a:r>
                        <a:rPr sz="1200" spc="-25" dirty="0">
                          <a:latin typeface="Tahoma" panose="020B0604030504040204"/>
                          <a:cs typeface="Tahoma" panose="020B0604030504040204"/>
                        </a:rPr>
                        <a:t>eye</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a:lstStyle/>
                    <a:p>
                      <a:pPr marL="91440">
                        <a:lnSpc>
                          <a:spcPct val="100000"/>
                        </a:lnSpc>
                        <a:spcBef>
                          <a:spcPts val="330"/>
                        </a:spcBef>
                      </a:pPr>
                      <a:r>
                        <a:rPr sz="1200" spc="-35" dirty="0">
                          <a:latin typeface="Tahoma" panose="020B0604030504040204"/>
                          <a:cs typeface="Tahoma" panose="020B0604030504040204"/>
                        </a:rPr>
                        <a:t>One</a:t>
                      </a:r>
                      <a:r>
                        <a:rPr sz="1200" spc="-50" dirty="0">
                          <a:latin typeface="Tahoma" panose="020B0604030504040204"/>
                          <a:cs typeface="Tahoma" panose="020B0604030504040204"/>
                        </a:rPr>
                        <a:t> </a:t>
                      </a:r>
                      <a:r>
                        <a:rPr sz="1200" dirty="0">
                          <a:latin typeface="Tahoma" panose="020B0604030504040204"/>
                          <a:cs typeface="Tahoma" panose="020B0604030504040204"/>
                        </a:rPr>
                        <a:t>foot</a:t>
                      </a:r>
                      <a:r>
                        <a:rPr sz="1200" spc="-40" dirty="0">
                          <a:latin typeface="Tahoma" panose="020B0604030504040204"/>
                          <a:cs typeface="Tahoma" panose="020B0604030504040204"/>
                        </a:rPr>
                        <a:t> </a:t>
                      </a:r>
                      <a:r>
                        <a:rPr sz="1200" dirty="0">
                          <a:latin typeface="Tahoma" panose="020B0604030504040204"/>
                          <a:cs typeface="Tahoma" panose="020B0604030504040204"/>
                        </a:rPr>
                        <a:t>and</a:t>
                      </a:r>
                      <a:r>
                        <a:rPr sz="1200" spc="-50" dirty="0">
                          <a:latin typeface="Tahoma" panose="020B0604030504040204"/>
                          <a:cs typeface="Tahoma" panose="020B0604030504040204"/>
                        </a:rPr>
                        <a:t> </a:t>
                      </a:r>
                      <a:r>
                        <a:rPr sz="1200" dirty="0">
                          <a:latin typeface="Tahoma" panose="020B0604030504040204"/>
                          <a:cs typeface="Tahoma" panose="020B0604030504040204"/>
                        </a:rPr>
                        <a:t>sight</a:t>
                      </a:r>
                      <a:r>
                        <a:rPr sz="1200" spc="-40" dirty="0">
                          <a:latin typeface="Tahoma" panose="020B0604030504040204"/>
                          <a:cs typeface="Tahoma" panose="020B0604030504040204"/>
                        </a:rPr>
                        <a:t> </a:t>
                      </a:r>
                      <a:r>
                        <a:rPr sz="1200" dirty="0">
                          <a:latin typeface="Tahoma" panose="020B0604030504040204"/>
                          <a:cs typeface="Tahoma" panose="020B0604030504040204"/>
                        </a:rPr>
                        <a:t>of</a:t>
                      </a:r>
                      <a:r>
                        <a:rPr sz="1200" spc="-40" dirty="0">
                          <a:latin typeface="Tahoma" panose="020B0604030504040204"/>
                          <a:cs typeface="Tahoma" panose="020B0604030504040204"/>
                        </a:rPr>
                        <a:t> </a:t>
                      </a:r>
                      <a:r>
                        <a:rPr sz="1200" spc="-10" dirty="0">
                          <a:latin typeface="Tahoma" panose="020B0604030504040204"/>
                          <a:cs typeface="Tahoma" panose="020B0604030504040204"/>
                        </a:rPr>
                        <a:t>one</a:t>
                      </a:r>
                      <a:r>
                        <a:rPr sz="1200" spc="-50" dirty="0">
                          <a:latin typeface="Tahoma" panose="020B0604030504040204"/>
                          <a:cs typeface="Tahoma" panose="020B0604030504040204"/>
                        </a:rPr>
                        <a:t> </a:t>
                      </a:r>
                      <a:r>
                        <a:rPr sz="1200" spc="-25" dirty="0">
                          <a:latin typeface="Tahoma" panose="020B0604030504040204"/>
                          <a:cs typeface="Tahoma" panose="020B0604030504040204"/>
                        </a:rPr>
                        <a:t>eye</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30"/>
                        </a:spcBef>
                      </a:pPr>
                      <a:r>
                        <a:rPr sz="1200" dirty="0">
                          <a:latin typeface="Tahoma" panose="020B0604030504040204"/>
                          <a:cs typeface="Tahoma" panose="020B0604030504040204"/>
                        </a:rPr>
                        <a:t>Hearing</a:t>
                      </a:r>
                      <a:r>
                        <a:rPr sz="1200" spc="-40" dirty="0">
                          <a:latin typeface="Tahoma" panose="020B0604030504040204"/>
                          <a:cs typeface="Tahoma" panose="020B0604030504040204"/>
                        </a:rPr>
                        <a:t> </a:t>
                      </a:r>
                      <a:r>
                        <a:rPr sz="1200" dirty="0">
                          <a:latin typeface="Tahoma" panose="020B0604030504040204"/>
                          <a:cs typeface="Tahoma" panose="020B0604030504040204"/>
                        </a:rPr>
                        <a:t>of</a:t>
                      </a:r>
                      <a:r>
                        <a:rPr sz="1200" spc="-10" dirty="0">
                          <a:latin typeface="Tahoma" panose="020B0604030504040204"/>
                          <a:cs typeface="Tahoma" panose="020B0604030504040204"/>
                        </a:rPr>
                        <a:t> </a:t>
                      </a:r>
                      <a:r>
                        <a:rPr sz="1200" dirty="0">
                          <a:latin typeface="Tahoma" panose="020B0604030504040204"/>
                          <a:cs typeface="Tahoma" panose="020B0604030504040204"/>
                        </a:rPr>
                        <a:t>Both</a:t>
                      </a:r>
                      <a:r>
                        <a:rPr sz="1200" spc="-20" dirty="0">
                          <a:latin typeface="Tahoma" panose="020B0604030504040204"/>
                          <a:cs typeface="Tahoma" panose="020B0604030504040204"/>
                        </a:rPr>
                        <a:t> ears</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30"/>
                        </a:spcBef>
                      </a:pPr>
                      <a:r>
                        <a:rPr sz="1200" spc="-10" dirty="0">
                          <a:latin typeface="Tahoma" panose="020B0604030504040204"/>
                          <a:cs typeface="Tahoma" panose="020B0604030504040204"/>
                        </a:rPr>
                        <a:t>Speech</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200" spc="-20" dirty="0">
                          <a:latin typeface="Tahoma" panose="020B0604030504040204"/>
                          <a:cs typeface="Tahoma" panose="020B0604030504040204"/>
                        </a:rPr>
                        <a:t>100%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a:lstStyle/>
                    <a:p>
                      <a:pPr marL="91440">
                        <a:lnSpc>
                          <a:spcPct val="100000"/>
                        </a:lnSpc>
                        <a:spcBef>
                          <a:spcPts val="330"/>
                        </a:spcBef>
                      </a:pPr>
                      <a:r>
                        <a:rPr sz="1200" spc="-25" dirty="0">
                          <a:latin typeface="Tahoma" panose="020B0604030504040204"/>
                          <a:cs typeface="Tahoma" panose="020B0604030504040204"/>
                        </a:rPr>
                        <a:t>Whole</a:t>
                      </a:r>
                      <a:r>
                        <a:rPr sz="1200" spc="-50" dirty="0">
                          <a:latin typeface="Tahoma" panose="020B0604030504040204"/>
                          <a:cs typeface="Tahoma" panose="020B0604030504040204"/>
                        </a:rPr>
                        <a:t> </a:t>
                      </a:r>
                      <a:r>
                        <a:rPr sz="1200" spc="-25" dirty="0">
                          <a:latin typeface="Tahoma" panose="020B0604030504040204"/>
                          <a:cs typeface="Tahoma" panose="020B0604030504040204"/>
                        </a:rPr>
                        <a:t>Arm</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200" spc="-25" dirty="0">
                          <a:latin typeface="Tahoma" panose="020B0604030504040204"/>
                          <a:cs typeface="Tahoma" panose="020B0604030504040204"/>
                        </a:rPr>
                        <a:t>60%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30"/>
                        </a:spcBef>
                      </a:pPr>
                      <a:r>
                        <a:rPr sz="1200" spc="-10" dirty="0">
                          <a:latin typeface="Tahoma" panose="020B0604030504040204"/>
                          <a:cs typeface="Tahoma" panose="020B0604030504040204"/>
                        </a:rPr>
                        <a:t>Lower</a:t>
                      </a:r>
                      <a:r>
                        <a:rPr sz="1200" spc="-80" dirty="0">
                          <a:latin typeface="Tahoma" panose="020B0604030504040204"/>
                          <a:cs typeface="Tahoma" panose="020B0604030504040204"/>
                        </a:rPr>
                        <a:t> </a:t>
                      </a:r>
                      <a:r>
                        <a:rPr sz="1200" spc="-25" dirty="0">
                          <a:latin typeface="Tahoma" panose="020B0604030504040204"/>
                          <a:cs typeface="Tahoma" panose="020B0604030504040204"/>
                        </a:rPr>
                        <a:t>Arm</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200" spc="-25" dirty="0">
                          <a:latin typeface="Tahoma" panose="020B0604030504040204"/>
                          <a:cs typeface="Tahoma" panose="020B0604030504040204"/>
                        </a:rPr>
                        <a:t>50%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30"/>
                        </a:spcBef>
                      </a:pPr>
                      <a:r>
                        <a:rPr sz="1200" spc="-35" dirty="0">
                          <a:latin typeface="Tahoma" panose="020B0604030504040204"/>
                          <a:cs typeface="Tahoma" panose="020B0604030504040204"/>
                        </a:rPr>
                        <a:t>One</a:t>
                      </a:r>
                      <a:r>
                        <a:rPr sz="1200" spc="-50" dirty="0">
                          <a:latin typeface="Tahoma" panose="020B0604030504040204"/>
                          <a:cs typeface="Tahoma" panose="020B0604030504040204"/>
                        </a:rPr>
                        <a:t> </a:t>
                      </a:r>
                      <a:r>
                        <a:rPr sz="1200" dirty="0">
                          <a:latin typeface="Tahoma" panose="020B0604030504040204"/>
                          <a:cs typeface="Tahoma" panose="020B0604030504040204"/>
                        </a:rPr>
                        <a:t>hand</a:t>
                      </a:r>
                      <a:r>
                        <a:rPr sz="1200" spc="-55" dirty="0">
                          <a:latin typeface="Tahoma" panose="020B0604030504040204"/>
                          <a:cs typeface="Tahoma" panose="020B0604030504040204"/>
                        </a:rPr>
                        <a:t> </a:t>
                      </a:r>
                      <a:r>
                        <a:rPr sz="1200" dirty="0">
                          <a:latin typeface="Tahoma" panose="020B0604030504040204"/>
                          <a:cs typeface="Tahoma" panose="020B0604030504040204"/>
                        </a:rPr>
                        <a:t>or</a:t>
                      </a:r>
                      <a:r>
                        <a:rPr sz="1200" spc="-45" dirty="0">
                          <a:latin typeface="Tahoma" panose="020B0604030504040204"/>
                          <a:cs typeface="Tahoma" panose="020B0604030504040204"/>
                        </a:rPr>
                        <a:t> </a:t>
                      </a:r>
                      <a:r>
                        <a:rPr sz="1200" spc="-25" dirty="0">
                          <a:latin typeface="Tahoma" panose="020B0604030504040204"/>
                          <a:cs typeface="Tahoma" panose="020B0604030504040204"/>
                        </a:rPr>
                        <a:t>One</a:t>
                      </a:r>
                      <a:r>
                        <a:rPr sz="1200" spc="-45" dirty="0">
                          <a:latin typeface="Tahoma" panose="020B0604030504040204"/>
                          <a:cs typeface="Tahoma" panose="020B0604030504040204"/>
                        </a:rPr>
                        <a:t> </a:t>
                      </a:r>
                      <a:r>
                        <a:rPr sz="1200" spc="-20" dirty="0">
                          <a:latin typeface="Tahoma" panose="020B0604030504040204"/>
                          <a:cs typeface="Tahoma" panose="020B0604030504040204"/>
                        </a:rPr>
                        <a:t>foot</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200" spc="-25" dirty="0">
                          <a:latin typeface="Tahoma" panose="020B0604030504040204"/>
                          <a:cs typeface="Tahoma" panose="020B0604030504040204"/>
                        </a:rPr>
                        <a:t>50%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3685">
                <a:tc>
                  <a:txBody>
                    <a:bodyPr/>
                    <a:lstStyle/>
                    <a:p>
                      <a:pPr marL="91440">
                        <a:lnSpc>
                          <a:spcPct val="100000"/>
                        </a:lnSpc>
                        <a:spcBef>
                          <a:spcPts val="330"/>
                        </a:spcBef>
                      </a:pPr>
                      <a:r>
                        <a:rPr sz="1200" dirty="0">
                          <a:latin typeface="Tahoma" panose="020B0604030504040204"/>
                          <a:cs typeface="Tahoma" panose="020B0604030504040204"/>
                        </a:rPr>
                        <a:t>Sight</a:t>
                      </a:r>
                      <a:r>
                        <a:rPr sz="1200" spc="-25" dirty="0">
                          <a:latin typeface="Tahoma" panose="020B0604030504040204"/>
                          <a:cs typeface="Tahoma" panose="020B0604030504040204"/>
                        </a:rPr>
                        <a:t> </a:t>
                      </a:r>
                      <a:r>
                        <a:rPr sz="1200" dirty="0">
                          <a:latin typeface="Tahoma" panose="020B0604030504040204"/>
                          <a:cs typeface="Tahoma" panose="020B0604030504040204"/>
                        </a:rPr>
                        <a:t>of</a:t>
                      </a:r>
                      <a:r>
                        <a:rPr sz="1200" spc="-20" dirty="0">
                          <a:latin typeface="Tahoma" panose="020B0604030504040204"/>
                          <a:cs typeface="Tahoma" panose="020B0604030504040204"/>
                        </a:rPr>
                        <a:t> one</a:t>
                      </a:r>
                      <a:r>
                        <a:rPr sz="1200" spc="-45" dirty="0">
                          <a:latin typeface="Tahoma" panose="020B0604030504040204"/>
                          <a:cs typeface="Tahoma" panose="020B0604030504040204"/>
                        </a:rPr>
                        <a:t> </a:t>
                      </a:r>
                      <a:r>
                        <a:rPr sz="1200" spc="-25" dirty="0">
                          <a:latin typeface="Tahoma" panose="020B0604030504040204"/>
                          <a:cs typeface="Tahoma" panose="020B0604030504040204"/>
                        </a:rPr>
                        <a:t>eye</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200" spc="-25" dirty="0">
                          <a:latin typeface="Tahoma" panose="020B0604030504040204"/>
                          <a:cs typeface="Tahoma" panose="020B0604030504040204"/>
                        </a:rPr>
                        <a:t>50%</a:t>
                      </a:r>
                      <a:endParaRPr sz="1200">
                        <a:latin typeface="Tahoma" panose="020B0604030504040204"/>
                        <a:cs typeface="Tahoma" panose="020B06040305040402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pSp>
        <p:nvGrpSpPr>
          <p:cNvPr id="9294" name="object 4"/>
          <p:cNvGrpSpPr/>
          <p:nvPr/>
        </p:nvGrpSpPr>
        <p:grpSpPr>
          <a:xfrm>
            <a:off x="2787650" y="287338"/>
            <a:ext cx="8131175" cy="879475"/>
            <a:chOff x="2787713" y="288099"/>
            <a:chExt cx="8130540" cy="878205"/>
          </a:xfrm>
        </p:grpSpPr>
        <p:sp>
          <p:nvSpPr>
            <p:cNvPr id="9306" name="object 5"/>
            <p:cNvSpPr/>
            <p:nvPr/>
          </p:nvSpPr>
          <p:spPr>
            <a:xfrm>
              <a:off x="2802001" y="30238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9307" name="object 6"/>
            <p:cNvSpPr/>
            <p:nvPr/>
          </p:nvSpPr>
          <p:spPr>
            <a:xfrm>
              <a:off x="2802001" y="30238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9295" name="object 7"/>
          <p:cNvGrpSpPr/>
          <p:nvPr/>
        </p:nvGrpSpPr>
        <p:grpSpPr>
          <a:xfrm>
            <a:off x="1274763" y="285750"/>
            <a:ext cx="1428750" cy="879475"/>
            <a:chOff x="1274254" y="285813"/>
            <a:chExt cx="1430020" cy="880110"/>
          </a:xfrm>
        </p:grpSpPr>
        <p:sp>
          <p:nvSpPr>
            <p:cNvPr id="9303" name="object 8"/>
            <p:cNvSpPr/>
            <p:nvPr/>
          </p:nvSpPr>
          <p:spPr>
            <a:xfrm>
              <a:off x="1288541" y="300100"/>
              <a:ext cx="1401445" cy="851535"/>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9304" name="object 9"/>
            <p:cNvSpPr/>
            <p:nvPr/>
          </p:nvSpPr>
          <p:spPr>
            <a:xfrm>
              <a:off x="1288541" y="300100"/>
              <a:ext cx="1401445" cy="851535"/>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9305" name="object 10"/>
            <p:cNvPicPr>
              <a:picLocks noChangeAspect="1"/>
            </p:cNvPicPr>
            <p:nvPr/>
          </p:nvPicPr>
          <p:blipFill>
            <a:blip r:embed="rId1"/>
            <a:stretch>
              <a:fillRect/>
            </a:stretch>
          </p:blipFill>
          <p:spPr>
            <a:xfrm>
              <a:off x="1512569" y="362826"/>
              <a:ext cx="822274" cy="725944"/>
            </a:xfrm>
            <a:prstGeom prst="rect">
              <a:avLst/>
            </a:prstGeom>
            <a:noFill/>
            <a:ln w="9525">
              <a:noFill/>
            </a:ln>
          </p:spPr>
        </p:pic>
      </p:grpSp>
      <p:sp>
        <p:nvSpPr>
          <p:cNvPr id="11" name="object 11"/>
          <p:cNvSpPr txBox="1">
            <a:spLocks noGrp="1"/>
          </p:cNvSpPr>
          <p:nvPr>
            <p:ph type="title"/>
          </p:nvPr>
        </p:nvSpPr>
        <p:spPr>
          <a:xfrm>
            <a:off x="3008313" y="492125"/>
            <a:ext cx="7748588" cy="454025"/>
          </a:xfr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defRPr/>
            </a:pPr>
            <a:r>
              <a:rPr kumimoji="0" sz="16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ACCIDENTAL</a:t>
            </a:r>
            <a:r>
              <a:rPr kumimoji="0" sz="1600" b="1" i="0" u="none" strike="noStrike" kern="0" cap="none" spc="12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DEATH,</a:t>
            </a:r>
            <a:r>
              <a:rPr kumimoji="0" sz="16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DISMEMBERMENT,</a:t>
            </a:r>
            <a:r>
              <a:rPr kumimoji="0" sz="1600" b="1" i="0" u="none" strike="noStrike" kern="0" cap="none" spc="114"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&amp;</a:t>
            </a:r>
            <a:r>
              <a:rPr kumimoji="0" sz="1600" b="1" i="0" u="none" strike="noStrike" kern="0" cap="none" spc="6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DISABLEMENT</a:t>
            </a:r>
            <a:r>
              <a:rPr kumimoji="0" sz="1600" b="1" i="0" u="none" strike="noStrike" kern="0" cap="none" spc="13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1600" b="1" i="0" u="none" strike="noStrike" kern="0" cap="none" spc="95"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(ADD&amp;D)</a:t>
            </a:r>
            <a:endParaRPr kumimoji="0" sz="16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12700" marR="0" lvl="0" indent="0" defTabSz="914400" eaLnBrk="1" fontAlgn="auto" latinLnBrk="0" hangingPunct="1">
              <a:lnSpc>
                <a:spcPct val="100000"/>
              </a:lnSpc>
              <a:spcBef>
                <a:spcPts val="15"/>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2" name="object 12"/>
          <p:cNvSpPr txBox="1"/>
          <p:nvPr/>
        </p:nvSpPr>
        <p:spPr>
          <a:xfrm>
            <a:off x="6269038" y="5254625"/>
            <a:ext cx="5494338" cy="573088"/>
          </a:xfrm>
          <a:prstGeom prst="rect">
            <a:avLst/>
          </a:prstGeom>
        </p:spPr>
        <p:txBody>
          <a:bodyPr vert="horz" wrap="square" lIns="0" tIns="104140" rIns="0" bIns="0" rtlCol="0">
            <a:spAutoFit/>
          </a:bodyPr>
          <a:lstStyle/>
          <a:p>
            <a:pPr marL="12700" marR="0" defTabSz="914400" eaLnBrk="1" fontAlgn="auto" hangingPunct="1">
              <a:spcBef>
                <a:spcPts val="820"/>
              </a:spcBef>
              <a:spcAft>
                <a:spcPts val="0"/>
              </a:spcAft>
              <a:buClrTx/>
              <a:buSzTx/>
              <a:buFontTx/>
              <a:buNone/>
              <a:defRPr/>
            </a:pPr>
            <a:r>
              <a:rPr kumimoji="0" sz="1200" b="1" kern="0" cap="none" spc="0" normalizeH="0" baseline="0" noProof="0" dirty="0">
                <a:solidFill>
                  <a:sysClr val="windowText" lastClr="000000"/>
                </a:solidFill>
                <a:latin typeface="Arial" panose="020B0604020202020204"/>
                <a:cs typeface="Arial" panose="020B0604020202020204"/>
              </a:rPr>
              <a:t>Sample</a:t>
            </a:r>
            <a:r>
              <a:rPr kumimoji="0" sz="1200" b="1" kern="0" cap="none" spc="95" normalizeH="0" baseline="0" noProof="0" dirty="0">
                <a:solidFill>
                  <a:sysClr val="windowText" lastClr="000000"/>
                </a:solidFill>
                <a:latin typeface="Arial" panose="020B0604020202020204"/>
                <a:cs typeface="Arial" panose="020B0604020202020204"/>
              </a:rPr>
              <a:t> </a:t>
            </a:r>
            <a:r>
              <a:rPr kumimoji="0" sz="1200" b="1" kern="0" cap="none" spc="0" normalizeH="0" baseline="0" noProof="0" dirty="0">
                <a:solidFill>
                  <a:sysClr val="windowText" lastClr="000000"/>
                </a:solidFill>
                <a:latin typeface="Arial" panose="020B0604020202020204"/>
                <a:cs typeface="Arial" panose="020B0604020202020204"/>
              </a:rPr>
              <a:t>Scenario</a:t>
            </a:r>
            <a:r>
              <a:rPr kumimoji="0" sz="1200" b="1" kern="0" cap="none" spc="90" normalizeH="0" baseline="0" noProof="0" dirty="0">
                <a:solidFill>
                  <a:sysClr val="windowText" lastClr="000000"/>
                </a:solidFill>
                <a:latin typeface="Arial" panose="020B0604020202020204"/>
                <a:cs typeface="Arial" panose="020B0604020202020204"/>
              </a:rPr>
              <a:t> </a:t>
            </a:r>
            <a:r>
              <a:rPr kumimoji="0" sz="1200" b="1" kern="0" cap="none" spc="0" normalizeH="0" baseline="0" noProof="0" dirty="0">
                <a:solidFill>
                  <a:sysClr val="windowText" lastClr="000000"/>
                </a:solidFill>
                <a:latin typeface="Arial" panose="020B0604020202020204"/>
                <a:cs typeface="Arial" panose="020B0604020202020204"/>
              </a:rPr>
              <a:t>&amp;</a:t>
            </a:r>
            <a:r>
              <a:rPr kumimoji="0" sz="1200" b="1" kern="0" cap="none" spc="100" normalizeH="0" baseline="0" noProof="0" dirty="0">
                <a:solidFill>
                  <a:sysClr val="windowText" lastClr="000000"/>
                </a:solidFill>
                <a:latin typeface="Arial" panose="020B0604020202020204"/>
                <a:cs typeface="Arial" panose="020B0604020202020204"/>
              </a:rPr>
              <a:t> </a:t>
            </a:r>
            <a:r>
              <a:rPr kumimoji="0" sz="1200" b="1" kern="0" cap="none" spc="-10" normalizeH="0" baseline="0" noProof="0" dirty="0">
                <a:solidFill>
                  <a:sysClr val="windowText" lastClr="000000"/>
                </a:solidFill>
                <a:latin typeface="Arial" panose="020B0604020202020204"/>
                <a:cs typeface="Arial" panose="020B0604020202020204"/>
              </a:rPr>
              <a:t>Computation:</a:t>
            </a:r>
            <a:endParaRPr kumimoji="0" sz="12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72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An</a:t>
            </a:r>
            <a:r>
              <a:rPr kumimoji="0" sz="1200" kern="0" cap="none" spc="-2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insured</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member</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got</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involved</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into</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an</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accident</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resulting</a:t>
            </a:r>
            <a:r>
              <a:rPr kumimoji="0" sz="1200" kern="0" cap="none" spc="-5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to</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loss</a:t>
            </a:r>
            <a:r>
              <a:rPr kumimoji="0" sz="1200" kern="0" cap="none" spc="-2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of</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his</a:t>
            </a:r>
            <a:r>
              <a:rPr kumimoji="0" sz="1200" kern="0" cap="none" spc="-2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left</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hand.</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13" name="object 13"/>
          <p:cNvSpPr txBox="1"/>
          <p:nvPr/>
        </p:nvSpPr>
        <p:spPr>
          <a:xfrm>
            <a:off x="6269038" y="5957888"/>
            <a:ext cx="1946275"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25" normalizeH="0" baseline="0" noProof="0" dirty="0">
                <a:solidFill>
                  <a:sysClr val="windowText" lastClr="000000"/>
                </a:solidFill>
                <a:latin typeface="Tahoma" panose="020B0604030504040204"/>
                <a:cs typeface="Tahoma" panose="020B0604030504040204"/>
              </a:rPr>
              <a:t>ADD&amp;D</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Benefit</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140" normalizeH="0" baseline="0" noProof="0" dirty="0">
                <a:solidFill>
                  <a:sysClr val="windowText" lastClr="000000"/>
                </a:solidFill>
                <a:latin typeface="Tahoma" panose="020B0604030504040204"/>
                <a:cs typeface="Tahoma" panose="020B0604030504040204"/>
              </a:rPr>
              <a:t>=</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b="1" kern="0" cap="none" spc="-10" normalizeH="0" baseline="0" noProof="0" dirty="0">
                <a:solidFill>
                  <a:sysClr val="windowText" lastClr="000000"/>
                </a:solidFill>
                <a:latin typeface="Arial" panose="020B0604020202020204"/>
                <a:cs typeface="Arial" panose="020B0604020202020204"/>
              </a:rPr>
              <a:t>1,000,000</a:t>
            </a:r>
            <a:endParaRPr kumimoji="0" sz="1200" kern="0" cap="none" spc="0" normalizeH="0" baseline="0" noProof="0">
              <a:solidFill>
                <a:sysClr val="windowText" lastClr="000000"/>
              </a:solidFill>
              <a:latin typeface="Arial" panose="020B0604020202020204"/>
              <a:cs typeface="Arial" panose="020B0604020202020204"/>
            </a:endParaRPr>
          </a:p>
        </p:txBody>
      </p:sp>
      <p:sp>
        <p:nvSpPr>
          <p:cNvPr id="14" name="object 14"/>
          <p:cNvSpPr txBox="1"/>
          <p:nvPr/>
        </p:nvSpPr>
        <p:spPr>
          <a:xfrm>
            <a:off x="6269038" y="6265863"/>
            <a:ext cx="1714500"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Loss</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of </a:t>
            </a:r>
            <a:r>
              <a:rPr kumimoji="0" sz="1200" kern="0" cap="none" spc="-35" normalizeH="0" baseline="0" noProof="0" dirty="0">
                <a:solidFill>
                  <a:sysClr val="windowText" lastClr="000000"/>
                </a:solidFill>
                <a:latin typeface="Tahoma" panose="020B0604030504040204"/>
                <a:cs typeface="Tahoma" panose="020B0604030504040204"/>
              </a:rPr>
              <a:t>One</a:t>
            </a:r>
            <a:r>
              <a:rPr kumimoji="0" sz="1200" kern="0" cap="none" spc="-2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Hand</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140" normalizeH="0" baseline="0" noProof="0" dirty="0">
                <a:solidFill>
                  <a:sysClr val="windowText" lastClr="000000"/>
                </a:solidFill>
                <a:latin typeface="Tahoma" panose="020B0604030504040204"/>
                <a:cs typeface="Tahoma" panose="020B0604030504040204"/>
              </a:rPr>
              <a:t>=</a:t>
            </a:r>
            <a:r>
              <a:rPr kumimoji="0" sz="1200" kern="0" cap="none" spc="10" normalizeH="0" baseline="0" noProof="0" dirty="0">
                <a:solidFill>
                  <a:sysClr val="windowText" lastClr="000000"/>
                </a:solidFill>
                <a:latin typeface="Tahoma" panose="020B0604030504040204"/>
                <a:cs typeface="Tahoma" panose="020B0604030504040204"/>
              </a:rPr>
              <a:t> </a:t>
            </a:r>
            <a:r>
              <a:rPr kumimoji="0" sz="1200" b="1" kern="0" cap="none" spc="-25" normalizeH="0" baseline="0" noProof="0" dirty="0">
                <a:solidFill>
                  <a:sysClr val="windowText" lastClr="000000"/>
                </a:solidFill>
                <a:latin typeface="Arial" panose="020B0604020202020204"/>
                <a:cs typeface="Arial" panose="020B0604020202020204"/>
              </a:rPr>
              <a:t>50%</a:t>
            </a:r>
            <a:endParaRPr kumimoji="0" sz="1200" kern="0" cap="none" spc="0" normalizeH="0" baseline="0" noProof="0">
              <a:solidFill>
                <a:sysClr val="windowText" lastClr="000000"/>
              </a:solidFill>
              <a:latin typeface="Arial" panose="020B0604020202020204"/>
              <a:cs typeface="Arial" panose="020B0604020202020204"/>
            </a:endParaRPr>
          </a:p>
        </p:txBody>
      </p:sp>
      <p:sp>
        <p:nvSpPr>
          <p:cNvPr id="15" name="object 15"/>
          <p:cNvSpPr txBox="1"/>
          <p:nvPr/>
        </p:nvSpPr>
        <p:spPr>
          <a:xfrm>
            <a:off x="8426450" y="5934075"/>
            <a:ext cx="2797175" cy="519113"/>
          </a:xfrm>
          <a:prstGeom prst="rect">
            <a:avLst/>
          </a:prstGeom>
          <a:ln w="57150">
            <a:solidFill>
              <a:srgbClr val="C00000"/>
            </a:solidFill>
          </a:ln>
        </p:spPr>
        <p:txBody>
          <a:bodyPr vert="horz" wrap="square" lIns="0" tIns="132080" rIns="0" bIns="0" rtlCol="0">
            <a:spAutoFit/>
          </a:bodyPr>
          <a:lstStyle/>
          <a:p>
            <a:pPr marL="356235" marR="0" defTabSz="914400" eaLnBrk="1" fontAlgn="auto" hangingPunct="1">
              <a:spcBef>
                <a:spcPts val="1040"/>
              </a:spcBef>
              <a:spcAft>
                <a:spcPts val="0"/>
              </a:spcAft>
              <a:buClrTx/>
              <a:buSzTx/>
              <a:buFontTx/>
              <a:buNone/>
              <a:defRPr/>
            </a:pPr>
            <a:r>
              <a:rPr kumimoji="0" sz="1600" kern="0" cap="none" spc="0" normalizeH="0" baseline="0" noProof="0" dirty="0">
                <a:solidFill>
                  <a:sysClr val="windowText" lastClr="000000"/>
                </a:solidFill>
                <a:latin typeface="Tahoma" panose="020B0604030504040204"/>
                <a:cs typeface="Tahoma" panose="020B0604030504040204"/>
              </a:rPr>
              <a:t>Total</a:t>
            </a:r>
            <a:r>
              <a:rPr kumimoji="0" sz="1600" kern="0" cap="none" spc="-1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Claim</a:t>
            </a:r>
            <a:r>
              <a:rPr kumimoji="0" sz="1600" kern="0" cap="none" spc="5" normalizeH="0" baseline="0" noProof="0" dirty="0">
                <a:solidFill>
                  <a:sysClr val="windowText" lastClr="000000"/>
                </a:solidFill>
                <a:latin typeface="Tahoma" panose="020B0604030504040204"/>
                <a:cs typeface="Tahoma" panose="020B0604030504040204"/>
              </a:rPr>
              <a:t> </a:t>
            </a:r>
            <a:r>
              <a:rPr kumimoji="0" sz="1600" kern="0" cap="none" spc="-180" normalizeH="0" baseline="0" noProof="0" dirty="0">
                <a:solidFill>
                  <a:sysClr val="windowText" lastClr="000000"/>
                </a:solidFill>
                <a:latin typeface="Tahoma" panose="020B0604030504040204"/>
                <a:cs typeface="Tahoma" panose="020B0604030504040204"/>
              </a:rPr>
              <a:t>=</a:t>
            </a:r>
            <a:r>
              <a:rPr kumimoji="0" sz="1600" kern="0" cap="none" spc="-5" normalizeH="0" baseline="0" noProof="0" dirty="0">
                <a:solidFill>
                  <a:sysClr val="windowText" lastClr="000000"/>
                </a:solidFill>
                <a:latin typeface="Tahoma" panose="020B0604030504040204"/>
                <a:cs typeface="Tahoma" panose="020B0604030504040204"/>
              </a:rPr>
              <a:t> </a:t>
            </a:r>
            <a:r>
              <a:rPr kumimoji="0" sz="1600" b="1" kern="0" cap="none" spc="80" normalizeH="0" baseline="0" noProof="0" dirty="0">
                <a:solidFill>
                  <a:sysClr val="windowText" lastClr="000000"/>
                </a:solidFill>
                <a:latin typeface="Arial" panose="020B0604020202020204"/>
                <a:cs typeface="Arial" panose="020B0604020202020204"/>
              </a:rPr>
              <a:t>500,000</a:t>
            </a:r>
            <a:endParaRPr kumimoji="0" sz="1600" kern="0" cap="none" spc="0" normalizeH="0" baseline="0" noProof="0">
              <a:solidFill>
                <a:sysClr val="windowText" lastClr="000000"/>
              </a:solidFill>
              <a:latin typeface="Arial" panose="020B0604020202020204"/>
              <a:cs typeface="Arial" panose="020B0604020202020204"/>
            </a:endParaRPr>
          </a:p>
        </p:txBody>
      </p:sp>
      <p:pic>
        <p:nvPicPr>
          <p:cNvPr id="9301" name="object 16"/>
          <p:cNvPicPr>
            <a:picLocks noChangeAspect="1"/>
          </p:cNvPicPr>
          <p:nvPr/>
        </p:nvPicPr>
        <p:blipFill>
          <a:blip r:embed="rId2"/>
          <a:stretch>
            <a:fillRect/>
          </a:stretch>
        </p:blipFill>
        <p:spPr>
          <a:xfrm>
            <a:off x="5081588" y="5394325"/>
            <a:ext cx="1057275" cy="1057275"/>
          </a:xfrm>
          <a:prstGeom prst="rect">
            <a:avLst/>
          </a:prstGeom>
          <a:noFill/>
          <a:ln w="9525">
            <a:noFill/>
          </a:ln>
        </p:spPr>
      </p:pic>
      <p:sp>
        <p:nvSpPr>
          <p:cNvPr id="17" name="object 17"/>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008313" y="492125"/>
            <a:ext cx="7748588" cy="454025"/>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b="1" kern="0" cap="none" spc="-10" normalizeH="0" baseline="0" noProof="0" dirty="0">
                <a:solidFill>
                  <a:srgbClr val="FFFFFF"/>
                </a:solidFill>
                <a:latin typeface="Arial" panose="020B0604020202020204"/>
                <a:cs typeface="Arial" panose="020B0604020202020204"/>
              </a:rPr>
              <a:t>ACCIDENTAL</a:t>
            </a:r>
            <a:r>
              <a:rPr kumimoji="0" sz="1600" b="1" kern="0" cap="none" spc="12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DEATH,</a:t>
            </a:r>
            <a:r>
              <a:rPr kumimoji="0" sz="1600" b="1" kern="0" cap="none" spc="75"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DISMEMBERMENT,</a:t>
            </a:r>
            <a:r>
              <a:rPr kumimoji="0" sz="1600" b="1" kern="0" cap="none" spc="114"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&amp;</a:t>
            </a:r>
            <a:r>
              <a:rPr kumimoji="0" sz="1600" b="1" kern="0" cap="none" spc="6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DISABLEMENT</a:t>
            </a:r>
            <a:r>
              <a:rPr kumimoji="0" sz="1600" b="1" kern="0" cap="none" spc="13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BENEFIT</a:t>
            </a:r>
            <a:r>
              <a:rPr kumimoji="0" sz="1600" b="1" kern="0" cap="none" spc="95" normalizeH="0" baseline="0" noProof="0" dirty="0">
                <a:solidFill>
                  <a:srgbClr val="FFFFFF"/>
                </a:solidFill>
                <a:latin typeface="Arial" panose="020B0604020202020204"/>
                <a:cs typeface="Arial" panose="020B0604020202020204"/>
              </a:rPr>
              <a:t> </a:t>
            </a:r>
            <a:r>
              <a:rPr kumimoji="0" sz="1600" b="1" kern="0" cap="none" spc="-10" normalizeH="0" baseline="0" noProof="0" dirty="0">
                <a:solidFill>
                  <a:srgbClr val="FFFFFF"/>
                </a:solidFill>
                <a:latin typeface="Arial" panose="020B0604020202020204"/>
                <a:cs typeface="Arial" panose="020B0604020202020204"/>
              </a:rPr>
              <a:t>(ADD&amp;D)</a:t>
            </a:r>
            <a:endParaRPr kumimoji="0" sz="16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15"/>
              </a:spcBef>
              <a:spcAft>
                <a:spcPts val="0"/>
              </a:spcAft>
              <a:buClrTx/>
              <a:buSzTx/>
              <a:buFontTx/>
              <a:buNone/>
              <a:defRPr/>
            </a:pPr>
            <a:r>
              <a:rPr kumimoji="0" sz="1200" kern="0" cap="none" spc="0" normalizeH="0" baseline="0" noProof="0" dirty="0">
                <a:solidFill>
                  <a:srgbClr val="FFFFFF"/>
                </a:solidFill>
                <a:latin typeface="Tahoma" panose="020B0604030504040204"/>
                <a:cs typeface="Tahoma" panose="020B0604030504040204"/>
              </a:rPr>
              <a:t>GROUP</a:t>
            </a:r>
            <a:r>
              <a:rPr kumimoji="0" sz="1200" kern="0" cap="none" spc="-5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LIFE</a:t>
            </a:r>
            <a:r>
              <a:rPr kumimoji="0" sz="1200" kern="0" cap="none" spc="-6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INSURANCE</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4" name="object 4"/>
          <p:cNvSpPr txBox="1">
            <a:spLocks noGrp="1"/>
          </p:cNvSpPr>
          <p:nvPr>
            <p:ph type="ftr" sz="quarter" idx="3"/>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3" name="object 3"/>
          <p:cNvSpPr txBox="1"/>
          <p:nvPr/>
        </p:nvSpPr>
        <p:spPr>
          <a:xfrm>
            <a:off x="1389063" y="1779588"/>
            <a:ext cx="9226550" cy="3067050"/>
          </a:xfrm>
          <a:prstGeom prst="rect">
            <a:avLst/>
          </a:prstGeom>
        </p:spPr>
        <p:txBody>
          <a:bodyPr vert="horz" wrap="square" lIns="0" tIns="12065" rIns="0" bIns="0" rtlCol="0">
            <a:spAutoFit/>
          </a:bodyPr>
          <a:p>
            <a:pPr marL="15875" algn="ctr" eaLnBrk="1" hangingPunct="1">
              <a:spcBef>
                <a:spcPts val="100"/>
              </a:spcBef>
              <a:buNone/>
            </a:pPr>
            <a:r>
              <a:rPr lang="en-US" altLang="zh-CN" sz="2500" b="1">
                <a:solidFill>
                  <a:srgbClr val="000000"/>
                </a:solidFill>
                <a:cs typeface="Arial" panose="020B0604020202020204" pitchFamily="34" charset="0"/>
              </a:rPr>
              <a:t>Accidental Dismemberment</a:t>
            </a:r>
            <a:endParaRPr lang="en-US" altLang="zh-CN" sz="2500">
              <a:solidFill>
                <a:srgbClr val="000000"/>
              </a:solidFill>
              <a:cs typeface="Arial" panose="020B0604020202020204" pitchFamily="34" charset="0"/>
            </a:endParaRPr>
          </a:p>
          <a:p>
            <a:pPr marL="15875" eaLnBrk="1" hangingPunct="1">
              <a:lnSpc>
                <a:spcPct val="150000"/>
              </a:lnSpc>
              <a:spcBef>
                <a:spcPts val="1100"/>
              </a:spcBef>
              <a:buNone/>
            </a:pPr>
            <a:r>
              <a:rPr lang="en-US" altLang="zh-CN" sz="2000">
                <a:solidFill>
                  <a:srgbClr val="000000"/>
                </a:solidFill>
                <a:latin typeface="Tahoma" panose="020B0604030504040204" pitchFamily="34" charset="0"/>
                <a:cs typeface="Tahoma" panose="020B0604030504040204" pitchFamily="34" charset="0"/>
              </a:rPr>
              <a:t>Loss of hands and feet shall mean dismemberment by severance at or above the wrist or ankle joints respectively while loss of eyesight should be total and irrecoverable.</a:t>
            </a:r>
            <a:endParaRPr lang="en-US" altLang="zh-CN" sz="2000">
              <a:solidFill>
                <a:srgbClr val="000000"/>
              </a:solidFill>
              <a:latin typeface="Tahoma" panose="020B0604030504040204" pitchFamily="34" charset="0"/>
              <a:cs typeface="Tahoma" panose="020B0604030504040204" pitchFamily="34" charset="0"/>
            </a:endParaRPr>
          </a:p>
          <a:p>
            <a:pPr marL="15875" eaLnBrk="1" hangingPunct="1">
              <a:spcBef>
                <a:spcPts val="25"/>
              </a:spcBef>
              <a:buNone/>
            </a:pPr>
            <a:endParaRPr lang="en-US" altLang="zh-CN" sz="1500">
              <a:solidFill>
                <a:srgbClr val="000000"/>
              </a:solidFill>
              <a:latin typeface="Tahoma" panose="020B0604030504040204" pitchFamily="34" charset="0"/>
              <a:cs typeface="Tahoma" panose="020B0604030504040204" pitchFamily="34" charset="0"/>
            </a:endParaRPr>
          </a:p>
          <a:p>
            <a:pPr marL="15875" eaLnBrk="1" hangingPunct="1">
              <a:lnSpc>
                <a:spcPct val="150000"/>
              </a:lnSpc>
              <a:buNone/>
            </a:pPr>
            <a:r>
              <a:rPr lang="en-US" altLang="zh-CN" sz="2000" b="1">
                <a:solidFill>
                  <a:srgbClr val="000000"/>
                </a:solidFill>
                <a:cs typeface="Arial" panose="020B0604020202020204" pitchFamily="34" charset="0"/>
              </a:rPr>
              <a:t>*In case of multiple injuries from one accident, only the loss carrying the highest indemnity will be considered payable.</a:t>
            </a:r>
            <a:endParaRPr lang="en-US" altLang="zh-CN" sz="2000">
              <a:solidFill>
                <a:srgbClr val="000000"/>
              </a:solidFill>
              <a:ea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266" name="object 2"/>
          <p:cNvGrpSpPr/>
          <p:nvPr/>
        </p:nvGrpSpPr>
        <p:grpSpPr>
          <a:xfrm>
            <a:off x="2787650" y="287338"/>
            <a:ext cx="8131175" cy="879475"/>
            <a:chOff x="2787713" y="288099"/>
            <a:chExt cx="8130540" cy="878205"/>
          </a:xfrm>
        </p:grpSpPr>
        <p:sp>
          <p:nvSpPr>
            <p:cNvPr id="11330" name="object 3"/>
            <p:cNvSpPr/>
            <p:nvPr/>
          </p:nvSpPr>
          <p:spPr>
            <a:xfrm>
              <a:off x="2802001" y="30238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11331" name="object 4"/>
            <p:cNvSpPr/>
            <p:nvPr/>
          </p:nvSpPr>
          <p:spPr>
            <a:xfrm>
              <a:off x="2802001" y="30238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11267" name="object 5"/>
          <p:cNvGrpSpPr/>
          <p:nvPr/>
        </p:nvGrpSpPr>
        <p:grpSpPr>
          <a:xfrm>
            <a:off x="1274763" y="285750"/>
            <a:ext cx="1428750" cy="879475"/>
            <a:chOff x="1274254" y="285813"/>
            <a:chExt cx="1430020" cy="880110"/>
          </a:xfrm>
        </p:grpSpPr>
        <p:sp>
          <p:nvSpPr>
            <p:cNvPr id="11327" name="object 6"/>
            <p:cNvSpPr/>
            <p:nvPr/>
          </p:nvSpPr>
          <p:spPr>
            <a:xfrm>
              <a:off x="1288541" y="300100"/>
              <a:ext cx="1401445" cy="851535"/>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11328" name="object 7"/>
            <p:cNvSpPr/>
            <p:nvPr/>
          </p:nvSpPr>
          <p:spPr>
            <a:xfrm>
              <a:off x="1288541" y="300100"/>
              <a:ext cx="1401445" cy="851535"/>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11329" name="object 8"/>
            <p:cNvPicPr>
              <a:picLocks noChangeAspect="1"/>
            </p:cNvPicPr>
            <p:nvPr/>
          </p:nvPicPr>
          <p:blipFill>
            <a:blip r:embed="rId1"/>
            <a:stretch>
              <a:fillRect/>
            </a:stretch>
          </p:blipFill>
          <p:spPr>
            <a:xfrm>
              <a:off x="1512569" y="362826"/>
              <a:ext cx="822274" cy="725944"/>
            </a:xfrm>
            <a:prstGeom prst="rect">
              <a:avLst/>
            </a:prstGeom>
            <a:noFill/>
            <a:ln w="9525">
              <a:noFill/>
            </a:ln>
          </p:spPr>
        </p:pic>
      </p:grpSp>
      <p:sp>
        <p:nvSpPr>
          <p:cNvPr id="9" name="object 9"/>
          <p:cNvSpPr txBox="1">
            <a:spLocks noGrp="1"/>
          </p:cNvSpPr>
          <p:nvPr>
            <p:ph type="title"/>
          </p:nvPr>
        </p:nvSpPr>
        <p:spPr>
          <a:xfrm>
            <a:off x="3008313" y="492125"/>
            <a:ext cx="7748588" cy="454025"/>
          </a:xfr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defRPr/>
            </a:pPr>
            <a:r>
              <a:rPr kumimoji="0" sz="16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ACCIDENTAL</a:t>
            </a:r>
            <a:r>
              <a:rPr kumimoji="0" sz="1600" b="1" i="0" u="none" strike="noStrike" kern="0" cap="none" spc="12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DEATH,</a:t>
            </a:r>
            <a:r>
              <a:rPr kumimoji="0" sz="16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DISMEMBERMENT,</a:t>
            </a:r>
            <a:r>
              <a:rPr kumimoji="0" sz="1600" b="1" i="0" u="none" strike="noStrike" kern="0" cap="none" spc="114"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&amp;</a:t>
            </a:r>
            <a:r>
              <a:rPr kumimoji="0" sz="1600" b="1" i="0" u="none" strike="noStrike" kern="0" cap="none" spc="6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DISABLEMENT</a:t>
            </a:r>
            <a:r>
              <a:rPr kumimoji="0" sz="1600" b="1" i="0" u="none" strike="noStrike" kern="0" cap="none" spc="130"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1600" b="1" i="0" u="none" strike="noStrike" kern="0" cap="none" spc="95" normalizeH="0" baseline="0" noProof="0" dirty="0">
                <a:ln>
                  <a:noFill/>
                </a:ln>
                <a:solidFill>
                  <a:schemeClr val="bg1"/>
                </a:solidFill>
                <a:effectLst/>
                <a:uLnTx/>
                <a:uFillTx/>
                <a:latin typeface="Arial" panose="020B0604020202020204"/>
                <a:ea typeface="+mj-ea"/>
                <a:cs typeface="Arial" panose="020B0604020202020204"/>
              </a:rPr>
              <a:t> </a:t>
            </a:r>
            <a:r>
              <a:rPr kumimoji="0" sz="16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(ADD&amp;D)</a:t>
            </a:r>
            <a:endParaRPr kumimoji="0" sz="16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12700" marR="0" lvl="0" indent="0" defTabSz="914400" eaLnBrk="1" fontAlgn="auto" latinLnBrk="0" hangingPunct="1">
              <a:lnSpc>
                <a:spcPct val="100000"/>
              </a:lnSpc>
              <a:spcBef>
                <a:spcPts val="15"/>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0" name="object 10"/>
          <p:cNvSpPr txBox="1"/>
          <p:nvPr/>
        </p:nvSpPr>
        <p:spPr>
          <a:xfrm>
            <a:off x="1820863" y="1371600"/>
            <a:ext cx="8547100" cy="514350"/>
          </a:xfrm>
          <a:prstGeom prst="rect">
            <a:avLst/>
          </a:prstGeom>
        </p:spPr>
        <p:txBody>
          <a:bodyPr vert="horz" wrap="square" lIns="0" tIns="12065" rIns="0" bIns="0" rtlCol="0">
            <a:spAutoFit/>
          </a:bodyPr>
          <a:lstStyle/>
          <a:p>
            <a:pPr marR="0" algn="ctr" defTabSz="914400" eaLnBrk="1" fontAlgn="auto" hangingPunct="1">
              <a:spcBef>
                <a:spcPts val="95"/>
              </a:spcBef>
              <a:spcAft>
                <a:spcPts val="0"/>
              </a:spcAft>
              <a:buClrTx/>
              <a:buSzTx/>
              <a:buFontTx/>
              <a:buNone/>
              <a:defRPr/>
            </a:pPr>
            <a:r>
              <a:rPr kumimoji="0" sz="1600" b="1" kern="0" cap="none" spc="-10" normalizeH="0" baseline="0" noProof="0" dirty="0">
                <a:solidFill>
                  <a:sysClr val="windowText" lastClr="000000"/>
                </a:solidFill>
                <a:latin typeface="Arial" panose="020B0604020202020204"/>
                <a:cs typeface="Arial" panose="020B0604020202020204"/>
              </a:rPr>
              <a:t>EXCLUSIONS</a:t>
            </a:r>
            <a:r>
              <a:rPr kumimoji="0" sz="1600" b="1" kern="0" cap="none" spc="21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on</a:t>
            </a:r>
            <a:r>
              <a:rPr kumimoji="0" sz="1600" b="1" kern="0" cap="none" spc="17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Accidental</a:t>
            </a:r>
            <a:r>
              <a:rPr kumimoji="0" sz="1600" b="1" kern="0" cap="none" spc="16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Death,</a:t>
            </a:r>
            <a:r>
              <a:rPr kumimoji="0" sz="1600" b="1" kern="0" cap="none" spc="190" normalizeH="0" baseline="0" noProof="0" dirty="0">
                <a:solidFill>
                  <a:sysClr val="windowText" lastClr="000000"/>
                </a:solidFill>
                <a:latin typeface="Arial" panose="020B0604020202020204"/>
                <a:cs typeface="Arial" panose="020B0604020202020204"/>
              </a:rPr>
              <a:t> </a:t>
            </a:r>
            <a:r>
              <a:rPr kumimoji="0" sz="1600" b="1" kern="0" cap="none" spc="50" normalizeH="0" baseline="0" noProof="0" dirty="0">
                <a:solidFill>
                  <a:sysClr val="windowText" lastClr="000000"/>
                </a:solidFill>
                <a:latin typeface="Arial" panose="020B0604020202020204"/>
                <a:cs typeface="Arial" panose="020B0604020202020204"/>
              </a:rPr>
              <a:t>Dismemberment</a:t>
            </a:r>
            <a:r>
              <a:rPr kumimoji="0" sz="1600" b="1" kern="0" cap="none" spc="190"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&amp;</a:t>
            </a:r>
            <a:r>
              <a:rPr kumimoji="0" sz="1600" b="1" kern="0" cap="none" spc="170"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Disablement</a:t>
            </a:r>
            <a:r>
              <a:rPr kumimoji="0" sz="1600" b="1" kern="0" cap="none" spc="170"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Benefit</a:t>
            </a:r>
            <a:r>
              <a:rPr kumimoji="0" sz="1600" b="1" kern="0" cap="none" spc="175" normalizeH="0" baseline="0" noProof="0" dirty="0">
                <a:solidFill>
                  <a:sysClr val="windowText" lastClr="000000"/>
                </a:solidFill>
                <a:latin typeface="Arial" panose="020B0604020202020204"/>
                <a:cs typeface="Arial" panose="020B0604020202020204"/>
              </a:rPr>
              <a:t> </a:t>
            </a:r>
            <a:r>
              <a:rPr kumimoji="0" sz="1600" b="1" kern="0" cap="none" spc="-10" normalizeH="0" baseline="0" noProof="0" dirty="0">
                <a:solidFill>
                  <a:sysClr val="windowText" lastClr="000000"/>
                </a:solidFill>
                <a:latin typeface="Arial" panose="020B0604020202020204"/>
                <a:cs typeface="Arial" panose="020B0604020202020204"/>
              </a:rPr>
              <a:t>(ADD&amp;D).</a:t>
            </a:r>
            <a:endParaRPr kumimoji="0" sz="1600" kern="0" cap="none" spc="0" normalizeH="0" baseline="0" noProof="0">
              <a:solidFill>
                <a:sysClr val="windowText" lastClr="000000"/>
              </a:solidFill>
              <a:latin typeface="Arial" panose="020B0604020202020204"/>
              <a:cs typeface="Arial" panose="020B0604020202020204"/>
            </a:endParaRPr>
          </a:p>
          <a:p>
            <a:pPr marR="0" algn="ctr" defTabSz="914400" eaLnBrk="1" fontAlgn="auto" hangingPunct="1">
              <a:spcBef>
                <a:spcPts val="0"/>
              </a:spcBef>
              <a:spcAft>
                <a:spcPts val="0"/>
              </a:spcAft>
              <a:buClrTx/>
              <a:buSzTx/>
              <a:buFontTx/>
              <a:buNone/>
              <a:defRPr/>
            </a:pPr>
            <a:r>
              <a:rPr kumimoji="0" sz="1600" kern="0" cap="none" spc="0" normalizeH="0" baseline="0" noProof="0" dirty="0">
                <a:solidFill>
                  <a:srgbClr val="FF0000"/>
                </a:solidFill>
                <a:latin typeface="Tahoma" panose="020B0604030504040204"/>
                <a:cs typeface="Tahoma" panose="020B0604030504040204"/>
              </a:rPr>
              <a:t>No</a:t>
            </a:r>
            <a:r>
              <a:rPr kumimoji="0" sz="1600" kern="0" cap="none" spc="-6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benefit</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shall</a:t>
            </a:r>
            <a:r>
              <a:rPr kumimoji="0" sz="1600" kern="0" cap="none" spc="-5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be</a:t>
            </a:r>
            <a:r>
              <a:rPr kumimoji="0" sz="1600" kern="0" cap="none" spc="-5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made</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for</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any</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loss</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resulting</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from</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or</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caused</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by</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any</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of</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the</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10" normalizeH="0" baseline="0" noProof="0" dirty="0">
                <a:solidFill>
                  <a:srgbClr val="FF0000"/>
                </a:solidFill>
                <a:latin typeface="Tahoma" panose="020B0604030504040204"/>
                <a:cs typeface="Tahoma" panose="020B0604030504040204"/>
              </a:rPr>
              <a:t>following:</a:t>
            </a:r>
            <a:endParaRPr kumimoji="0" sz="1600" kern="0" cap="none" spc="0" normalizeH="0" baseline="0" noProof="0">
              <a:solidFill>
                <a:sysClr val="windowText" lastClr="000000"/>
              </a:solidFill>
              <a:latin typeface="Tahoma" panose="020B0604030504040204"/>
              <a:cs typeface="Tahoma" panose="020B0604030504040204"/>
            </a:endParaRPr>
          </a:p>
        </p:txBody>
      </p:sp>
      <p:grpSp>
        <p:nvGrpSpPr>
          <p:cNvPr id="11270" name="object 11"/>
          <p:cNvGrpSpPr/>
          <p:nvPr/>
        </p:nvGrpSpPr>
        <p:grpSpPr>
          <a:xfrm>
            <a:off x="1287463" y="2062163"/>
            <a:ext cx="4605337" cy="452437"/>
            <a:chOff x="1286954" y="2061908"/>
            <a:chExt cx="4606290" cy="453390"/>
          </a:xfrm>
        </p:grpSpPr>
        <p:sp>
          <p:nvSpPr>
            <p:cNvPr id="11325" name="object 12"/>
            <p:cNvSpPr/>
            <p:nvPr/>
          </p:nvSpPr>
          <p:spPr>
            <a:xfrm>
              <a:off x="1288541" y="2063495"/>
              <a:ext cx="4603115" cy="450215"/>
            </a:xfrm>
            <a:custGeom>
              <a:avLst/>
              <a:gdLst/>
              <a:ahLst/>
              <a:cxnLst/>
              <a:pathLst>
                <a:path w="4603115" h="450214">
                  <a:moveTo>
                    <a:pt x="4574540" y="0"/>
                  </a:moveTo>
                  <a:lnTo>
                    <a:pt x="28448" y="0"/>
                  </a:lnTo>
                  <a:lnTo>
                    <a:pt x="17359" y="2250"/>
                  </a:lnTo>
                  <a:lnTo>
                    <a:pt x="8318" y="8382"/>
                  </a:lnTo>
                  <a:lnTo>
                    <a:pt x="2230" y="17466"/>
                  </a:lnTo>
                  <a:lnTo>
                    <a:pt x="0" y="28575"/>
                  </a:lnTo>
                  <a:lnTo>
                    <a:pt x="0" y="421766"/>
                  </a:lnTo>
                  <a:lnTo>
                    <a:pt x="2230" y="432855"/>
                  </a:lnTo>
                  <a:lnTo>
                    <a:pt x="8318" y="441896"/>
                  </a:lnTo>
                  <a:lnTo>
                    <a:pt x="17359" y="447984"/>
                  </a:lnTo>
                  <a:lnTo>
                    <a:pt x="28448" y="450214"/>
                  </a:lnTo>
                  <a:lnTo>
                    <a:pt x="4574540" y="450214"/>
                  </a:lnTo>
                  <a:lnTo>
                    <a:pt x="4585648" y="447984"/>
                  </a:lnTo>
                  <a:lnTo>
                    <a:pt x="4594733" y="441896"/>
                  </a:lnTo>
                  <a:lnTo>
                    <a:pt x="4600864" y="432855"/>
                  </a:lnTo>
                  <a:lnTo>
                    <a:pt x="4603115" y="421766"/>
                  </a:lnTo>
                  <a:lnTo>
                    <a:pt x="4603115" y="28575"/>
                  </a:lnTo>
                  <a:lnTo>
                    <a:pt x="4600864" y="17466"/>
                  </a:lnTo>
                  <a:lnTo>
                    <a:pt x="4594733" y="8382"/>
                  </a:lnTo>
                  <a:lnTo>
                    <a:pt x="4585648" y="2250"/>
                  </a:lnTo>
                  <a:lnTo>
                    <a:pt x="4574540" y="0"/>
                  </a:lnTo>
                  <a:close/>
                </a:path>
              </a:pathLst>
            </a:custGeom>
            <a:solidFill>
              <a:srgbClr val="F1F1F1">
                <a:alpha val="100000"/>
              </a:srgbClr>
            </a:solidFill>
            <a:ln w="9525">
              <a:noFill/>
            </a:ln>
          </p:spPr>
          <p:txBody>
            <a:bodyPr/>
            <a:p>
              <a:endParaRPr lang="en-US"/>
            </a:p>
          </p:txBody>
        </p:sp>
        <p:sp>
          <p:nvSpPr>
            <p:cNvPr id="11326" name="object 13"/>
            <p:cNvSpPr/>
            <p:nvPr/>
          </p:nvSpPr>
          <p:spPr>
            <a:xfrm>
              <a:off x="1288541" y="2063495"/>
              <a:ext cx="4603115" cy="450215"/>
            </a:xfrm>
            <a:custGeom>
              <a:avLst/>
              <a:gdLst/>
              <a:ahLst/>
              <a:cxnLst/>
              <a:pathLst>
                <a:path w="4603115" h="450214">
                  <a:moveTo>
                    <a:pt x="0" y="28575"/>
                  </a:moveTo>
                  <a:lnTo>
                    <a:pt x="2230" y="17466"/>
                  </a:lnTo>
                  <a:lnTo>
                    <a:pt x="8318" y="8382"/>
                  </a:lnTo>
                  <a:lnTo>
                    <a:pt x="17359" y="2250"/>
                  </a:lnTo>
                  <a:lnTo>
                    <a:pt x="28448" y="0"/>
                  </a:lnTo>
                  <a:lnTo>
                    <a:pt x="4574540" y="0"/>
                  </a:lnTo>
                  <a:lnTo>
                    <a:pt x="4585648" y="2250"/>
                  </a:lnTo>
                  <a:lnTo>
                    <a:pt x="4594733" y="8382"/>
                  </a:lnTo>
                  <a:lnTo>
                    <a:pt x="4600864" y="17466"/>
                  </a:lnTo>
                  <a:lnTo>
                    <a:pt x="4603115" y="28575"/>
                  </a:lnTo>
                  <a:lnTo>
                    <a:pt x="4603115" y="421766"/>
                  </a:lnTo>
                  <a:lnTo>
                    <a:pt x="4600864" y="432855"/>
                  </a:lnTo>
                  <a:lnTo>
                    <a:pt x="4594733" y="441896"/>
                  </a:lnTo>
                  <a:lnTo>
                    <a:pt x="4585648" y="447984"/>
                  </a:lnTo>
                  <a:lnTo>
                    <a:pt x="4574540" y="450214"/>
                  </a:lnTo>
                  <a:lnTo>
                    <a:pt x="28448" y="450214"/>
                  </a:lnTo>
                  <a:lnTo>
                    <a:pt x="17359" y="447984"/>
                  </a:lnTo>
                  <a:lnTo>
                    <a:pt x="8318" y="441896"/>
                  </a:lnTo>
                  <a:lnTo>
                    <a:pt x="2230" y="432855"/>
                  </a:lnTo>
                  <a:lnTo>
                    <a:pt x="0" y="421766"/>
                  </a:lnTo>
                  <a:lnTo>
                    <a:pt x="0" y="28575"/>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4" name="object 14"/>
          <p:cNvSpPr txBox="1"/>
          <p:nvPr/>
        </p:nvSpPr>
        <p:spPr>
          <a:xfrm>
            <a:off x="1376363" y="2089150"/>
            <a:ext cx="4429125" cy="390525"/>
          </a:xfrm>
          <a:prstGeom prst="rect">
            <a:avLst/>
          </a:prstGeom>
        </p:spPr>
        <p:txBody>
          <a:bodyPr vert="horz" wrap="square" lIns="0" tIns="12700" rIns="0" bIns="0" rtlCol="0">
            <a:spAutoFit/>
          </a:bodyPr>
          <a:p>
            <a:pPr marL="12700"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Suicide or intentionally self-inflicted injury or any similar attempt whether sane or insane</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72" name="object 15"/>
          <p:cNvGrpSpPr/>
          <p:nvPr/>
        </p:nvGrpSpPr>
        <p:grpSpPr>
          <a:xfrm>
            <a:off x="1287463" y="2562225"/>
            <a:ext cx="4605337" cy="300038"/>
            <a:chOff x="1286954" y="2562415"/>
            <a:chExt cx="4606290" cy="299720"/>
          </a:xfrm>
        </p:grpSpPr>
        <p:sp>
          <p:nvSpPr>
            <p:cNvPr id="11323" name="object 16"/>
            <p:cNvSpPr/>
            <p:nvPr/>
          </p:nvSpPr>
          <p:spPr>
            <a:xfrm>
              <a:off x="1288541" y="2564002"/>
              <a:ext cx="4603115" cy="296545"/>
            </a:xfrm>
            <a:custGeom>
              <a:avLst/>
              <a:gdLst/>
              <a:ahLst/>
              <a:cxnLst/>
              <a:pathLst>
                <a:path w="4603115" h="296544">
                  <a:moveTo>
                    <a:pt x="4584319" y="0"/>
                  </a:moveTo>
                  <a:lnTo>
                    <a:pt x="18669" y="0"/>
                  </a:lnTo>
                  <a:lnTo>
                    <a:pt x="11412" y="1472"/>
                  </a:lnTo>
                  <a:lnTo>
                    <a:pt x="5476" y="5492"/>
                  </a:lnTo>
                  <a:lnTo>
                    <a:pt x="1470" y="11465"/>
                  </a:lnTo>
                  <a:lnTo>
                    <a:pt x="0" y="18796"/>
                  </a:lnTo>
                  <a:lnTo>
                    <a:pt x="0" y="277749"/>
                  </a:lnTo>
                  <a:lnTo>
                    <a:pt x="1470" y="285005"/>
                  </a:lnTo>
                  <a:lnTo>
                    <a:pt x="5476" y="290941"/>
                  </a:lnTo>
                  <a:lnTo>
                    <a:pt x="11412" y="294947"/>
                  </a:lnTo>
                  <a:lnTo>
                    <a:pt x="18669" y="296418"/>
                  </a:lnTo>
                  <a:lnTo>
                    <a:pt x="4584319" y="296418"/>
                  </a:lnTo>
                  <a:lnTo>
                    <a:pt x="4591649" y="294947"/>
                  </a:lnTo>
                  <a:lnTo>
                    <a:pt x="4597622" y="290941"/>
                  </a:lnTo>
                  <a:lnTo>
                    <a:pt x="4601642" y="285005"/>
                  </a:lnTo>
                  <a:lnTo>
                    <a:pt x="4603115" y="277749"/>
                  </a:lnTo>
                  <a:lnTo>
                    <a:pt x="4603115" y="18796"/>
                  </a:lnTo>
                  <a:lnTo>
                    <a:pt x="4601642" y="11465"/>
                  </a:lnTo>
                  <a:lnTo>
                    <a:pt x="4597622" y="5492"/>
                  </a:lnTo>
                  <a:lnTo>
                    <a:pt x="4591649" y="1472"/>
                  </a:lnTo>
                  <a:lnTo>
                    <a:pt x="4584319" y="0"/>
                  </a:lnTo>
                  <a:close/>
                </a:path>
              </a:pathLst>
            </a:custGeom>
            <a:solidFill>
              <a:srgbClr val="F1F1F1">
                <a:alpha val="100000"/>
              </a:srgbClr>
            </a:solidFill>
            <a:ln w="9525">
              <a:noFill/>
            </a:ln>
          </p:spPr>
          <p:txBody>
            <a:bodyPr/>
            <a:p>
              <a:endParaRPr lang="en-US"/>
            </a:p>
          </p:txBody>
        </p:sp>
        <p:sp>
          <p:nvSpPr>
            <p:cNvPr id="11324" name="object 17"/>
            <p:cNvSpPr/>
            <p:nvPr/>
          </p:nvSpPr>
          <p:spPr>
            <a:xfrm>
              <a:off x="1288541" y="2564002"/>
              <a:ext cx="4603115" cy="296545"/>
            </a:xfrm>
            <a:custGeom>
              <a:avLst/>
              <a:gdLst/>
              <a:ahLst/>
              <a:cxnLst/>
              <a:pathLst>
                <a:path w="4603115" h="296544">
                  <a:moveTo>
                    <a:pt x="0" y="18796"/>
                  </a:moveTo>
                  <a:lnTo>
                    <a:pt x="1470" y="11465"/>
                  </a:lnTo>
                  <a:lnTo>
                    <a:pt x="5476" y="5492"/>
                  </a:lnTo>
                  <a:lnTo>
                    <a:pt x="11412" y="1472"/>
                  </a:lnTo>
                  <a:lnTo>
                    <a:pt x="18669" y="0"/>
                  </a:lnTo>
                  <a:lnTo>
                    <a:pt x="4584319" y="0"/>
                  </a:lnTo>
                  <a:lnTo>
                    <a:pt x="4591649" y="1472"/>
                  </a:lnTo>
                  <a:lnTo>
                    <a:pt x="4597622" y="5492"/>
                  </a:lnTo>
                  <a:lnTo>
                    <a:pt x="4601642" y="11465"/>
                  </a:lnTo>
                  <a:lnTo>
                    <a:pt x="4603115" y="18796"/>
                  </a:lnTo>
                  <a:lnTo>
                    <a:pt x="4603115" y="277749"/>
                  </a:lnTo>
                  <a:lnTo>
                    <a:pt x="4601642" y="285005"/>
                  </a:lnTo>
                  <a:lnTo>
                    <a:pt x="4597622" y="290941"/>
                  </a:lnTo>
                  <a:lnTo>
                    <a:pt x="4591649" y="294947"/>
                  </a:lnTo>
                  <a:lnTo>
                    <a:pt x="4584319" y="296418"/>
                  </a:lnTo>
                  <a:lnTo>
                    <a:pt x="18669" y="296418"/>
                  </a:lnTo>
                  <a:lnTo>
                    <a:pt x="11412" y="294947"/>
                  </a:lnTo>
                  <a:lnTo>
                    <a:pt x="5476" y="290941"/>
                  </a:lnTo>
                  <a:lnTo>
                    <a:pt x="1470" y="285005"/>
                  </a:lnTo>
                  <a:lnTo>
                    <a:pt x="0" y="277749"/>
                  </a:lnTo>
                  <a:lnTo>
                    <a:pt x="0" y="18796"/>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8" name="object 18"/>
          <p:cNvSpPr txBox="1"/>
          <p:nvPr/>
        </p:nvSpPr>
        <p:spPr>
          <a:xfrm>
            <a:off x="1373188" y="2603500"/>
            <a:ext cx="736600" cy="2095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10" normalizeH="0" baseline="0" noProof="0" dirty="0">
                <a:solidFill>
                  <a:sysClr val="windowText" lastClr="000000"/>
                </a:solidFill>
                <a:latin typeface="Tahoma" panose="020B0604030504040204"/>
                <a:cs typeface="Tahoma" panose="020B0604030504040204"/>
              </a:rPr>
              <a:t>Insect</a:t>
            </a:r>
            <a:r>
              <a:rPr kumimoji="0" sz="1200" kern="0" cap="none" spc="-70"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Bite</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74" name="object 19"/>
          <p:cNvGrpSpPr/>
          <p:nvPr/>
        </p:nvGrpSpPr>
        <p:grpSpPr>
          <a:xfrm>
            <a:off x="1287463" y="2909888"/>
            <a:ext cx="4605337" cy="298450"/>
            <a:chOff x="1286954" y="2909125"/>
            <a:chExt cx="4606290" cy="299720"/>
          </a:xfrm>
        </p:grpSpPr>
        <p:sp>
          <p:nvSpPr>
            <p:cNvPr id="11321" name="object 20"/>
            <p:cNvSpPr/>
            <p:nvPr/>
          </p:nvSpPr>
          <p:spPr>
            <a:xfrm>
              <a:off x="1288541" y="2910713"/>
              <a:ext cx="4603115" cy="296545"/>
            </a:xfrm>
            <a:custGeom>
              <a:avLst/>
              <a:gdLst/>
              <a:ahLst/>
              <a:cxnLst/>
              <a:pathLst>
                <a:path w="4603115" h="296544">
                  <a:moveTo>
                    <a:pt x="4584319" y="0"/>
                  </a:moveTo>
                  <a:lnTo>
                    <a:pt x="18669" y="0"/>
                  </a:lnTo>
                  <a:lnTo>
                    <a:pt x="11412" y="1472"/>
                  </a:lnTo>
                  <a:lnTo>
                    <a:pt x="5476" y="5492"/>
                  </a:lnTo>
                  <a:lnTo>
                    <a:pt x="1470" y="11465"/>
                  </a:lnTo>
                  <a:lnTo>
                    <a:pt x="0" y="18796"/>
                  </a:lnTo>
                  <a:lnTo>
                    <a:pt x="0" y="277749"/>
                  </a:lnTo>
                  <a:lnTo>
                    <a:pt x="1470" y="285005"/>
                  </a:lnTo>
                  <a:lnTo>
                    <a:pt x="5476" y="290941"/>
                  </a:lnTo>
                  <a:lnTo>
                    <a:pt x="11412" y="294947"/>
                  </a:lnTo>
                  <a:lnTo>
                    <a:pt x="18669" y="296417"/>
                  </a:lnTo>
                  <a:lnTo>
                    <a:pt x="4584319" y="296417"/>
                  </a:lnTo>
                  <a:lnTo>
                    <a:pt x="4591649" y="294947"/>
                  </a:lnTo>
                  <a:lnTo>
                    <a:pt x="4597622" y="290941"/>
                  </a:lnTo>
                  <a:lnTo>
                    <a:pt x="4601642" y="285005"/>
                  </a:lnTo>
                  <a:lnTo>
                    <a:pt x="4603115" y="277749"/>
                  </a:lnTo>
                  <a:lnTo>
                    <a:pt x="4603115" y="18796"/>
                  </a:lnTo>
                  <a:lnTo>
                    <a:pt x="4601642" y="11465"/>
                  </a:lnTo>
                  <a:lnTo>
                    <a:pt x="4597622" y="5492"/>
                  </a:lnTo>
                  <a:lnTo>
                    <a:pt x="4591649" y="1472"/>
                  </a:lnTo>
                  <a:lnTo>
                    <a:pt x="4584319" y="0"/>
                  </a:lnTo>
                  <a:close/>
                </a:path>
              </a:pathLst>
            </a:custGeom>
            <a:solidFill>
              <a:srgbClr val="F1F1F1">
                <a:alpha val="100000"/>
              </a:srgbClr>
            </a:solidFill>
            <a:ln w="9525">
              <a:noFill/>
            </a:ln>
          </p:spPr>
          <p:txBody>
            <a:bodyPr/>
            <a:p>
              <a:endParaRPr lang="en-US"/>
            </a:p>
          </p:txBody>
        </p:sp>
        <p:sp>
          <p:nvSpPr>
            <p:cNvPr id="11322" name="object 21"/>
            <p:cNvSpPr/>
            <p:nvPr/>
          </p:nvSpPr>
          <p:spPr>
            <a:xfrm>
              <a:off x="1288541" y="2910713"/>
              <a:ext cx="4603115" cy="296545"/>
            </a:xfrm>
            <a:custGeom>
              <a:avLst/>
              <a:gdLst/>
              <a:ahLst/>
              <a:cxnLst/>
              <a:pathLst>
                <a:path w="4603115" h="296544">
                  <a:moveTo>
                    <a:pt x="0" y="18796"/>
                  </a:moveTo>
                  <a:lnTo>
                    <a:pt x="1470" y="11465"/>
                  </a:lnTo>
                  <a:lnTo>
                    <a:pt x="5476" y="5492"/>
                  </a:lnTo>
                  <a:lnTo>
                    <a:pt x="11412" y="1472"/>
                  </a:lnTo>
                  <a:lnTo>
                    <a:pt x="18669" y="0"/>
                  </a:lnTo>
                  <a:lnTo>
                    <a:pt x="4584319" y="0"/>
                  </a:lnTo>
                  <a:lnTo>
                    <a:pt x="4591649" y="1472"/>
                  </a:lnTo>
                  <a:lnTo>
                    <a:pt x="4597622" y="5492"/>
                  </a:lnTo>
                  <a:lnTo>
                    <a:pt x="4601642" y="11465"/>
                  </a:lnTo>
                  <a:lnTo>
                    <a:pt x="4603115" y="18796"/>
                  </a:lnTo>
                  <a:lnTo>
                    <a:pt x="4603115" y="277749"/>
                  </a:lnTo>
                  <a:lnTo>
                    <a:pt x="4601642" y="285005"/>
                  </a:lnTo>
                  <a:lnTo>
                    <a:pt x="4597622" y="290941"/>
                  </a:lnTo>
                  <a:lnTo>
                    <a:pt x="4591649" y="294947"/>
                  </a:lnTo>
                  <a:lnTo>
                    <a:pt x="4584319" y="296417"/>
                  </a:lnTo>
                  <a:lnTo>
                    <a:pt x="18669" y="296417"/>
                  </a:lnTo>
                  <a:lnTo>
                    <a:pt x="11412" y="294947"/>
                  </a:lnTo>
                  <a:lnTo>
                    <a:pt x="5476" y="290941"/>
                  </a:lnTo>
                  <a:lnTo>
                    <a:pt x="1470" y="285005"/>
                  </a:lnTo>
                  <a:lnTo>
                    <a:pt x="0" y="277749"/>
                  </a:lnTo>
                  <a:lnTo>
                    <a:pt x="0" y="18796"/>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2" name="object 22"/>
          <p:cNvSpPr txBox="1"/>
          <p:nvPr/>
        </p:nvSpPr>
        <p:spPr>
          <a:xfrm>
            <a:off x="1373188" y="2951163"/>
            <a:ext cx="550863"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10" normalizeH="0" baseline="0" noProof="0" dirty="0">
                <a:solidFill>
                  <a:sysClr val="windowText" lastClr="000000"/>
                </a:solidFill>
                <a:latin typeface="Tahoma" panose="020B0604030504040204"/>
                <a:cs typeface="Tahoma" panose="020B0604030504040204"/>
              </a:rPr>
              <a:t>Insanity</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76" name="object 23"/>
          <p:cNvGrpSpPr/>
          <p:nvPr/>
        </p:nvGrpSpPr>
        <p:grpSpPr>
          <a:xfrm>
            <a:off x="1287463" y="3252788"/>
            <a:ext cx="4605337" cy="300037"/>
            <a:chOff x="1286954" y="3253168"/>
            <a:chExt cx="4606290" cy="299720"/>
          </a:xfrm>
        </p:grpSpPr>
        <p:sp>
          <p:nvSpPr>
            <p:cNvPr id="11319" name="object 24"/>
            <p:cNvSpPr/>
            <p:nvPr/>
          </p:nvSpPr>
          <p:spPr>
            <a:xfrm>
              <a:off x="1288541" y="3254755"/>
              <a:ext cx="4603115" cy="296545"/>
            </a:xfrm>
            <a:custGeom>
              <a:avLst/>
              <a:gdLst/>
              <a:ahLst/>
              <a:cxnLst/>
              <a:pathLst>
                <a:path w="4603115" h="296545">
                  <a:moveTo>
                    <a:pt x="4584319" y="0"/>
                  </a:moveTo>
                  <a:lnTo>
                    <a:pt x="18669" y="0"/>
                  </a:lnTo>
                  <a:lnTo>
                    <a:pt x="11412" y="1470"/>
                  </a:lnTo>
                  <a:lnTo>
                    <a:pt x="5476" y="5476"/>
                  </a:lnTo>
                  <a:lnTo>
                    <a:pt x="1470" y="11412"/>
                  </a:lnTo>
                  <a:lnTo>
                    <a:pt x="0" y="18669"/>
                  </a:lnTo>
                  <a:lnTo>
                    <a:pt x="0" y="277622"/>
                  </a:lnTo>
                  <a:lnTo>
                    <a:pt x="1470" y="284952"/>
                  </a:lnTo>
                  <a:lnTo>
                    <a:pt x="5476" y="290925"/>
                  </a:lnTo>
                  <a:lnTo>
                    <a:pt x="11412" y="294945"/>
                  </a:lnTo>
                  <a:lnTo>
                    <a:pt x="18669" y="296418"/>
                  </a:lnTo>
                  <a:lnTo>
                    <a:pt x="4584319" y="296418"/>
                  </a:lnTo>
                  <a:lnTo>
                    <a:pt x="4591649" y="294945"/>
                  </a:lnTo>
                  <a:lnTo>
                    <a:pt x="4597622" y="290925"/>
                  </a:lnTo>
                  <a:lnTo>
                    <a:pt x="4601642" y="284952"/>
                  </a:lnTo>
                  <a:lnTo>
                    <a:pt x="4603115" y="277622"/>
                  </a:lnTo>
                  <a:lnTo>
                    <a:pt x="4603115" y="18669"/>
                  </a:lnTo>
                  <a:lnTo>
                    <a:pt x="4601642" y="11412"/>
                  </a:lnTo>
                  <a:lnTo>
                    <a:pt x="4597622" y="5476"/>
                  </a:lnTo>
                  <a:lnTo>
                    <a:pt x="4591649" y="1470"/>
                  </a:lnTo>
                  <a:lnTo>
                    <a:pt x="4584319" y="0"/>
                  </a:lnTo>
                  <a:close/>
                </a:path>
              </a:pathLst>
            </a:custGeom>
            <a:solidFill>
              <a:srgbClr val="F1F1F1">
                <a:alpha val="100000"/>
              </a:srgbClr>
            </a:solidFill>
            <a:ln w="9525">
              <a:noFill/>
            </a:ln>
          </p:spPr>
          <p:txBody>
            <a:bodyPr/>
            <a:p>
              <a:endParaRPr lang="en-US"/>
            </a:p>
          </p:txBody>
        </p:sp>
        <p:sp>
          <p:nvSpPr>
            <p:cNvPr id="11320" name="object 25"/>
            <p:cNvSpPr/>
            <p:nvPr/>
          </p:nvSpPr>
          <p:spPr>
            <a:xfrm>
              <a:off x="1288541" y="3254755"/>
              <a:ext cx="4603115" cy="296545"/>
            </a:xfrm>
            <a:custGeom>
              <a:avLst/>
              <a:gdLst/>
              <a:ahLst/>
              <a:cxnLst/>
              <a:pathLst>
                <a:path w="4603115" h="296545">
                  <a:moveTo>
                    <a:pt x="0" y="18669"/>
                  </a:moveTo>
                  <a:lnTo>
                    <a:pt x="1470" y="11412"/>
                  </a:lnTo>
                  <a:lnTo>
                    <a:pt x="5476" y="5476"/>
                  </a:lnTo>
                  <a:lnTo>
                    <a:pt x="11412" y="1470"/>
                  </a:lnTo>
                  <a:lnTo>
                    <a:pt x="18669" y="0"/>
                  </a:lnTo>
                  <a:lnTo>
                    <a:pt x="4584319" y="0"/>
                  </a:lnTo>
                  <a:lnTo>
                    <a:pt x="4591649" y="1470"/>
                  </a:lnTo>
                  <a:lnTo>
                    <a:pt x="4597622" y="5476"/>
                  </a:lnTo>
                  <a:lnTo>
                    <a:pt x="4601642" y="11412"/>
                  </a:lnTo>
                  <a:lnTo>
                    <a:pt x="4603115" y="18669"/>
                  </a:lnTo>
                  <a:lnTo>
                    <a:pt x="4603115" y="277622"/>
                  </a:lnTo>
                  <a:lnTo>
                    <a:pt x="4601642" y="284952"/>
                  </a:lnTo>
                  <a:lnTo>
                    <a:pt x="4597622" y="290925"/>
                  </a:lnTo>
                  <a:lnTo>
                    <a:pt x="4591649" y="294945"/>
                  </a:lnTo>
                  <a:lnTo>
                    <a:pt x="4584319" y="296418"/>
                  </a:lnTo>
                  <a:lnTo>
                    <a:pt x="18669" y="296418"/>
                  </a:lnTo>
                  <a:lnTo>
                    <a:pt x="11412" y="294945"/>
                  </a:lnTo>
                  <a:lnTo>
                    <a:pt x="5476" y="290925"/>
                  </a:lnTo>
                  <a:lnTo>
                    <a:pt x="1470" y="284952"/>
                  </a:lnTo>
                  <a:lnTo>
                    <a:pt x="0" y="277622"/>
                  </a:lnTo>
                  <a:lnTo>
                    <a:pt x="0" y="18669"/>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6" name="object 26"/>
          <p:cNvSpPr txBox="1"/>
          <p:nvPr/>
        </p:nvSpPr>
        <p:spPr>
          <a:xfrm>
            <a:off x="1373188" y="3295650"/>
            <a:ext cx="3113088"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Pregnancy,</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childbirth, miscarriage</a:t>
            </a:r>
            <a:r>
              <a:rPr kumimoji="0" sz="1200" kern="0" cap="none" spc="-1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 </a:t>
            </a:r>
            <a:r>
              <a:rPr kumimoji="0" sz="1200" kern="0" cap="none" spc="-10" normalizeH="0" baseline="0" noProof="0" dirty="0">
                <a:solidFill>
                  <a:sysClr val="windowText" lastClr="000000"/>
                </a:solidFill>
                <a:latin typeface="Tahoma" panose="020B0604030504040204"/>
                <a:cs typeface="Tahoma" panose="020B0604030504040204"/>
              </a:rPr>
              <a:t>abortion</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78" name="object 27"/>
          <p:cNvGrpSpPr/>
          <p:nvPr/>
        </p:nvGrpSpPr>
        <p:grpSpPr>
          <a:xfrm>
            <a:off x="1287463" y="3592513"/>
            <a:ext cx="4605337" cy="600075"/>
            <a:chOff x="1286954" y="3592893"/>
            <a:chExt cx="4606290" cy="600075"/>
          </a:xfrm>
        </p:grpSpPr>
        <p:sp>
          <p:nvSpPr>
            <p:cNvPr id="11317" name="object 28"/>
            <p:cNvSpPr/>
            <p:nvPr/>
          </p:nvSpPr>
          <p:spPr>
            <a:xfrm>
              <a:off x="1288541" y="3594480"/>
              <a:ext cx="4603115" cy="596900"/>
            </a:xfrm>
            <a:custGeom>
              <a:avLst/>
              <a:gdLst/>
              <a:ahLst/>
              <a:cxnLst/>
              <a:pathLst>
                <a:path w="4603115" h="596900">
                  <a:moveTo>
                    <a:pt x="4565269" y="0"/>
                  </a:moveTo>
                  <a:lnTo>
                    <a:pt x="37719" y="0"/>
                  </a:lnTo>
                  <a:lnTo>
                    <a:pt x="23038" y="2964"/>
                  </a:lnTo>
                  <a:lnTo>
                    <a:pt x="11049" y="11049"/>
                  </a:lnTo>
                  <a:lnTo>
                    <a:pt x="2964" y="23038"/>
                  </a:lnTo>
                  <a:lnTo>
                    <a:pt x="0" y="37719"/>
                  </a:lnTo>
                  <a:lnTo>
                    <a:pt x="0" y="558927"/>
                  </a:lnTo>
                  <a:lnTo>
                    <a:pt x="2964" y="573680"/>
                  </a:lnTo>
                  <a:lnTo>
                    <a:pt x="11049" y="585708"/>
                  </a:lnTo>
                  <a:lnTo>
                    <a:pt x="23038" y="593806"/>
                  </a:lnTo>
                  <a:lnTo>
                    <a:pt x="37719" y="596773"/>
                  </a:lnTo>
                  <a:lnTo>
                    <a:pt x="4565269" y="596773"/>
                  </a:lnTo>
                  <a:lnTo>
                    <a:pt x="4580022" y="593806"/>
                  </a:lnTo>
                  <a:lnTo>
                    <a:pt x="4592050" y="585708"/>
                  </a:lnTo>
                  <a:lnTo>
                    <a:pt x="4600148" y="573680"/>
                  </a:lnTo>
                  <a:lnTo>
                    <a:pt x="4603115" y="558927"/>
                  </a:lnTo>
                  <a:lnTo>
                    <a:pt x="4603115" y="37719"/>
                  </a:lnTo>
                  <a:lnTo>
                    <a:pt x="4600148" y="23038"/>
                  </a:lnTo>
                  <a:lnTo>
                    <a:pt x="4592050" y="11049"/>
                  </a:lnTo>
                  <a:lnTo>
                    <a:pt x="4580022" y="2964"/>
                  </a:lnTo>
                  <a:lnTo>
                    <a:pt x="4565269" y="0"/>
                  </a:lnTo>
                  <a:close/>
                </a:path>
              </a:pathLst>
            </a:custGeom>
            <a:solidFill>
              <a:srgbClr val="F1F1F1">
                <a:alpha val="100000"/>
              </a:srgbClr>
            </a:solidFill>
            <a:ln w="9525">
              <a:noFill/>
            </a:ln>
          </p:spPr>
          <p:txBody>
            <a:bodyPr/>
            <a:p>
              <a:endParaRPr lang="en-US"/>
            </a:p>
          </p:txBody>
        </p:sp>
        <p:sp>
          <p:nvSpPr>
            <p:cNvPr id="11318" name="object 29"/>
            <p:cNvSpPr/>
            <p:nvPr/>
          </p:nvSpPr>
          <p:spPr>
            <a:xfrm>
              <a:off x="1288541" y="3594480"/>
              <a:ext cx="4603115" cy="596900"/>
            </a:xfrm>
            <a:custGeom>
              <a:avLst/>
              <a:gdLst/>
              <a:ahLst/>
              <a:cxnLst/>
              <a:pathLst>
                <a:path w="4603115" h="596900">
                  <a:moveTo>
                    <a:pt x="0" y="37719"/>
                  </a:moveTo>
                  <a:lnTo>
                    <a:pt x="2964" y="23038"/>
                  </a:lnTo>
                  <a:lnTo>
                    <a:pt x="11049" y="11049"/>
                  </a:lnTo>
                  <a:lnTo>
                    <a:pt x="23038" y="2964"/>
                  </a:lnTo>
                  <a:lnTo>
                    <a:pt x="37719" y="0"/>
                  </a:lnTo>
                  <a:lnTo>
                    <a:pt x="4565269" y="0"/>
                  </a:lnTo>
                  <a:lnTo>
                    <a:pt x="4580022" y="2964"/>
                  </a:lnTo>
                  <a:lnTo>
                    <a:pt x="4592050" y="11049"/>
                  </a:lnTo>
                  <a:lnTo>
                    <a:pt x="4600148" y="23038"/>
                  </a:lnTo>
                  <a:lnTo>
                    <a:pt x="4603115" y="37719"/>
                  </a:lnTo>
                  <a:lnTo>
                    <a:pt x="4603115" y="558927"/>
                  </a:lnTo>
                  <a:lnTo>
                    <a:pt x="4600148" y="573680"/>
                  </a:lnTo>
                  <a:lnTo>
                    <a:pt x="4592050" y="585708"/>
                  </a:lnTo>
                  <a:lnTo>
                    <a:pt x="4580022" y="593806"/>
                  </a:lnTo>
                  <a:lnTo>
                    <a:pt x="4565269" y="596773"/>
                  </a:lnTo>
                  <a:lnTo>
                    <a:pt x="37719" y="596773"/>
                  </a:lnTo>
                  <a:lnTo>
                    <a:pt x="23038" y="593806"/>
                  </a:lnTo>
                  <a:lnTo>
                    <a:pt x="11049" y="585708"/>
                  </a:lnTo>
                  <a:lnTo>
                    <a:pt x="2964" y="573680"/>
                  </a:lnTo>
                  <a:lnTo>
                    <a:pt x="0" y="558927"/>
                  </a:lnTo>
                  <a:lnTo>
                    <a:pt x="0" y="37719"/>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30" name="object 30"/>
          <p:cNvSpPr txBox="1"/>
          <p:nvPr/>
        </p:nvSpPr>
        <p:spPr>
          <a:xfrm>
            <a:off x="1377950" y="3602038"/>
            <a:ext cx="4425950" cy="574675"/>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Travel or flight in or descent from any aircraft, if the insured person is a member of the crew or pilot of the aircraft, or if the flight is made for instructional or training purposes</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80" name="object 31"/>
          <p:cNvGrpSpPr/>
          <p:nvPr/>
        </p:nvGrpSpPr>
        <p:grpSpPr>
          <a:xfrm>
            <a:off x="1287463" y="4227513"/>
            <a:ext cx="4605337" cy="798512"/>
            <a:chOff x="1286954" y="4226877"/>
            <a:chExt cx="4606290" cy="799465"/>
          </a:xfrm>
        </p:grpSpPr>
        <p:sp>
          <p:nvSpPr>
            <p:cNvPr id="11315" name="object 32"/>
            <p:cNvSpPr/>
            <p:nvPr/>
          </p:nvSpPr>
          <p:spPr>
            <a:xfrm>
              <a:off x="1288541" y="4228465"/>
              <a:ext cx="4603115" cy="796290"/>
            </a:xfrm>
            <a:custGeom>
              <a:avLst/>
              <a:gdLst/>
              <a:ahLst/>
              <a:cxnLst/>
              <a:pathLst>
                <a:path w="4603115" h="796289">
                  <a:moveTo>
                    <a:pt x="4552696" y="0"/>
                  </a:moveTo>
                  <a:lnTo>
                    <a:pt x="50419" y="0"/>
                  </a:lnTo>
                  <a:lnTo>
                    <a:pt x="30753" y="3946"/>
                  </a:lnTo>
                  <a:lnTo>
                    <a:pt x="14732" y="14716"/>
                  </a:lnTo>
                  <a:lnTo>
                    <a:pt x="3948" y="30700"/>
                  </a:lnTo>
                  <a:lnTo>
                    <a:pt x="0" y="50292"/>
                  </a:lnTo>
                  <a:lnTo>
                    <a:pt x="0" y="745871"/>
                  </a:lnTo>
                  <a:lnTo>
                    <a:pt x="3948" y="765482"/>
                  </a:lnTo>
                  <a:lnTo>
                    <a:pt x="14731" y="781510"/>
                  </a:lnTo>
                  <a:lnTo>
                    <a:pt x="30753" y="792323"/>
                  </a:lnTo>
                  <a:lnTo>
                    <a:pt x="50419" y="796290"/>
                  </a:lnTo>
                  <a:lnTo>
                    <a:pt x="4552696" y="796290"/>
                  </a:lnTo>
                  <a:lnTo>
                    <a:pt x="4572307" y="792323"/>
                  </a:lnTo>
                  <a:lnTo>
                    <a:pt x="4588335" y="781510"/>
                  </a:lnTo>
                  <a:lnTo>
                    <a:pt x="4599148" y="765482"/>
                  </a:lnTo>
                  <a:lnTo>
                    <a:pt x="4603115" y="745871"/>
                  </a:lnTo>
                  <a:lnTo>
                    <a:pt x="4603115" y="50292"/>
                  </a:lnTo>
                  <a:lnTo>
                    <a:pt x="4599148" y="30700"/>
                  </a:lnTo>
                  <a:lnTo>
                    <a:pt x="4588335" y="14716"/>
                  </a:lnTo>
                  <a:lnTo>
                    <a:pt x="4572307" y="3946"/>
                  </a:lnTo>
                  <a:lnTo>
                    <a:pt x="4552696" y="0"/>
                  </a:lnTo>
                  <a:close/>
                </a:path>
              </a:pathLst>
            </a:custGeom>
            <a:solidFill>
              <a:srgbClr val="F1F1F1">
                <a:alpha val="100000"/>
              </a:srgbClr>
            </a:solidFill>
            <a:ln w="9525">
              <a:noFill/>
            </a:ln>
          </p:spPr>
          <p:txBody>
            <a:bodyPr/>
            <a:p>
              <a:endParaRPr lang="en-US"/>
            </a:p>
          </p:txBody>
        </p:sp>
        <p:sp>
          <p:nvSpPr>
            <p:cNvPr id="11316" name="object 33"/>
            <p:cNvSpPr/>
            <p:nvPr/>
          </p:nvSpPr>
          <p:spPr>
            <a:xfrm>
              <a:off x="1288541" y="4228465"/>
              <a:ext cx="4603115" cy="796290"/>
            </a:xfrm>
            <a:custGeom>
              <a:avLst/>
              <a:gdLst/>
              <a:ahLst/>
              <a:cxnLst/>
              <a:pathLst>
                <a:path w="4603115" h="796289">
                  <a:moveTo>
                    <a:pt x="0" y="50292"/>
                  </a:moveTo>
                  <a:lnTo>
                    <a:pt x="3948" y="30700"/>
                  </a:lnTo>
                  <a:lnTo>
                    <a:pt x="14732" y="14716"/>
                  </a:lnTo>
                  <a:lnTo>
                    <a:pt x="30753" y="3946"/>
                  </a:lnTo>
                  <a:lnTo>
                    <a:pt x="50419" y="0"/>
                  </a:lnTo>
                  <a:lnTo>
                    <a:pt x="4552696" y="0"/>
                  </a:lnTo>
                  <a:lnTo>
                    <a:pt x="4572307" y="3946"/>
                  </a:lnTo>
                  <a:lnTo>
                    <a:pt x="4588335" y="14716"/>
                  </a:lnTo>
                  <a:lnTo>
                    <a:pt x="4599148" y="30700"/>
                  </a:lnTo>
                  <a:lnTo>
                    <a:pt x="4603115" y="50292"/>
                  </a:lnTo>
                  <a:lnTo>
                    <a:pt x="4603115" y="745871"/>
                  </a:lnTo>
                  <a:lnTo>
                    <a:pt x="4599148" y="765482"/>
                  </a:lnTo>
                  <a:lnTo>
                    <a:pt x="4588335" y="781510"/>
                  </a:lnTo>
                  <a:lnTo>
                    <a:pt x="4572307" y="792323"/>
                  </a:lnTo>
                  <a:lnTo>
                    <a:pt x="4552696" y="796290"/>
                  </a:lnTo>
                  <a:lnTo>
                    <a:pt x="50419" y="796290"/>
                  </a:lnTo>
                  <a:lnTo>
                    <a:pt x="30753" y="792323"/>
                  </a:lnTo>
                  <a:lnTo>
                    <a:pt x="14731" y="781510"/>
                  </a:lnTo>
                  <a:lnTo>
                    <a:pt x="3948" y="765482"/>
                  </a:lnTo>
                  <a:lnTo>
                    <a:pt x="0" y="745871"/>
                  </a:lnTo>
                  <a:lnTo>
                    <a:pt x="0" y="5029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34" name="object 34"/>
          <p:cNvSpPr txBox="1"/>
          <p:nvPr/>
        </p:nvSpPr>
        <p:spPr>
          <a:xfrm>
            <a:off x="1382713" y="4244975"/>
            <a:ext cx="4416425" cy="755650"/>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Any drug, poison, gas or fumes voluntarily or otherwise taken, administered, absorbed or inhaled, other than as a result of an accident  arising  from  a  hazard  incident  to  the  member’s occupation</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82" name="object 35"/>
          <p:cNvGrpSpPr/>
          <p:nvPr/>
        </p:nvGrpSpPr>
        <p:grpSpPr>
          <a:xfrm>
            <a:off x="1287463" y="5065713"/>
            <a:ext cx="4605337" cy="1087437"/>
            <a:chOff x="1286954" y="5066347"/>
            <a:chExt cx="4606290" cy="1087120"/>
          </a:xfrm>
        </p:grpSpPr>
        <p:sp>
          <p:nvSpPr>
            <p:cNvPr id="11313" name="object 36"/>
            <p:cNvSpPr/>
            <p:nvPr/>
          </p:nvSpPr>
          <p:spPr>
            <a:xfrm>
              <a:off x="1288541" y="5067934"/>
              <a:ext cx="4603115" cy="1083945"/>
            </a:xfrm>
            <a:custGeom>
              <a:avLst/>
              <a:gdLst/>
              <a:ahLst/>
              <a:cxnLst/>
              <a:pathLst>
                <a:path w="4603115" h="1083945">
                  <a:moveTo>
                    <a:pt x="4534535" y="0"/>
                  </a:moveTo>
                  <a:lnTo>
                    <a:pt x="68580" y="0"/>
                  </a:lnTo>
                  <a:lnTo>
                    <a:pt x="41844" y="5393"/>
                  </a:lnTo>
                  <a:lnTo>
                    <a:pt x="20050" y="20097"/>
                  </a:lnTo>
                  <a:lnTo>
                    <a:pt x="5375" y="41898"/>
                  </a:lnTo>
                  <a:lnTo>
                    <a:pt x="0" y="68579"/>
                  </a:lnTo>
                  <a:lnTo>
                    <a:pt x="0" y="1014907"/>
                  </a:lnTo>
                  <a:lnTo>
                    <a:pt x="5375" y="1041600"/>
                  </a:lnTo>
                  <a:lnTo>
                    <a:pt x="20050" y="1063399"/>
                  </a:lnTo>
                  <a:lnTo>
                    <a:pt x="41844" y="1078097"/>
                  </a:lnTo>
                  <a:lnTo>
                    <a:pt x="68580" y="1083487"/>
                  </a:lnTo>
                  <a:lnTo>
                    <a:pt x="4534535" y="1083487"/>
                  </a:lnTo>
                  <a:lnTo>
                    <a:pt x="4561216" y="1078097"/>
                  </a:lnTo>
                  <a:lnTo>
                    <a:pt x="4583017" y="1063399"/>
                  </a:lnTo>
                  <a:lnTo>
                    <a:pt x="4597721" y="1041600"/>
                  </a:lnTo>
                  <a:lnTo>
                    <a:pt x="4603115" y="1014907"/>
                  </a:lnTo>
                  <a:lnTo>
                    <a:pt x="4603115" y="68579"/>
                  </a:lnTo>
                  <a:lnTo>
                    <a:pt x="4597721" y="41898"/>
                  </a:lnTo>
                  <a:lnTo>
                    <a:pt x="4583017" y="20097"/>
                  </a:lnTo>
                  <a:lnTo>
                    <a:pt x="4561216" y="5393"/>
                  </a:lnTo>
                  <a:lnTo>
                    <a:pt x="4534535" y="0"/>
                  </a:lnTo>
                  <a:close/>
                </a:path>
              </a:pathLst>
            </a:custGeom>
            <a:solidFill>
              <a:srgbClr val="F1F1F1">
                <a:alpha val="100000"/>
              </a:srgbClr>
            </a:solidFill>
            <a:ln w="9525">
              <a:noFill/>
            </a:ln>
          </p:spPr>
          <p:txBody>
            <a:bodyPr/>
            <a:p>
              <a:endParaRPr lang="en-US"/>
            </a:p>
          </p:txBody>
        </p:sp>
        <p:sp>
          <p:nvSpPr>
            <p:cNvPr id="11314" name="object 37"/>
            <p:cNvSpPr/>
            <p:nvPr/>
          </p:nvSpPr>
          <p:spPr>
            <a:xfrm>
              <a:off x="1288541" y="5067934"/>
              <a:ext cx="4603115" cy="1083945"/>
            </a:xfrm>
            <a:custGeom>
              <a:avLst/>
              <a:gdLst/>
              <a:ahLst/>
              <a:cxnLst/>
              <a:pathLst>
                <a:path w="4603115" h="1083945">
                  <a:moveTo>
                    <a:pt x="0" y="68579"/>
                  </a:moveTo>
                  <a:lnTo>
                    <a:pt x="5375" y="41898"/>
                  </a:lnTo>
                  <a:lnTo>
                    <a:pt x="20050" y="20097"/>
                  </a:lnTo>
                  <a:lnTo>
                    <a:pt x="41844" y="5393"/>
                  </a:lnTo>
                  <a:lnTo>
                    <a:pt x="68580" y="0"/>
                  </a:lnTo>
                  <a:lnTo>
                    <a:pt x="4534535" y="0"/>
                  </a:lnTo>
                  <a:lnTo>
                    <a:pt x="4561216" y="5393"/>
                  </a:lnTo>
                  <a:lnTo>
                    <a:pt x="4583017" y="20097"/>
                  </a:lnTo>
                  <a:lnTo>
                    <a:pt x="4597721" y="41898"/>
                  </a:lnTo>
                  <a:lnTo>
                    <a:pt x="4603115" y="68579"/>
                  </a:lnTo>
                  <a:lnTo>
                    <a:pt x="4603115" y="1014907"/>
                  </a:lnTo>
                  <a:lnTo>
                    <a:pt x="4597721" y="1041600"/>
                  </a:lnTo>
                  <a:lnTo>
                    <a:pt x="4583017" y="1063399"/>
                  </a:lnTo>
                  <a:lnTo>
                    <a:pt x="4561216" y="1078097"/>
                  </a:lnTo>
                  <a:lnTo>
                    <a:pt x="4534535" y="1083487"/>
                  </a:lnTo>
                  <a:lnTo>
                    <a:pt x="68580" y="1083487"/>
                  </a:lnTo>
                  <a:lnTo>
                    <a:pt x="41844" y="1078097"/>
                  </a:lnTo>
                  <a:lnTo>
                    <a:pt x="20050" y="1063399"/>
                  </a:lnTo>
                  <a:lnTo>
                    <a:pt x="5375" y="1041600"/>
                  </a:lnTo>
                  <a:lnTo>
                    <a:pt x="0" y="1014907"/>
                  </a:lnTo>
                  <a:lnTo>
                    <a:pt x="0" y="68579"/>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38" name="object 38"/>
          <p:cNvSpPr txBox="1"/>
          <p:nvPr/>
        </p:nvSpPr>
        <p:spPr>
          <a:xfrm>
            <a:off x="1387475" y="5135563"/>
            <a:ext cx="4406900" cy="941388"/>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Nuclear weapons or fissionable material, ionizing radiation or contamination by radioactivity from any nuclear fuel or from any nuclear waste, or from the combustion of nuclear fuel, and for the purpose of this exclusion, combustion shall include any self- sustaining process of nuclear fission or fusion</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84" name="object 39"/>
          <p:cNvGrpSpPr/>
          <p:nvPr/>
        </p:nvGrpSpPr>
        <p:grpSpPr>
          <a:xfrm>
            <a:off x="6299200" y="4621213"/>
            <a:ext cx="4605338" cy="1531937"/>
            <a:chOff x="6298755" y="4620958"/>
            <a:chExt cx="4606290" cy="1532255"/>
          </a:xfrm>
        </p:grpSpPr>
        <p:sp>
          <p:nvSpPr>
            <p:cNvPr id="11311" name="object 40"/>
            <p:cNvSpPr/>
            <p:nvPr/>
          </p:nvSpPr>
          <p:spPr>
            <a:xfrm>
              <a:off x="6300342" y="4622546"/>
              <a:ext cx="4603115" cy="1529080"/>
            </a:xfrm>
            <a:custGeom>
              <a:avLst/>
              <a:gdLst/>
              <a:ahLst/>
              <a:cxnLst/>
              <a:pathLst>
                <a:path w="4603115" h="1529079">
                  <a:moveTo>
                    <a:pt x="4506341" y="0"/>
                  </a:moveTo>
                  <a:lnTo>
                    <a:pt x="96774" y="0"/>
                  </a:lnTo>
                  <a:lnTo>
                    <a:pt x="59096" y="7602"/>
                  </a:lnTo>
                  <a:lnTo>
                    <a:pt x="28336" y="28336"/>
                  </a:lnTo>
                  <a:lnTo>
                    <a:pt x="7602" y="59096"/>
                  </a:lnTo>
                  <a:lnTo>
                    <a:pt x="0" y="96773"/>
                  </a:lnTo>
                  <a:lnTo>
                    <a:pt x="0" y="1432090"/>
                  </a:lnTo>
                  <a:lnTo>
                    <a:pt x="7602" y="1469762"/>
                  </a:lnTo>
                  <a:lnTo>
                    <a:pt x="28336" y="1500522"/>
                  </a:lnTo>
                  <a:lnTo>
                    <a:pt x="59096" y="1521260"/>
                  </a:lnTo>
                  <a:lnTo>
                    <a:pt x="96774" y="1528864"/>
                  </a:lnTo>
                  <a:lnTo>
                    <a:pt x="4506341" y="1528864"/>
                  </a:lnTo>
                  <a:lnTo>
                    <a:pt x="4544018" y="1521260"/>
                  </a:lnTo>
                  <a:lnTo>
                    <a:pt x="4574778" y="1500522"/>
                  </a:lnTo>
                  <a:lnTo>
                    <a:pt x="4595512" y="1469762"/>
                  </a:lnTo>
                  <a:lnTo>
                    <a:pt x="4603115" y="1432090"/>
                  </a:lnTo>
                  <a:lnTo>
                    <a:pt x="4603115" y="96773"/>
                  </a:lnTo>
                  <a:lnTo>
                    <a:pt x="4595512" y="59096"/>
                  </a:lnTo>
                  <a:lnTo>
                    <a:pt x="4574778" y="28336"/>
                  </a:lnTo>
                  <a:lnTo>
                    <a:pt x="4544018" y="7602"/>
                  </a:lnTo>
                  <a:lnTo>
                    <a:pt x="4506341" y="0"/>
                  </a:lnTo>
                  <a:close/>
                </a:path>
              </a:pathLst>
            </a:custGeom>
            <a:solidFill>
              <a:srgbClr val="F1F1F1">
                <a:alpha val="100000"/>
              </a:srgbClr>
            </a:solidFill>
            <a:ln w="9525">
              <a:noFill/>
            </a:ln>
          </p:spPr>
          <p:txBody>
            <a:bodyPr/>
            <a:p>
              <a:endParaRPr lang="en-US"/>
            </a:p>
          </p:txBody>
        </p:sp>
        <p:sp>
          <p:nvSpPr>
            <p:cNvPr id="11312" name="object 41"/>
            <p:cNvSpPr/>
            <p:nvPr/>
          </p:nvSpPr>
          <p:spPr>
            <a:xfrm>
              <a:off x="6300342" y="4622546"/>
              <a:ext cx="4603115" cy="1529080"/>
            </a:xfrm>
            <a:custGeom>
              <a:avLst/>
              <a:gdLst/>
              <a:ahLst/>
              <a:cxnLst/>
              <a:pathLst>
                <a:path w="4603115" h="1529079">
                  <a:moveTo>
                    <a:pt x="0" y="96773"/>
                  </a:moveTo>
                  <a:lnTo>
                    <a:pt x="7602" y="59096"/>
                  </a:lnTo>
                  <a:lnTo>
                    <a:pt x="28336" y="28336"/>
                  </a:lnTo>
                  <a:lnTo>
                    <a:pt x="59096" y="7602"/>
                  </a:lnTo>
                  <a:lnTo>
                    <a:pt x="96774" y="0"/>
                  </a:lnTo>
                  <a:lnTo>
                    <a:pt x="4506341" y="0"/>
                  </a:lnTo>
                  <a:lnTo>
                    <a:pt x="4544018" y="7602"/>
                  </a:lnTo>
                  <a:lnTo>
                    <a:pt x="4574778" y="28336"/>
                  </a:lnTo>
                  <a:lnTo>
                    <a:pt x="4595512" y="59096"/>
                  </a:lnTo>
                  <a:lnTo>
                    <a:pt x="4603115" y="96773"/>
                  </a:lnTo>
                  <a:lnTo>
                    <a:pt x="4603115" y="1432090"/>
                  </a:lnTo>
                  <a:lnTo>
                    <a:pt x="4595512" y="1469762"/>
                  </a:lnTo>
                  <a:lnTo>
                    <a:pt x="4574778" y="1500522"/>
                  </a:lnTo>
                  <a:lnTo>
                    <a:pt x="4544018" y="1521260"/>
                  </a:lnTo>
                  <a:lnTo>
                    <a:pt x="4506341" y="1528864"/>
                  </a:lnTo>
                  <a:lnTo>
                    <a:pt x="96774" y="1528864"/>
                  </a:lnTo>
                  <a:lnTo>
                    <a:pt x="59096" y="1521260"/>
                  </a:lnTo>
                  <a:lnTo>
                    <a:pt x="28336" y="1500522"/>
                  </a:lnTo>
                  <a:lnTo>
                    <a:pt x="7602" y="1469762"/>
                  </a:lnTo>
                  <a:lnTo>
                    <a:pt x="0" y="1432090"/>
                  </a:lnTo>
                  <a:lnTo>
                    <a:pt x="0" y="96773"/>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42" name="object 42"/>
          <p:cNvSpPr txBox="1"/>
          <p:nvPr/>
        </p:nvSpPr>
        <p:spPr>
          <a:xfrm>
            <a:off x="6408738" y="4730750"/>
            <a:ext cx="4389438" cy="1306513"/>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Any loss in which the proximate cause was the member’s attempt at, or commission of or willful participation in any act or crime  punishable  under  the  Revised  Penal  Code  of  the Philippines or any other  statute  except crimes of reckless imprudence as defined in Article 365, or similar laws of any country in which the crime was attempted or committed, or resistance to lawful arrest</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86" name="object 43"/>
          <p:cNvGrpSpPr/>
          <p:nvPr/>
        </p:nvGrpSpPr>
        <p:grpSpPr>
          <a:xfrm>
            <a:off x="6299200" y="4259263"/>
            <a:ext cx="4605338" cy="300037"/>
            <a:chOff x="6298755" y="4259516"/>
            <a:chExt cx="4606290" cy="299720"/>
          </a:xfrm>
        </p:grpSpPr>
        <p:sp>
          <p:nvSpPr>
            <p:cNvPr id="11309" name="object 44"/>
            <p:cNvSpPr/>
            <p:nvPr/>
          </p:nvSpPr>
          <p:spPr>
            <a:xfrm>
              <a:off x="6300342" y="4261103"/>
              <a:ext cx="4603115" cy="296545"/>
            </a:xfrm>
            <a:custGeom>
              <a:avLst/>
              <a:gdLst/>
              <a:ahLst/>
              <a:cxnLst/>
              <a:pathLst>
                <a:path w="4603115" h="296545">
                  <a:moveTo>
                    <a:pt x="4584446" y="0"/>
                  </a:moveTo>
                  <a:lnTo>
                    <a:pt x="18796" y="0"/>
                  </a:lnTo>
                  <a:lnTo>
                    <a:pt x="11465" y="1472"/>
                  </a:lnTo>
                  <a:lnTo>
                    <a:pt x="5492" y="5492"/>
                  </a:lnTo>
                  <a:lnTo>
                    <a:pt x="1472" y="11465"/>
                  </a:lnTo>
                  <a:lnTo>
                    <a:pt x="0" y="18796"/>
                  </a:lnTo>
                  <a:lnTo>
                    <a:pt x="0" y="277622"/>
                  </a:lnTo>
                  <a:lnTo>
                    <a:pt x="1472" y="284952"/>
                  </a:lnTo>
                  <a:lnTo>
                    <a:pt x="5492" y="290925"/>
                  </a:lnTo>
                  <a:lnTo>
                    <a:pt x="11465" y="294945"/>
                  </a:lnTo>
                  <a:lnTo>
                    <a:pt x="18796" y="296418"/>
                  </a:lnTo>
                  <a:lnTo>
                    <a:pt x="4584446" y="296418"/>
                  </a:lnTo>
                  <a:lnTo>
                    <a:pt x="4591702" y="294945"/>
                  </a:lnTo>
                  <a:lnTo>
                    <a:pt x="4597638" y="290925"/>
                  </a:lnTo>
                  <a:lnTo>
                    <a:pt x="4601644" y="284952"/>
                  </a:lnTo>
                  <a:lnTo>
                    <a:pt x="4603115" y="277622"/>
                  </a:lnTo>
                  <a:lnTo>
                    <a:pt x="4603115" y="18796"/>
                  </a:lnTo>
                  <a:lnTo>
                    <a:pt x="4601644" y="11465"/>
                  </a:lnTo>
                  <a:lnTo>
                    <a:pt x="4597638" y="5492"/>
                  </a:lnTo>
                  <a:lnTo>
                    <a:pt x="4591702" y="1472"/>
                  </a:lnTo>
                  <a:lnTo>
                    <a:pt x="4584446" y="0"/>
                  </a:lnTo>
                  <a:close/>
                </a:path>
              </a:pathLst>
            </a:custGeom>
            <a:solidFill>
              <a:srgbClr val="F1F1F1">
                <a:alpha val="100000"/>
              </a:srgbClr>
            </a:solidFill>
            <a:ln w="9525">
              <a:noFill/>
            </a:ln>
          </p:spPr>
          <p:txBody>
            <a:bodyPr/>
            <a:p>
              <a:endParaRPr lang="en-US"/>
            </a:p>
          </p:txBody>
        </p:sp>
        <p:sp>
          <p:nvSpPr>
            <p:cNvPr id="11310" name="object 45"/>
            <p:cNvSpPr/>
            <p:nvPr/>
          </p:nvSpPr>
          <p:spPr>
            <a:xfrm>
              <a:off x="6300342" y="4261103"/>
              <a:ext cx="4603115" cy="296545"/>
            </a:xfrm>
            <a:custGeom>
              <a:avLst/>
              <a:gdLst/>
              <a:ahLst/>
              <a:cxnLst/>
              <a:pathLst>
                <a:path w="4603115" h="296545">
                  <a:moveTo>
                    <a:pt x="0" y="18796"/>
                  </a:moveTo>
                  <a:lnTo>
                    <a:pt x="1472" y="11465"/>
                  </a:lnTo>
                  <a:lnTo>
                    <a:pt x="5492" y="5492"/>
                  </a:lnTo>
                  <a:lnTo>
                    <a:pt x="11465" y="1472"/>
                  </a:lnTo>
                  <a:lnTo>
                    <a:pt x="18796" y="0"/>
                  </a:lnTo>
                  <a:lnTo>
                    <a:pt x="4584446" y="0"/>
                  </a:lnTo>
                  <a:lnTo>
                    <a:pt x="4591702" y="1472"/>
                  </a:lnTo>
                  <a:lnTo>
                    <a:pt x="4597638" y="5492"/>
                  </a:lnTo>
                  <a:lnTo>
                    <a:pt x="4601644" y="11465"/>
                  </a:lnTo>
                  <a:lnTo>
                    <a:pt x="4603115" y="18796"/>
                  </a:lnTo>
                  <a:lnTo>
                    <a:pt x="4603115" y="277622"/>
                  </a:lnTo>
                  <a:lnTo>
                    <a:pt x="4601644" y="284952"/>
                  </a:lnTo>
                  <a:lnTo>
                    <a:pt x="4597638" y="290925"/>
                  </a:lnTo>
                  <a:lnTo>
                    <a:pt x="4591702" y="294945"/>
                  </a:lnTo>
                  <a:lnTo>
                    <a:pt x="4584446" y="296418"/>
                  </a:lnTo>
                  <a:lnTo>
                    <a:pt x="18796" y="296418"/>
                  </a:lnTo>
                  <a:lnTo>
                    <a:pt x="11465" y="294945"/>
                  </a:lnTo>
                  <a:lnTo>
                    <a:pt x="5492" y="290925"/>
                  </a:lnTo>
                  <a:lnTo>
                    <a:pt x="1472" y="284952"/>
                  </a:lnTo>
                  <a:lnTo>
                    <a:pt x="0" y="277622"/>
                  </a:lnTo>
                  <a:lnTo>
                    <a:pt x="0" y="18796"/>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46" name="object 46"/>
          <p:cNvSpPr txBox="1"/>
          <p:nvPr/>
        </p:nvSpPr>
        <p:spPr>
          <a:xfrm>
            <a:off x="6384925" y="4302125"/>
            <a:ext cx="1870075"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Murder</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 </a:t>
            </a:r>
            <a:r>
              <a:rPr kumimoji="0" sz="1200" kern="0" cap="none" spc="-20" normalizeH="0" baseline="0" noProof="0" dirty="0">
                <a:solidFill>
                  <a:sysClr val="windowText" lastClr="000000"/>
                </a:solidFill>
                <a:latin typeface="Tahoma" panose="020B0604030504040204"/>
                <a:cs typeface="Tahoma" panose="020B0604030504040204"/>
              </a:rPr>
              <a:t>provoked</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assault</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88" name="object 47"/>
          <p:cNvGrpSpPr/>
          <p:nvPr/>
        </p:nvGrpSpPr>
        <p:grpSpPr>
          <a:xfrm>
            <a:off x="6299200" y="3794125"/>
            <a:ext cx="4605338" cy="403225"/>
            <a:chOff x="6298755" y="3794823"/>
            <a:chExt cx="4606290" cy="403225"/>
          </a:xfrm>
        </p:grpSpPr>
        <p:sp>
          <p:nvSpPr>
            <p:cNvPr id="11307" name="object 48"/>
            <p:cNvSpPr/>
            <p:nvPr/>
          </p:nvSpPr>
          <p:spPr>
            <a:xfrm>
              <a:off x="6300342" y="3796410"/>
              <a:ext cx="4603115" cy="400050"/>
            </a:xfrm>
            <a:custGeom>
              <a:avLst/>
              <a:gdLst/>
              <a:ahLst/>
              <a:cxnLst/>
              <a:pathLst>
                <a:path w="4603115" h="400050">
                  <a:moveTo>
                    <a:pt x="4577842" y="0"/>
                  </a:moveTo>
                  <a:lnTo>
                    <a:pt x="25273" y="0"/>
                  </a:lnTo>
                  <a:lnTo>
                    <a:pt x="15430" y="1984"/>
                  </a:lnTo>
                  <a:lnTo>
                    <a:pt x="7397" y="7397"/>
                  </a:lnTo>
                  <a:lnTo>
                    <a:pt x="1984" y="15430"/>
                  </a:lnTo>
                  <a:lnTo>
                    <a:pt x="0" y="25272"/>
                  </a:lnTo>
                  <a:lnTo>
                    <a:pt x="0" y="374395"/>
                  </a:lnTo>
                  <a:lnTo>
                    <a:pt x="1984" y="384258"/>
                  </a:lnTo>
                  <a:lnTo>
                    <a:pt x="7397" y="392334"/>
                  </a:lnTo>
                  <a:lnTo>
                    <a:pt x="15430" y="397791"/>
                  </a:lnTo>
                  <a:lnTo>
                    <a:pt x="25273" y="399795"/>
                  </a:lnTo>
                  <a:lnTo>
                    <a:pt x="4577842" y="399795"/>
                  </a:lnTo>
                  <a:lnTo>
                    <a:pt x="4587684" y="397791"/>
                  </a:lnTo>
                  <a:lnTo>
                    <a:pt x="4595717" y="392334"/>
                  </a:lnTo>
                  <a:lnTo>
                    <a:pt x="4601130" y="384258"/>
                  </a:lnTo>
                  <a:lnTo>
                    <a:pt x="4603115" y="374395"/>
                  </a:lnTo>
                  <a:lnTo>
                    <a:pt x="4603115" y="25272"/>
                  </a:lnTo>
                  <a:lnTo>
                    <a:pt x="4601130" y="15430"/>
                  </a:lnTo>
                  <a:lnTo>
                    <a:pt x="4595717" y="7397"/>
                  </a:lnTo>
                  <a:lnTo>
                    <a:pt x="4587684" y="1984"/>
                  </a:lnTo>
                  <a:lnTo>
                    <a:pt x="4577842" y="0"/>
                  </a:lnTo>
                  <a:close/>
                </a:path>
              </a:pathLst>
            </a:custGeom>
            <a:solidFill>
              <a:srgbClr val="F1F1F1">
                <a:alpha val="100000"/>
              </a:srgbClr>
            </a:solidFill>
            <a:ln w="9525">
              <a:noFill/>
            </a:ln>
          </p:spPr>
          <p:txBody>
            <a:bodyPr/>
            <a:p>
              <a:endParaRPr lang="en-US"/>
            </a:p>
          </p:txBody>
        </p:sp>
        <p:sp>
          <p:nvSpPr>
            <p:cNvPr id="11308" name="object 49"/>
            <p:cNvSpPr/>
            <p:nvPr/>
          </p:nvSpPr>
          <p:spPr>
            <a:xfrm>
              <a:off x="6300342" y="3796410"/>
              <a:ext cx="4603115" cy="400050"/>
            </a:xfrm>
            <a:custGeom>
              <a:avLst/>
              <a:gdLst/>
              <a:ahLst/>
              <a:cxnLst/>
              <a:pathLst>
                <a:path w="4603115" h="400050">
                  <a:moveTo>
                    <a:pt x="0" y="25272"/>
                  </a:moveTo>
                  <a:lnTo>
                    <a:pt x="1984" y="15430"/>
                  </a:lnTo>
                  <a:lnTo>
                    <a:pt x="7397" y="7397"/>
                  </a:lnTo>
                  <a:lnTo>
                    <a:pt x="15430" y="1984"/>
                  </a:lnTo>
                  <a:lnTo>
                    <a:pt x="25273" y="0"/>
                  </a:lnTo>
                  <a:lnTo>
                    <a:pt x="4577842" y="0"/>
                  </a:lnTo>
                  <a:lnTo>
                    <a:pt x="4587684" y="1984"/>
                  </a:lnTo>
                  <a:lnTo>
                    <a:pt x="4595717" y="7397"/>
                  </a:lnTo>
                  <a:lnTo>
                    <a:pt x="4601130" y="15430"/>
                  </a:lnTo>
                  <a:lnTo>
                    <a:pt x="4603115" y="25272"/>
                  </a:lnTo>
                  <a:lnTo>
                    <a:pt x="4603115" y="374395"/>
                  </a:lnTo>
                  <a:lnTo>
                    <a:pt x="4601130" y="384258"/>
                  </a:lnTo>
                  <a:lnTo>
                    <a:pt x="4595717" y="392334"/>
                  </a:lnTo>
                  <a:lnTo>
                    <a:pt x="4587684" y="397791"/>
                  </a:lnTo>
                  <a:lnTo>
                    <a:pt x="4577842" y="399795"/>
                  </a:lnTo>
                  <a:lnTo>
                    <a:pt x="25273" y="399795"/>
                  </a:lnTo>
                  <a:lnTo>
                    <a:pt x="15430" y="397791"/>
                  </a:lnTo>
                  <a:lnTo>
                    <a:pt x="7397" y="392334"/>
                  </a:lnTo>
                  <a:lnTo>
                    <a:pt x="1984" y="384258"/>
                  </a:lnTo>
                  <a:lnTo>
                    <a:pt x="0" y="374395"/>
                  </a:lnTo>
                  <a:lnTo>
                    <a:pt x="0" y="252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50" name="object 50"/>
          <p:cNvSpPr txBox="1"/>
          <p:nvPr/>
        </p:nvSpPr>
        <p:spPr>
          <a:xfrm>
            <a:off x="6386513" y="3797300"/>
            <a:ext cx="4432300" cy="390525"/>
          </a:xfrm>
          <a:prstGeom prst="rect">
            <a:avLst/>
          </a:prstGeom>
        </p:spPr>
        <p:txBody>
          <a:bodyPr vert="horz" wrap="square" lIns="0" tIns="12700" rIns="0" bIns="0" rtlCol="0">
            <a:spAutoFit/>
          </a:bodyPr>
          <a:p>
            <a:pPr marL="12700"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Any violation or attempt of violation of the law or resistance to arrest</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90" name="object 51"/>
          <p:cNvGrpSpPr/>
          <p:nvPr/>
        </p:nvGrpSpPr>
        <p:grpSpPr>
          <a:xfrm>
            <a:off x="6299200" y="3427413"/>
            <a:ext cx="4605338" cy="307975"/>
            <a:chOff x="6298755" y="3427412"/>
            <a:chExt cx="4606290" cy="307975"/>
          </a:xfrm>
        </p:grpSpPr>
        <p:sp>
          <p:nvSpPr>
            <p:cNvPr id="11305" name="object 52"/>
            <p:cNvSpPr/>
            <p:nvPr/>
          </p:nvSpPr>
          <p:spPr>
            <a:xfrm>
              <a:off x="6300342" y="3429000"/>
              <a:ext cx="4603115" cy="304800"/>
            </a:xfrm>
            <a:custGeom>
              <a:avLst/>
              <a:gdLst/>
              <a:ahLst/>
              <a:cxnLst/>
              <a:pathLst>
                <a:path w="4603115" h="304800">
                  <a:moveTo>
                    <a:pt x="4583811" y="0"/>
                  </a:moveTo>
                  <a:lnTo>
                    <a:pt x="19304" y="0"/>
                  </a:lnTo>
                  <a:lnTo>
                    <a:pt x="11787" y="1516"/>
                  </a:lnTo>
                  <a:lnTo>
                    <a:pt x="5651" y="5651"/>
                  </a:lnTo>
                  <a:lnTo>
                    <a:pt x="1516" y="11787"/>
                  </a:lnTo>
                  <a:lnTo>
                    <a:pt x="0" y="19303"/>
                  </a:lnTo>
                  <a:lnTo>
                    <a:pt x="0" y="285495"/>
                  </a:lnTo>
                  <a:lnTo>
                    <a:pt x="1516" y="293012"/>
                  </a:lnTo>
                  <a:lnTo>
                    <a:pt x="5651" y="299148"/>
                  </a:lnTo>
                  <a:lnTo>
                    <a:pt x="11787" y="303283"/>
                  </a:lnTo>
                  <a:lnTo>
                    <a:pt x="19304" y="304800"/>
                  </a:lnTo>
                  <a:lnTo>
                    <a:pt x="4583811" y="304800"/>
                  </a:lnTo>
                  <a:lnTo>
                    <a:pt x="4591327" y="303283"/>
                  </a:lnTo>
                  <a:lnTo>
                    <a:pt x="4597463" y="299148"/>
                  </a:lnTo>
                  <a:lnTo>
                    <a:pt x="4601598" y="293012"/>
                  </a:lnTo>
                  <a:lnTo>
                    <a:pt x="4603115" y="285495"/>
                  </a:lnTo>
                  <a:lnTo>
                    <a:pt x="4603115" y="19303"/>
                  </a:lnTo>
                  <a:lnTo>
                    <a:pt x="4601598" y="11787"/>
                  </a:lnTo>
                  <a:lnTo>
                    <a:pt x="4597463" y="5651"/>
                  </a:lnTo>
                  <a:lnTo>
                    <a:pt x="4591327" y="1516"/>
                  </a:lnTo>
                  <a:lnTo>
                    <a:pt x="4583811" y="0"/>
                  </a:lnTo>
                  <a:close/>
                </a:path>
              </a:pathLst>
            </a:custGeom>
            <a:solidFill>
              <a:srgbClr val="F1F1F1">
                <a:alpha val="100000"/>
              </a:srgbClr>
            </a:solidFill>
            <a:ln w="9525">
              <a:noFill/>
            </a:ln>
          </p:spPr>
          <p:txBody>
            <a:bodyPr/>
            <a:p>
              <a:endParaRPr lang="en-US"/>
            </a:p>
          </p:txBody>
        </p:sp>
        <p:sp>
          <p:nvSpPr>
            <p:cNvPr id="11306" name="object 53"/>
            <p:cNvSpPr/>
            <p:nvPr/>
          </p:nvSpPr>
          <p:spPr>
            <a:xfrm>
              <a:off x="6300342" y="3429000"/>
              <a:ext cx="4603115" cy="304800"/>
            </a:xfrm>
            <a:custGeom>
              <a:avLst/>
              <a:gdLst/>
              <a:ahLst/>
              <a:cxnLst/>
              <a:pathLst>
                <a:path w="4603115" h="304800">
                  <a:moveTo>
                    <a:pt x="0" y="19303"/>
                  </a:moveTo>
                  <a:lnTo>
                    <a:pt x="1516" y="11787"/>
                  </a:lnTo>
                  <a:lnTo>
                    <a:pt x="5651" y="5651"/>
                  </a:lnTo>
                  <a:lnTo>
                    <a:pt x="11787" y="1516"/>
                  </a:lnTo>
                  <a:lnTo>
                    <a:pt x="19304" y="0"/>
                  </a:lnTo>
                  <a:lnTo>
                    <a:pt x="4583811" y="0"/>
                  </a:lnTo>
                  <a:lnTo>
                    <a:pt x="4591327" y="1516"/>
                  </a:lnTo>
                  <a:lnTo>
                    <a:pt x="4597463" y="5651"/>
                  </a:lnTo>
                  <a:lnTo>
                    <a:pt x="4601598" y="11787"/>
                  </a:lnTo>
                  <a:lnTo>
                    <a:pt x="4603115" y="19303"/>
                  </a:lnTo>
                  <a:lnTo>
                    <a:pt x="4603115" y="285495"/>
                  </a:lnTo>
                  <a:lnTo>
                    <a:pt x="4601598" y="293012"/>
                  </a:lnTo>
                  <a:lnTo>
                    <a:pt x="4597463" y="299148"/>
                  </a:lnTo>
                  <a:lnTo>
                    <a:pt x="4591327" y="303283"/>
                  </a:lnTo>
                  <a:lnTo>
                    <a:pt x="4583811" y="304800"/>
                  </a:lnTo>
                  <a:lnTo>
                    <a:pt x="19304" y="304800"/>
                  </a:lnTo>
                  <a:lnTo>
                    <a:pt x="11787" y="303283"/>
                  </a:lnTo>
                  <a:lnTo>
                    <a:pt x="5651" y="299148"/>
                  </a:lnTo>
                  <a:lnTo>
                    <a:pt x="1516" y="293012"/>
                  </a:lnTo>
                  <a:lnTo>
                    <a:pt x="0" y="285495"/>
                  </a:lnTo>
                  <a:lnTo>
                    <a:pt x="0" y="19303"/>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54" name="object 54"/>
          <p:cNvSpPr txBox="1"/>
          <p:nvPr/>
        </p:nvSpPr>
        <p:spPr>
          <a:xfrm>
            <a:off x="6384925" y="3473450"/>
            <a:ext cx="3630613"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Congenital</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anomalies</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conditions</a:t>
            </a:r>
            <a:r>
              <a:rPr kumimoji="0" sz="1200" kern="0" cap="none" spc="-2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arising</a:t>
            </a:r>
            <a:r>
              <a:rPr kumimoji="0" sz="1200" kern="0" cap="none" spc="-1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from</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there</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92" name="object 55"/>
          <p:cNvGrpSpPr/>
          <p:nvPr/>
        </p:nvGrpSpPr>
        <p:grpSpPr>
          <a:xfrm>
            <a:off x="6299200" y="3068638"/>
            <a:ext cx="4605338" cy="300037"/>
            <a:chOff x="6298755" y="3068383"/>
            <a:chExt cx="4606290" cy="299720"/>
          </a:xfrm>
        </p:grpSpPr>
        <p:sp>
          <p:nvSpPr>
            <p:cNvPr id="11303" name="object 56"/>
            <p:cNvSpPr/>
            <p:nvPr/>
          </p:nvSpPr>
          <p:spPr>
            <a:xfrm>
              <a:off x="6300342" y="3069970"/>
              <a:ext cx="4603115" cy="296545"/>
            </a:xfrm>
            <a:custGeom>
              <a:avLst/>
              <a:gdLst/>
              <a:ahLst/>
              <a:cxnLst/>
              <a:pathLst>
                <a:path w="4603115" h="296545">
                  <a:moveTo>
                    <a:pt x="4584446" y="0"/>
                  </a:moveTo>
                  <a:lnTo>
                    <a:pt x="18796" y="0"/>
                  </a:lnTo>
                  <a:lnTo>
                    <a:pt x="11465" y="1472"/>
                  </a:lnTo>
                  <a:lnTo>
                    <a:pt x="5492" y="5492"/>
                  </a:lnTo>
                  <a:lnTo>
                    <a:pt x="1472" y="11465"/>
                  </a:lnTo>
                  <a:lnTo>
                    <a:pt x="0" y="18795"/>
                  </a:lnTo>
                  <a:lnTo>
                    <a:pt x="0" y="277621"/>
                  </a:lnTo>
                  <a:lnTo>
                    <a:pt x="1472" y="284952"/>
                  </a:lnTo>
                  <a:lnTo>
                    <a:pt x="5492" y="290925"/>
                  </a:lnTo>
                  <a:lnTo>
                    <a:pt x="11465" y="294945"/>
                  </a:lnTo>
                  <a:lnTo>
                    <a:pt x="18796" y="296417"/>
                  </a:lnTo>
                  <a:lnTo>
                    <a:pt x="4584446" y="296417"/>
                  </a:lnTo>
                  <a:lnTo>
                    <a:pt x="4591702" y="294945"/>
                  </a:lnTo>
                  <a:lnTo>
                    <a:pt x="4597638" y="290925"/>
                  </a:lnTo>
                  <a:lnTo>
                    <a:pt x="4601644" y="284952"/>
                  </a:lnTo>
                  <a:lnTo>
                    <a:pt x="4603115" y="277621"/>
                  </a:lnTo>
                  <a:lnTo>
                    <a:pt x="4603115" y="18795"/>
                  </a:lnTo>
                  <a:lnTo>
                    <a:pt x="4601644" y="11465"/>
                  </a:lnTo>
                  <a:lnTo>
                    <a:pt x="4597638" y="5492"/>
                  </a:lnTo>
                  <a:lnTo>
                    <a:pt x="4591702" y="1472"/>
                  </a:lnTo>
                  <a:lnTo>
                    <a:pt x="4584446" y="0"/>
                  </a:lnTo>
                  <a:close/>
                </a:path>
              </a:pathLst>
            </a:custGeom>
            <a:solidFill>
              <a:srgbClr val="F1F1F1">
                <a:alpha val="100000"/>
              </a:srgbClr>
            </a:solidFill>
            <a:ln w="9525">
              <a:noFill/>
            </a:ln>
          </p:spPr>
          <p:txBody>
            <a:bodyPr/>
            <a:p>
              <a:endParaRPr lang="en-US"/>
            </a:p>
          </p:txBody>
        </p:sp>
        <p:sp>
          <p:nvSpPr>
            <p:cNvPr id="11304" name="object 57"/>
            <p:cNvSpPr/>
            <p:nvPr/>
          </p:nvSpPr>
          <p:spPr>
            <a:xfrm>
              <a:off x="6300342" y="3069970"/>
              <a:ext cx="4603115" cy="296545"/>
            </a:xfrm>
            <a:custGeom>
              <a:avLst/>
              <a:gdLst/>
              <a:ahLst/>
              <a:cxnLst/>
              <a:pathLst>
                <a:path w="4603115" h="296545">
                  <a:moveTo>
                    <a:pt x="0" y="18795"/>
                  </a:moveTo>
                  <a:lnTo>
                    <a:pt x="1472" y="11465"/>
                  </a:lnTo>
                  <a:lnTo>
                    <a:pt x="5492" y="5492"/>
                  </a:lnTo>
                  <a:lnTo>
                    <a:pt x="11465" y="1472"/>
                  </a:lnTo>
                  <a:lnTo>
                    <a:pt x="18796" y="0"/>
                  </a:lnTo>
                  <a:lnTo>
                    <a:pt x="4584446" y="0"/>
                  </a:lnTo>
                  <a:lnTo>
                    <a:pt x="4591702" y="1472"/>
                  </a:lnTo>
                  <a:lnTo>
                    <a:pt x="4597638" y="5492"/>
                  </a:lnTo>
                  <a:lnTo>
                    <a:pt x="4601644" y="11465"/>
                  </a:lnTo>
                  <a:lnTo>
                    <a:pt x="4603115" y="18795"/>
                  </a:lnTo>
                  <a:lnTo>
                    <a:pt x="4603115" y="277621"/>
                  </a:lnTo>
                  <a:lnTo>
                    <a:pt x="4601644" y="284952"/>
                  </a:lnTo>
                  <a:lnTo>
                    <a:pt x="4597638" y="290925"/>
                  </a:lnTo>
                  <a:lnTo>
                    <a:pt x="4591702" y="294945"/>
                  </a:lnTo>
                  <a:lnTo>
                    <a:pt x="4584446" y="296417"/>
                  </a:lnTo>
                  <a:lnTo>
                    <a:pt x="18796" y="296417"/>
                  </a:lnTo>
                  <a:lnTo>
                    <a:pt x="11465" y="294945"/>
                  </a:lnTo>
                  <a:lnTo>
                    <a:pt x="5492" y="290925"/>
                  </a:lnTo>
                  <a:lnTo>
                    <a:pt x="1472" y="284952"/>
                  </a:lnTo>
                  <a:lnTo>
                    <a:pt x="0" y="277621"/>
                  </a:lnTo>
                  <a:lnTo>
                    <a:pt x="0" y="18795"/>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58" name="object 58"/>
          <p:cNvSpPr txBox="1"/>
          <p:nvPr/>
        </p:nvSpPr>
        <p:spPr>
          <a:xfrm>
            <a:off x="6384925" y="3109913"/>
            <a:ext cx="2452688"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Riot,</a:t>
            </a:r>
            <a:r>
              <a:rPr kumimoji="0" sz="1200" kern="0" cap="none" spc="-2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civil</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commotion</a:t>
            </a:r>
            <a:r>
              <a:rPr kumimoji="0" sz="1200" kern="0" cap="none" spc="-4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2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insurrection</a:t>
            </a:r>
            <a:endParaRPr kumimoji="0" sz="1200" kern="0" cap="none" spc="0" normalizeH="0" baseline="0" noProof="0">
              <a:solidFill>
                <a:sysClr val="windowText" lastClr="000000"/>
              </a:solidFill>
              <a:latin typeface="Tahoma" panose="020B0604030504040204"/>
              <a:cs typeface="Tahoma" panose="020B0604030504040204"/>
            </a:endParaRPr>
          </a:p>
        </p:txBody>
      </p:sp>
      <p:grpSp>
        <p:nvGrpSpPr>
          <p:cNvPr id="11294" name="object 59"/>
          <p:cNvGrpSpPr/>
          <p:nvPr/>
        </p:nvGrpSpPr>
        <p:grpSpPr>
          <a:xfrm>
            <a:off x="6299200" y="2065338"/>
            <a:ext cx="4605338" cy="603250"/>
            <a:chOff x="6298755" y="2065337"/>
            <a:chExt cx="4606290" cy="603250"/>
          </a:xfrm>
        </p:grpSpPr>
        <p:sp>
          <p:nvSpPr>
            <p:cNvPr id="11301" name="object 60"/>
            <p:cNvSpPr/>
            <p:nvPr/>
          </p:nvSpPr>
          <p:spPr>
            <a:xfrm>
              <a:off x="6300342" y="2066925"/>
              <a:ext cx="4603115" cy="600075"/>
            </a:xfrm>
            <a:custGeom>
              <a:avLst/>
              <a:gdLst/>
              <a:ahLst/>
              <a:cxnLst/>
              <a:pathLst>
                <a:path w="4603115" h="600075">
                  <a:moveTo>
                    <a:pt x="4565142" y="0"/>
                  </a:moveTo>
                  <a:lnTo>
                    <a:pt x="37973" y="0"/>
                  </a:lnTo>
                  <a:lnTo>
                    <a:pt x="23199" y="2968"/>
                  </a:lnTo>
                  <a:lnTo>
                    <a:pt x="11128" y="11080"/>
                  </a:lnTo>
                  <a:lnTo>
                    <a:pt x="2986" y="23145"/>
                  </a:lnTo>
                  <a:lnTo>
                    <a:pt x="0" y="37973"/>
                  </a:lnTo>
                  <a:lnTo>
                    <a:pt x="0" y="561848"/>
                  </a:lnTo>
                  <a:lnTo>
                    <a:pt x="2986" y="576621"/>
                  </a:lnTo>
                  <a:lnTo>
                    <a:pt x="11128" y="588692"/>
                  </a:lnTo>
                  <a:lnTo>
                    <a:pt x="23199" y="596834"/>
                  </a:lnTo>
                  <a:lnTo>
                    <a:pt x="37973" y="599821"/>
                  </a:lnTo>
                  <a:lnTo>
                    <a:pt x="4565142" y="599821"/>
                  </a:lnTo>
                  <a:lnTo>
                    <a:pt x="4579915" y="596834"/>
                  </a:lnTo>
                  <a:lnTo>
                    <a:pt x="4591986" y="588692"/>
                  </a:lnTo>
                  <a:lnTo>
                    <a:pt x="4600128" y="576621"/>
                  </a:lnTo>
                  <a:lnTo>
                    <a:pt x="4603115" y="561848"/>
                  </a:lnTo>
                  <a:lnTo>
                    <a:pt x="4603115" y="37973"/>
                  </a:lnTo>
                  <a:lnTo>
                    <a:pt x="4600128" y="23145"/>
                  </a:lnTo>
                  <a:lnTo>
                    <a:pt x="4591986" y="11080"/>
                  </a:lnTo>
                  <a:lnTo>
                    <a:pt x="4579915" y="2968"/>
                  </a:lnTo>
                  <a:lnTo>
                    <a:pt x="4565142" y="0"/>
                  </a:lnTo>
                  <a:close/>
                </a:path>
              </a:pathLst>
            </a:custGeom>
            <a:solidFill>
              <a:srgbClr val="F1F1F1">
                <a:alpha val="100000"/>
              </a:srgbClr>
            </a:solidFill>
            <a:ln w="9525">
              <a:noFill/>
            </a:ln>
          </p:spPr>
          <p:txBody>
            <a:bodyPr/>
            <a:p>
              <a:endParaRPr lang="en-US"/>
            </a:p>
          </p:txBody>
        </p:sp>
        <p:sp>
          <p:nvSpPr>
            <p:cNvPr id="11302" name="object 61"/>
            <p:cNvSpPr/>
            <p:nvPr/>
          </p:nvSpPr>
          <p:spPr>
            <a:xfrm>
              <a:off x="6300342" y="2066925"/>
              <a:ext cx="4603115" cy="600075"/>
            </a:xfrm>
            <a:custGeom>
              <a:avLst/>
              <a:gdLst/>
              <a:ahLst/>
              <a:cxnLst/>
              <a:pathLst>
                <a:path w="4603115" h="600075">
                  <a:moveTo>
                    <a:pt x="0" y="37973"/>
                  </a:moveTo>
                  <a:lnTo>
                    <a:pt x="2986" y="23145"/>
                  </a:lnTo>
                  <a:lnTo>
                    <a:pt x="11128" y="11080"/>
                  </a:lnTo>
                  <a:lnTo>
                    <a:pt x="23199" y="2968"/>
                  </a:lnTo>
                  <a:lnTo>
                    <a:pt x="37973" y="0"/>
                  </a:lnTo>
                  <a:lnTo>
                    <a:pt x="4565142" y="0"/>
                  </a:lnTo>
                  <a:lnTo>
                    <a:pt x="4579915" y="2968"/>
                  </a:lnTo>
                  <a:lnTo>
                    <a:pt x="4591986" y="11080"/>
                  </a:lnTo>
                  <a:lnTo>
                    <a:pt x="4600128" y="23145"/>
                  </a:lnTo>
                  <a:lnTo>
                    <a:pt x="4603115" y="37973"/>
                  </a:lnTo>
                  <a:lnTo>
                    <a:pt x="4603115" y="561848"/>
                  </a:lnTo>
                  <a:lnTo>
                    <a:pt x="4600128" y="576621"/>
                  </a:lnTo>
                  <a:lnTo>
                    <a:pt x="4591986" y="588692"/>
                  </a:lnTo>
                  <a:lnTo>
                    <a:pt x="4579915" y="596834"/>
                  </a:lnTo>
                  <a:lnTo>
                    <a:pt x="4565142" y="599821"/>
                  </a:lnTo>
                  <a:lnTo>
                    <a:pt x="37973" y="599821"/>
                  </a:lnTo>
                  <a:lnTo>
                    <a:pt x="23199" y="596834"/>
                  </a:lnTo>
                  <a:lnTo>
                    <a:pt x="11128" y="588692"/>
                  </a:lnTo>
                  <a:lnTo>
                    <a:pt x="2986" y="576621"/>
                  </a:lnTo>
                  <a:lnTo>
                    <a:pt x="0" y="561848"/>
                  </a:lnTo>
                  <a:lnTo>
                    <a:pt x="0" y="37973"/>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62" name="object 62"/>
          <p:cNvSpPr txBox="1"/>
          <p:nvPr/>
        </p:nvSpPr>
        <p:spPr>
          <a:xfrm>
            <a:off x="6391275" y="2076450"/>
            <a:ext cx="4422775" cy="573088"/>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Any kind of disease, sickness or infection other than bacterial infections occurring as a consequence of an accidental cut or wound</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1296" name="object 63"/>
          <p:cNvGrpSpPr/>
          <p:nvPr/>
        </p:nvGrpSpPr>
        <p:grpSpPr>
          <a:xfrm>
            <a:off x="6299200" y="2717800"/>
            <a:ext cx="4605338" cy="298450"/>
            <a:chOff x="6298755" y="2717101"/>
            <a:chExt cx="4606290" cy="299720"/>
          </a:xfrm>
        </p:grpSpPr>
        <p:sp>
          <p:nvSpPr>
            <p:cNvPr id="11299" name="object 64"/>
            <p:cNvSpPr/>
            <p:nvPr/>
          </p:nvSpPr>
          <p:spPr>
            <a:xfrm>
              <a:off x="6300342" y="2718689"/>
              <a:ext cx="4603115" cy="296545"/>
            </a:xfrm>
            <a:custGeom>
              <a:avLst/>
              <a:gdLst/>
              <a:ahLst/>
              <a:cxnLst/>
              <a:pathLst>
                <a:path w="4603115" h="296544">
                  <a:moveTo>
                    <a:pt x="4584446" y="0"/>
                  </a:moveTo>
                  <a:lnTo>
                    <a:pt x="18796" y="0"/>
                  </a:lnTo>
                  <a:lnTo>
                    <a:pt x="11465" y="1490"/>
                  </a:lnTo>
                  <a:lnTo>
                    <a:pt x="5492" y="5540"/>
                  </a:lnTo>
                  <a:lnTo>
                    <a:pt x="1472" y="11519"/>
                  </a:lnTo>
                  <a:lnTo>
                    <a:pt x="0" y="18796"/>
                  </a:lnTo>
                  <a:lnTo>
                    <a:pt x="0" y="277749"/>
                  </a:lnTo>
                  <a:lnTo>
                    <a:pt x="1472" y="285005"/>
                  </a:lnTo>
                  <a:lnTo>
                    <a:pt x="5492" y="290941"/>
                  </a:lnTo>
                  <a:lnTo>
                    <a:pt x="11465" y="294947"/>
                  </a:lnTo>
                  <a:lnTo>
                    <a:pt x="18796" y="296418"/>
                  </a:lnTo>
                  <a:lnTo>
                    <a:pt x="4584446" y="296418"/>
                  </a:lnTo>
                  <a:lnTo>
                    <a:pt x="4591702" y="294947"/>
                  </a:lnTo>
                  <a:lnTo>
                    <a:pt x="4597638" y="290941"/>
                  </a:lnTo>
                  <a:lnTo>
                    <a:pt x="4601644" y="285005"/>
                  </a:lnTo>
                  <a:lnTo>
                    <a:pt x="4603115" y="277749"/>
                  </a:lnTo>
                  <a:lnTo>
                    <a:pt x="4603115" y="18796"/>
                  </a:lnTo>
                  <a:lnTo>
                    <a:pt x="4601644" y="11519"/>
                  </a:lnTo>
                  <a:lnTo>
                    <a:pt x="4597638" y="5540"/>
                  </a:lnTo>
                  <a:lnTo>
                    <a:pt x="4591702" y="1490"/>
                  </a:lnTo>
                  <a:lnTo>
                    <a:pt x="4584446" y="0"/>
                  </a:lnTo>
                  <a:close/>
                </a:path>
              </a:pathLst>
            </a:custGeom>
            <a:solidFill>
              <a:srgbClr val="F1F1F1">
                <a:alpha val="100000"/>
              </a:srgbClr>
            </a:solidFill>
            <a:ln w="9525">
              <a:noFill/>
            </a:ln>
          </p:spPr>
          <p:txBody>
            <a:bodyPr/>
            <a:p>
              <a:endParaRPr lang="en-US"/>
            </a:p>
          </p:txBody>
        </p:sp>
        <p:sp>
          <p:nvSpPr>
            <p:cNvPr id="11300" name="object 65"/>
            <p:cNvSpPr/>
            <p:nvPr/>
          </p:nvSpPr>
          <p:spPr>
            <a:xfrm>
              <a:off x="6300342" y="2718689"/>
              <a:ext cx="4603115" cy="296545"/>
            </a:xfrm>
            <a:custGeom>
              <a:avLst/>
              <a:gdLst/>
              <a:ahLst/>
              <a:cxnLst/>
              <a:pathLst>
                <a:path w="4603115" h="296544">
                  <a:moveTo>
                    <a:pt x="0" y="18796"/>
                  </a:moveTo>
                  <a:lnTo>
                    <a:pt x="1472" y="11519"/>
                  </a:lnTo>
                  <a:lnTo>
                    <a:pt x="5492" y="5540"/>
                  </a:lnTo>
                  <a:lnTo>
                    <a:pt x="11465" y="1490"/>
                  </a:lnTo>
                  <a:lnTo>
                    <a:pt x="18796" y="0"/>
                  </a:lnTo>
                  <a:lnTo>
                    <a:pt x="4584446" y="0"/>
                  </a:lnTo>
                  <a:lnTo>
                    <a:pt x="4591702" y="1490"/>
                  </a:lnTo>
                  <a:lnTo>
                    <a:pt x="4597638" y="5540"/>
                  </a:lnTo>
                  <a:lnTo>
                    <a:pt x="4601644" y="11519"/>
                  </a:lnTo>
                  <a:lnTo>
                    <a:pt x="4603115" y="18796"/>
                  </a:lnTo>
                  <a:lnTo>
                    <a:pt x="4603115" y="277749"/>
                  </a:lnTo>
                  <a:lnTo>
                    <a:pt x="4601644" y="285005"/>
                  </a:lnTo>
                  <a:lnTo>
                    <a:pt x="4597638" y="290941"/>
                  </a:lnTo>
                  <a:lnTo>
                    <a:pt x="4591702" y="294947"/>
                  </a:lnTo>
                  <a:lnTo>
                    <a:pt x="4584446" y="296418"/>
                  </a:lnTo>
                  <a:lnTo>
                    <a:pt x="18796" y="296418"/>
                  </a:lnTo>
                  <a:lnTo>
                    <a:pt x="11465" y="294947"/>
                  </a:lnTo>
                  <a:lnTo>
                    <a:pt x="5492" y="290941"/>
                  </a:lnTo>
                  <a:lnTo>
                    <a:pt x="1472" y="285005"/>
                  </a:lnTo>
                  <a:lnTo>
                    <a:pt x="0" y="277749"/>
                  </a:lnTo>
                  <a:lnTo>
                    <a:pt x="0" y="18796"/>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66" name="object 66"/>
          <p:cNvSpPr txBox="1"/>
          <p:nvPr/>
        </p:nvSpPr>
        <p:spPr>
          <a:xfrm>
            <a:off x="6384925" y="2759075"/>
            <a:ext cx="4246563" cy="207963"/>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1200" kern="0" cap="none" spc="-10" normalizeH="0" baseline="0" noProof="0" dirty="0">
                <a:solidFill>
                  <a:sysClr val="windowText" lastClr="000000"/>
                </a:solidFill>
                <a:latin typeface="Tahoma" panose="020B0604030504040204"/>
                <a:cs typeface="Tahoma" panose="020B0604030504040204"/>
              </a:rPr>
              <a:t>War</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any</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act</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incident</a:t>
            </a:r>
            <a:r>
              <a:rPr kumimoji="0" sz="1200" kern="0" cap="none" spc="-7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to</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war,</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whether</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declared</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5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undeclared</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67" name="object 67"/>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008313" y="492125"/>
            <a:ext cx="7748588" cy="454025"/>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b="1" kern="0" cap="none" spc="-10" normalizeH="0" baseline="0" noProof="0" dirty="0">
                <a:solidFill>
                  <a:srgbClr val="FFFFFF"/>
                </a:solidFill>
                <a:latin typeface="Arial" panose="020B0604020202020204"/>
                <a:cs typeface="Arial" panose="020B0604020202020204"/>
              </a:rPr>
              <a:t>ACCIDENTAL</a:t>
            </a:r>
            <a:r>
              <a:rPr kumimoji="0" sz="1600" b="1" kern="0" cap="none" spc="12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DEATH,</a:t>
            </a:r>
            <a:r>
              <a:rPr kumimoji="0" sz="1600" b="1" kern="0" cap="none" spc="75"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DISMEMBERMENT,</a:t>
            </a:r>
            <a:r>
              <a:rPr kumimoji="0" sz="1600" b="1" kern="0" cap="none" spc="114"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&amp;</a:t>
            </a:r>
            <a:r>
              <a:rPr kumimoji="0" sz="1600" b="1" kern="0" cap="none" spc="6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DISABLEMENT</a:t>
            </a:r>
            <a:r>
              <a:rPr kumimoji="0" sz="1600" b="1" kern="0" cap="none" spc="13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BENEFIT</a:t>
            </a:r>
            <a:r>
              <a:rPr kumimoji="0" sz="1600" b="1" kern="0" cap="none" spc="95" normalizeH="0" baseline="0" noProof="0" dirty="0">
                <a:solidFill>
                  <a:srgbClr val="FFFFFF"/>
                </a:solidFill>
                <a:latin typeface="Arial" panose="020B0604020202020204"/>
                <a:cs typeface="Arial" panose="020B0604020202020204"/>
              </a:rPr>
              <a:t> </a:t>
            </a:r>
            <a:r>
              <a:rPr kumimoji="0" sz="1600" b="1" kern="0" cap="none" spc="-10" normalizeH="0" baseline="0" noProof="0" dirty="0">
                <a:solidFill>
                  <a:srgbClr val="FFFFFF"/>
                </a:solidFill>
                <a:latin typeface="Arial" panose="020B0604020202020204"/>
                <a:cs typeface="Arial" panose="020B0604020202020204"/>
              </a:rPr>
              <a:t>(ADD&amp;D)</a:t>
            </a:r>
            <a:endParaRPr kumimoji="0" sz="16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15"/>
              </a:spcBef>
              <a:spcAft>
                <a:spcPts val="0"/>
              </a:spcAft>
              <a:buClrTx/>
              <a:buSzTx/>
              <a:buFontTx/>
              <a:buNone/>
              <a:defRPr/>
            </a:pPr>
            <a:r>
              <a:rPr kumimoji="0" sz="1200" kern="0" cap="none" spc="0" normalizeH="0" baseline="0" noProof="0" dirty="0">
                <a:solidFill>
                  <a:srgbClr val="FFFFFF"/>
                </a:solidFill>
                <a:latin typeface="Tahoma" panose="020B0604030504040204"/>
                <a:cs typeface="Tahoma" panose="020B0604030504040204"/>
              </a:rPr>
              <a:t>GROUP</a:t>
            </a:r>
            <a:r>
              <a:rPr kumimoji="0" sz="1200" kern="0" cap="none" spc="-5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LIFE</a:t>
            </a:r>
            <a:r>
              <a:rPr kumimoji="0" sz="1200" kern="0" cap="none" spc="-6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INSURANCE</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4" name="object 4"/>
          <p:cNvSpPr txBox="1">
            <a:spLocks noGrp="1"/>
          </p:cNvSpPr>
          <p:nvPr>
            <p:ph type="ftr" sz="quarter" idx="3"/>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3" name="object 3"/>
          <p:cNvSpPr txBox="1"/>
          <p:nvPr/>
        </p:nvSpPr>
        <p:spPr>
          <a:xfrm>
            <a:off x="1296988" y="1511300"/>
            <a:ext cx="10096500" cy="3219450"/>
          </a:xfrm>
          <a:prstGeom prst="rect">
            <a:avLst/>
          </a:prstGeom>
        </p:spPr>
        <p:txBody>
          <a:bodyPr vert="horz" wrap="square" lIns="0" tIns="12065" rIns="0" bIns="0" rtlCol="0">
            <a:spAutoFit/>
          </a:bodyPr>
          <a:p>
            <a:pPr algn="ctr" eaLnBrk="1" hangingPunct="1">
              <a:spcBef>
                <a:spcPts val="100"/>
              </a:spcBef>
              <a:buNone/>
            </a:pPr>
            <a:r>
              <a:rPr lang="en-US" altLang="zh-CN" sz="2800" b="1">
                <a:solidFill>
                  <a:srgbClr val="000000"/>
                </a:solidFill>
                <a:cs typeface="Arial" panose="020B0604020202020204" pitchFamily="34" charset="0"/>
              </a:rPr>
              <a:t>Double Indemnity</a:t>
            </a:r>
            <a:endParaRPr lang="en-US" altLang="zh-CN" sz="2800">
              <a:solidFill>
                <a:srgbClr val="000000"/>
              </a:solidFill>
              <a:cs typeface="Arial" panose="020B0604020202020204" pitchFamily="34" charset="0"/>
            </a:endParaRPr>
          </a:p>
          <a:p>
            <a:pPr eaLnBrk="1" hangingPunct="1">
              <a:spcBef>
                <a:spcPts val="1525"/>
              </a:spcBef>
              <a:buNone/>
            </a:pPr>
            <a:r>
              <a:rPr lang="en-US" altLang="zh-CN" sz="2000">
                <a:solidFill>
                  <a:srgbClr val="00A757"/>
                </a:solidFill>
                <a:latin typeface="Tahoma" panose="020B0604030504040204" pitchFamily="34" charset="0"/>
                <a:cs typeface="Tahoma" panose="020B0604030504040204" pitchFamily="34" charset="0"/>
              </a:rPr>
              <a:t>Manulife will double any indemnity if the member suffers the death by any of these cases:</a:t>
            </a:r>
            <a:endParaRPr lang="en-US" altLang="zh-CN" sz="2000">
              <a:solidFill>
                <a:srgbClr val="000000"/>
              </a:solidFill>
              <a:latin typeface="Tahoma" panose="020B0604030504040204" pitchFamily="34" charset="0"/>
              <a:cs typeface="Tahoma" panose="020B0604030504040204" pitchFamily="34" charset="0"/>
            </a:endParaRPr>
          </a:p>
          <a:p>
            <a:pPr eaLnBrk="1" hangingPunct="1">
              <a:lnSpc>
                <a:spcPct val="150000"/>
              </a:lnSpc>
              <a:spcBef>
                <a:spcPts val="1550"/>
              </a:spcBef>
              <a:buFont typeface="Arial" panose="020B0604020202020204" pitchFamily="34" charset="0"/>
              <a:buChar char="•"/>
            </a:pPr>
            <a:r>
              <a:rPr lang="en-US" altLang="zh-CN" sz="1600">
                <a:solidFill>
                  <a:srgbClr val="000000"/>
                </a:solidFill>
                <a:latin typeface="Tahoma" panose="020B0604030504040204" pitchFamily="34" charset="0"/>
                <a:cs typeface="Tahoma" panose="020B0604030504040204" pitchFamily="34" charset="0"/>
              </a:rPr>
              <a:t>While riding as a passenger within any motorized &amp; duly licensed public utility land transport. (ex. Jeepney, Bus, Taxi)</a:t>
            </a:r>
            <a:endParaRPr lang="en-US" altLang="zh-CN" sz="1600">
              <a:solidFill>
                <a:srgbClr val="000000"/>
              </a:solidFill>
              <a:latin typeface="Tahoma" panose="020B0604030504040204" pitchFamily="34" charset="0"/>
              <a:cs typeface="Tahoma" panose="020B0604030504040204" pitchFamily="34" charset="0"/>
            </a:endParaRPr>
          </a:p>
          <a:p>
            <a:pPr eaLnBrk="1" hangingPunct="1">
              <a:spcBef>
                <a:spcPts val="50"/>
              </a:spcBef>
              <a:buFont typeface="Arial" panose="020B0604020202020204" pitchFamily="34" charset="0"/>
              <a:buChar char="•"/>
            </a:pPr>
            <a:endParaRPr lang="en-US" altLang="zh-CN" sz="1500">
              <a:solidFill>
                <a:srgbClr val="000000"/>
              </a:solidFill>
              <a:latin typeface="Tahoma" panose="020B0604030504040204" pitchFamily="34" charset="0"/>
              <a:cs typeface="Tahoma" panose="020B0604030504040204" pitchFamily="34" charset="0"/>
            </a:endParaRPr>
          </a:p>
          <a:p>
            <a:pPr eaLnBrk="1" hangingPunct="1">
              <a:buFont typeface="Arial" panose="020B0604020202020204" pitchFamily="34" charset="0"/>
              <a:buChar char="•"/>
            </a:pPr>
            <a:r>
              <a:rPr lang="en-US" altLang="zh-CN" sz="1600">
                <a:solidFill>
                  <a:srgbClr val="000000"/>
                </a:solidFill>
                <a:latin typeface="Tahoma" panose="020B0604030504040204" pitchFamily="34" charset="0"/>
                <a:cs typeface="Tahoma" panose="020B0604030504040204" pitchFamily="34" charset="0"/>
              </a:rPr>
              <a:t>While riding in an elevator car (mines &amp; construction sites excluded)</a:t>
            </a:r>
            <a:endParaRPr lang="en-US" altLang="zh-CN" sz="1600">
              <a:solidFill>
                <a:srgbClr val="000000"/>
              </a:solidFill>
              <a:latin typeface="Tahoma" panose="020B0604030504040204" pitchFamily="34" charset="0"/>
              <a:cs typeface="Tahoma" panose="020B0604030504040204" pitchFamily="34" charset="0"/>
            </a:endParaRPr>
          </a:p>
          <a:p>
            <a:pPr eaLnBrk="1" hangingPunct="1">
              <a:lnSpc>
                <a:spcPct val="150000"/>
              </a:lnSpc>
              <a:spcBef>
                <a:spcPts val="965"/>
              </a:spcBef>
              <a:buFont typeface="Arial" panose="020B0604020202020204" pitchFamily="34" charset="0"/>
              <a:buChar char="•"/>
            </a:pPr>
            <a:r>
              <a:rPr lang="en-US" altLang="zh-CN" sz="1600">
                <a:solidFill>
                  <a:srgbClr val="000000"/>
                </a:solidFill>
                <a:latin typeface="Tahoma" panose="020B0604030504040204" pitchFamily="34" charset="0"/>
                <a:cs typeface="Tahoma" panose="020B0604030504040204" pitchFamily="34" charset="0"/>
              </a:rPr>
              <a:t>In consequence of the burning of any theater, hotel, mall, church, market, restaurant or other public building in which the presence of the member is only coincidental</a:t>
            </a:r>
            <a:endParaRPr lang="en-US" altLang="zh-CN" sz="1600">
              <a:solidFill>
                <a:srgbClr val="000000"/>
              </a:solidFill>
              <a:latin typeface="Tahoma" panose="020B0604030504040204" pitchFamily="34" charset="0"/>
              <a:ea typeface="Tahom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008313" y="492125"/>
            <a:ext cx="7748588" cy="454025"/>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b="1" kern="0" cap="none" spc="-10" normalizeH="0" baseline="0" noProof="0" dirty="0">
                <a:solidFill>
                  <a:srgbClr val="FFFFFF"/>
                </a:solidFill>
                <a:latin typeface="Arial" panose="020B0604020202020204"/>
                <a:cs typeface="Arial" panose="020B0604020202020204"/>
              </a:rPr>
              <a:t>ACCIDENTAL</a:t>
            </a:r>
            <a:r>
              <a:rPr kumimoji="0" sz="1600" b="1" kern="0" cap="none" spc="12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DEATH,</a:t>
            </a:r>
            <a:r>
              <a:rPr kumimoji="0" sz="1600" b="1" kern="0" cap="none" spc="75"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DISMEMBERMENT,</a:t>
            </a:r>
            <a:r>
              <a:rPr kumimoji="0" sz="1600" b="1" kern="0" cap="none" spc="114"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&amp;</a:t>
            </a:r>
            <a:r>
              <a:rPr kumimoji="0" sz="1600" b="1" kern="0" cap="none" spc="6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DISABLEMENT</a:t>
            </a:r>
            <a:r>
              <a:rPr kumimoji="0" sz="1600" b="1" kern="0" cap="none" spc="130" normalizeH="0" baseline="0" noProof="0" dirty="0">
                <a:solidFill>
                  <a:srgbClr val="FFFFFF"/>
                </a:solidFill>
                <a:latin typeface="Arial" panose="020B0604020202020204"/>
                <a:cs typeface="Arial" panose="020B0604020202020204"/>
              </a:rPr>
              <a:t> </a:t>
            </a:r>
            <a:r>
              <a:rPr kumimoji="0" sz="1600" b="1" kern="0" cap="none" spc="0" normalizeH="0" baseline="0" noProof="0" dirty="0">
                <a:solidFill>
                  <a:srgbClr val="FFFFFF"/>
                </a:solidFill>
                <a:latin typeface="Arial" panose="020B0604020202020204"/>
                <a:cs typeface="Arial" panose="020B0604020202020204"/>
              </a:rPr>
              <a:t>BENEFIT</a:t>
            </a:r>
            <a:r>
              <a:rPr kumimoji="0" sz="1600" b="1" kern="0" cap="none" spc="95" normalizeH="0" baseline="0" noProof="0" dirty="0">
                <a:solidFill>
                  <a:srgbClr val="FFFFFF"/>
                </a:solidFill>
                <a:latin typeface="Arial" panose="020B0604020202020204"/>
                <a:cs typeface="Arial" panose="020B0604020202020204"/>
              </a:rPr>
              <a:t> </a:t>
            </a:r>
            <a:r>
              <a:rPr kumimoji="0" sz="1600" b="1" kern="0" cap="none" spc="-10" normalizeH="0" baseline="0" noProof="0" dirty="0">
                <a:solidFill>
                  <a:srgbClr val="FFFFFF"/>
                </a:solidFill>
                <a:latin typeface="Arial" panose="020B0604020202020204"/>
                <a:cs typeface="Arial" panose="020B0604020202020204"/>
              </a:rPr>
              <a:t>(ADD&amp;D)</a:t>
            </a:r>
            <a:endParaRPr kumimoji="0" sz="16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15"/>
              </a:spcBef>
              <a:spcAft>
                <a:spcPts val="0"/>
              </a:spcAft>
              <a:buClrTx/>
              <a:buSzTx/>
              <a:buFontTx/>
              <a:buNone/>
              <a:defRPr/>
            </a:pPr>
            <a:r>
              <a:rPr kumimoji="0" sz="1200" kern="0" cap="none" spc="0" normalizeH="0" baseline="0" noProof="0" dirty="0">
                <a:solidFill>
                  <a:srgbClr val="FFFFFF"/>
                </a:solidFill>
                <a:latin typeface="Tahoma" panose="020B0604030504040204"/>
                <a:cs typeface="Tahoma" panose="020B0604030504040204"/>
              </a:rPr>
              <a:t>GROUP</a:t>
            </a:r>
            <a:r>
              <a:rPr kumimoji="0" sz="1200" kern="0" cap="none" spc="-5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LIFE</a:t>
            </a:r>
            <a:r>
              <a:rPr kumimoji="0" sz="1200" kern="0" cap="none" spc="-6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INSURANCE</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3" name="object 3"/>
          <p:cNvSpPr txBox="1"/>
          <p:nvPr/>
        </p:nvSpPr>
        <p:spPr>
          <a:xfrm>
            <a:off x="2670175" y="1657350"/>
            <a:ext cx="6988175" cy="452438"/>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2800" b="1" kern="0" cap="none" spc="0" normalizeH="0" baseline="0" noProof="0" dirty="0">
                <a:solidFill>
                  <a:sysClr val="windowText" lastClr="000000"/>
                </a:solidFill>
                <a:latin typeface="Arial" panose="020B0604020202020204"/>
                <a:cs typeface="Arial" panose="020B0604020202020204"/>
              </a:rPr>
              <a:t>Double</a:t>
            </a:r>
            <a:r>
              <a:rPr kumimoji="0" sz="2800" b="1" kern="0" cap="none" spc="135" normalizeH="0" baseline="0" noProof="0" dirty="0">
                <a:solidFill>
                  <a:sysClr val="windowText" lastClr="000000"/>
                </a:solidFill>
                <a:latin typeface="Arial" panose="020B0604020202020204"/>
                <a:cs typeface="Arial" panose="020B0604020202020204"/>
              </a:rPr>
              <a:t> </a:t>
            </a:r>
            <a:r>
              <a:rPr kumimoji="0" sz="2800" b="1" kern="0" cap="none" spc="85" normalizeH="0" baseline="0" noProof="0" dirty="0">
                <a:solidFill>
                  <a:sysClr val="windowText" lastClr="000000"/>
                </a:solidFill>
                <a:latin typeface="Arial" panose="020B0604020202020204"/>
                <a:cs typeface="Arial" panose="020B0604020202020204"/>
              </a:rPr>
              <a:t>Indemnity</a:t>
            </a:r>
            <a:r>
              <a:rPr kumimoji="0" sz="2800" b="1" kern="0" cap="none" spc="145" normalizeH="0" baseline="0" noProof="0" dirty="0">
                <a:solidFill>
                  <a:sysClr val="windowText" lastClr="000000"/>
                </a:solidFill>
                <a:latin typeface="Arial" panose="020B0604020202020204"/>
                <a:cs typeface="Arial" panose="020B0604020202020204"/>
              </a:rPr>
              <a:t> </a:t>
            </a:r>
            <a:r>
              <a:rPr kumimoji="0" sz="2800" b="1" kern="0" cap="none" spc="60" normalizeH="0" baseline="0" noProof="0" dirty="0">
                <a:solidFill>
                  <a:sysClr val="windowText" lastClr="000000"/>
                </a:solidFill>
                <a:latin typeface="Arial" panose="020B0604020202020204"/>
                <a:cs typeface="Arial" panose="020B0604020202020204"/>
              </a:rPr>
              <a:t>Sample</a:t>
            </a:r>
            <a:r>
              <a:rPr kumimoji="0" sz="2800" b="1" kern="0" cap="none" spc="140" normalizeH="0" baseline="0" noProof="0" dirty="0">
                <a:solidFill>
                  <a:sysClr val="windowText" lastClr="000000"/>
                </a:solidFill>
                <a:latin typeface="Arial" panose="020B0604020202020204"/>
                <a:cs typeface="Arial" panose="020B0604020202020204"/>
              </a:rPr>
              <a:t> </a:t>
            </a:r>
            <a:r>
              <a:rPr kumimoji="0" sz="2800" b="1" kern="0" cap="none" spc="50" normalizeH="0" baseline="0" noProof="0" dirty="0">
                <a:solidFill>
                  <a:sysClr val="windowText" lastClr="000000"/>
                </a:solidFill>
                <a:latin typeface="Arial" panose="020B0604020202020204"/>
                <a:cs typeface="Arial" panose="020B0604020202020204"/>
              </a:rPr>
              <a:t>Computation</a:t>
            </a:r>
            <a:endParaRPr kumimoji="0" sz="2800" kern="0" cap="none" spc="0" normalizeH="0" baseline="0" noProof="0">
              <a:solidFill>
                <a:sysClr val="windowText" lastClr="000000"/>
              </a:solidFill>
              <a:latin typeface="Arial" panose="020B0604020202020204"/>
              <a:cs typeface="Arial" panose="020B0604020202020204"/>
            </a:endParaRPr>
          </a:p>
        </p:txBody>
      </p:sp>
      <p:sp>
        <p:nvSpPr>
          <p:cNvPr id="4" name="object 4"/>
          <p:cNvSpPr txBox="1"/>
          <p:nvPr/>
        </p:nvSpPr>
        <p:spPr>
          <a:xfrm>
            <a:off x="1906588" y="2279650"/>
            <a:ext cx="8726488" cy="1585913"/>
          </a:xfrm>
          <a:prstGeom prst="rect">
            <a:avLst/>
          </a:prstGeom>
        </p:spPr>
        <p:txBody>
          <a:bodyPr vert="horz" wrap="square" lIns="0" tIns="127000" rIns="0" bIns="0" rtlCol="0">
            <a:spAutoFit/>
          </a:bodyPr>
          <a:p>
            <a:pPr marL="12700" eaLnBrk="1" hangingPunct="1">
              <a:spcBef>
                <a:spcPts val="1000"/>
              </a:spcBef>
              <a:buNone/>
            </a:pPr>
            <a:r>
              <a:rPr lang="en-US" altLang="zh-CN" sz="1500" b="1">
                <a:solidFill>
                  <a:srgbClr val="00A757"/>
                </a:solidFill>
                <a:cs typeface="Arial" panose="020B0604020202020204" pitchFamily="34" charset="0"/>
              </a:rPr>
              <a:t>Scenario:</a:t>
            </a:r>
            <a:endParaRPr lang="en-US" altLang="zh-CN" sz="1500">
              <a:solidFill>
                <a:srgbClr val="000000"/>
              </a:solidFill>
              <a:cs typeface="Arial" panose="020B0604020202020204" pitchFamily="34" charset="0"/>
            </a:endParaRPr>
          </a:p>
          <a:p>
            <a:pPr marL="12700" eaLnBrk="1" hangingPunct="1">
              <a:spcBef>
                <a:spcPts val="900"/>
              </a:spcBef>
              <a:buNone/>
            </a:pPr>
            <a:r>
              <a:rPr lang="en-US" altLang="zh-CN" sz="1500" b="1">
                <a:solidFill>
                  <a:srgbClr val="000000"/>
                </a:solidFill>
                <a:cs typeface="Arial" panose="020B0604020202020204" pitchFamily="34" charset="0"/>
              </a:rPr>
              <a:t>An insured member went to the mall for shopping when the building collapses due to fire resulting to his death.</a:t>
            </a:r>
            <a:endParaRPr lang="en-US" altLang="zh-CN" sz="1500">
              <a:solidFill>
                <a:srgbClr val="000000"/>
              </a:solidFill>
              <a:cs typeface="Arial" panose="020B0604020202020204" pitchFamily="34" charset="0"/>
            </a:endParaRPr>
          </a:p>
          <a:p>
            <a:pPr marL="12700" eaLnBrk="1" hangingPunct="1">
              <a:buNone/>
            </a:pPr>
            <a:endParaRPr lang="en-US" altLang="zh-CN" sz="1500">
              <a:solidFill>
                <a:srgbClr val="000000"/>
              </a:solidFill>
              <a:cs typeface="Arial" panose="020B0604020202020204" pitchFamily="34" charset="0"/>
            </a:endParaRPr>
          </a:p>
          <a:p>
            <a:pPr marL="12700" eaLnBrk="1" hangingPunct="1">
              <a:spcBef>
                <a:spcPts val="15"/>
              </a:spcBef>
              <a:buNone/>
            </a:pPr>
            <a:endParaRPr lang="en-US" altLang="zh-CN" sz="1300">
              <a:solidFill>
                <a:srgbClr val="000000"/>
              </a:solidFill>
              <a:cs typeface="Arial" panose="020B0604020202020204" pitchFamily="34" charset="0"/>
            </a:endParaRPr>
          </a:p>
          <a:p>
            <a:pPr marL="12700" eaLnBrk="1" hangingPunct="1">
              <a:buNone/>
            </a:pPr>
            <a:r>
              <a:rPr lang="en-US" altLang="zh-CN" sz="1500" b="1">
                <a:solidFill>
                  <a:srgbClr val="00A757"/>
                </a:solidFill>
                <a:cs typeface="Arial" panose="020B0604020202020204" pitchFamily="34" charset="0"/>
              </a:rPr>
              <a:t>The beneficiaries of the insured member will receive the benefit based on this computation:</a:t>
            </a:r>
            <a:endParaRPr lang="en-US" altLang="zh-CN" sz="1500">
              <a:solidFill>
                <a:srgbClr val="000000"/>
              </a:solidFill>
              <a:ea typeface="Arial" panose="020B0604020202020204" pitchFamily="34" charset="0"/>
            </a:endParaRPr>
          </a:p>
        </p:txBody>
      </p:sp>
      <p:graphicFrame>
        <p:nvGraphicFramePr>
          <p:cNvPr id="13317" name="Table 13316"/>
          <p:cNvGraphicFramePr/>
          <p:nvPr/>
        </p:nvGraphicFramePr>
        <p:xfrm>
          <a:off x="3084513" y="4300538"/>
          <a:ext cx="4257675" cy="952500"/>
        </p:xfrm>
        <a:graphic>
          <a:graphicData uri="http://schemas.openxmlformats.org/drawingml/2006/table">
            <a:tbl>
              <a:tblPr/>
              <a:tblGrid>
                <a:gridCol w="1162050"/>
                <a:gridCol w="360363"/>
                <a:gridCol w="1260475"/>
                <a:gridCol w="349250"/>
                <a:gridCol w="1125537"/>
              </a:tblGrid>
              <a:tr h="3540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31750" lvl="0" indent="0" eaLnBrk="1" hangingPunct="1">
                        <a:lnSpc>
                          <a:spcPts val="2300"/>
                        </a:lnSpc>
                        <a:buNone/>
                      </a:pPr>
                      <a:r>
                        <a:rPr lang="en-US" altLang="zh-CN" sz="2000" b="1">
                          <a:solidFill>
                            <a:srgbClr val="00A757"/>
                          </a:solidFill>
                          <a:cs typeface="Arial" panose="020B0604020202020204" pitchFamily="34" charset="0"/>
                        </a:rPr>
                        <a:t>500,000</a:t>
                      </a:r>
                      <a:endParaRPr lang="en-US" sz="2000">
                        <a:ea typeface="Arial" panose="020B0604020202020204" pitchFamily="34"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00330" lvl="0" indent="0" eaLnBrk="1" hangingPunct="1">
                        <a:lnSpc>
                          <a:spcPts val="2175"/>
                        </a:lnSpc>
                        <a:buNone/>
                      </a:pPr>
                      <a:r>
                        <a:rPr lang="en-US" altLang="zh-CN" sz="2000" b="1">
                          <a:solidFill>
                            <a:srgbClr val="00A757"/>
                          </a:solidFill>
                          <a:cs typeface="Arial" panose="020B0604020202020204" pitchFamily="34" charset="0"/>
                        </a:rPr>
                        <a:t>+</a:t>
                      </a:r>
                      <a:endParaRPr lang="en-US" sz="2000">
                        <a:ea typeface="Arial" panose="020B0604020202020204" pitchFamily="34"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ts val="2300"/>
                        </a:lnSpc>
                        <a:buNone/>
                      </a:pPr>
                      <a:r>
                        <a:rPr lang="en-US" altLang="zh-CN" sz="2000" b="1">
                          <a:solidFill>
                            <a:srgbClr val="00A757"/>
                          </a:solidFill>
                          <a:cs typeface="Arial" panose="020B0604020202020204" pitchFamily="34" charset="0"/>
                        </a:rPr>
                        <a:t>500,000</a:t>
                      </a:r>
                      <a:endParaRPr lang="en-US" sz="2000">
                        <a:ea typeface="Arial" panose="020B0604020202020204" pitchFamily="34"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5730" lvl="0" indent="0" eaLnBrk="1" hangingPunct="1">
                        <a:lnSpc>
                          <a:spcPts val="2040"/>
                        </a:lnSpc>
                        <a:buNone/>
                      </a:pPr>
                      <a:r>
                        <a:rPr lang="en-US" altLang="zh-CN" sz="2000" b="1">
                          <a:solidFill>
                            <a:srgbClr val="00A757"/>
                          </a:solidFill>
                          <a:cs typeface="Arial" panose="020B0604020202020204" pitchFamily="34" charset="0"/>
                        </a:rPr>
                        <a:t>+</a:t>
                      </a:r>
                      <a:endParaRPr lang="en-US" sz="2000">
                        <a:ea typeface="Arial" panose="020B0604020202020204" pitchFamily="34"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63500" lvl="0" indent="0" eaLnBrk="1" hangingPunct="1">
                        <a:lnSpc>
                          <a:spcPts val="2175"/>
                        </a:lnSpc>
                        <a:buNone/>
                      </a:pPr>
                      <a:r>
                        <a:rPr lang="en-US" altLang="zh-CN" sz="2000" b="1">
                          <a:solidFill>
                            <a:srgbClr val="00A757"/>
                          </a:solidFill>
                          <a:cs typeface="Arial" panose="020B0604020202020204" pitchFamily="34" charset="0"/>
                        </a:rPr>
                        <a:t>500,000</a:t>
                      </a:r>
                      <a:endParaRPr lang="en-US" sz="2000">
                        <a:ea typeface="Arial" panose="020B0604020202020204" pitchFamily="34" charset="0"/>
                      </a:endParaRPr>
                    </a:p>
                  </a:txBody>
                  <a:tcPr marL="0" marR="0" marT="0" marB="0">
                    <a:lnL>
                      <a:noFill/>
                    </a:lnL>
                    <a:lnR>
                      <a:noFill/>
                    </a:lnR>
                    <a:lnT>
                      <a:noFill/>
                    </a:lnT>
                    <a:lnB>
                      <a:noFill/>
                    </a:lnB>
                    <a:lnTlToBr>
                      <a:noFill/>
                    </a:lnTlToBr>
                    <a:lnBlToTr>
                      <a:noFill/>
                    </a:lnBlToTr>
                    <a:noFill/>
                  </a:tcPr>
                </a:tc>
              </a:tr>
              <a:tr h="4302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276225" lvl="0" indent="0" eaLnBrk="1" hangingPunct="1">
                        <a:spcBef>
                          <a:spcPts val="400"/>
                        </a:spcBef>
                        <a:buNone/>
                      </a:pPr>
                      <a:r>
                        <a:rPr lang="en-US" altLang="zh-CN" sz="1200" b="1">
                          <a:cs typeface="Arial" panose="020B0604020202020204" pitchFamily="34" charset="0"/>
                        </a:rPr>
                        <a:t>ADD&amp;D</a:t>
                      </a:r>
                      <a:endParaRPr lang="en-US" altLang="zh-CN" sz="1200">
                        <a:cs typeface="Arial" panose="020B0604020202020204" pitchFamily="34" charset="0"/>
                      </a:endParaRPr>
                    </a:p>
                    <a:p>
                      <a:pPr marL="276225" lvl="0" indent="0" eaLnBrk="1" hangingPunct="1">
                        <a:buNone/>
                      </a:pPr>
                      <a:r>
                        <a:rPr lang="en-US" altLang="zh-CN" sz="1200" b="1">
                          <a:cs typeface="Arial" panose="020B0604020202020204" pitchFamily="34" charset="0"/>
                        </a:rPr>
                        <a:t>Benefit</a:t>
                      </a:r>
                      <a:endParaRPr lang="en-US" sz="1200">
                        <a:ea typeface="Arial" panose="020B0604020202020204" pitchFamily="34" charset="0"/>
                      </a:endParaRPr>
                    </a:p>
                  </a:txBody>
                  <a:tcPr marL="0" marR="0" marT="51435"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15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230505" lvl="0" indent="118745" eaLnBrk="1" hangingPunct="1">
                        <a:spcBef>
                          <a:spcPts val="400"/>
                        </a:spcBef>
                        <a:buNone/>
                      </a:pPr>
                      <a:r>
                        <a:rPr lang="en-US" altLang="zh-CN" sz="1200" b="1">
                          <a:cs typeface="Arial" panose="020B0604020202020204" pitchFamily="34" charset="0"/>
                        </a:rPr>
                        <a:t>Double Indemnity</a:t>
                      </a:r>
                      <a:endParaRPr lang="en-US" sz="1200">
                        <a:ea typeface="Arial" panose="020B0604020202020204" pitchFamily="34" charset="0"/>
                      </a:endParaRPr>
                    </a:p>
                  </a:txBody>
                  <a:tcPr marL="0" marR="0" marT="51435"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15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304800" lvl="0" indent="-95250" eaLnBrk="1" hangingPunct="1">
                        <a:spcBef>
                          <a:spcPts val="275"/>
                        </a:spcBef>
                        <a:buNone/>
                      </a:pPr>
                      <a:r>
                        <a:rPr lang="en-US" altLang="zh-CN" sz="1200" b="1">
                          <a:cs typeface="Arial" panose="020B0604020202020204" pitchFamily="34" charset="0"/>
                        </a:rPr>
                        <a:t>Basic Life Benefit</a:t>
                      </a:r>
                      <a:endParaRPr lang="en-US" sz="1200">
                        <a:ea typeface="Arial" panose="020B0604020202020204" pitchFamily="34" charset="0"/>
                      </a:endParaRPr>
                    </a:p>
                  </a:txBody>
                  <a:tcPr marL="0" marR="0" marT="34925" marB="0">
                    <a:lnL>
                      <a:noFill/>
                    </a:lnL>
                    <a:lnR>
                      <a:noFill/>
                    </a:lnR>
                    <a:lnT>
                      <a:noFill/>
                    </a:lnT>
                    <a:lnB>
                      <a:noFill/>
                    </a:lnB>
                    <a:lnTlToBr>
                      <a:noFill/>
                    </a:lnTlToBr>
                    <a:lnBlToTr>
                      <a:noFill/>
                    </a:lnBlToTr>
                    <a:noFill/>
                  </a:tcPr>
                </a:tc>
              </a:tr>
              <a:tr h="1682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9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9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ts val="1225"/>
                        </a:lnSpc>
                        <a:buNone/>
                      </a:pPr>
                      <a:r>
                        <a:rPr lang="en-US" altLang="zh-CN" sz="1200" b="1">
                          <a:cs typeface="Arial" panose="020B0604020202020204" pitchFamily="34" charset="0"/>
                        </a:rPr>
                        <a:t>Benefit</a:t>
                      </a:r>
                      <a:endParaRPr lang="en-US" sz="1200">
                        <a:ea typeface="Arial" panose="020B0604020202020204" pitchFamily="34"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9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endParaRPr lang="en-US" sz="900">
                        <a:latin typeface="Times New Roman" panose="02020603050405020304" pitchFamily="18" charset="0"/>
                        <a:ea typeface="Times New Roman" panose="02020603050405020304" pitchFamily="18" charset="0"/>
                      </a:endParaRPr>
                    </a:p>
                  </a:txBody>
                  <a:tcPr marL="0" marR="0" marT="0" marB="0">
                    <a:lnL>
                      <a:noFill/>
                    </a:lnL>
                    <a:lnR>
                      <a:noFill/>
                    </a:lnR>
                    <a:lnT>
                      <a:noFill/>
                    </a:lnT>
                    <a:lnB>
                      <a:noFill/>
                    </a:lnB>
                    <a:lnTlToBr>
                      <a:noFill/>
                    </a:lnTlToBr>
                    <a:lnBlToTr>
                      <a:noFill/>
                    </a:lnBlToTr>
                    <a:noFill/>
                  </a:tcPr>
                </a:tc>
              </a:tr>
            </a:tbl>
          </a:graphicData>
        </a:graphic>
      </p:graphicFrame>
      <p:sp>
        <p:nvSpPr>
          <p:cNvPr id="13333" name="object 6"/>
          <p:cNvSpPr/>
          <p:nvPr/>
        </p:nvSpPr>
        <p:spPr>
          <a:xfrm>
            <a:off x="7877175" y="4194175"/>
            <a:ext cx="1627188" cy="1157288"/>
          </a:xfrm>
          <a:custGeom>
            <a:avLst/>
            <a:gdLst/>
            <a:ahLst/>
            <a:cxnLst/>
            <a:pathLst>
              <a:path w="1626870" h="1158239">
                <a:moveTo>
                  <a:pt x="0" y="192912"/>
                </a:moveTo>
                <a:lnTo>
                  <a:pt x="5101" y="148676"/>
                </a:lnTo>
                <a:lnTo>
                  <a:pt x="19631" y="108070"/>
                </a:lnTo>
                <a:lnTo>
                  <a:pt x="42427" y="72251"/>
                </a:lnTo>
                <a:lnTo>
                  <a:pt x="72328" y="42377"/>
                </a:lnTo>
                <a:lnTo>
                  <a:pt x="108172" y="19606"/>
                </a:lnTo>
                <a:lnTo>
                  <a:pt x="148796" y="5094"/>
                </a:lnTo>
                <a:lnTo>
                  <a:pt x="193040" y="0"/>
                </a:lnTo>
                <a:lnTo>
                  <a:pt x="1433830" y="0"/>
                </a:lnTo>
                <a:lnTo>
                  <a:pt x="1478073" y="5094"/>
                </a:lnTo>
                <a:lnTo>
                  <a:pt x="1518697" y="19606"/>
                </a:lnTo>
                <a:lnTo>
                  <a:pt x="1554541" y="42377"/>
                </a:lnTo>
                <a:lnTo>
                  <a:pt x="1584442" y="72251"/>
                </a:lnTo>
                <a:lnTo>
                  <a:pt x="1607238" y="108070"/>
                </a:lnTo>
                <a:lnTo>
                  <a:pt x="1621768" y="148676"/>
                </a:lnTo>
                <a:lnTo>
                  <a:pt x="1626870" y="192912"/>
                </a:lnTo>
                <a:lnTo>
                  <a:pt x="1626870" y="964818"/>
                </a:lnTo>
                <a:lnTo>
                  <a:pt x="1621768" y="1009055"/>
                </a:lnTo>
                <a:lnTo>
                  <a:pt x="1607238" y="1049661"/>
                </a:lnTo>
                <a:lnTo>
                  <a:pt x="1584442" y="1085480"/>
                </a:lnTo>
                <a:lnTo>
                  <a:pt x="1554541" y="1115354"/>
                </a:lnTo>
                <a:lnTo>
                  <a:pt x="1518697" y="1138125"/>
                </a:lnTo>
                <a:lnTo>
                  <a:pt x="1478073" y="1152637"/>
                </a:lnTo>
                <a:lnTo>
                  <a:pt x="1433830" y="1157731"/>
                </a:lnTo>
                <a:lnTo>
                  <a:pt x="193040" y="1157731"/>
                </a:lnTo>
                <a:lnTo>
                  <a:pt x="148796" y="1152637"/>
                </a:lnTo>
                <a:lnTo>
                  <a:pt x="108172" y="1138125"/>
                </a:lnTo>
                <a:lnTo>
                  <a:pt x="72328" y="1115354"/>
                </a:lnTo>
                <a:lnTo>
                  <a:pt x="42427" y="1085480"/>
                </a:lnTo>
                <a:lnTo>
                  <a:pt x="19631" y="1049661"/>
                </a:lnTo>
                <a:lnTo>
                  <a:pt x="5101" y="1009055"/>
                </a:lnTo>
                <a:lnTo>
                  <a:pt x="0" y="964818"/>
                </a:lnTo>
                <a:lnTo>
                  <a:pt x="0" y="192912"/>
                </a:lnTo>
                <a:close/>
              </a:path>
            </a:pathLst>
          </a:custGeom>
          <a:noFill/>
          <a:ln w="38100" cap="flat" cmpd="sng">
            <a:solidFill>
              <a:srgbClr val="FF0000">
                <a:alpha val="100000"/>
              </a:srgbClr>
            </a:solidFill>
            <a:prstDash val="solid"/>
            <a:headEnd type="none" w="med" len="med"/>
            <a:tailEnd type="none" w="med" len="med"/>
          </a:ln>
        </p:spPr>
        <p:txBody>
          <a:bodyPr/>
          <a:p>
            <a:endParaRPr lang="en-US"/>
          </a:p>
        </p:txBody>
      </p:sp>
      <p:sp>
        <p:nvSpPr>
          <p:cNvPr id="7" name="object 7"/>
          <p:cNvSpPr txBox="1"/>
          <p:nvPr/>
        </p:nvSpPr>
        <p:spPr>
          <a:xfrm>
            <a:off x="8064500" y="4276725"/>
            <a:ext cx="1255713" cy="33020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b="1" kern="0" cap="none" spc="75" normalizeH="0" baseline="0" noProof="0" dirty="0">
                <a:solidFill>
                  <a:srgbClr val="00A757"/>
                </a:solidFill>
                <a:latin typeface="Arial" panose="020B0604020202020204"/>
                <a:cs typeface="Arial" panose="020B0604020202020204"/>
              </a:rPr>
              <a:t>1,500,000</a:t>
            </a:r>
            <a:endParaRPr kumimoji="0" sz="2000" kern="0" cap="none" spc="0" normalizeH="0" baseline="0" noProof="0">
              <a:solidFill>
                <a:sysClr val="windowText" lastClr="000000"/>
              </a:solidFill>
              <a:latin typeface="Arial" panose="020B0604020202020204"/>
              <a:cs typeface="Arial" panose="020B0604020202020204"/>
            </a:endParaRPr>
          </a:p>
        </p:txBody>
      </p:sp>
      <p:sp>
        <p:nvSpPr>
          <p:cNvPr id="8" name="object 8"/>
          <p:cNvSpPr txBox="1"/>
          <p:nvPr/>
        </p:nvSpPr>
        <p:spPr>
          <a:xfrm>
            <a:off x="8113713" y="4795838"/>
            <a:ext cx="1158875" cy="454025"/>
          </a:xfrm>
          <a:prstGeom prst="rect">
            <a:avLst/>
          </a:prstGeom>
        </p:spPr>
        <p:txBody>
          <a:bodyPr vert="horz" wrap="square" lIns="0" tIns="12700" rIns="0" bIns="0" rtlCol="0">
            <a:spAutoFit/>
          </a:bodyPr>
          <a:lstStyle/>
          <a:p>
            <a:pPr marR="0" algn="ctr" defTabSz="914400" eaLnBrk="1" fontAlgn="auto" hangingPunct="1">
              <a:spcBef>
                <a:spcPts val="100"/>
              </a:spcBef>
              <a:spcAft>
                <a:spcPts val="0"/>
              </a:spcAft>
              <a:buClrTx/>
              <a:buSzTx/>
              <a:buFontTx/>
              <a:buNone/>
              <a:defRPr/>
            </a:pPr>
            <a:r>
              <a:rPr kumimoji="0" sz="1400" b="1" kern="0" cap="none" spc="0" normalizeH="0" baseline="0" noProof="0" dirty="0">
                <a:solidFill>
                  <a:sysClr val="windowText" lastClr="000000"/>
                </a:solidFill>
                <a:latin typeface="Arial" panose="020B0604020202020204"/>
                <a:cs typeface="Arial" panose="020B0604020202020204"/>
              </a:rPr>
              <a:t>Total</a:t>
            </a:r>
            <a:r>
              <a:rPr kumimoji="0" sz="1400" b="1" kern="0" cap="none" spc="140" normalizeH="0" baseline="0" noProof="0" dirty="0">
                <a:solidFill>
                  <a:sysClr val="windowText" lastClr="000000"/>
                </a:solidFill>
                <a:latin typeface="Arial" panose="020B0604020202020204"/>
                <a:cs typeface="Arial" panose="020B0604020202020204"/>
              </a:rPr>
              <a:t> </a:t>
            </a:r>
            <a:r>
              <a:rPr kumimoji="0" sz="1400" b="1" kern="0" cap="none" spc="-10" normalizeH="0" baseline="0" noProof="0" dirty="0">
                <a:solidFill>
                  <a:sysClr val="windowText" lastClr="000000"/>
                </a:solidFill>
                <a:latin typeface="Arial" panose="020B0604020202020204"/>
                <a:cs typeface="Arial" panose="020B0604020202020204"/>
              </a:rPr>
              <a:t>Benefit</a:t>
            </a:r>
            <a:endParaRPr kumimoji="0" sz="1400" kern="0" cap="none" spc="0" normalizeH="0" baseline="0" noProof="0">
              <a:solidFill>
                <a:sysClr val="windowText" lastClr="000000"/>
              </a:solidFill>
              <a:latin typeface="Arial" panose="020B0604020202020204"/>
              <a:cs typeface="Arial" panose="020B0604020202020204"/>
            </a:endParaRPr>
          </a:p>
          <a:p>
            <a:pPr marR="0" algn="ctr" defTabSz="914400" eaLnBrk="1" fontAlgn="auto" hangingPunct="1">
              <a:spcBef>
                <a:spcPts val="0"/>
              </a:spcBef>
              <a:spcAft>
                <a:spcPts val="0"/>
              </a:spcAft>
              <a:buClrTx/>
              <a:buSzTx/>
              <a:buFontTx/>
              <a:buNone/>
              <a:defRPr/>
            </a:pPr>
            <a:r>
              <a:rPr kumimoji="0" sz="1400" b="1" kern="0" cap="none" spc="-10" normalizeH="0" baseline="0" noProof="0" dirty="0">
                <a:solidFill>
                  <a:sysClr val="windowText" lastClr="000000"/>
                </a:solidFill>
                <a:latin typeface="Arial" panose="020B0604020202020204"/>
                <a:cs typeface="Arial" panose="020B0604020202020204"/>
              </a:rPr>
              <a:t>Claim</a:t>
            </a:r>
            <a:endParaRPr kumimoji="0" sz="1400" kern="0" cap="none" spc="0" normalizeH="0" baseline="0" noProof="0">
              <a:solidFill>
                <a:sysClr val="windowText" lastClr="000000"/>
              </a:solidFill>
              <a:latin typeface="Arial" panose="020B0604020202020204"/>
              <a:cs typeface="Arial" panose="020B0604020202020204"/>
            </a:endParaRPr>
          </a:p>
        </p:txBody>
      </p:sp>
      <p:sp>
        <p:nvSpPr>
          <p:cNvPr id="9" name="object 9"/>
          <p:cNvSpPr txBox="1"/>
          <p:nvPr/>
        </p:nvSpPr>
        <p:spPr>
          <a:xfrm>
            <a:off x="7443788" y="4229100"/>
            <a:ext cx="184150" cy="33020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b="1" kern="0" cap="none" spc="75" normalizeH="0" baseline="0" noProof="0" dirty="0">
                <a:solidFill>
                  <a:srgbClr val="00A757"/>
                </a:solidFill>
                <a:latin typeface="Arial" panose="020B0604020202020204"/>
                <a:cs typeface="Arial" panose="020B0604020202020204"/>
              </a:rPr>
              <a:t>=</a:t>
            </a:r>
            <a:endParaRPr kumimoji="0" sz="2000" kern="0" cap="none" spc="0" normalizeH="0" baseline="0" noProof="0">
              <a:solidFill>
                <a:sysClr val="windowText" lastClr="000000"/>
              </a:solidFill>
              <a:latin typeface="Arial" panose="020B0604020202020204"/>
              <a:cs typeface="Arial" panose="020B0604020202020204"/>
            </a:endParaRPr>
          </a:p>
        </p:txBody>
      </p:sp>
      <p:sp>
        <p:nvSpPr>
          <p:cNvPr id="13337" name="object 10"/>
          <p:cNvSpPr/>
          <p:nvPr/>
        </p:nvSpPr>
        <p:spPr>
          <a:xfrm>
            <a:off x="2998788" y="4068763"/>
            <a:ext cx="2852737" cy="1352550"/>
          </a:xfrm>
          <a:custGeom>
            <a:avLst/>
            <a:gdLst/>
            <a:ahLst/>
            <a:cxnLst/>
            <a:pathLst>
              <a:path w="2853690" h="1353185">
                <a:moveTo>
                  <a:pt x="0" y="225551"/>
                </a:moveTo>
                <a:lnTo>
                  <a:pt x="4576" y="180090"/>
                </a:lnTo>
                <a:lnTo>
                  <a:pt x="17702" y="137749"/>
                </a:lnTo>
                <a:lnTo>
                  <a:pt x="38475" y="99435"/>
                </a:lnTo>
                <a:lnTo>
                  <a:pt x="65992" y="66055"/>
                </a:lnTo>
                <a:lnTo>
                  <a:pt x="99348" y="38515"/>
                </a:lnTo>
                <a:lnTo>
                  <a:pt x="137642" y="17722"/>
                </a:lnTo>
                <a:lnTo>
                  <a:pt x="179968" y="4581"/>
                </a:lnTo>
                <a:lnTo>
                  <a:pt x="225425" y="0"/>
                </a:lnTo>
                <a:lnTo>
                  <a:pt x="2628137" y="0"/>
                </a:lnTo>
                <a:lnTo>
                  <a:pt x="2673594" y="4581"/>
                </a:lnTo>
                <a:lnTo>
                  <a:pt x="2715920" y="17722"/>
                </a:lnTo>
                <a:lnTo>
                  <a:pt x="2754214" y="38515"/>
                </a:lnTo>
                <a:lnTo>
                  <a:pt x="2787570" y="66055"/>
                </a:lnTo>
                <a:lnTo>
                  <a:pt x="2815087" y="99435"/>
                </a:lnTo>
                <a:lnTo>
                  <a:pt x="2835860" y="137749"/>
                </a:lnTo>
                <a:lnTo>
                  <a:pt x="2848986" y="180090"/>
                </a:lnTo>
                <a:lnTo>
                  <a:pt x="2853562" y="225551"/>
                </a:lnTo>
                <a:lnTo>
                  <a:pt x="2853562" y="1127378"/>
                </a:lnTo>
                <a:lnTo>
                  <a:pt x="2848986" y="1172840"/>
                </a:lnTo>
                <a:lnTo>
                  <a:pt x="2835860" y="1215181"/>
                </a:lnTo>
                <a:lnTo>
                  <a:pt x="2815087" y="1253495"/>
                </a:lnTo>
                <a:lnTo>
                  <a:pt x="2787570" y="1286875"/>
                </a:lnTo>
                <a:lnTo>
                  <a:pt x="2754214" y="1314415"/>
                </a:lnTo>
                <a:lnTo>
                  <a:pt x="2715920" y="1335208"/>
                </a:lnTo>
                <a:lnTo>
                  <a:pt x="2673594" y="1348349"/>
                </a:lnTo>
                <a:lnTo>
                  <a:pt x="2628137" y="1352930"/>
                </a:lnTo>
                <a:lnTo>
                  <a:pt x="225425" y="1352930"/>
                </a:lnTo>
                <a:lnTo>
                  <a:pt x="179968" y="1348349"/>
                </a:lnTo>
                <a:lnTo>
                  <a:pt x="137642" y="1335208"/>
                </a:lnTo>
                <a:lnTo>
                  <a:pt x="99348" y="1314415"/>
                </a:lnTo>
                <a:lnTo>
                  <a:pt x="65992" y="1286875"/>
                </a:lnTo>
                <a:lnTo>
                  <a:pt x="38475" y="1253495"/>
                </a:lnTo>
                <a:lnTo>
                  <a:pt x="17702" y="1215181"/>
                </a:lnTo>
                <a:lnTo>
                  <a:pt x="4576" y="1172840"/>
                </a:lnTo>
                <a:lnTo>
                  <a:pt x="0" y="1127378"/>
                </a:lnTo>
                <a:lnTo>
                  <a:pt x="0" y="225551"/>
                </a:lnTo>
                <a:close/>
              </a:path>
            </a:pathLst>
          </a:custGeom>
          <a:noFill/>
          <a:ln w="28575" cap="flat" cmpd="sng">
            <a:solidFill>
              <a:srgbClr val="FF0000">
                <a:alpha val="100000"/>
              </a:srgbClr>
            </a:solidFill>
            <a:prstDash val="solid"/>
            <a:headEnd type="none" w="med" len="med"/>
            <a:tailEnd type="none" w="med" len="med"/>
          </a:ln>
        </p:spPr>
        <p:txBody>
          <a:bodyPr/>
          <a:p>
            <a:endParaRPr lang="en-US"/>
          </a:p>
        </p:txBody>
      </p:sp>
      <p:sp>
        <p:nvSpPr>
          <p:cNvPr id="11" name="object 11"/>
          <p:cNvSpPr txBox="1">
            <a:spLocks noGrp="1"/>
          </p:cNvSpPr>
          <p:nvPr>
            <p:ph type="ftr" sz="quarter" idx="3"/>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338" name="object 2"/>
          <p:cNvGrpSpPr/>
          <p:nvPr/>
        </p:nvGrpSpPr>
        <p:grpSpPr>
          <a:xfrm>
            <a:off x="2787650" y="287338"/>
            <a:ext cx="8131175" cy="879475"/>
            <a:chOff x="2787713" y="288099"/>
            <a:chExt cx="8130540" cy="878205"/>
          </a:xfrm>
        </p:grpSpPr>
        <p:sp>
          <p:nvSpPr>
            <p:cNvPr id="14346" name="object 3"/>
            <p:cNvSpPr/>
            <p:nvPr/>
          </p:nvSpPr>
          <p:spPr>
            <a:xfrm>
              <a:off x="2802001" y="30238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14347" name="object 4"/>
            <p:cNvSpPr/>
            <p:nvPr/>
          </p:nvSpPr>
          <p:spPr>
            <a:xfrm>
              <a:off x="2802001" y="30238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14339" name="object 5"/>
          <p:cNvGrpSpPr/>
          <p:nvPr/>
        </p:nvGrpSpPr>
        <p:grpSpPr>
          <a:xfrm>
            <a:off x="1274763" y="285750"/>
            <a:ext cx="1428750" cy="879475"/>
            <a:chOff x="1274254" y="285813"/>
            <a:chExt cx="1430020" cy="880110"/>
          </a:xfrm>
        </p:grpSpPr>
        <p:sp>
          <p:nvSpPr>
            <p:cNvPr id="14343" name="object 6"/>
            <p:cNvSpPr/>
            <p:nvPr/>
          </p:nvSpPr>
          <p:spPr>
            <a:xfrm>
              <a:off x="1288541" y="300100"/>
              <a:ext cx="1401445" cy="851535"/>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14344" name="object 7"/>
            <p:cNvSpPr/>
            <p:nvPr/>
          </p:nvSpPr>
          <p:spPr>
            <a:xfrm>
              <a:off x="1288541" y="300100"/>
              <a:ext cx="1401445" cy="851535"/>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14345" name="object 8"/>
            <p:cNvPicPr>
              <a:picLocks noChangeAspect="1"/>
            </p:cNvPicPr>
            <p:nvPr/>
          </p:nvPicPr>
          <p:blipFill>
            <a:blip r:embed="rId1"/>
            <a:stretch>
              <a:fillRect/>
            </a:stretch>
          </p:blipFill>
          <p:spPr>
            <a:xfrm>
              <a:off x="1649856" y="386384"/>
              <a:ext cx="678891" cy="678891"/>
            </a:xfrm>
            <a:prstGeom prst="rect">
              <a:avLst/>
            </a:prstGeom>
            <a:noFill/>
            <a:ln w="9525">
              <a:noFill/>
            </a:ln>
          </p:spPr>
        </p:pic>
      </p:grpSp>
      <p:sp>
        <p:nvSpPr>
          <p:cNvPr id="9" name="object 9"/>
          <p:cNvSpPr txBox="1">
            <a:spLocks noGrp="1"/>
          </p:cNvSpPr>
          <p:nvPr>
            <p:ph type="title"/>
          </p:nvPr>
        </p:nvSpPr>
        <p:spPr/>
        <p:txBody>
          <a:bodyPr vert="horz" wrap="square" lIns="0" tIns="53898" rIns="0" bIns="0" rtlCol="0">
            <a:spAutoFit/>
          </a:bodyPr>
          <a:lstStyle/>
          <a:p>
            <a:pPr marL="1586230" marR="0" lvl="0" indent="0" defTabSz="914400" eaLnBrk="1" fontAlgn="auto" latinLnBrk="0" hangingPunct="1">
              <a:lnSpc>
                <a:spcPct val="100000"/>
              </a:lnSpc>
              <a:spcBef>
                <a:spcPts val="105"/>
              </a:spcBef>
              <a:spcAft>
                <a:spcPts val="0"/>
              </a:spcAft>
              <a:buClrTx/>
              <a:buSzTx/>
              <a:buFontTx/>
              <a:buNone/>
              <a:defRPr/>
            </a:pPr>
            <a:r>
              <a:rPr kumimoji="0" sz="2000" b="1" i="0" u="none" strike="noStrike" kern="0" cap="none" spc="-80" normalizeH="0" baseline="0" noProof="0" dirty="0">
                <a:ln>
                  <a:noFill/>
                </a:ln>
                <a:solidFill>
                  <a:schemeClr val="bg1"/>
                </a:solidFill>
                <a:effectLst/>
                <a:uLnTx/>
                <a:uFillTx/>
                <a:latin typeface="Arial" panose="020B0604020202020204"/>
                <a:ea typeface="+mj-ea"/>
                <a:cs typeface="Arial" panose="020B0604020202020204"/>
              </a:rPr>
              <a:t>TOTAL</a:t>
            </a:r>
            <a:r>
              <a:rPr kumimoji="0" sz="20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&amp;</a:t>
            </a:r>
            <a:r>
              <a:rPr kumimoji="0" sz="2000" b="1" i="0" u="none" strike="noStrike" kern="0" cap="none" spc="80"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PERMANENT</a:t>
            </a:r>
            <a:r>
              <a:rPr kumimoji="0" sz="2000" b="1" i="0" u="none" strike="noStrike" kern="0" cap="none" spc="5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DISABILITY</a:t>
            </a:r>
            <a:r>
              <a:rPr kumimoji="0" sz="20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000" b="1" i="0" u="none" strike="noStrike" kern="0" cap="none" spc="6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(TPDB)</a:t>
            </a:r>
            <a:endParaRPr kumimoji="0" sz="2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1586230" marR="0" lvl="0" indent="0" defTabSz="914400" eaLnBrk="1" fontAlgn="auto" latinLnBrk="0" hangingPunct="1">
              <a:lnSpc>
                <a:spcPct val="100000"/>
              </a:lnSpc>
              <a:spcBef>
                <a:spcPts val="2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1" name="object 11"/>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10" name="object 10"/>
          <p:cNvSpPr txBox="1"/>
          <p:nvPr/>
        </p:nvSpPr>
        <p:spPr>
          <a:xfrm>
            <a:off x="1276350" y="1639888"/>
            <a:ext cx="9931400" cy="2768600"/>
          </a:xfrm>
          <a:prstGeom prst="rect">
            <a:avLst/>
          </a:prstGeom>
        </p:spPr>
        <p:txBody>
          <a:bodyPr vert="horz" wrap="square" lIns="0" tIns="12700" rIns="0" bIns="0" rtlCol="0">
            <a:spAutoFit/>
          </a:bodyPr>
          <a:p>
            <a:pPr marL="12700" defTabSz="914400" eaLnBrk="1" hangingPunct="1">
              <a:lnSpc>
                <a:spcPct val="150000"/>
              </a:lnSpc>
              <a:spcBef>
                <a:spcPts val="100"/>
              </a:spcBef>
              <a:buNone/>
              <a:tabLst>
                <a:tab pos="1724025" algn="l"/>
              </a:tabLst>
            </a:pPr>
            <a:r>
              <a:rPr lang="en-US" altLang="zh-CN" sz="2000">
                <a:solidFill>
                  <a:srgbClr val="282B3D"/>
                </a:solidFill>
                <a:latin typeface="Tahoma" panose="020B0604030504040204" pitchFamily="34" charset="0"/>
                <a:cs typeface="Tahoma" panose="020B0604030504040204" pitchFamily="34" charset="0"/>
              </a:rPr>
              <a:t>Should an insured employee become </a:t>
            </a:r>
            <a:r>
              <a:rPr lang="en-US" altLang="zh-CN" sz="2000" b="1">
                <a:solidFill>
                  <a:srgbClr val="282B3D"/>
                </a:solidFill>
                <a:cs typeface="Arial" panose="020B0604020202020204" pitchFamily="34" charset="0"/>
              </a:rPr>
              <a:t>totally and permanently </a:t>
            </a:r>
            <a:r>
              <a:rPr lang="en-US" altLang="zh-CN" sz="2000">
                <a:solidFill>
                  <a:srgbClr val="282B3D"/>
                </a:solidFill>
                <a:latin typeface="Tahoma" panose="020B0604030504040204" pitchFamily="34" charset="0"/>
                <a:cs typeface="Tahoma" panose="020B0604030504040204" pitchFamily="34" charset="0"/>
              </a:rPr>
              <a:t>disabled for a </a:t>
            </a:r>
            <a:r>
              <a:rPr lang="en-US" altLang="zh-CN" sz="2000" b="1">
                <a:solidFill>
                  <a:srgbClr val="282B3D"/>
                </a:solidFill>
                <a:cs typeface="Arial" panose="020B0604020202020204" pitchFamily="34" charset="0"/>
              </a:rPr>
              <a:t>period of at least six (6) consecutive months </a:t>
            </a:r>
            <a:r>
              <a:rPr lang="en-US" altLang="zh-CN" sz="2000">
                <a:solidFill>
                  <a:srgbClr val="282B3D"/>
                </a:solidFill>
                <a:latin typeface="Tahoma" panose="020B0604030504040204" pitchFamily="34" charset="0"/>
                <a:cs typeface="Tahoma" panose="020B0604030504040204" pitchFamily="34" charset="0"/>
              </a:rPr>
              <a:t>resulting from any bodily injury or disease and is prevented from engaging in any and every occupation, profession or business, for compensation	or profit, and </a:t>
            </a:r>
            <a:r>
              <a:rPr lang="en-US" altLang="zh-CN" sz="2000" b="1">
                <a:solidFill>
                  <a:srgbClr val="282B3D"/>
                </a:solidFill>
                <a:cs typeface="Arial" panose="020B0604020202020204" pitchFamily="34" charset="0"/>
              </a:rPr>
              <a:t>will be so disabled for life, </a:t>
            </a:r>
            <a:r>
              <a:rPr lang="en-US" altLang="zh-CN" sz="2000">
                <a:solidFill>
                  <a:srgbClr val="282B3D"/>
                </a:solidFill>
                <a:latin typeface="Tahoma" panose="020B0604030504040204" pitchFamily="34" charset="0"/>
                <a:cs typeface="Tahoma" panose="020B0604030504040204" pitchFamily="34" charset="0"/>
              </a:rPr>
              <a:t>Manulife will pay the insured employee in lumpsum amount equivalent to the Death Benefit, to compensate for the employee’s lost income.</a:t>
            </a:r>
            <a:endParaRPr lang="en-US" altLang="zh-CN" sz="2000">
              <a:solidFill>
                <a:srgbClr val="000000"/>
              </a:solidFill>
              <a:latin typeface="Tahoma" panose="020B0604030504040204" pitchFamily="34" charset="0"/>
              <a:ea typeface="Tahoma" panose="020B060403050404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2" name="object 2"/>
          <p:cNvGrpSpPr/>
          <p:nvPr/>
        </p:nvGrpSpPr>
        <p:grpSpPr>
          <a:xfrm>
            <a:off x="2787650" y="287338"/>
            <a:ext cx="8131175" cy="879475"/>
            <a:chOff x="2787713" y="288099"/>
            <a:chExt cx="8130540" cy="878205"/>
          </a:xfrm>
        </p:grpSpPr>
        <p:sp>
          <p:nvSpPr>
            <p:cNvPr id="15390" name="object 3"/>
            <p:cNvSpPr/>
            <p:nvPr/>
          </p:nvSpPr>
          <p:spPr>
            <a:xfrm>
              <a:off x="2802001" y="30238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15391" name="object 4"/>
            <p:cNvSpPr/>
            <p:nvPr/>
          </p:nvSpPr>
          <p:spPr>
            <a:xfrm>
              <a:off x="2802001" y="30238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15363" name="object 5"/>
          <p:cNvGrpSpPr/>
          <p:nvPr/>
        </p:nvGrpSpPr>
        <p:grpSpPr>
          <a:xfrm>
            <a:off x="1274763" y="285750"/>
            <a:ext cx="1428750" cy="879475"/>
            <a:chOff x="1274254" y="285813"/>
            <a:chExt cx="1430020" cy="880110"/>
          </a:xfrm>
        </p:grpSpPr>
        <p:sp>
          <p:nvSpPr>
            <p:cNvPr id="15387" name="object 6"/>
            <p:cNvSpPr/>
            <p:nvPr/>
          </p:nvSpPr>
          <p:spPr>
            <a:xfrm>
              <a:off x="1288541" y="300100"/>
              <a:ext cx="1401445" cy="851535"/>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15388" name="object 7"/>
            <p:cNvSpPr/>
            <p:nvPr/>
          </p:nvSpPr>
          <p:spPr>
            <a:xfrm>
              <a:off x="1288541" y="300100"/>
              <a:ext cx="1401445" cy="851535"/>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15389" name="object 8"/>
            <p:cNvPicPr>
              <a:picLocks noChangeAspect="1"/>
            </p:cNvPicPr>
            <p:nvPr/>
          </p:nvPicPr>
          <p:blipFill>
            <a:blip r:embed="rId1"/>
            <a:stretch>
              <a:fillRect/>
            </a:stretch>
          </p:blipFill>
          <p:spPr>
            <a:xfrm>
              <a:off x="1649856" y="386384"/>
              <a:ext cx="678891" cy="678891"/>
            </a:xfrm>
            <a:prstGeom prst="rect">
              <a:avLst/>
            </a:prstGeom>
            <a:noFill/>
            <a:ln w="9525">
              <a:noFill/>
            </a:ln>
          </p:spPr>
        </p:pic>
      </p:grpSp>
      <p:sp>
        <p:nvSpPr>
          <p:cNvPr id="9" name="object 9"/>
          <p:cNvSpPr txBox="1">
            <a:spLocks noGrp="1"/>
          </p:cNvSpPr>
          <p:nvPr>
            <p:ph type="title"/>
          </p:nvPr>
        </p:nvSpPr>
        <p:spPr>
          <a:xfrm>
            <a:off x="3008313" y="458788"/>
            <a:ext cx="6386513" cy="515938"/>
          </a:xfr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defRPr/>
            </a:pPr>
            <a:r>
              <a:rPr kumimoji="0" sz="2000" b="1" i="0" u="none" strike="noStrike" kern="0" cap="none" spc="-80" normalizeH="0" baseline="0" noProof="0" dirty="0">
                <a:ln>
                  <a:noFill/>
                </a:ln>
                <a:solidFill>
                  <a:schemeClr val="bg1"/>
                </a:solidFill>
                <a:effectLst/>
                <a:uLnTx/>
                <a:uFillTx/>
                <a:latin typeface="Arial" panose="020B0604020202020204"/>
                <a:ea typeface="+mj-ea"/>
                <a:cs typeface="Arial" panose="020B0604020202020204"/>
              </a:rPr>
              <a:t>TOTAL</a:t>
            </a:r>
            <a:r>
              <a:rPr kumimoji="0" sz="20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&amp;</a:t>
            </a:r>
            <a:r>
              <a:rPr kumimoji="0" sz="2000" b="1" i="0" u="none" strike="noStrike" kern="0" cap="none" spc="80"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PERMANENT</a:t>
            </a:r>
            <a:r>
              <a:rPr kumimoji="0" sz="2000" b="1" i="0" u="none" strike="noStrike" kern="0" cap="none" spc="5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DISABILITY</a:t>
            </a:r>
            <a:r>
              <a:rPr kumimoji="0" sz="20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000" b="1" i="0" u="none" strike="noStrike" kern="0" cap="none" spc="65" normalizeH="0" baseline="0" noProof="0" dirty="0">
                <a:ln>
                  <a:noFill/>
                </a:ln>
                <a:solidFill>
                  <a:schemeClr val="bg1"/>
                </a:solidFill>
                <a:effectLst/>
                <a:uLnTx/>
                <a:uFillTx/>
                <a:latin typeface="Arial" panose="020B0604020202020204"/>
                <a:ea typeface="+mj-ea"/>
                <a:cs typeface="Arial" panose="020B0604020202020204"/>
              </a:rPr>
              <a:t> </a:t>
            </a:r>
            <a:r>
              <a:rPr kumimoji="0" sz="20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(TPDB)</a:t>
            </a:r>
            <a:endParaRPr kumimoji="0" sz="2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12700" marR="0" lvl="0" indent="0" defTabSz="914400" eaLnBrk="1" fontAlgn="auto" latinLnBrk="0" hangingPunct="1">
              <a:lnSpc>
                <a:spcPct val="100000"/>
              </a:lnSpc>
              <a:spcBef>
                <a:spcPts val="2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0" name="object 10"/>
          <p:cNvSpPr txBox="1"/>
          <p:nvPr/>
        </p:nvSpPr>
        <p:spPr>
          <a:xfrm>
            <a:off x="2236788" y="1268413"/>
            <a:ext cx="7716838" cy="512763"/>
          </a:xfrm>
          <a:prstGeom prst="rect">
            <a:avLst/>
          </a:prstGeom>
        </p:spPr>
        <p:txBody>
          <a:bodyPr vert="horz" wrap="square" lIns="0" tIns="12065" rIns="0" bIns="0" rtlCol="0">
            <a:spAutoFit/>
          </a:bodyPr>
          <a:lstStyle/>
          <a:p>
            <a:pPr marR="0" algn="ctr" defTabSz="914400" eaLnBrk="1" fontAlgn="auto" hangingPunct="1">
              <a:spcBef>
                <a:spcPts val="95"/>
              </a:spcBef>
              <a:spcAft>
                <a:spcPts val="0"/>
              </a:spcAft>
              <a:buClrTx/>
              <a:buSzTx/>
              <a:buFontTx/>
              <a:buNone/>
              <a:defRPr/>
            </a:pPr>
            <a:r>
              <a:rPr kumimoji="0" sz="1600" b="1" kern="0" cap="none" spc="-10" normalizeH="0" baseline="0" noProof="0" dirty="0">
                <a:solidFill>
                  <a:sysClr val="windowText" lastClr="000000"/>
                </a:solidFill>
                <a:latin typeface="Arial" panose="020B0604020202020204"/>
                <a:cs typeface="Arial" panose="020B0604020202020204"/>
              </a:rPr>
              <a:t>EXCLUSIONS</a:t>
            </a:r>
            <a:r>
              <a:rPr kumimoji="0" sz="1600" b="1" kern="0" cap="none" spc="180"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on</a:t>
            </a:r>
            <a:r>
              <a:rPr kumimoji="0" sz="1600" b="1" kern="0" cap="none" spc="13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Total</a:t>
            </a:r>
            <a:r>
              <a:rPr kumimoji="0" sz="1600" b="1" kern="0" cap="none" spc="140"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and</a:t>
            </a:r>
            <a:r>
              <a:rPr kumimoji="0" sz="1600" b="1" kern="0" cap="none" spc="114" normalizeH="0" baseline="0" noProof="0" dirty="0">
                <a:solidFill>
                  <a:sysClr val="windowText" lastClr="000000"/>
                </a:solidFill>
                <a:latin typeface="Arial" panose="020B0604020202020204"/>
                <a:cs typeface="Arial" panose="020B0604020202020204"/>
              </a:rPr>
              <a:t> </a:t>
            </a:r>
            <a:r>
              <a:rPr kumimoji="0" sz="1600" b="1" kern="0" cap="none" spc="50" normalizeH="0" baseline="0" noProof="0" dirty="0">
                <a:solidFill>
                  <a:sysClr val="windowText" lastClr="000000"/>
                </a:solidFill>
                <a:latin typeface="Arial" panose="020B0604020202020204"/>
                <a:cs typeface="Arial" panose="020B0604020202020204"/>
              </a:rPr>
              <a:t>Permanent</a:t>
            </a:r>
            <a:r>
              <a:rPr kumimoji="0" sz="1600" b="1" kern="0" cap="none" spc="15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Disability</a:t>
            </a:r>
            <a:r>
              <a:rPr kumimoji="0" sz="1600" b="1" kern="0" cap="none" spc="135" normalizeH="0" baseline="0" noProof="0" dirty="0">
                <a:solidFill>
                  <a:sysClr val="windowText" lastClr="000000"/>
                </a:solidFill>
                <a:latin typeface="Arial" panose="020B0604020202020204"/>
                <a:cs typeface="Arial" panose="020B0604020202020204"/>
              </a:rPr>
              <a:t> </a:t>
            </a:r>
            <a:r>
              <a:rPr kumimoji="0" sz="1600" b="1" kern="0" cap="none" spc="0" normalizeH="0" baseline="0" noProof="0" dirty="0">
                <a:solidFill>
                  <a:sysClr val="windowText" lastClr="000000"/>
                </a:solidFill>
                <a:latin typeface="Arial" panose="020B0604020202020204"/>
                <a:cs typeface="Arial" panose="020B0604020202020204"/>
              </a:rPr>
              <a:t>Benefit</a:t>
            </a:r>
            <a:r>
              <a:rPr kumimoji="0" sz="1600" b="1" kern="0" cap="none" spc="135" normalizeH="0" baseline="0" noProof="0" dirty="0">
                <a:solidFill>
                  <a:sysClr val="windowText" lastClr="000000"/>
                </a:solidFill>
                <a:latin typeface="Arial" panose="020B0604020202020204"/>
                <a:cs typeface="Arial" panose="020B0604020202020204"/>
              </a:rPr>
              <a:t> </a:t>
            </a:r>
            <a:r>
              <a:rPr kumimoji="0" sz="1600" b="1" kern="0" cap="none" spc="-10" normalizeH="0" baseline="0" noProof="0" dirty="0">
                <a:solidFill>
                  <a:sysClr val="windowText" lastClr="000000"/>
                </a:solidFill>
                <a:latin typeface="Arial" panose="020B0604020202020204"/>
                <a:cs typeface="Arial" panose="020B0604020202020204"/>
              </a:rPr>
              <a:t>(TPDB).</a:t>
            </a:r>
            <a:endParaRPr kumimoji="0" sz="1600" kern="0" cap="none" spc="0" normalizeH="0" baseline="0" noProof="0">
              <a:solidFill>
                <a:sysClr val="windowText" lastClr="000000"/>
              </a:solidFill>
              <a:latin typeface="Arial" panose="020B0604020202020204"/>
              <a:cs typeface="Arial" panose="020B0604020202020204"/>
            </a:endParaRPr>
          </a:p>
          <a:p>
            <a:pPr marR="0" algn="ctr" defTabSz="914400" eaLnBrk="1" fontAlgn="auto" hangingPunct="1">
              <a:spcBef>
                <a:spcPts val="0"/>
              </a:spcBef>
              <a:spcAft>
                <a:spcPts val="0"/>
              </a:spcAft>
              <a:buClrTx/>
              <a:buSzTx/>
              <a:buFontTx/>
              <a:buNone/>
              <a:defRPr/>
            </a:pPr>
            <a:r>
              <a:rPr kumimoji="0" sz="1600" kern="0" cap="none" spc="0" normalizeH="0" baseline="0" noProof="0" dirty="0">
                <a:solidFill>
                  <a:srgbClr val="FF0000"/>
                </a:solidFill>
                <a:latin typeface="Tahoma" panose="020B0604030504040204"/>
                <a:cs typeface="Tahoma" panose="020B0604030504040204"/>
              </a:rPr>
              <a:t>No</a:t>
            </a:r>
            <a:r>
              <a:rPr kumimoji="0" sz="1600" kern="0" cap="none" spc="-6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benefit</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shall</a:t>
            </a:r>
            <a:r>
              <a:rPr kumimoji="0" sz="1600" kern="0" cap="none" spc="-5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be</a:t>
            </a:r>
            <a:r>
              <a:rPr kumimoji="0" sz="1600" kern="0" cap="none" spc="-5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made</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for</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any</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loss</a:t>
            </a:r>
            <a:r>
              <a:rPr kumimoji="0" sz="1600" kern="0" cap="none" spc="-5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resulting</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from</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or</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caused</a:t>
            </a:r>
            <a:r>
              <a:rPr kumimoji="0" sz="1600" kern="0" cap="none" spc="-35"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by</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any</a:t>
            </a:r>
            <a:r>
              <a:rPr kumimoji="0" sz="1600" kern="0" cap="none" spc="-4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of</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0" normalizeH="0" baseline="0" noProof="0" dirty="0">
                <a:solidFill>
                  <a:srgbClr val="FF0000"/>
                </a:solidFill>
                <a:latin typeface="Tahoma" panose="020B0604030504040204"/>
                <a:cs typeface="Tahoma" panose="020B0604030504040204"/>
              </a:rPr>
              <a:t>the</a:t>
            </a:r>
            <a:r>
              <a:rPr kumimoji="0" sz="1600" kern="0" cap="none" spc="-60" normalizeH="0" baseline="0" noProof="0" dirty="0">
                <a:solidFill>
                  <a:srgbClr val="FF0000"/>
                </a:solidFill>
                <a:latin typeface="Tahoma" panose="020B0604030504040204"/>
                <a:cs typeface="Tahoma" panose="020B0604030504040204"/>
              </a:rPr>
              <a:t> </a:t>
            </a:r>
            <a:r>
              <a:rPr kumimoji="0" sz="1600" kern="0" cap="none" spc="-10" normalizeH="0" baseline="0" noProof="0" dirty="0">
                <a:solidFill>
                  <a:srgbClr val="FF0000"/>
                </a:solidFill>
                <a:latin typeface="Tahoma" panose="020B0604030504040204"/>
                <a:cs typeface="Tahoma" panose="020B0604030504040204"/>
              </a:rPr>
              <a:t>following:</a:t>
            </a:r>
            <a:endParaRPr kumimoji="0" sz="1600" kern="0" cap="none" spc="0" normalizeH="0" baseline="0" noProof="0">
              <a:solidFill>
                <a:sysClr val="windowText" lastClr="000000"/>
              </a:solidFill>
              <a:latin typeface="Tahoma" panose="020B0604030504040204"/>
              <a:cs typeface="Tahoma" panose="020B0604030504040204"/>
            </a:endParaRPr>
          </a:p>
        </p:txBody>
      </p:sp>
      <p:sp>
        <p:nvSpPr>
          <p:cNvPr id="15366" name="object 11"/>
          <p:cNvSpPr/>
          <p:nvPr/>
        </p:nvSpPr>
        <p:spPr>
          <a:xfrm>
            <a:off x="1285875" y="1871663"/>
            <a:ext cx="4603750" cy="647700"/>
          </a:xfrm>
          <a:custGeom>
            <a:avLst/>
            <a:gdLst/>
            <a:ahLst/>
            <a:cxnLst/>
            <a:pathLst>
              <a:path w="4603115" h="647064">
                <a:moveTo>
                  <a:pt x="4562221" y="0"/>
                </a:moveTo>
                <a:lnTo>
                  <a:pt x="40893" y="0"/>
                </a:lnTo>
                <a:lnTo>
                  <a:pt x="24967" y="3210"/>
                </a:lnTo>
                <a:lnTo>
                  <a:pt x="11969" y="11969"/>
                </a:lnTo>
                <a:lnTo>
                  <a:pt x="3210" y="24967"/>
                </a:lnTo>
                <a:lnTo>
                  <a:pt x="0" y="40893"/>
                </a:lnTo>
                <a:lnTo>
                  <a:pt x="0" y="606043"/>
                </a:lnTo>
                <a:lnTo>
                  <a:pt x="3210" y="621970"/>
                </a:lnTo>
                <a:lnTo>
                  <a:pt x="11969" y="634968"/>
                </a:lnTo>
                <a:lnTo>
                  <a:pt x="24967" y="643727"/>
                </a:lnTo>
                <a:lnTo>
                  <a:pt x="40893" y="646938"/>
                </a:lnTo>
                <a:lnTo>
                  <a:pt x="4562221" y="646938"/>
                </a:lnTo>
                <a:lnTo>
                  <a:pt x="4578147" y="643727"/>
                </a:lnTo>
                <a:lnTo>
                  <a:pt x="4591145" y="634968"/>
                </a:lnTo>
                <a:lnTo>
                  <a:pt x="4599904" y="621970"/>
                </a:lnTo>
                <a:lnTo>
                  <a:pt x="4603115" y="606043"/>
                </a:lnTo>
                <a:lnTo>
                  <a:pt x="4603115" y="40893"/>
                </a:lnTo>
                <a:lnTo>
                  <a:pt x="4599904" y="24967"/>
                </a:lnTo>
                <a:lnTo>
                  <a:pt x="4591145" y="11969"/>
                </a:lnTo>
                <a:lnTo>
                  <a:pt x="4578147" y="3210"/>
                </a:lnTo>
                <a:lnTo>
                  <a:pt x="4562221" y="0"/>
                </a:lnTo>
                <a:close/>
              </a:path>
            </a:pathLst>
          </a:custGeom>
          <a:solidFill>
            <a:srgbClr val="F1F1F1">
              <a:alpha val="100000"/>
            </a:srgbClr>
          </a:solidFill>
          <a:ln w="9525">
            <a:noFill/>
          </a:ln>
        </p:spPr>
        <p:txBody>
          <a:bodyPr/>
          <a:p>
            <a:endParaRPr lang="en-US"/>
          </a:p>
        </p:txBody>
      </p:sp>
      <p:sp>
        <p:nvSpPr>
          <p:cNvPr id="12" name="object 12"/>
          <p:cNvSpPr txBox="1"/>
          <p:nvPr/>
        </p:nvSpPr>
        <p:spPr>
          <a:xfrm>
            <a:off x="1285875" y="1871663"/>
            <a:ext cx="4603750" cy="647700"/>
          </a:xfrm>
          <a:prstGeom prst="rect">
            <a:avLst/>
          </a:prstGeom>
          <a:ln w="15144">
            <a:solidFill>
              <a:srgbClr val="D9D9D9"/>
            </a:solidFill>
          </a:ln>
        </p:spPr>
        <p:txBody>
          <a:bodyPr vert="horz" wrap="square" lIns="0" tIns="1270" rIns="0" bIns="0" rtlCol="0">
            <a:spAutoFit/>
          </a:bodyPr>
          <a:lstStyle/>
          <a:p>
            <a:pPr marR="0" defTabSz="914400" eaLnBrk="1" fontAlgn="auto" hangingPunct="1">
              <a:spcBef>
                <a:spcPts val="10"/>
              </a:spcBef>
              <a:spcAft>
                <a:spcPts val="0"/>
              </a:spcAft>
              <a:buClrTx/>
              <a:buSzTx/>
              <a:buFontTx/>
              <a:buNone/>
              <a:defRPr/>
            </a:pPr>
            <a:endParaRPr kumimoji="0" sz="1550" kern="0" cap="none" spc="0" normalizeH="0" baseline="0" noProof="0">
              <a:solidFill>
                <a:sysClr val="windowText" lastClr="000000"/>
              </a:solidFill>
              <a:latin typeface="Times New Roman" panose="02020603050405020304"/>
              <a:cs typeface="Times New Roman" panose="02020603050405020304"/>
            </a:endParaRPr>
          </a:p>
          <a:p>
            <a:pPr marL="103505" marR="0" defTabSz="914400" eaLnBrk="1" fontAlgn="auto" hangingPunct="1">
              <a:spcBef>
                <a:spcPts val="0"/>
              </a:spcBef>
              <a:spcAft>
                <a:spcPts val="0"/>
              </a:spcAft>
              <a:buClrTx/>
              <a:buSzTx/>
              <a:buFontTx/>
              <a:buNone/>
              <a:defRPr/>
            </a:pPr>
            <a:r>
              <a:rPr kumimoji="0" sz="1200" kern="0" cap="none" spc="-35" normalizeH="0" baseline="0" noProof="0" dirty="0">
                <a:solidFill>
                  <a:sysClr val="windowText" lastClr="000000"/>
                </a:solidFill>
                <a:latin typeface="Tahoma" panose="020B0604030504040204"/>
                <a:cs typeface="Tahoma" panose="020B0604030504040204"/>
              </a:rPr>
              <a:t>Any</a:t>
            </a:r>
            <a:r>
              <a:rPr kumimoji="0" sz="1200" kern="0" cap="none" spc="-5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injury</a:t>
            </a:r>
            <a:r>
              <a:rPr kumimoji="0" sz="1200" kern="0" cap="none" spc="-6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intentionally</a:t>
            </a:r>
            <a:r>
              <a:rPr kumimoji="0" sz="1200" kern="0" cap="none" spc="-45"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self-</a:t>
            </a:r>
            <a:r>
              <a:rPr kumimoji="0" sz="1200" kern="0" cap="none" spc="-10" normalizeH="0" baseline="0" noProof="0" dirty="0">
                <a:solidFill>
                  <a:sysClr val="windowText" lastClr="000000"/>
                </a:solidFill>
                <a:latin typeface="Tahoma" panose="020B0604030504040204"/>
                <a:cs typeface="Tahoma" panose="020B0604030504040204"/>
              </a:rPr>
              <a:t>inflicted</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15368" name="object 13"/>
          <p:cNvSpPr/>
          <p:nvPr/>
        </p:nvSpPr>
        <p:spPr>
          <a:xfrm>
            <a:off x="1300163" y="2617788"/>
            <a:ext cx="4602162" cy="647700"/>
          </a:xfrm>
          <a:custGeom>
            <a:avLst/>
            <a:gdLst/>
            <a:ahLst/>
            <a:cxnLst/>
            <a:pathLst>
              <a:path w="4603115" h="647064">
                <a:moveTo>
                  <a:pt x="4562221" y="0"/>
                </a:moveTo>
                <a:lnTo>
                  <a:pt x="40893" y="0"/>
                </a:lnTo>
                <a:lnTo>
                  <a:pt x="24967" y="3210"/>
                </a:lnTo>
                <a:lnTo>
                  <a:pt x="11969" y="11969"/>
                </a:lnTo>
                <a:lnTo>
                  <a:pt x="3210" y="24967"/>
                </a:lnTo>
                <a:lnTo>
                  <a:pt x="0" y="40894"/>
                </a:lnTo>
                <a:lnTo>
                  <a:pt x="0" y="606044"/>
                </a:lnTo>
                <a:lnTo>
                  <a:pt x="3210" y="621970"/>
                </a:lnTo>
                <a:lnTo>
                  <a:pt x="11969" y="634968"/>
                </a:lnTo>
                <a:lnTo>
                  <a:pt x="24967" y="643727"/>
                </a:lnTo>
                <a:lnTo>
                  <a:pt x="40893" y="646938"/>
                </a:lnTo>
                <a:lnTo>
                  <a:pt x="4562221" y="646938"/>
                </a:lnTo>
                <a:lnTo>
                  <a:pt x="4578147" y="643727"/>
                </a:lnTo>
                <a:lnTo>
                  <a:pt x="4591145" y="634968"/>
                </a:lnTo>
                <a:lnTo>
                  <a:pt x="4599904" y="621970"/>
                </a:lnTo>
                <a:lnTo>
                  <a:pt x="4603115" y="606044"/>
                </a:lnTo>
                <a:lnTo>
                  <a:pt x="4603115" y="40894"/>
                </a:lnTo>
                <a:lnTo>
                  <a:pt x="4599904" y="24967"/>
                </a:lnTo>
                <a:lnTo>
                  <a:pt x="4591145" y="11969"/>
                </a:lnTo>
                <a:lnTo>
                  <a:pt x="4578147" y="3210"/>
                </a:lnTo>
                <a:lnTo>
                  <a:pt x="4562221" y="0"/>
                </a:lnTo>
                <a:close/>
              </a:path>
            </a:pathLst>
          </a:custGeom>
          <a:solidFill>
            <a:srgbClr val="F1F1F1">
              <a:alpha val="100000"/>
            </a:srgbClr>
          </a:solidFill>
          <a:ln w="9525">
            <a:noFill/>
          </a:ln>
        </p:spPr>
        <p:txBody>
          <a:bodyPr/>
          <a:p>
            <a:endParaRPr lang="en-US"/>
          </a:p>
        </p:txBody>
      </p:sp>
      <p:sp>
        <p:nvSpPr>
          <p:cNvPr id="14" name="object 14"/>
          <p:cNvSpPr txBox="1"/>
          <p:nvPr/>
        </p:nvSpPr>
        <p:spPr>
          <a:xfrm>
            <a:off x="1300163" y="2617788"/>
            <a:ext cx="4602163" cy="647700"/>
          </a:xfrm>
          <a:prstGeom prst="rect">
            <a:avLst/>
          </a:prstGeom>
          <a:ln w="15144">
            <a:solidFill>
              <a:srgbClr val="D9D9D9"/>
            </a:solidFill>
          </a:ln>
        </p:spPr>
        <p:txBody>
          <a:bodyPr vert="horz" wrap="square" lIns="0" tIns="1270" rIns="0" bIns="0" rtlCol="0">
            <a:spAutoFit/>
          </a:bodyPr>
          <a:lstStyle/>
          <a:p>
            <a:pPr marR="0" defTabSz="914400" eaLnBrk="1" fontAlgn="auto" hangingPunct="1">
              <a:spcBef>
                <a:spcPts val="10"/>
              </a:spcBef>
              <a:spcAft>
                <a:spcPts val="0"/>
              </a:spcAft>
              <a:buClrTx/>
              <a:buSzTx/>
              <a:buFontTx/>
              <a:buNone/>
              <a:defRPr/>
            </a:pPr>
            <a:endParaRPr kumimoji="0" sz="1550" kern="0" cap="none" spc="0" normalizeH="0" baseline="0" noProof="0">
              <a:solidFill>
                <a:sysClr val="windowText" lastClr="000000"/>
              </a:solidFill>
              <a:latin typeface="Times New Roman" panose="02020603050405020304"/>
              <a:cs typeface="Times New Roman" panose="02020603050405020304"/>
            </a:endParaRPr>
          </a:p>
          <a:p>
            <a:pPr marL="103505" marR="0" defTabSz="914400" eaLnBrk="1" fontAlgn="auto" hangingPunct="1">
              <a:spcBef>
                <a:spcPts val="0"/>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Riot,</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civil</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commotion</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insurrection</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15370" name="object 15"/>
          <p:cNvSpPr/>
          <p:nvPr/>
        </p:nvSpPr>
        <p:spPr>
          <a:xfrm>
            <a:off x="1300163" y="3375025"/>
            <a:ext cx="4602162" cy="647700"/>
          </a:xfrm>
          <a:custGeom>
            <a:avLst/>
            <a:gdLst/>
            <a:ahLst/>
            <a:cxnLst/>
            <a:pathLst>
              <a:path w="4603115" h="647064">
                <a:moveTo>
                  <a:pt x="4562221" y="0"/>
                </a:moveTo>
                <a:lnTo>
                  <a:pt x="40893" y="0"/>
                </a:lnTo>
                <a:lnTo>
                  <a:pt x="24967" y="3210"/>
                </a:lnTo>
                <a:lnTo>
                  <a:pt x="11969" y="11969"/>
                </a:lnTo>
                <a:lnTo>
                  <a:pt x="3210" y="24967"/>
                </a:lnTo>
                <a:lnTo>
                  <a:pt x="0" y="40894"/>
                </a:lnTo>
                <a:lnTo>
                  <a:pt x="0" y="606044"/>
                </a:lnTo>
                <a:lnTo>
                  <a:pt x="3210" y="621970"/>
                </a:lnTo>
                <a:lnTo>
                  <a:pt x="11969" y="634968"/>
                </a:lnTo>
                <a:lnTo>
                  <a:pt x="24967" y="643727"/>
                </a:lnTo>
                <a:lnTo>
                  <a:pt x="40893" y="646938"/>
                </a:lnTo>
                <a:lnTo>
                  <a:pt x="4562221" y="646938"/>
                </a:lnTo>
                <a:lnTo>
                  <a:pt x="4578147" y="643727"/>
                </a:lnTo>
                <a:lnTo>
                  <a:pt x="4591145" y="634968"/>
                </a:lnTo>
                <a:lnTo>
                  <a:pt x="4599904" y="621970"/>
                </a:lnTo>
                <a:lnTo>
                  <a:pt x="4603115" y="606044"/>
                </a:lnTo>
                <a:lnTo>
                  <a:pt x="4603115" y="40894"/>
                </a:lnTo>
                <a:lnTo>
                  <a:pt x="4599904" y="24967"/>
                </a:lnTo>
                <a:lnTo>
                  <a:pt x="4591145" y="11969"/>
                </a:lnTo>
                <a:lnTo>
                  <a:pt x="4578147" y="3210"/>
                </a:lnTo>
                <a:lnTo>
                  <a:pt x="4562221" y="0"/>
                </a:lnTo>
                <a:close/>
              </a:path>
            </a:pathLst>
          </a:custGeom>
          <a:solidFill>
            <a:srgbClr val="F1F1F1">
              <a:alpha val="100000"/>
            </a:srgbClr>
          </a:solidFill>
          <a:ln w="9525">
            <a:noFill/>
          </a:ln>
        </p:spPr>
        <p:txBody>
          <a:bodyPr/>
          <a:p>
            <a:endParaRPr lang="en-US"/>
          </a:p>
        </p:txBody>
      </p:sp>
      <p:sp>
        <p:nvSpPr>
          <p:cNvPr id="16" name="object 16"/>
          <p:cNvSpPr txBox="1"/>
          <p:nvPr/>
        </p:nvSpPr>
        <p:spPr>
          <a:xfrm>
            <a:off x="1300163" y="3375025"/>
            <a:ext cx="4602163" cy="647700"/>
          </a:xfrm>
          <a:prstGeom prst="rect">
            <a:avLst/>
          </a:prstGeom>
          <a:ln w="15144">
            <a:solidFill>
              <a:srgbClr val="D9D9D9"/>
            </a:solidFill>
          </a:ln>
        </p:spPr>
        <p:txBody>
          <a:bodyPr vert="horz" wrap="square" lIns="0" tIns="1270" rIns="0" bIns="0" rtlCol="0">
            <a:spAutoFit/>
          </a:bodyPr>
          <a:lstStyle/>
          <a:p>
            <a:pPr marR="0" defTabSz="914400" eaLnBrk="1" fontAlgn="auto" hangingPunct="1">
              <a:spcBef>
                <a:spcPts val="10"/>
              </a:spcBef>
              <a:spcAft>
                <a:spcPts val="0"/>
              </a:spcAft>
              <a:buClrTx/>
              <a:buSzTx/>
              <a:buFontTx/>
              <a:buNone/>
              <a:defRPr/>
            </a:pPr>
            <a:endParaRPr kumimoji="0" sz="1550" kern="0" cap="none" spc="0" normalizeH="0" baseline="0" noProof="0">
              <a:solidFill>
                <a:sysClr val="windowText" lastClr="000000"/>
              </a:solidFill>
              <a:latin typeface="Times New Roman" panose="02020603050405020304"/>
              <a:cs typeface="Times New Roman" panose="02020603050405020304"/>
            </a:endParaRPr>
          </a:p>
          <a:p>
            <a:pPr marL="103505" marR="0" defTabSz="914400" eaLnBrk="1" fontAlgn="auto" hangingPunct="1">
              <a:spcBef>
                <a:spcPts val="5"/>
              </a:spcBef>
              <a:spcAft>
                <a:spcPts val="0"/>
              </a:spcAft>
              <a:buClrTx/>
              <a:buSzTx/>
              <a:buFontTx/>
              <a:buNone/>
              <a:defRPr/>
            </a:pPr>
            <a:r>
              <a:rPr kumimoji="0" sz="1200" kern="0" cap="none" spc="-10" normalizeH="0" baseline="0" noProof="0" dirty="0">
                <a:solidFill>
                  <a:sysClr val="windowText" lastClr="000000"/>
                </a:solidFill>
                <a:latin typeface="Tahoma" panose="020B0604030504040204"/>
                <a:cs typeface="Tahoma" panose="020B0604030504040204"/>
              </a:rPr>
              <a:t>Attempted</a:t>
            </a:r>
            <a:r>
              <a:rPr kumimoji="0" sz="1200" kern="0" cap="none" spc="-5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murder</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15372" name="object 17"/>
          <p:cNvSpPr/>
          <p:nvPr/>
        </p:nvSpPr>
        <p:spPr>
          <a:xfrm>
            <a:off x="1285875" y="4132263"/>
            <a:ext cx="4603750" cy="647700"/>
          </a:xfrm>
          <a:custGeom>
            <a:avLst/>
            <a:gdLst/>
            <a:ahLst/>
            <a:cxnLst/>
            <a:pathLst>
              <a:path w="4603115" h="647064">
                <a:moveTo>
                  <a:pt x="4562221" y="0"/>
                </a:moveTo>
                <a:lnTo>
                  <a:pt x="40893" y="0"/>
                </a:lnTo>
                <a:lnTo>
                  <a:pt x="24967" y="3210"/>
                </a:lnTo>
                <a:lnTo>
                  <a:pt x="11969" y="11969"/>
                </a:lnTo>
                <a:lnTo>
                  <a:pt x="3210" y="24967"/>
                </a:lnTo>
                <a:lnTo>
                  <a:pt x="0" y="40893"/>
                </a:lnTo>
                <a:lnTo>
                  <a:pt x="0" y="606044"/>
                </a:lnTo>
                <a:lnTo>
                  <a:pt x="3210" y="621970"/>
                </a:lnTo>
                <a:lnTo>
                  <a:pt x="11969" y="634968"/>
                </a:lnTo>
                <a:lnTo>
                  <a:pt x="24967" y="643727"/>
                </a:lnTo>
                <a:lnTo>
                  <a:pt x="40893" y="646938"/>
                </a:lnTo>
                <a:lnTo>
                  <a:pt x="4562221" y="646938"/>
                </a:lnTo>
                <a:lnTo>
                  <a:pt x="4578147" y="643727"/>
                </a:lnTo>
                <a:lnTo>
                  <a:pt x="4591145" y="634968"/>
                </a:lnTo>
                <a:lnTo>
                  <a:pt x="4599904" y="621970"/>
                </a:lnTo>
                <a:lnTo>
                  <a:pt x="4603115" y="606044"/>
                </a:lnTo>
                <a:lnTo>
                  <a:pt x="4603115" y="40893"/>
                </a:lnTo>
                <a:lnTo>
                  <a:pt x="4599904" y="24967"/>
                </a:lnTo>
                <a:lnTo>
                  <a:pt x="4591145" y="11969"/>
                </a:lnTo>
                <a:lnTo>
                  <a:pt x="4578147" y="3210"/>
                </a:lnTo>
                <a:lnTo>
                  <a:pt x="4562221" y="0"/>
                </a:lnTo>
                <a:close/>
              </a:path>
            </a:pathLst>
          </a:custGeom>
          <a:solidFill>
            <a:srgbClr val="F1F1F1">
              <a:alpha val="100000"/>
            </a:srgbClr>
          </a:solidFill>
          <a:ln w="9525">
            <a:noFill/>
          </a:ln>
        </p:spPr>
        <p:txBody>
          <a:bodyPr/>
          <a:p>
            <a:endParaRPr lang="en-US"/>
          </a:p>
        </p:txBody>
      </p:sp>
      <p:sp>
        <p:nvSpPr>
          <p:cNvPr id="18" name="object 18"/>
          <p:cNvSpPr txBox="1"/>
          <p:nvPr/>
        </p:nvSpPr>
        <p:spPr>
          <a:xfrm>
            <a:off x="1285875" y="4132263"/>
            <a:ext cx="4603750" cy="647700"/>
          </a:xfrm>
          <a:prstGeom prst="rect">
            <a:avLst/>
          </a:prstGeom>
          <a:ln w="15144">
            <a:solidFill>
              <a:srgbClr val="D9D9D9"/>
            </a:solidFill>
          </a:ln>
        </p:spPr>
        <p:txBody>
          <a:bodyPr vert="horz" wrap="square" lIns="0" tIns="136525" rIns="0" bIns="0" rtlCol="0">
            <a:spAutoFit/>
          </a:bodyPr>
          <a:p>
            <a:pPr marL="103505" eaLnBrk="1" hangingPunct="1">
              <a:spcBef>
                <a:spcPts val="1075"/>
              </a:spcBef>
              <a:buNone/>
            </a:pPr>
            <a:r>
              <a:rPr lang="en-US" altLang="zh-CN" sz="1200">
                <a:solidFill>
                  <a:srgbClr val="000000"/>
                </a:solidFill>
                <a:latin typeface="Tahoma" panose="020B0604030504040204" pitchFamily="34" charset="0"/>
                <a:cs typeface="Tahoma" panose="020B0604030504040204" pitchFamily="34" charset="0"/>
              </a:rPr>
              <a:t>Any violation or attempt of violation of the law or resistance to arrest</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15374" name="object 19"/>
          <p:cNvGrpSpPr/>
          <p:nvPr/>
        </p:nvGrpSpPr>
        <p:grpSpPr>
          <a:xfrm>
            <a:off x="1284288" y="4891088"/>
            <a:ext cx="4606925" cy="1100137"/>
            <a:chOff x="1284541" y="4891341"/>
            <a:chExt cx="4606290" cy="1099185"/>
          </a:xfrm>
        </p:grpSpPr>
        <p:sp>
          <p:nvSpPr>
            <p:cNvPr id="15385" name="object 20"/>
            <p:cNvSpPr/>
            <p:nvPr/>
          </p:nvSpPr>
          <p:spPr>
            <a:xfrm>
              <a:off x="1286128" y="4892928"/>
              <a:ext cx="4603115" cy="1096010"/>
            </a:xfrm>
            <a:custGeom>
              <a:avLst/>
              <a:gdLst/>
              <a:ahLst/>
              <a:cxnLst/>
              <a:pathLst>
                <a:path w="4603115" h="1096010">
                  <a:moveTo>
                    <a:pt x="4533773" y="0"/>
                  </a:moveTo>
                  <a:lnTo>
                    <a:pt x="69342" y="0"/>
                  </a:lnTo>
                  <a:lnTo>
                    <a:pt x="42380" y="5441"/>
                  </a:lnTo>
                  <a:lnTo>
                    <a:pt x="20335" y="20288"/>
                  </a:lnTo>
                  <a:lnTo>
                    <a:pt x="5459" y="42326"/>
                  </a:lnTo>
                  <a:lnTo>
                    <a:pt x="0" y="69342"/>
                  </a:lnTo>
                  <a:lnTo>
                    <a:pt x="0" y="1026337"/>
                  </a:lnTo>
                  <a:lnTo>
                    <a:pt x="5459" y="1053335"/>
                  </a:lnTo>
                  <a:lnTo>
                    <a:pt x="20335" y="1075385"/>
                  </a:lnTo>
                  <a:lnTo>
                    <a:pt x="42380" y="1090252"/>
                  </a:lnTo>
                  <a:lnTo>
                    <a:pt x="69342" y="1095705"/>
                  </a:lnTo>
                  <a:lnTo>
                    <a:pt x="4533773" y="1095705"/>
                  </a:lnTo>
                  <a:lnTo>
                    <a:pt x="4560788" y="1090252"/>
                  </a:lnTo>
                  <a:lnTo>
                    <a:pt x="4582826" y="1075385"/>
                  </a:lnTo>
                  <a:lnTo>
                    <a:pt x="4597673" y="1053335"/>
                  </a:lnTo>
                  <a:lnTo>
                    <a:pt x="4603115" y="1026337"/>
                  </a:lnTo>
                  <a:lnTo>
                    <a:pt x="4603115" y="69342"/>
                  </a:lnTo>
                  <a:lnTo>
                    <a:pt x="4597673" y="42326"/>
                  </a:lnTo>
                  <a:lnTo>
                    <a:pt x="4582826" y="20288"/>
                  </a:lnTo>
                  <a:lnTo>
                    <a:pt x="4560788" y="5441"/>
                  </a:lnTo>
                  <a:lnTo>
                    <a:pt x="4533773" y="0"/>
                  </a:lnTo>
                  <a:close/>
                </a:path>
              </a:pathLst>
            </a:custGeom>
            <a:solidFill>
              <a:srgbClr val="F1F1F1">
                <a:alpha val="100000"/>
              </a:srgbClr>
            </a:solidFill>
            <a:ln w="9525">
              <a:noFill/>
            </a:ln>
          </p:spPr>
          <p:txBody>
            <a:bodyPr/>
            <a:p>
              <a:endParaRPr lang="en-US"/>
            </a:p>
          </p:txBody>
        </p:sp>
        <p:sp>
          <p:nvSpPr>
            <p:cNvPr id="15386" name="object 21"/>
            <p:cNvSpPr/>
            <p:nvPr/>
          </p:nvSpPr>
          <p:spPr>
            <a:xfrm>
              <a:off x="1286128" y="4892928"/>
              <a:ext cx="4603115" cy="1096010"/>
            </a:xfrm>
            <a:custGeom>
              <a:avLst/>
              <a:gdLst/>
              <a:ahLst/>
              <a:cxnLst/>
              <a:pathLst>
                <a:path w="4603115" h="1096010">
                  <a:moveTo>
                    <a:pt x="0" y="69342"/>
                  </a:moveTo>
                  <a:lnTo>
                    <a:pt x="5459" y="42326"/>
                  </a:lnTo>
                  <a:lnTo>
                    <a:pt x="20335" y="20288"/>
                  </a:lnTo>
                  <a:lnTo>
                    <a:pt x="42380" y="5441"/>
                  </a:lnTo>
                  <a:lnTo>
                    <a:pt x="69342" y="0"/>
                  </a:lnTo>
                  <a:lnTo>
                    <a:pt x="4533773" y="0"/>
                  </a:lnTo>
                  <a:lnTo>
                    <a:pt x="4560788" y="5441"/>
                  </a:lnTo>
                  <a:lnTo>
                    <a:pt x="4582826" y="20288"/>
                  </a:lnTo>
                  <a:lnTo>
                    <a:pt x="4597673" y="42326"/>
                  </a:lnTo>
                  <a:lnTo>
                    <a:pt x="4603115" y="69342"/>
                  </a:lnTo>
                  <a:lnTo>
                    <a:pt x="4603115" y="1026337"/>
                  </a:lnTo>
                  <a:lnTo>
                    <a:pt x="4597673" y="1053335"/>
                  </a:lnTo>
                  <a:lnTo>
                    <a:pt x="4582826" y="1075385"/>
                  </a:lnTo>
                  <a:lnTo>
                    <a:pt x="4560788" y="1090252"/>
                  </a:lnTo>
                  <a:lnTo>
                    <a:pt x="4533773" y="1095705"/>
                  </a:lnTo>
                  <a:lnTo>
                    <a:pt x="69342" y="1095705"/>
                  </a:lnTo>
                  <a:lnTo>
                    <a:pt x="42380" y="1090252"/>
                  </a:lnTo>
                  <a:lnTo>
                    <a:pt x="20335" y="1075385"/>
                  </a:lnTo>
                  <a:lnTo>
                    <a:pt x="5459" y="1053335"/>
                  </a:lnTo>
                  <a:lnTo>
                    <a:pt x="0" y="1026337"/>
                  </a:lnTo>
                  <a:lnTo>
                    <a:pt x="0" y="6934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2" name="object 22"/>
          <p:cNvSpPr txBox="1"/>
          <p:nvPr/>
        </p:nvSpPr>
        <p:spPr>
          <a:xfrm>
            <a:off x="1385888" y="5059363"/>
            <a:ext cx="4405313" cy="757238"/>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Any drug, poison, gas or fumes, voluntarily or involuntarily taken, administered, absorbed or inhaled, except as a result of an accident  arising  from  a  hazard  incident  to  the  member’s occupation.</a:t>
            </a:r>
            <a:endParaRPr lang="en-US" altLang="zh-CN" sz="1200">
              <a:solidFill>
                <a:srgbClr val="000000"/>
              </a:solidFill>
              <a:latin typeface="Tahoma" panose="020B0604030504040204" pitchFamily="34" charset="0"/>
              <a:ea typeface="Tahoma" panose="020B0604030504040204" pitchFamily="34" charset="0"/>
            </a:endParaRPr>
          </a:p>
        </p:txBody>
      </p:sp>
      <p:sp>
        <p:nvSpPr>
          <p:cNvPr id="15376" name="object 23"/>
          <p:cNvSpPr/>
          <p:nvPr/>
        </p:nvSpPr>
        <p:spPr>
          <a:xfrm>
            <a:off x="6275388" y="1871663"/>
            <a:ext cx="4603750" cy="647700"/>
          </a:xfrm>
          <a:custGeom>
            <a:avLst/>
            <a:gdLst/>
            <a:ahLst/>
            <a:cxnLst/>
            <a:pathLst>
              <a:path w="4603750" h="647064">
                <a:moveTo>
                  <a:pt x="4562221" y="0"/>
                </a:moveTo>
                <a:lnTo>
                  <a:pt x="41021" y="0"/>
                </a:lnTo>
                <a:lnTo>
                  <a:pt x="25074" y="3210"/>
                </a:lnTo>
                <a:lnTo>
                  <a:pt x="12033" y="11969"/>
                </a:lnTo>
                <a:lnTo>
                  <a:pt x="3230" y="24967"/>
                </a:lnTo>
                <a:lnTo>
                  <a:pt x="0" y="40893"/>
                </a:lnTo>
                <a:lnTo>
                  <a:pt x="0" y="606043"/>
                </a:lnTo>
                <a:lnTo>
                  <a:pt x="3230" y="621970"/>
                </a:lnTo>
                <a:lnTo>
                  <a:pt x="12033" y="634968"/>
                </a:lnTo>
                <a:lnTo>
                  <a:pt x="25074" y="643727"/>
                </a:lnTo>
                <a:lnTo>
                  <a:pt x="41021" y="646938"/>
                </a:lnTo>
                <a:lnTo>
                  <a:pt x="4562221" y="646938"/>
                </a:lnTo>
                <a:lnTo>
                  <a:pt x="4578167" y="643727"/>
                </a:lnTo>
                <a:lnTo>
                  <a:pt x="4591208" y="634968"/>
                </a:lnTo>
                <a:lnTo>
                  <a:pt x="4600011" y="621970"/>
                </a:lnTo>
                <a:lnTo>
                  <a:pt x="4603242" y="606043"/>
                </a:lnTo>
                <a:lnTo>
                  <a:pt x="4603242" y="40893"/>
                </a:lnTo>
                <a:lnTo>
                  <a:pt x="4600011" y="24967"/>
                </a:lnTo>
                <a:lnTo>
                  <a:pt x="4591208" y="11969"/>
                </a:lnTo>
                <a:lnTo>
                  <a:pt x="4578167" y="3210"/>
                </a:lnTo>
                <a:lnTo>
                  <a:pt x="4562221" y="0"/>
                </a:lnTo>
                <a:close/>
              </a:path>
            </a:pathLst>
          </a:custGeom>
          <a:solidFill>
            <a:srgbClr val="F1F1F1">
              <a:alpha val="100000"/>
            </a:srgbClr>
          </a:solidFill>
          <a:ln w="9525">
            <a:noFill/>
          </a:ln>
        </p:spPr>
        <p:txBody>
          <a:bodyPr/>
          <a:p>
            <a:endParaRPr lang="en-US"/>
          </a:p>
        </p:txBody>
      </p:sp>
      <p:sp>
        <p:nvSpPr>
          <p:cNvPr id="24" name="object 24"/>
          <p:cNvSpPr txBox="1"/>
          <p:nvPr/>
        </p:nvSpPr>
        <p:spPr>
          <a:xfrm>
            <a:off x="6275388" y="1871663"/>
            <a:ext cx="4603750" cy="647700"/>
          </a:xfrm>
          <a:prstGeom prst="rect">
            <a:avLst/>
          </a:prstGeom>
          <a:ln w="15208">
            <a:solidFill>
              <a:srgbClr val="D9D9D9"/>
            </a:solidFill>
          </a:ln>
        </p:spPr>
        <p:txBody>
          <a:bodyPr vert="horz" wrap="square" lIns="0" tIns="1270" rIns="0" bIns="0" rtlCol="0">
            <a:spAutoFit/>
          </a:bodyPr>
          <a:lstStyle/>
          <a:p>
            <a:pPr marR="0" defTabSz="914400" eaLnBrk="1" fontAlgn="auto" hangingPunct="1">
              <a:spcBef>
                <a:spcPts val="10"/>
              </a:spcBef>
              <a:spcAft>
                <a:spcPts val="0"/>
              </a:spcAft>
              <a:buClrTx/>
              <a:buSzTx/>
              <a:buFontTx/>
              <a:buNone/>
              <a:defRPr/>
            </a:pPr>
            <a:endParaRPr kumimoji="0" sz="1550" kern="0" cap="none" spc="0" normalizeH="0" baseline="0" noProof="0">
              <a:solidFill>
                <a:sysClr val="windowText" lastClr="000000"/>
              </a:solidFill>
              <a:latin typeface="Times New Roman" panose="02020603050405020304"/>
              <a:cs typeface="Times New Roman" panose="02020603050405020304"/>
            </a:endParaRPr>
          </a:p>
          <a:p>
            <a:pPr marL="104140" marR="0" defTabSz="914400" eaLnBrk="1" fontAlgn="auto" hangingPunct="1">
              <a:spcBef>
                <a:spcPts val="0"/>
              </a:spcBef>
              <a:spcAft>
                <a:spcPts val="0"/>
              </a:spcAft>
              <a:buClrTx/>
              <a:buSzTx/>
              <a:buFontTx/>
              <a:buNone/>
              <a:defRPr/>
            </a:pPr>
            <a:r>
              <a:rPr kumimoji="0" sz="1200" kern="0" cap="none" spc="-10" normalizeH="0" baseline="0" noProof="0" dirty="0">
                <a:solidFill>
                  <a:sysClr val="windowText" lastClr="000000"/>
                </a:solidFill>
                <a:latin typeface="Tahoma" panose="020B0604030504040204"/>
                <a:cs typeface="Tahoma" panose="020B0604030504040204"/>
              </a:rPr>
              <a:t>War</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any</a:t>
            </a:r>
            <a:r>
              <a:rPr kumimoji="0" sz="1200" kern="0" cap="none" spc="-4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act</a:t>
            </a:r>
            <a:r>
              <a:rPr kumimoji="0" sz="1200" kern="0" cap="none" spc="-3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incident</a:t>
            </a:r>
            <a:r>
              <a:rPr kumimoji="0" sz="1200" kern="0" cap="none" spc="-6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to</a:t>
            </a:r>
            <a:r>
              <a:rPr kumimoji="0" sz="1200" kern="0" cap="none" spc="-3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war</a:t>
            </a:r>
            <a:r>
              <a:rPr kumimoji="0" sz="1200" kern="0" cap="none" spc="-50" normalizeH="0" baseline="0" noProof="0" dirty="0">
                <a:solidFill>
                  <a:sysClr val="windowText" lastClr="000000"/>
                </a:solidFill>
                <a:latin typeface="Tahoma" panose="020B0604030504040204"/>
                <a:cs typeface="Tahoma" panose="020B0604030504040204"/>
              </a:rPr>
              <a:t> </a:t>
            </a:r>
            <a:r>
              <a:rPr kumimoji="0" sz="1200" kern="0" cap="none" spc="-20" normalizeH="0" baseline="0" noProof="0" dirty="0">
                <a:solidFill>
                  <a:sysClr val="windowText" lastClr="000000"/>
                </a:solidFill>
                <a:latin typeface="Tahoma" panose="020B0604030504040204"/>
                <a:cs typeface="Tahoma" panose="020B0604030504040204"/>
              </a:rPr>
              <a:t>whether</a:t>
            </a:r>
            <a:r>
              <a:rPr kumimoji="0" sz="1200" kern="0" cap="none" spc="-2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declared</a:t>
            </a:r>
            <a:r>
              <a:rPr kumimoji="0" sz="1200" kern="0" cap="none" spc="-5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40"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undeclared</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15378" name="object 25"/>
          <p:cNvSpPr/>
          <p:nvPr/>
        </p:nvSpPr>
        <p:spPr>
          <a:xfrm>
            <a:off x="6289675" y="2617788"/>
            <a:ext cx="4602163" cy="647700"/>
          </a:xfrm>
          <a:custGeom>
            <a:avLst/>
            <a:gdLst/>
            <a:ahLst/>
            <a:cxnLst/>
            <a:pathLst>
              <a:path w="4603115" h="647064">
                <a:moveTo>
                  <a:pt x="4562220" y="0"/>
                </a:moveTo>
                <a:lnTo>
                  <a:pt x="40894" y="0"/>
                </a:lnTo>
                <a:lnTo>
                  <a:pt x="24967" y="3210"/>
                </a:lnTo>
                <a:lnTo>
                  <a:pt x="11969" y="11969"/>
                </a:lnTo>
                <a:lnTo>
                  <a:pt x="3210" y="24967"/>
                </a:lnTo>
                <a:lnTo>
                  <a:pt x="0" y="40894"/>
                </a:lnTo>
                <a:lnTo>
                  <a:pt x="0" y="606044"/>
                </a:lnTo>
                <a:lnTo>
                  <a:pt x="3210" y="621970"/>
                </a:lnTo>
                <a:lnTo>
                  <a:pt x="11969" y="634968"/>
                </a:lnTo>
                <a:lnTo>
                  <a:pt x="24967" y="643727"/>
                </a:lnTo>
                <a:lnTo>
                  <a:pt x="40894" y="646938"/>
                </a:lnTo>
                <a:lnTo>
                  <a:pt x="4562220" y="646938"/>
                </a:lnTo>
                <a:lnTo>
                  <a:pt x="4578147" y="643727"/>
                </a:lnTo>
                <a:lnTo>
                  <a:pt x="4591145" y="634968"/>
                </a:lnTo>
                <a:lnTo>
                  <a:pt x="4599904" y="621970"/>
                </a:lnTo>
                <a:lnTo>
                  <a:pt x="4603115" y="606044"/>
                </a:lnTo>
                <a:lnTo>
                  <a:pt x="4603115" y="40894"/>
                </a:lnTo>
                <a:lnTo>
                  <a:pt x="4599904" y="24967"/>
                </a:lnTo>
                <a:lnTo>
                  <a:pt x="4591145" y="11969"/>
                </a:lnTo>
                <a:lnTo>
                  <a:pt x="4578147" y="3210"/>
                </a:lnTo>
                <a:lnTo>
                  <a:pt x="4562220" y="0"/>
                </a:lnTo>
                <a:close/>
              </a:path>
            </a:pathLst>
          </a:custGeom>
          <a:solidFill>
            <a:srgbClr val="F1F1F1">
              <a:alpha val="100000"/>
            </a:srgbClr>
          </a:solidFill>
          <a:ln w="9525">
            <a:noFill/>
          </a:ln>
        </p:spPr>
        <p:txBody>
          <a:bodyPr/>
          <a:p>
            <a:endParaRPr lang="en-US"/>
          </a:p>
        </p:txBody>
      </p:sp>
      <p:sp>
        <p:nvSpPr>
          <p:cNvPr id="26" name="object 26"/>
          <p:cNvSpPr txBox="1"/>
          <p:nvPr/>
        </p:nvSpPr>
        <p:spPr>
          <a:xfrm>
            <a:off x="6289675" y="2617788"/>
            <a:ext cx="4602163" cy="647700"/>
          </a:xfrm>
          <a:prstGeom prst="rect">
            <a:avLst/>
          </a:prstGeom>
          <a:ln w="15144">
            <a:solidFill>
              <a:srgbClr val="D9D9D9"/>
            </a:solidFill>
          </a:ln>
        </p:spPr>
        <p:txBody>
          <a:bodyPr vert="horz" wrap="square" lIns="0" tIns="136525" rIns="0" bIns="0" rtlCol="0">
            <a:spAutoFit/>
          </a:bodyPr>
          <a:p>
            <a:pPr marL="103505" eaLnBrk="1" hangingPunct="1">
              <a:spcBef>
                <a:spcPts val="1075"/>
              </a:spcBef>
              <a:buNone/>
            </a:pPr>
            <a:r>
              <a:rPr lang="en-US" altLang="zh-CN" sz="1200">
                <a:solidFill>
                  <a:srgbClr val="000000"/>
                </a:solidFill>
                <a:latin typeface="Tahoma" panose="020B0604030504040204" pitchFamily="34" charset="0"/>
                <a:cs typeface="Tahoma" panose="020B0604030504040204" pitchFamily="34" charset="0"/>
              </a:rPr>
              <a:t>Travel or flight or descent from any aircraft as a member of the crew, or</a:t>
            </a:r>
            <a:endParaRPr lang="en-US" altLang="zh-CN" sz="1200">
              <a:solidFill>
                <a:srgbClr val="000000"/>
              </a:solidFill>
              <a:latin typeface="Tahoma" panose="020B0604030504040204" pitchFamily="34" charset="0"/>
              <a:ea typeface="Tahoma" panose="020B0604030504040204" pitchFamily="34" charset="0"/>
            </a:endParaRPr>
          </a:p>
        </p:txBody>
      </p:sp>
      <p:sp>
        <p:nvSpPr>
          <p:cNvPr id="15380" name="object 27"/>
          <p:cNvSpPr/>
          <p:nvPr/>
        </p:nvSpPr>
        <p:spPr>
          <a:xfrm>
            <a:off x="6289675" y="3375025"/>
            <a:ext cx="4602163" cy="647700"/>
          </a:xfrm>
          <a:custGeom>
            <a:avLst/>
            <a:gdLst/>
            <a:ahLst/>
            <a:cxnLst/>
            <a:pathLst>
              <a:path w="4603115" h="647064">
                <a:moveTo>
                  <a:pt x="4562220" y="0"/>
                </a:moveTo>
                <a:lnTo>
                  <a:pt x="40894" y="0"/>
                </a:lnTo>
                <a:lnTo>
                  <a:pt x="24967" y="3210"/>
                </a:lnTo>
                <a:lnTo>
                  <a:pt x="11969" y="11969"/>
                </a:lnTo>
                <a:lnTo>
                  <a:pt x="3210" y="24967"/>
                </a:lnTo>
                <a:lnTo>
                  <a:pt x="0" y="40894"/>
                </a:lnTo>
                <a:lnTo>
                  <a:pt x="0" y="606044"/>
                </a:lnTo>
                <a:lnTo>
                  <a:pt x="3210" y="621970"/>
                </a:lnTo>
                <a:lnTo>
                  <a:pt x="11969" y="634968"/>
                </a:lnTo>
                <a:lnTo>
                  <a:pt x="24967" y="643727"/>
                </a:lnTo>
                <a:lnTo>
                  <a:pt x="40894" y="646938"/>
                </a:lnTo>
                <a:lnTo>
                  <a:pt x="4562220" y="646938"/>
                </a:lnTo>
                <a:lnTo>
                  <a:pt x="4578147" y="643727"/>
                </a:lnTo>
                <a:lnTo>
                  <a:pt x="4591145" y="634968"/>
                </a:lnTo>
                <a:lnTo>
                  <a:pt x="4599904" y="621970"/>
                </a:lnTo>
                <a:lnTo>
                  <a:pt x="4603115" y="606044"/>
                </a:lnTo>
                <a:lnTo>
                  <a:pt x="4603115" y="40894"/>
                </a:lnTo>
                <a:lnTo>
                  <a:pt x="4599904" y="24967"/>
                </a:lnTo>
                <a:lnTo>
                  <a:pt x="4591145" y="11969"/>
                </a:lnTo>
                <a:lnTo>
                  <a:pt x="4578147" y="3210"/>
                </a:lnTo>
                <a:lnTo>
                  <a:pt x="4562220" y="0"/>
                </a:lnTo>
                <a:close/>
              </a:path>
            </a:pathLst>
          </a:custGeom>
          <a:solidFill>
            <a:srgbClr val="F1F1F1">
              <a:alpha val="100000"/>
            </a:srgbClr>
          </a:solidFill>
          <a:ln w="9525">
            <a:noFill/>
          </a:ln>
        </p:spPr>
        <p:txBody>
          <a:bodyPr/>
          <a:p>
            <a:endParaRPr lang="en-US"/>
          </a:p>
        </p:txBody>
      </p:sp>
      <p:sp>
        <p:nvSpPr>
          <p:cNvPr id="28" name="object 28"/>
          <p:cNvSpPr txBox="1"/>
          <p:nvPr/>
        </p:nvSpPr>
        <p:spPr>
          <a:xfrm>
            <a:off x="6289675" y="3375025"/>
            <a:ext cx="4602163" cy="647700"/>
          </a:xfrm>
          <a:prstGeom prst="rect">
            <a:avLst/>
          </a:prstGeom>
          <a:ln w="15144">
            <a:solidFill>
              <a:srgbClr val="D9D9D9"/>
            </a:solidFill>
          </a:ln>
        </p:spPr>
        <p:txBody>
          <a:bodyPr vert="horz" wrap="square" lIns="0" tIns="136525" rIns="0" bIns="0" rtlCol="0">
            <a:spAutoFit/>
          </a:bodyPr>
          <a:p>
            <a:pPr marL="103505" eaLnBrk="1" hangingPunct="1">
              <a:spcBef>
                <a:spcPts val="1075"/>
              </a:spcBef>
              <a:buNone/>
            </a:pPr>
            <a:r>
              <a:rPr lang="en-US" altLang="zh-CN" sz="1200">
                <a:solidFill>
                  <a:srgbClr val="000000"/>
                </a:solidFill>
                <a:latin typeface="Tahoma" panose="020B0604030504040204" pitchFamily="34" charset="0"/>
                <a:cs typeface="Tahoma" panose="020B0604030504040204" pitchFamily="34" charset="0"/>
              </a:rPr>
              <a:t>Travel or flight in or descent from any aircraft of any military, naval, or air force</a:t>
            </a:r>
            <a:endParaRPr lang="en-US" altLang="zh-CN" sz="1200">
              <a:solidFill>
                <a:srgbClr val="000000"/>
              </a:solidFill>
              <a:latin typeface="Tahoma" panose="020B0604030504040204" pitchFamily="34" charset="0"/>
              <a:ea typeface="Tahoma" panose="020B0604030504040204" pitchFamily="34" charset="0"/>
            </a:endParaRPr>
          </a:p>
        </p:txBody>
      </p:sp>
      <p:sp>
        <p:nvSpPr>
          <p:cNvPr id="15382" name="object 29"/>
          <p:cNvSpPr/>
          <p:nvPr/>
        </p:nvSpPr>
        <p:spPr>
          <a:xfrm>
            <a:off x="6275388" y="4132263"/>
            <a:ext cx="4603750" cy="647700"/>
          </a:xfrm>
          <a:custGeom>
            <a:avLst/>
            <a:gdLst/>
            <a:ahLst/>
            <a:cxnLst/>
            <a:pathLst>
              <a:path w="4603750" h="647064">
                <a:moveTo>
                  <a:pt x="4562221" y="0"/>
                </a:moveTo>
                <a:lnTo>
                  <a:pt x="41021" y="0"/>
                </a:lnTo>
                <a:lnTo>
                  <a:pt x="25074" y="3210"/>
                </a:lnTo>
                <a:lnTo>
                  <a:pt x="12033" y="11969"/>
                </a:lnTo>
                <a:lnTo>
                  <a:pt x="3230" y="24967"/>
                </a:lnTo>
                <a:lnTo>
                  <a:pt x="0" y="40893"/>
                </a:lnTo>
                <a:lnTo>
                  <a:pt x="0" y="606044"/>
                </a:lnTo>
                <a:lnTo>
                  <a:pt x="3230" y="621970"/>
                </a:lnTo>
                <a:lnTo>
                  <a:pt x="12033" y="634968"/>
                </a:lnTo>
                <a:lnTo>
                  <a:pt x="25074" y="643727"/>
                </a:lnTo>
                <a:lnTo>
                  <a:pt x="41021" y="646938"/>
                </a:lnTo>
                <a:lnTo>
                  <a:pt x="4562221" y="646938"/>
                </a:lnTo>
                <a:lnTo>
                  <a:pt x="4578167" y="643727"/>
                </a:lnTo>
                <a:lnTo>
                  <a:pt x="4591208" y="634968"/>
                </a:lnTo>
                <a:lnTo>
                  <a:pt x="4600011" y="621970"/>
                </a:lnTo>
                <a:lnTo>
                  <a:pt x="4603242" y="606044"/>
                </a:lnTo>
                <a:lnTo>
                  <a:pt x="4603242" y="40893"/>
                </a:lnTo>
                <a:lnTo>
                  <a:pt x="4600011" y="24967"/>
                </a:lnTo>
                <a:lnTo>
                  <a:pt x="4591208" y="11969"/>
                </a:lnTo>
                <a:lnTo>
                  <a:pt x="4578167" y="3210"/>
                </a:lnTo>
                <a:lnTo>
                  <a:pt x="4562221" y="0"/>
                </a:lnTo>
                <a:close/>
              </a:path>
            </a:pathLst>
          </a:custGeom>
          <a:solidFill>
            <a:srgbClr val="F1F1F1">
              <a:alpha val="100000"/>
            </a:srgbClr>
          </a:solidFill>
          <a:ln w="9525">
            <a:noFill/>
          </a:ln>
        </p:spPr>
        <p:txBody>
          <a:bodyPr/>
          <a:p>
            <a:endParaRPr lang="en-US"/>
          </a:p>
        </p:txBody>
      </p:sp>
      <p:sp>
        <p:nvSpPr>
          <p:cNvPr id="30" name="object 30"/>
          <p:cNvSpPr txBox="1"/>
          <p:nvPr/>
        </p:nvSpPr>
        <p:spPr>
          <a:xfrm>
            <a:off x="6275388" y="4132263"/>
            <a:ext cx="4603750" cy="647700"/>
          </a:xfrm>
          <a:prstGeom prst="rect">
            <a:avLst/>
          </a:prstGeom>
          <a:ln w="15208">
            <a:solidFill>
              <a:srgbClr val="D9D9D9"/>
            </a:solidFill>
          </a:ln>
        </p:spPr>
        <p:txBody>
          <a:bodyPr vert="horz" wrap="square" lIns="0" tIns="1270" rIns="0" bIns="0" rtlCol="0">
            <a:spAutoFit/>
          </a:bodyPr>
          <a:lstStyle/>
          <a:p>
            <a:pPr marR="0" defTabSz="914400" eaLnBrk="1" fontAlgn="auto" hangingPunct="1">
              <a:spcBef>
                <a:spcPts val="10"/>
              </a:spcBef>
              <a:spcAft>
                <a:spcPts val="0"/>
              </a:spcAft>
              <a:buClrTx/>
              <a:buSzTx/>
              <a:buFontTx/>
              <a:buNone/>
              <a:defRPr/>
            </a:pPr>
            <a:endParaRPr kumimoji="0" sz="1550" kern="0" cap="none" spc="0" normalizeH="0" baseline="0" noProof="0">
              <a:solidFill>
                <a:sysClr val="windowText" lastClr="000000"/>
              </a:solidFill>
              <a:latin typeface="Times New Roman" panose="02020603050405020304"/>
              <a:cs typeface="Times New Roman" panose="02020603050405020304"/>
            </a:endParaRPr>
          </a:p>
          <a:p>
            <a:pPr marL="104140" marR="0" defTabSz="914400" eaLnBrk="1" fontAlgn="auto" hangingPunct="1">
              <a:spcBef>
                <a:spcPts val="5"/>
              </a:spcBef>
              <a:spcAft>
                <a:spcPts val="0"/>
              </a:spcAft>
              <a:buClrTx/>
              <a:buSzTx/>
              <a:buFontTx/>
              <a:buNone/>
              <a:defRPr/>
            </a:pPr>
            <a:r>
              <a:rPr kumimoji="0" sz="1200" kern="0" cap="none" spc="0" normalizeH="0" baseline="0" noProof="0" dirty="0">
                <a:solidFill>
                  <a:sysClr val="windowText" lastClr="000000"/>
                </a:solidFill>
                <a:latin typeface="Tahoma" panose="020B0604030504040204"/>
                <a:cs typeface="Tahoma" panose="020B0604030504040204"/>
              </a:rPr>
              <a:t>Provoked</a:t>
            </a:r>
            <a:r>
              <a:rPr kumimoji="0" sz="1200" kern="0" cap="none" spc="-1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assault,</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 participation</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in</a:t>
            </a:r>
            <a:r>
              <a:rPr kumimoji="0" sz="1200" kern="0" cap="none" spc="-1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an</a:t>
            </a:r>
            <a:r>
              <a:rPr kumimoji="0" sz="1200" kern="0" cap="none" spc="-10"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assault</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0" normalizeH="0" baseline="0" noProof="0" dirty="0">
                <a:solidFill>
                  <a:sysClr val="windowText" lastClr="000000"/>
                </a:solidFill>
                <a:latin typeface="Tahoma" panose="020B0604030504040204"/>
                <a:cs typeface="Tahoma" panose="020B0604030504040204"/>
              </a:rPr>
              <a:t>or</a:t>
            </a:r>
            <a:r>
              <a:rPr kumimoji="0" sz="1200" kern="0" cap="none" spc="5" normalizeH="0" baseline="0" noProof="0" dirty="0">
                <a:solidFill>
                  <a:sysClr val="windowText" lastClr="000000"/>
                </a:solidFill>
                <a:latin typeface="Tahoma" panose="020B0604030504040204"/>
                <a:cs typeface="Tahoma" panose="020B0604030504040204"/>
              </a:rPr>
              <a:t> </a:t>
            </a:r>
            <a:r>
              <a:rPr kumimoji="0" sz="1200" kern="0" cap="none" spc="-10" normalizeH="0" baseline="0" noProof="0" dirty="0">
                <a:solidFill>
                  <a:sysClr val="windowText" lastClr="000000"/>
                </a:solidFill>
                <a:latin typeface="Tahoma" panose="020B0604030504040204"/>
                <a:cs typeface="Tahoma" panose="020B0604030504040204"/>
              </a:rPr>
              <a:t>brawl</a:t>
            </a:r>
            <a:endParaRPr kumimoji="0" sz="1200" kern="0" cap="none" spc="0" normalizeH="0" baseline="0" noProof="0">
              <a:solidFill>
                <a:sysClr val="windowText" lastClr="000000"/>
              </a:solidFill>
              <a:latin typeface="Tahoma" panose="020B0604030504040204"/>
              <a:cs typeface="Tahoma" panose="020B0604030504040204"/>
            </a:endParaRPr>
          </a:p>
        </p:txBody>
      </p:sp>
      <p:sp>
        <p:nvSpPr>
          <p:cNvPr id="31" name="object 31"/>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6" name="object 2"/>
          <p:cNvGrpSpPr/>
          <p:nvPr/>
        </p:nvGrpSpPr>
        <p:grpSpPr>
          <a:xfrm>
            <a:off x="2787650" y="287338"/>
            <a:ext cx="8131175" cy="879475"/>
            <a:chOff x="2787713" y="288099"/>
            <a:chExt cx="8130540" cy="878205"/>
          </a:xfrm>
        </p:grpSpPr>
        <p:sp>
          <p:nvSpPr>
            <p:cNvPr id="16394" name="object 3"/>
            <p:cNvSpPr/>
            <p:nvPr/>
          </p:nvSpPr>
          <p:spPr>
            <a:xfrm>
              <a:off x="2802001" y="30238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528"/>
                  </a:lnTo>
                  <a:lnTo>
                    <a:pt x="4232" y="816405"/>
                  </a:lnTo>
                  <a:lnTo>
                    <a:pt x="15763" y="833485"/>
                  </a:lnTo>
                  <a:lnTo>
                    <a:pt x="32843" y="845016"/>
                  </a:lnTo>
                  <a:lnTo>
                    <a:pt x="53721" y="849249"/>
                  </a:lnTo>
                  <a:lnTo>
                    <a:pt x="8047735" y="849249"/>
                  </a:lnTo>
                  <a:lnTo>
                    <a:pt x="8068667" y="845016"/>
                  </a:lnTo>
                  <a:lnTo>
                    <a:pt x="8085740" y="833485"/>
                  </a:lnTo>
                  <a:lnTo>
                    <a:pt x="8097242" y="816405"/>
                  </a:lnTo>
                  <a:lnTo>
                    <a:pt x="8101457" y="795528"/>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16395" name="object 4"/>
            <p:cNvSpPr/>
            <p:nvPr/>
          </p:nvSpPr>
          <p:spPr>
            <a:xfrm>
              <a:off x="2802001" y="30238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528"/>
                  </a:lnTo>
                  <a:lnTo>
                    <a:pt x="8097242" y="816405"/>
                  </a:lnTo>
                  <a:lnTo>
                    <a:pt x="8085740" y="833485"/>
                  </a:lnTo>
                  <a:lnTo>
                    <a:pt x="8068667" y="845016"/>
                  </a:lnTo>
                  <a:lnTo>
                    <a:pt x="8047735" y="849249"/>
                  </a:lnTo>
                  <a:lnTo>
                    <a:pt x="53721" y="849249"/>
                  </a:lnTo>
                  <a:lnTo>
                    <a:pt x="32843" y="845016"/>
                  </a:lnTo>
                  <a:lnTo>
                    <a:pt x="15763" y="833485"/>
                  </a:lnTo>
                  <a:lnTo>
                    <a:pt x="4232" y="816405"/>
                  </a:lnTo>
                  <a:lnTo>
                    <a:pt x="0" y="795528"/>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16387" name="object 5"/>
          <p:cNvGrpSpPr/>
          <p:nvPr/>
        </p:nvGrpSpPr>
        <p:grpSpPr>
          <a:xfrm>
            <a:off x="1274763" y="285750"/>
            <a:ext cx="1428750" cy="879475"/>
            <a:chOff x="1274254" y="285813"/>
            <a:chExt cx="1430020" cy="880110"/>
          </a:xfrm>
        </p:grpSpPr>
        <p:sp>
          <p:nvSpPr>
            <p:cNvPr id="16391" name="object 6"/>
            <p:cNvSpPr/>
            <p:nvPr/>
          </p:nvSpPr>
          <p:spPr>
            <a:xfrm>
              <a:off x="1288541" y="300100"/>
              <a:ext cx="1401445" cy="851535"/>
            </a:xfrm>
            <a:custGeom>
              <a:avLst/>
              <a:gdLst/>
              <a:ahLst/>
              <a:cxnLst/>
              <a:pathLst>
                <a:path w="1401445" h="851535">
                  <a:moveTo>
                    <a:pt x="1347597" y="0"/>
                  </a:moveTo>
                  <a:lnTo>
                    <a:pt x="53848" y="0"/>
                  </a:lnTo>
                  <a:lnTo>
                    <a:pt x="32896" y="4234"/>
                  </a:lnTo>
                  <a:lnTo>
                    <a:pt x="15779" y="15779"/>
                  </a:lnTo>
                  <a:lnTo>
                    <a:pt x="4234" y="32896"/>
                  </a:lnTo>
                  <a:lnTo>
                    <a:pt x="0" y="53848"/>
                  </a:lnTo>
                  <a:lnTo>
                    <a:pt x="0" y="797560"/>
                  </a:lnTo>
                  <a:lnTo>
                    <a:pt x="4234" y="818584"/>
                  </a:lnTo>
                  <a:lnTo>
                    <a:pt x="15779" y="835739"/>
                  </a:lnTo>
                  <a:lnTo>
                    <a:pt x="32896" y="847298"/>
                  </a:lnTo>
                  <a:lnTo>
                    <a:pt x="53848" y="851535"/>
                  </a:lnTo>
                  <a:lnTo>
                    <a:pt x="1347597" y="851535"/>
                  </a:lnTo>
                  <a:lnTo>
                    <a:pt x="1368548" y="847298"/>
                  </a:lnTo>
                  <a:lnTo>
                    <a:pt x="1385665" y="835739"/>
                  </a:lnTo>
                  <a:lnTo>
                    <a:pt x="1397210" y="818584"/>
                  </a:lnTo>
                  <a:lnTo>
                    <a:pt x="1401445" y="797560"/>
                  </a:lnTo>
                  <a:lnTo>
                    <a:pt x="1401445" y="53848"/>
                  </a:lnTo>
                  <a:lnTo>
                    <a:pt x="1397210" y="32896"/>
                  </a:lnTo>
                  <a:lnTo>
                    <a:pt x="1385665" y="15779"/>
                  </a:lnTo>
                  <a:lnTo>
                    <a:pt x="1368548" y="4234"/>
                  </a:lnTo>
                  <a:lnTo>
                    <a:pt x="1347597" y="0"/>
                  </a:lnTo>
                  <a:close/>
                </a:path>
              </a:pathLst>
            </a:custGeom>
            <a:solidFill>
              <a:srgbClr val="F1F1F1">
                <a:alpha val="100000"/>
              </a:srgbClr>
            </a:solidFill>
            <a:ln w="9525">
              <a:noFill/>
            </a:ln>
          </p:spPr>
          <p:txBody>
            <a:bodyPr/>
            <a:p>
              <a:endParaRPr lang="en-US"/>
            </a:p>
          </p:txBody>
        </p:sp>
        <p:sp>
          <p:nvSpPr>
            <p:cNvPr id="16392" name="object 7"/>
            <p:cNvSpPr/>
            <p:nvPr/>
          </p:nvSpPr>
          <p:spPr>
            <a:xfrm>
              <a:off x="1288541" y="300100"/>
              <a:ext cx="1401445" cy="851535"/>
            </a:xfrm>
            <a:custGeom>
              <a:avLst/>
              <a:gdLst/>
              <a:ahLst/>
              <a:cxnLst/>
              <a:pathLst>
                <a:path w="1401445" h="851535">
                  <a:moveTo>
                    <a:pt x="0" y="53848"/>
                  </a:moveTo>
                  <a:lnTo>
                    <a:pt x="4234" y="32896"/>
                  </a:lnTo>
                  <a:lnTo>
                    <a:pt x="15779" y="15779"/>
                  </a:lnTo>
                  <a:lnTo>
                    <a:pt x="32896" y="4234"/>
                  </a:lnTo>
                  <a:lnTo>
                    <a:pt x="53848" y="0"/>
                  </a:lnTo>
                  <a:lnTo>
                    <a:pt x="1347597" y="0"/>
                  </a:lnTo>
                  <a:lnTo>
                    <a:pt x="1368548" y="4234"/>
                  </a:lnTo>
                  <a:lnTo>
                    <a:pt x="1385665" y="15779"/>
                  </a:lnTo>
                  <a:lnTo>
                    <a:pt x="1397210" y="32896"/>
                  </a:lnTo>
                  <a:lnTo>
                    <a:pt x="1401445" y="53848"/>
                  </a:lnTo>
                  <a:lnTo>
                    <a:pt x="1401445" y="797560"/>
                  </a:lnTo>
                  <a:lnTo>
                    <a:pt x="1397210" y="818584"/>
                  </a:lnTo>
                  <a:lnTo>
                    <a:pt x="1385665" y="835739"/>
                  </a:lnTo>
                  <a:lnTo>
                    <a:pt x="1368548" y="847298"/>
                  </a:lnTo>
                  <a:lnTo>
                    <a:pt x="1347597" y="851535"/>
                  </a:lnTo>
                  <a:lnTo>
                    <a:pt x="53848" y="851535"/>
                  </a:lnTo>
                  <a:lnTo>
                    <a:pt x="32896" y="847298"/>
                  </a:lnTo>
                  <a:lnTo>
                    <a:pt x="15779" y="835739"/>
                  </a:lnTo>
                  <a:lnTo>
                    <a:pt x="4234" y="818584"/>
                  </a:lnTo>
                  <a:lnTo>
                    <a:pt x="0" y="797560"/>
                  </a:lnTo>
                  <a:lnTo>
                    <a:pt x="0" y="53848"/>
                  </a:lnTo>
                  <a:close/>
                </a:path>
              </a:pathLst>
            </a:custGeom>
            <a:noFill/>
            <a:ln w="28574" cap="flat" cmpd="sng">
              <a:solidFill>
                <a:srgbClr val="282B3D">
                  <a:alpha val="100000"/>
                </a:srgbClr>
              </a:solidFill>
              <a:prstDash val="solid"/>
              <a:headEnd type="none" w="med" len="med"/>
              <a:tailEnd type="none" w="med" len="med"/>
            </a:ln>
          </p:spPr>
          <p:txBody>
            <a:bodyPr/>
            <a:p>
              <a:endParaRPr lang="en-US"/>
            </a:p>
          </p:txBody>
        </p:sp>
        <p:pic>
          <p:nvPicPr>
            <p:cNvPr id="16393" name="object 8"/>
            <p:cNvPicPr>
              <a:picLocks noChangeAspect="1"/>
            </p:cNvPicPr>
            <p:nvPr/>
          </p:nvPicPr>
          <p:blipFill>
            <a:blip r:embed="rId1"/>
            <a:stretch>
              <a:fillRect/>
            </a:stretch>
          </p:blipFill>
          <p:spPr>
            <a:xfrm>
              <a:off x="1646935" y="376974"/>
              <a:ext cx="684695" cy="697826"/>
            </a:xfrm>
            <a:prstGeom prst="rect">
              <a:avLst/>
            </a:prstGeom>
            <a:noFill/>
            <a:ln w="9525">
              <a:noFill/>
            </a:ln>
          </p:spPr>
        </p:pic>
      </p:grpSp>
      <p:sp>
        <p:nvSpPr>
          <p:cNvPr id="9" name="object 9"/>
          <p:cNvSpPr txBox="1">
            <a:spLocks noGrp="1"/>
          </p:cNvSpPr>
          <p:nvPr>
            <p:ph type="title"/>
          </p:nvPr>
        </p:nvSpPr>
        <p:spPr/>
        <p:txBody>
          <a:bodyPr vert="horz" wrap="square" lIns="0" tIns="12065" rIns="0" bIns="0" rtlCol="0">
            <a:spAutoFit/>
          </a:bodyPr>
          <a:lstStyle/>
          <a:p>
            <a:pPr marL="1586230" marR="0" lvl="0" indent="0" defTabSz="914400" eaLnBrk="1" fontAlgn="auto" latinLnBrk="0" hangingPunct="1">
              <a:lnSpc>
                <a:spcPct val="100000"/>
              </a:lnSpc>
              <a:spcBef>
                <a:spcPts val="95"/>
              </a:spcBef>
              <a:spcAft>
                <a:spcPts val="0"/>
              </a:spcAft>
              <a:buClrTx/>
              <a:buSzTx/>
              <a:buFontTx/>
              <a:buNone/>
              <a:defRPr/>
            </a:pP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TERMINAL</a:t>
            </a:r>
            <a:r>
              <a:rPr kumimoji="0" sz="2500" b="1" i="0" u="none" strike="noStrike" kern="0" cap="none" spc="17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ILLNESS</a:t>
            </a:r>
            <a:r>
              <a:rPr kumimoji="0" sz="2500" b="1" i="0" u="none" strike="noStrike" kern="0" cap="none" spc="175"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500" b="1" i="0" u="none" strike="noStrike" kern="0" cap="none" spc="145"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(TIB)</a:t>
            </a:r>
            <a:endPar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endParaRPr>
          </a:p>
          <a:p>
            <a:pPr marL="1586230" marR="0" lvl="0" indent="0" defTabSz="914400" eaLnBrk="1" fontAlgn="auto" latinLnBrk="0" hangingPunct="1">
              <a:lnSpc>
                <a:spcPct val="100000"/>
              </a:lnSpc>
              <a:spcBef>
                <a:spcPts val="4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4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1" name="object 11"/>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10" name="object 10"/>
          <p:cNvSpPr txBox="1"/>
          <p:nvPr/>
        </p:nvSpPr>
        <p:spPr>
          <a:xfrm>
            <a:off x="1392238" y="1562100"/>
            <a:ext cx="9371013" cy="3028950"/>
          </a:xfrm>
          <a:prstGeom prst="rect">
            <a:avLst/>
          </a:prstGeom>
        </p:spPr>
        <p:txBody>
          <a:bodyPr vert="horz" wrap="square" lIns="0" tIns="12700" rIns="0" bIns="0" rtlCol="0">
            <a:spAutoFit/>
          </a:bodyPr>
          <a:p>
            <a:pPr marL="12700" eaLnBrk="1" hangingPunct="1">
              <a:lnSpc>
                <a:spcPct val="150000"/>
              </a:lnSpc>
              <a:spcBef>
                <a:spcPts val="100"/>
              </a:spcBef>
              <a:buNone/>
            </a:pPr>
            <a:r>
              <a:rPr lang="en-US" altLang="zh-CN" sz="2000">
                <a:solidFill>
                  <a:srgbClr val="000000"/>
                </a:solidFill>
                <a:latin typeface="Tahoma" panose="020B0604030504040204" pitchFamily="34" charset="0"/>
                <a:cs typeface="Tahoma" panose="020B0604030504040204" pitchFamily="34" charset="0"/>
              </a:rPr>
              <a:t>This benefit, which is equivalent to 50% of the basic life coverage, shall be paid in advance if the member is diagnosed of any terminal illness* (up to a maximum of </a:t>
            </a:r>
            <a:r>
              <a:rPr lang="en-US" altLang="zh-CN" sz="2000" b="1">
                <a:solidFill>
                  <a:srgbClr val="000000"/>
                </a:solidFill>
                <a:cs typeface="Arial" panose="020B0604020202020204" pitchFamily="34" charset="0"/>
              </a:rPr>
              <a:t>P2,000,000). </a:t>
            </a:r>
            <a:r>
              <a:rPr lang="en-US" altLang="zh-CN" sz="2000">
                <a:solidFill>
                  <a:srgbClr val="000000"/>
                </a:solidFill>
                <a:latin typeface="Tahoma" panose="020B0604030504040204" pitchFamily="34" charset="0"/>
                <a:cs typeface="Tahoma" panose="020B0604030504040204" pitchFamily="34" charset="0"/>
              </a:rPr>
              <a:t>The balance of the total basic life coverage will be paid to the designated beneficiary/ies of the insured employee.</a:t>
            </a:r>
            <a:endParaRPr lang="en-US" altLang="zh-CN" sz="2000">
              <a:solidFill>
                <a:srgbClr val="000000"/>
              </a:solidFill>
              <a:latin typeface="Tahoma" panose="020B0604030504040204" pitchFamily="34" charset="0"/>
              <a:cs typeface="Tahoma" panose="020B0604030504040204" pitchFamily="34" charset="0"/>
            </a:endParaRPr>
          </a:p>
          <a:p>
            <a:pPr marL="12700" eaLnBrk="1" hangingPunct="1">
              <a:spcBef>
                <a:spcPts val="50"/>
              </a:spcBef>
              <a:buNone/>
            </a:pPr>
            <a:endParaRPr lang="en-US" altLang="zh-CN" sz="2200">
              <a:solidFill>
                <a:srgbClr val="000000"/>
              </a:solidFill>
              <a:latin typeface="Tahoma" panose="020B0604030504040204" pitchFamily="34" charset="0"/>
              <a:cs typeface="Tahoma" panose="020B0604030504040204" pitchFamily="34" charset="0"/>
            </a:endParaRPr>
          </a:p>
          <a:p>
            <a:pPr marL="12700" eaLnBrk="1" hangingPunct="1">
              <a:lnSpc>
                <a:spcPct val="142000"/>
              </a:lnSpc>
              <a:buNone/>
            </a:pPr>
            <a:r>
              <a:rPr lang="en-US" altLang="zh-CN" sz="1900" i="1">
                <a:solidFill>
                  <a:srgbClr val="000000"/>
                </a:solidFill>
                <a:cs typeface="Arial" panose="020B0604020202020204" pitchFamily="34" charset="0"/>
              </a:rPr>
              <a:t>*Terminal Illness is defined as the occurrence of a severe Illness that will lead to the death of the insured within 12 months.</a:t>
            </a:r>
            <a:endParaRPr lang="en-US" altLang="zh-CN" sz="1900">
              <a:solidFill>
                <a:srgbClr val="000000"/>
              </a:solidFill>
              <a:ea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410" name="object 2"/>
          <p:cNvGrpSpPr/>
          <p:nvPr/>
        </p:nvGrpSpPr>
        <p:grpSpPr>
          <a:xfrm>
            <a:off x="2787650" y="477838"/>
            <a:ext cx="8131175" cy="877887"/>
            <a:chOff x="2787713" y="477329"/>
            <a:chExt cx="8130540" cy="878205"/>
          </a:xfrm>
        </p:grpSpPr>
        <p:sp>
          <p:nvSpPr>
            <p:cNvPr id="17419" name="object 3"/>
            <p:cNvSpPr/>
            <p:nvPr/>
          </p:nvSpPr>
          <p:spPr>
            <a:xfrm>
              <a:off x="2802001" y="491616"/>
              <a:ext cx="8101965" cy="849630"/>
            </a:xfrm>
            <a:custGeom>
              <a:avLst/>
              <a:gdLst/>
              <a:ahLst/>
              <a:cxnLst/>
              <a:pathLst>
                <a:path w="8101965" h="849630">
                  <a:moveTo>
                    <a:pt x="8047735" y="0"/>
                  </a:moveTo>
                  <a:lnTo>
                    <a:pt x="53721" y="0"/>
                  </a:lnTo>
                  <a:lnTo>
                    <a:pt x="32843" y="4214"/>
                  </a:lnTo>
                  <a:lnTo>
                    <a:pt x="15763" y="15716"/>
                  </a:lnTo>
                  <a:lnTo>
                    <a:pt x="4232" y="32789"/>
                  </a:lnTo>
                  <a:lnTo>
                    <a:pt x="0" y="53721"/>
                  </a:lnTo>
                  <a:lnTo>
                    <a:pt x="0" y="795401"/>
                  </a:lnTo>
                  <a:lnTo>
                    <a:pt x="4232" y="816352"/>
                  </a:lnTo>
                  <a:lnTo>
                    <a:pt x="15763" y="833469"/>
                  </a:lnTo>
                  <a:lnTo>
                    <a:pt x="32843" y="845014"/>
                  </a:lnTo>
                  <a:lnTo>
                    <a:pt x="53721" y="849249"/>
                  </a:lnTo>
                  <a:lnTo>
                    <a:pt x="8047735" y="849249"/>
                  </a:lnTo>
                  <a:lnTo>
                    <a:pt x="8068667" y="845014"/>
                  </a:lnTo>
                  <a:lnTo>
                    <a:pt x="8085740" y="833469"/>
                  </a:lnTo>
                  <a:lnTo>
                    <a:pt x="8097242" y="816352"/>
                  </a:lnTo>
                  <a:lnTo>
                    <a:pt x="8101457" y="795401"/>
                  </a:lnTo>
                  <a:lnTo>
                    <a:pt x="8101457" y="53721"/>
                  </a:lnTo>
                  <a:lnTo>
                    <a:pt x="8097242" y="32789"/>
                  </a:lnTo>
                  <a:lnTo>
                    <a:pt x="8085740" y="15716"/>
                  </a:lnTo>
                  <a:lnTo>
                    <a:pt x="8068667" y="4214"/>
                  </a:lnTo>
                  <a:lnTo>
                    <a:pt x="8047735" y="0"/>
                  </a:lnTo>
                  <a:close/>
                </a:path>
              </a:pathLst>
            </a:custGeom>
            <a:solidFill>
              <a:srgbClr val="00A757">
                <a:alpha val="100000"/>
              </a:srgbClr>
            </a:solidFill>
            <a:ln w="9525">
              <a:noFill/>
            </a:ln>
          </p:spPr>
          <p:txBody>
            <a:bodyPr/>
            <a:p>
              <a:endParaRPr lang="en-US"/>
            </a:p>
          </p:txBody>
        </p:sp>
        <p:sp>
          <p:nvSpPr>
            <p:cNvPr id="17420" name="object 4"/>
            <p:cNvSpPr/>
            <p:nvPr/>
          </p:nvSpPr>
          <p:spPr>
            <a:xfrm>
              <a:off x="2802001" y="491616"/>
              <a:ext cx="8101965" cy="849630"/>
            </a:xfrm>
            <a:custGeom>
              <a:avLst/>
              <a:gdLst/>
              <a:ahLst/>
              <a:cxnLst/>
              <a:pathLst>
                <a:path w="8101965" h="849630">
                  <a:moveTo>
                    <a:pt x="0" y="53721"/>
                  </a:moveTo>
                  <a:lnTo>
                    <a:pt x="4232" y="32789"/>
                  </a:lnTo>
                  <a:lnTo>
                    <a:pt x="15763" y="15716"/>
                  </a:lnTo>
                  <a:lnTo>
                    <a:pt x="32843" y="4214"/>
                  </a:lnTo>
                  <a:lnTo>
                    <a:pt x="53721" y="0"/>
                  </a:lnTo>
                  <a:lnTo>
                    <a:pt x="8047735" y="0"/>
                  </a:lnTo>
                  <a:lnTo>
                    <a:pt x="8068667" y="4214"/>
                  </a:lnTo>
                  <a:lnTo>
                    <a:pt x="8085740" y="15716"/>
                  </a:lnTo>
                  <a:lnTo>
                    <a:pt x="8097242" y="32789"/>
                  </a:lnTo>
                  <a:lnTo>
                    <a:pt x="8101457" y="53721"/>
                  </a:lnTo>
                  <a:lnTo>
                    <a:pt x="8101457" y="795401"/>
                  </a:lnTo>
                  <a:lnTo>
                    <a:pt x="8097242" y="816352"/>
                  </a:lnTo>
                  <a:lnTo>
                    <a:pt x="8085740" y="833469"/>
                  </a:lnTo>
                  <a:lnTo>
                    <a:pt x="8068667" y="845014"/>
                  </a:lnTo>
                  <a:lnTo>
                    <a:pt x="8047735" y="849249"/>
                  </a:lnTo>
                  <a:lnTo>
                    <a:pt x="53721" y="849249"/>
                  </a:lnTo>
                  <a:lnTo>
                    <a:pt x="32843" y="845014"/>
                  </a:lnTo>
                  <a:lnTo>
                    <a:pt x="15763" y="833469"/>
                  </a:lnTo>
                  <a:lnTo>
                    <a:pt x="4232" y="816352"/>
                  </a:lnTo>
                  <a:lnTo>
                    <a:pt x="0" y="795401"/>
                  </a:lnTo>
                  <a:lnTo>
                    <a:pt x="0" y="53721"/>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grpSp>
        <p:nvGrpSpPr>
          <p:cNvPr id="17411" name="object 5"/>
          <p:cNvGrpSpPr/>
          <p:nvPr/>
        </p:nvGrpSpPr>
        <p:grpSpPr>
          <a:xfrm>
            <a:off x="1274763" y="438150"/>
            <a:ext cx="1428750" cy="954088"/>
            <a:chOff x="1274254" y="437934"/>
            <a:chExt cx="1430020" cy="954405"/>
          </a:xfrm>
        </p:grpSpPr>
        <p:sp>
          <p:nvSpPr>
            <p:cNvPr id="17416" name="object 6"/>
            <p:cNvSpPr/>
            <p:nvPr/>
          </p:nvSpPr>
          <p:spPr>
            <a:xfrm>
              <a:off x="1288541" y="489204"/>
              <a:ext cx="1401445" cy="852169"/>
            </a:xfrm>
            <a:custGeom>
              <a:avLst/>
              <a:gdLst/>
              <a:ahLst/>
              <a:cxnLst/>
              <a:pathLst>
                <a:path w="1401445" h="852169">
                  <a:moveTo>
                    <a:pt x="1347597" y="0"/>
                  </a:moveTo>
                  <a:lnTo>
                    <a:pt x="53848" y="0"/>
                  </a:lnTo>
                  <a:lnTo>
                    <a:pt x="32896" y="4236"/>
                  </a:lnTo>
                  <a:lnTo>
                    <a:pt x="15779" y="15795"/>
                  </a:lnTo>
                  <a:lnTo>
                    <a:pt x="4234" y="32950"/>
                  </a:lnTo>
                  <a:lnTo>
                    <a:pt x="0" y="53975"/>
                  </a:lnTo>
                  <a:lnTo>
                    <a:pt x="0" y="797687"/>
                  </a:lnTo>
                  <a:lnTo>
                    <a:pt x="4234" y="818711"/>
                  </a:lnTo>
                  <a:lnTo>
                    <a:pt x="15779" y="835866"/>
                  </a:lnTo>
                  <a:lnTo>
                    <a:pt x="32896" y="847425"/>
                  </a:lnTo>
                  <a:lnTo>
                    <a:pt x="53848" y="851662"/>
                  </a:lnTo>
                  <a:lnTo>
                    <a:pt x="1347597" y="851662"/>
                  </a:lnTo>
                  <a:lnTo>
                    <a:pt x="1368548" y="847425"/>
                  </a:lnTo>
                  <a:lnTo>
                    <a:pt x="1385665" y="835866"/>
                  </a:lnTo>
                  <a:lnTo>
                    <a:pt x="1397210" y="818711"/>
                  </a:lnTo>
                  <a:lnTo>
                    <a:pt x="1401445" y="797687"/>
                  </a:lnTo>
                  <a:lnTo>
                    <a:pt x="1401445" y="53975"/>
                  </a:lnTo>
                  <a:lnTo>
                    <a:pt x="1397210" y="32950"/>
                  </a:lnTo>
                  <a:lnTo>
                    <a:pt x="1385665" y="15795"/>
                  </a:lnTo>
                  <a:lnTo>
                    <a:pt x="1368548" y="4236"/>
                  </a:lnTo>
                  <a:lnTo>
                    <a:pt x="1347597" y="0"/>
                  </a:lnTo>
                  <a:close/>
                </a:path>
              </a:pathLst>
            </a:custGeom>
            <a:solidFill>
              <a:srgbClr val="F1F1F1">
                <a:alpha val="100000"/>
              </a:srgbClr>
            </a:solidFill>
            <a:ln w="9525">
              <a:noFill/>
            </a:ln>
          </p:spPr>
          <p:txBody>
            <a:bodyPr/>
            <a:p>
              <a:endParaRPr lang="en-US"/>
            </a:p>
          </p:txBody>
        </p:sp>
        <p:sp>
          <p:nvSpPr>
            <p:cNvPr id="17417" name="object 7"/>
            <p:cNvSpPr/>
            <p:nvPr/>
          </p:nvSpPr>
          <p:spPr>
            <a:xfrm>
              <a:off x="1288541" y="489204"/>
              <a:ext cx="1401445" cy="852169"/>
            </a:xfrm>
            <a:custGeom>
              <a:avLst/>
              <a:gdLst/>
              <a:ahLst/>
              <a:cxnLst/>
              <a:pathLst>
                <a:path w="1401445" h="852169">
                  <a:moveTo>
                    <a:pt x="0" y="53975"/>
                  </a:moveTo>
                  <a:lnTo>
                    <a:pt x="4234" y="32950"/>
                  </a:lnTo>
                  <a:lnTo>
                    <a:pt x="15779" y="15795"/>
                  </a:lnTo>
                  <a:lnTo>
                    <a:pt x="32896" y="4236"/>
                  </a:lnTo>
                  <a:lnTo>
                    <a:pt x="53848" y="0"/>
                  </a:lnTo>
                  <a:lnTo>
                    <a:pt x="1347597" y="0"/>
                  </a:lnTo>
                  <a:lnTo>
                    <a:pt x="1368548" y="4236"/>
                  </a:lnTo>
                  <a:lnTo>
                    <a:pt x="1385665" y="15795"/>
                  </a:lnTo>
                  <a:lnTo>
                    <a:pt x="1397210" y="32950"/>
                  </a:lnTo>
                  <a:lnTo>
                    <a:pt x="1401445" y="53975"/>
                  </a:lnTo>
                  <a:lnTo>
                    <a:pt x="1401445" y="797687"/>
                  </a:lnTo>
                  <a:lnTo>
                    <a:pt x="1397210" y="818711"/>
                  </a:lnTo>
                  <a:lnTo>
                    <a:pt x="1385665" y="835866"/>
                  </a:lnTo>
                  <a:lnTo>
                    <a:pt x="1368548" y="847425"/>
                  </a:lnTo>
                  <a:lnTo>
                    <a:pt x="1347597" y="851662"/>
                  </a:lnTo>
                  <a:lnTo>
                    <a:pt x="53848" y="851662"/>
                  </a:lnTo>
                  <a:lnTo>
                    <a:pt x="32896" y="847425"/>
                  </a:lnTo>
                  <a:lnTo>
                    <a:pt x="15779" y="835866"/>
                  </a:lnTo>
                  <a:lnTo>
                    <a:pt x="4234" y="818711"/>
                  </a:lnTo>
                  <a:lnTo>
                    <a:pt x="0" y="797687"/>
                  </a:lnTo>
                  <a:lnTo>
                    <a:pt x="0" y="53975"/>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pic>
          <p:nvPicPr>
            <p:cNvPr id="17418" name="object 8"/>
            <p:cNvPicPr>
              <a:picLocks noChangeAspect="1"/>
            </p:cNvPicPr>
            <p:nvPr/>
          </p:nvPicPr>
          <p:blipFill>
            <a:blip r:embed="rId1"/>
            <a:stretch>
              <a:fillRect/>
            </a:stretch>
          </p:blipFill>
          <p:spPr>
            <a:xfrm>
              <a:off x="1512188" y="437934"/>
              <a:ext cx="954112" cy="954112"/>
            </a:xfrm>
            <a:prstGeom prst="rect">
              <a:avLst/>
            </a:prstGeom>
            <a:noFill/>
            <a:ln w="9525">
              <a:noFill/>
            </a:ln>
          </p:spPr>
        </p:pic>
      </p:grpSp>
      <p:sp>
        <p:nvSpPr>
          <p:cNvPr id="9" name="object 9"/>
          <p:cNvSpPr txBox="1">
            <a:spLocks noGrp="1"/>
          </p:cNvSpPr>
          <p:nvPr>
            <p:ph type="title"/>
          </p:nvPr>
        </p:nvSpPr>
        <p:spPr>
          <a:xfrm>
            <a:off x="3008313" y="608013"/>
            <a:ext cx="5699125" cy="595313"/>
          </a:xfr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defRPr/>
            </a:pP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FAMILY</a:t>
            </a:r>
            <a:r>
              <a:rPr kumimoji="0" sz="2500" b="1" i="0" u="none" strike="noStrike" kern="0" cap="none" spc="10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55" normalizeH="0" baseline="0" noProof="0" dirty="0">
                <a:ln>
                  <a:noFill/>
                </a:ln>
                <a:solidFill>
                  <a:schemeClr val="bg1"/>
                </a:solidFill>
                <a:effectLst/>
                <a:uLnTx/>
                <a:uFillTx/>
                <a:latin typeface="Arial" panose="020B0604020202020204"/>
                <a:ea typeface="+mj-ea"/>
                <a:cs typeface="Arial" panose="020B0604020202020204"/>
              </a:rPr>
              <a:t>ASSISTANCE</a:t>
            </a:r>
            <a:r>
              <a:rPr kumimoji="0" sz="2500" b="1" i="0" u="none" strike="noStrike" kern="0" cap="none" spc="10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500" b="1" i="0" u="none" strike="noStrike" kern="0" cap="none" spc="8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(FAB)</a:t>
            </a:r>
            <a:endPar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endParaRPr>
          </a:p>
          <a:p>
            <a:pPr marL="12700" marR="0" lvl="0" indent="0" defTabSz="914400" eaLnBrk="1" fontAlgn="auto" latinLnBrk="0" hangingPunct="1">
              <a:lnSpc>
                <a:spcPct val="100000"/>
              </a:lnSpc>
              <a:spcBef>
                <a:spcPts val="4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pic>
        <p:nvPicPr>
          <p:cNvPr id="17413" name="object 10"/>
          <p:cNvPicPr>
            <a:picLocks noChangeAspect="1"/>
          </p:cNvPicPr>
          <p:nvPr/>
        </p:nvPicPr>
        <p:blipFill>
          <a:blip r:embed="rId2"/>
          <a:stretch>
            <a:fillRect/>
          </a:stretch>
        </p:blipFill>
        <p:spPr>
          <a:xfrm>
            <a:off x="8572500" y="2911475"/>
            <a:ext cx="2592388" cy="2592388"/>
          </a:xfrm>
          <a:prstGeom prst="rect">
            <a:avLst/>
          </a:prstGeom>
          <a:noFill/>
          <a:ln w="9525">
            <a:noFill/>
          </a:ln>
        </p:spPr>
      </p:pic>
      <p:sp>
        <p:nvSpPr>
          <p:cNvPr id="11" name="object 11"/>
          <p:cNvSpPr txBox="1"/>
          <p:nvPr/>
        </p:nvSpPr>
        <p:spPr>
          <a:xfrm>
            <a:off x="1316038" y="1541463"/>
            <a:ext cx="9448800" cy="3290888"/>
          </a:xfrm>
          <a:prstGeom prst="rect">
            <a:avLst/>
          </a:prstGeom>
        </p:spPr>
        <p:txBody>
          <a:bodyPr vert="horz" wrap="square" lIns="0" tIns="12700" rIns="0" bIns="0" rtlCol="0">
            <a:spAutoFit/>
          </a:bodyPr>
          <a:p>
            <a:pPr marL="12700" eaLnBrk="1" hangingPunct="1">
              <a:lnSpc>
                <a:spcPct val="150000"/>
              </a:lnSpc>
              <a:spcBef>
                <a:spcPts val="100"/>
              </a:spcBef>
              <a:buNone/>
            </a:pPr>
            <a:r>
              <a:rPr lang="en-US" altLang="zh-CN" sz="2000">
                <a:solidFill>
                  <a:srgbClr val="000000"/>
                </a:solidFill>
                <a:latin typeface="Tahoma" panose="020B0604030504040204" pitchFamily="34" charset="0"/>
                <a:cs typeface="Tahoma" panose="020B0604030504040204" pitchFamily="34" charset="0"/>
              </a:rPr>
              <a:t>Upon receipt of due proof of the death of an insured employee under the Policy, Manulife shall pay the amount of Family Assistance Benefit applicable and as indicated in the Policy. This benefit helps cover expenses or settle outstanding debts brought about by the death of the employee.</a:t>
            </a:r>
            <a:endParaRPr lang="en-US" altLang="zh-CN" sz="2000">
              <a:solidFill>
                <a:srgbClr val="000000"/>
              </a:solidFill>
              <a:latin typeface="Tahoma" panose="020B0604030504040204" pitchFamily="34" charset="0"/>
              <a:cs typeface="Tahoma" panose="020B0604030504040204" pitchFamily="34" charset="0"/>
            </a:endParaRPr>
          </a:p>
          <a:p>
            <a:pPr marL="12700" eaLnBrk="1" hangingPunct="1">
              <a:spcBef>
                <a:spcPts val="15"/>
              </a:spcBef>
              <a:buNone/>
            </a:pPr>
            <a:endParaRPr lang="en-US" altLang="zh-CN" sz="2200">
              <a:solidFill>
                <a:srgbClr val="000000"/>
              </a:solidFill>
              <a:latin typeface="Tahoma" panose="020B0604030504040204" pitchFamily="34" charset="0"/>
              <a:cs typeface="Tahoma" panose="020B0604030504040204" pitchFamily="34" charset="0"/>
            </a:endParaRPr>
          </a:p>
          <a:p>
            <a:pPr marL="12700" eaLnBrk="1" hangingPunct="1">
              <a:lnSpc>
                <a:spcPct val="146000"/>
              </a:lnSpc>
              <a:buNone/>
            </a:pPr>
            <a:r>
              <a:rPr lang="en-US" altLang="zh-CN" sz="1600" i="1">
                <a:solidFill>
                  <a:srgbClr val="000000"/>
                </a:solidFill>
                <a:cs typeface="Arial" panose="020B0604020202020204" pitchFamily="34" charset="0"/>
              </a:rPr>
              <a:t>The benefit under this Rider shall be payable to the same beneficiary who is entitled to receive the member’s Life Insurance benefit, in accordance with the Policy provisions.</a:t>
            </a:r>
            <a:endParaRPr lang="en-US" altLang="zh-CN" sz="1600">
              <a:solidFill>
                <a:srgbClr val="000000"/>
              </a:solidFill>
              <a:ea typeface="Arial" panose="020B0604020202020204" pitchFamily="34" charset="0"/>
            </a:endParaRPr>
          </a:p>
        </p:txBody>
      </p:sp>
      <p:sp>
        <p:nvSpPr>
          <p:cNvPr id="12" name="object 12"/>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434" name="object 2"/>
          <p:cNvSpPr/>
          <p:nvPr/>
        </p:nvSpPr>
        <p:spPr>
          <a:xfrm>
            <a:off x="0" y="0"/>
            <a:ext cx="12192000" cy="6858000"/>
          </a:xfrm>
          <a:custGeom>
            <a:avLst/>
            <a:gdLst/>
            <a:ahLst/>
            <a:cxnLst/>
            <a:pathLst>
              <a:path w="12192000" h="6858000">
                <a:moveTo>
                  <a:pt x="12192000" y="0"/>
                </a:moveTo>
                <a:lnTo>
                  <a:pt x="0" y="0"/>
                </a:lnTo>
                <a:lnTo>
                  <a:pt x="0" y="6858000"/>
                </a:lnTo>
                <a:lnTo>
                  <a:pt x="12192000" y="6858000"/>
                </a:lnTo>
                <a:lnTo>
                  <a:pt x="12192000" y="0"/>
                </a:lnTo>
                <a:close/>
              </a:path>
            </a:pathLst>
          </a:custGeom>
          <a:solidFill>
            <a:srgbClr val="00A757">
              <a:alpha val="100000"/>
            </a:srgbClr>
          </a:solidFill>
          <a:ln w="9525">
            <a:noFill/>
          </a:ln>
        </p:spPr>
        <p:txBody>
          <a:bodyPr/>
          <a:p>
            <a:endParaRPr lang="en-US"/>
          </a:p>
        </p:txBody>
      </p:sp>
      <p:grpSp>
        <p:nvGrpSpPr>
          <p:cNvPr id="18435" name="object 3"/>
          <p:cNvGrpSpPr/>
          <p:nvPr/>
        </p:nvGrpSpPr>
        <p:grpSpPr>
          <a:xfrm>
            <a:off x="890588" y="6361113"/>
            <a:ext cx="854075" cy="192087"/>
            <a:chOff x="889994" y="6361744"/>
            <a:chExt cx="855344" cy="191135"/>
          </a:xfrm>
        </p:grpSpPr>
        <p:pic>
          <p:nvPicPr>
            <p:cNvPr id="18439" name="object 4"/>
            <p:cNvPicPr>
              <a:picLocks noChangeAspect="1"/>
            </p:cNvPicPr>
            <p:nvPr/>
          </p:nvPicPr>
          <p:blipFill>
            <a:blip r:embed="rId1"/>
            <a:stretch>
              <a:fillRect/>
            </a:stretch>
          </p:blipFill>
          <p:spPr>
            <a:xfrm>
              <a:off x="1075742" y="6424295"/>
              <a:ext cx="103011" cy="128102"/>
            </a:xfrm>
            <a:prstGeom prst="rect">
              <a:avLst/>
            </a:prstGeom>
            <a:noFill/>
            <a:ln w="9525">
              <a:noFill/>
            </a:ln>
          </p:spPr>
        </p:pic>
        <p:pic>
          <p:nvPicPr>
            <p:cNvPr id="18440" name="object 5"/>
            <p:cNvPicPr>
              <a:picLocks noChangeAspect="1"/>
            </p:cNvPicPr>
            <p:nvPr/>
          </p:nvPicPr>
          <p:blipFill>
            <a:blip r:embed="rId2"/>
            <a:stretch>
              <a:fillRect/>
            </a:stretch>
          </p:blipFill>
          <p:spPr>
            <a:xfrm>
              <a:off x="1202859" y="6424295"/>
              <a:ext cx="101819" cy="125258"/>
            </a:xfrm>
            <a:prstGeom prst="rect">
              <a:avLst/>
            </a:prstGeom>
            <a:noFill/>
            <a:ln w="9525">
              <a:noFill/>
            </a:ln>
          </p:spPr>
        </p:pic>
        <p:pic>
          <p:nvPicPr>
            <p:cNvPr id="18441" name="object 6"/>
            <p:cNvPicPr>
              <a:picLocks noChangeAspect="1"/>
            </p:cNvPicPr>
            <p:nvPr/>
          </p:nvPicPr>
          <p:blipFill>
            <a:blip r:embed="rId3"/>
            <a:stretch>
              <a:fillRect/>
            </a:stretch>
          </p:blipFill>
          <p:spPr>
            <a:xfrm>
              <a:off x="1326084" y="6427220"/>
              <a:ext cx="101254" cy="125177"/>
            </a:xfrm>
            <a:prstGeom prst="rect">
              <a:avLst/>
            </a:prstGeom>
            <a:noFill/>
            <a:ln w="9525">
              <a:noFill/>
            </a:ln>
          </p:spPr>
        </p:pic>
        <p:sp>
          <p:nvSpPr>
            <p:cNvPr id="18442" name="object 7"/>
            <p:cNvSpPr/>
            <p:nvPr/>
          </p:nvSpPr>
          <p:spPr>
            <a:xfrm>
              <a:off x="1457344" y="6361744"/>
              <a:ext cx="27305" cy="187960"/>
            </a:xfrm>
            <a:custGeom>
              <a:avLst/>
              <a:gdLst/>
              <a:ahLst/>
              <a:cxnLst/>
              <a:pathLst>
                <a:path w="27305" h="187959">
                  <a:moveTo>
                    <a:pt x="27181" y="0"/>
                  </a:moveTo>
                  <a:lnTo>
                    <a:pt x="0" y="26741"/>
                  </a:lnTo>
                  <a:lnTo>
                    <a:pt x="0" y="187810"/>
                  </a:lnTo>
                  <a:lnTo>
                    <a:pt x="27181" y="187810"/>
                  </a:lnTo>
                  <a:lnTo>
                    <a:pt x="27181" y="0"/>
                  </a:lnTo>
                  <a:close/>
                </a:path>
              </a:pathLst>
            </a:custGeom>
            <a:solidFill>
              <a:srgbClr val="FFFFFF">
                <a:alpha val="100000"/>
              </a:srgbClr>
            </a:solidFill>
            <a:ln w="9525">
              <a:noFill/>
            </a:ln>
          </p:spPr>
          <p:txBody>
            <a:bodyPr/>
            <a:p>
              <a:endParaRPr lang="en-US"/>
            </a:p>
          </p:txBody>
        </p:sp>
        <p:pic>
          <p:nvPicPr>
            <p:cNvPr id="18443" name="object 8"/>
            <p:cNvPicPr>
              <a:picLocks noChangeAspect="1"/>
            </p:cNvPicPr>
            <p:nvPr/>
          </p:nvPicPr>
          <p:blipFill>
            <a:blip r:embed="rId4"/>
            <a:stretch>
              <a:fillRect/>
            </a:stretch>
          </p:blipFill>
          <p:spPr>
            <a:xfrm>
              <a:off x="1511267" y="6363540"/>
              <a:ext cx="234020" cy="188783"/>
            </a:xfrm>
            <a:prstGeom prst="rect">
              <a:avLst/>
            </a:prstGeom>
            <a:noFill/>
            <a:ln w="9525">
              <a:noFill/>
            </a:ln>
          </p:spPr>
        </p:pic>
        <p:pic>
          <p:nvPicPr>
            <p:cNvPr id="18444" name="object 9"/>
            <p:cNvPicPr>
              <a:picLocks noChangeAspect="1"/>
            </p:cNvPicPr>
            <p:nvPr/>
          </p:nvPicPr>
          <p:blipFill>
            <a:blip r:embed="rId5"/>
            <a:stretch>
              <a:fillRect/>
            </a:stretch>
          </p:blipFill>
          <p:spPr>
            <a:xfrm>
              <a:off x="889994" y="6379649"/>
              <a:ext cx="164467" cy="169905"/>
            </a:xfrm>
            <a:prstGeom prst="rect">
              <a:avLst/>
            </a:prstGeom>
            <a:noFill/>
            <a:ln w="9525">
              <a:noFill/>
            </a:ln>
          </p:spPr>
        </p:pic>
      </p:grpSp>
      <p:sp>
        <p:nvSpPr>
          <p:cNvPr id="18436" name="object 10"/>
          <p:cNvSpPr/>
          <p:nvPr/>
        </p:nvSpPr>
        <p:spPr>
          <a:xfrm>
            <a:off x="463550" y="6348413"/>
            <a:ext cx="212725" cy="233362"/>
          </a:xfrm>
          <a:custGeom>
            <a:avLst/>
            <a:gdLst/>
            <a:ahLst/>
            <a:cxnLst/>
            <a:pathLst>
              <a:path w="213995" h="233679">
                <a:moveTo>
                  <a:pt x="42748" y="0"/>
                </a:moveTo>
                <a:lnTo>
                  <a:pt x="0" y="42481"/>
                </a:lnTo>
                <a:lnTo>
                  <a:pt x="0" y="233578"/>
                </a:lnTo>
                <a:lnTo>
                  <a:pt x="42748" y="191109"/>
                </a:lnTo>
                <a:lnTo>
                  <a:pt x="42748" y="0"/>
                </a:lnTo>
                <a:close/>
              </a:path>
              <a:path w="213995" h="233679">
                <a:moveTo>
                  <a:pt x="128193" y="0"/>
                </a:moveTo>
                <a:lnTo>
                  <a:pt x="85509" y="42481"/>
                </a:lnTo>
                <a:lnTo>
                  <a:pt x="85509" y="233578"/>
                </a:lnTo>
                <a:lnTo>
                  <a:pt x="128193" y="191109"/>
                </a:lnTo>
                <a:lnTo>
                  <a:pt x="128193" y="0"/>
                </a:lnTo>
                <a:close/>
              </a:path>
              <a:path w="213995" h="233679">
                <a:moveTo>
                  <a:pt x="213702" y="0"/>
                </a:moveTo>
                <a:lnTo>
                  <a:pt x="170942" y="42481"/>
                </a:lnTo>
                <a:lnTo>
                  <a:pt x="170942" y="233578"/>
                </a:lnTo>
                <a:lnTo>
                  <a:pt x="213702" y="191109"/>
                </a:lnTo>
                <a:lnTo>
                  <a:pt x="213702" y="0"/>
                </a:lnTo>
                <a:close/>
              </a:path>
            </a:pathLst>
          </a:custGeom>
          <a:solidFill>
            <a:srgbClr val="FFFFFF">
              <a:alpha val="100000"/>
            </a:srgbClr>
          </a:solidFill>
          <a:ln w="9525">
            <a:noFill/>
          </a:ln>
        </p:spPr>
        <p:txBody>
          <a:bodyPr/>
          <a:p>
            <a:endParaRPr lang="en-US"/>
          </a:p>
        </p:txBody>
      </p:sp>
      <p:sp>
        <p:nvSpPr>
          <p:cNvPr id="11" name="object 11"/>
          <p:cNvSpPr txBox="1">
            <a:spLocks noGrp="1"/>
          </p:cNvSpPr>
          <p:nvPr>
            <p:ph type="title"/>
          </p:nvPr>
        </p:nvSpPr>
        <p:spPr>
          <a:xfrm>
            <a:off x="401638" y="2495550"/>
            <a:ext cx="7818438" cy="1397000"/>
          </a:xfr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defRPr/>
            </a:pPr>
            <a:r>
              <a:rPr kumimoji="0" sz="90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BENEFICIARY</a:t>
            </a:r>
            <a:endParaRPr kumimoji="0" sz="9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pic>
        <p:nvPicPr>
          <p:cNvPr id="18438" name="object 12"/>
          <p:cNvPicPr>
            <a:picLocks noChangeAspect="1"/>
          </p:cNvPicPr>
          <p:nvPr/>
        </p:nvPicPr>
        <p:blipFill>
          <a:blip r:embed="rId6"/>
          <a:stretch>
            <a:fillRect/>
          </a:stretch>
        </p:blipFill>
        <p:spPr>
          <a:xfrm>
            <a:off x="7989888" y="1468438"/>
            <a:ext cx="1860550" cy="18605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458" name="object 2"/>
          <p:cNvGrpSpPr/>
          <p:nvPr/>
        </p:nvGrpSpPr>
        <p:grpSpPr>
          <a:xfrm>
            <a:off x="1255713" y="474663"/>
            <a:ext cx="9680575" cy="874712"/>
            <a:chOff x="1255141" y="474789"/>
            <a:chExt cx="9681845" cy="875030"/>
          </a:xfrm>
        </p:grpSpPr>
        <p:sp>
          <p:nvSpPr>
            <p:cNvPr id="19483" name="object 3"/>
            <p:cNvSpPr/>
            <p:nvPr/>
          </p:nvSpPr>
          <p:spPr>
            <a:xfrm>
              <a:off x="1269428" y="489076"/>
              <a:ext cx="9653270" cy="846455"/>
            </a:xfrm>
            <a:custGeom>
              <a:avLst/>
              <a:gdLst/>
              <a:ahLst/>
              <a:cxnLst/>
              <a:pathLst>
                <a:path w="9653270" h="846455">
                  <a:moveTo>
                    <a:pt x="9599612" y="0"/>
                  </a:moveTo>
                  <a:lnTo>
                    <a:pt x="53530" y="0"/>
                  </a:lnTo>
                  <a:lnTo>
                    <a:pt x="32682" y="4212"/>
                  </a:lnTo>
                  <a:lnTo>
                    <a:pt x="15668" y="15700"/>
                  </a:lnTo>
                  <a:lnTo>
                    <a:pt x="4202" y="32736"/>
                  </a:lnTo>
                  <a:lnTo>
                    <a:pt x="0" y="53594"/>
                  </a:lnTo>
                  <a:lnTo>
                    <a:pt x="0" y="792734"/>
                  </a:lnTo>
                  <a:lnTo>
                    <a:pt x="4202" y="813591"/>
                  </a:lnTo>
                  <a:lnTo>
                    <a:pt x="15668" y="830627"/>
                  </a:lnTo>
                  <a:lnTo>
                    <a:pt x="32682" y="842115"/>
                  </a:lnTo>
                  <a:lnTo>
                    <a:pt x="53530" y="846327"/>
                  </a:lnTo>
                  <a:lnTo>
                    <a:pt x="9599612" y="846327"/>
                  </a:lnTo>
                  <a:lnTo>
                    <a:pt x="9620450" y="842115"/>
                  </a:lnTo>
                  <a:lnTo>
                    <a:pt x="9637442" y="830627"/>
                  </a:lnTo>
                  <a:lnTo>
                    <a:pt x="9648886" y="813591"/>
                  </a:lnTo>
                  <a:lnTo>
                    <a:pt x="9653079" y="792734"/>
                  </a:lnTo>
                  <a:lnTo>
                    <a:pt x="9653079" y="53594"/>
                  </a:lnTo>
                  <a:lnTo>
                    <a:pt x="9648886" y="32736"/>
                  </a:lnTo>
                  <a:lnTo>
                    <a:pt x="9637442" y="15700"/>
                  </a:lnTo>
                  <a:lnTo>
                    <a:pt x="9620450" y="4212"/>
                  </a:lnTo>
                  <a:lnTo>
                    <a:pt x="9599612" y="0"/>
                  </a:lnTo>
                  <a:close/>
                </a:path>
              </a:pathLst>
            </a:custGeom>
            <a:solidFill>
              <a:srgbClr val="F1F1F1">
                <a:alpha val="100000"/>
              </a:srgbClr>
            </a:solidFill>
            <a:ln w="9525">
              <a:noFill/>
            </a:ln>
          </p:spPr>
          <p:txBody>
            <a:bodyPr/>
            <a:p>
              <a:endParaRPr lang="en-US"/>
            </a:p>
          </p:txBody>
        </p:sp>
        <p:sp>
          <p:nvSpPr>
            <p:cNvPr id="19484" name="object 4"/>
            <p:cNvSpPr/>
            <p:nvPr/>
          </p:nvSpPr>
          <p:spPr>
            <a:xfrm>
              <a:off x="1269428" y="489076"/>
              <a:ext cx="9653270" cy="846455"/>
            </a:xfrm>
            <a:custGeom>
              <a:avLst/>
              <a:gdLst/>
              <a:ahLst/>
              <a:cxnLst/>
              <a:pathLst>
                <a:path w="9653270" h="846455">
                  <a:moveTo>
                    <a:pt x="0" y="53594"/>
                  </a:moveTo>
                  <a:lnTo>
                    <a:pt x="4202" y="32736"/>
                  </a:lnTo>
                  <a:lnTo>
                    <a:pt x="15668" y="15700"/>
                  </a:lnTo>
                  <a:lnTo>
                    <a:pt x="32682" y="4212"/>
                  </a:lnTo>
                  <a:lnTo>
                    <a:pt x="53530" y="0"/>
                  </a:lnTo>
                  <a:lnTo>
                    <a:pt x="9599612" y="0"/>
                  </a:lnTo>
                  <a:lnTo>
                    <a:pt x="9620450" y="4212"/>
                  </a:lnTo>
                  <a:lnTo>
                    <a:pt x="9637442" y="15700"/>
                  </a:lnTo>
                  <a:lnTo>
                    <a:pt x="9648886" y="32736"/>
                  </a:lnTo>
                  <a:lnTo>
                    <a:pt x="9653079" y="53594"/>
                  </a:lnTo>
                  <a:lnTo>
                    <a:pt x="9653079" y="792734"/>
                  </a:lnTo>
                  <a:lnTo>
                    <a:pt x="9648886" y="813591"/>
                  </a:lnTo>
                  <a:lnTo>
                    <a:pt x="9637442" y="830627"/>
                  </a:lnTo>
                  <a:lnTo>
                    <a:pt x="9620450" y="842115"/>
                  </a:lnTo>
                  <a:lnTo>
                    <a:pt x="9599612" y="846327"/>
                  </a:lnTo>
                  <a:lnTo>
                    <a:pt x="53530" y="846327"/>
                  </a:lnTo>
                  <a:lnTo>
                    <a:pt x="32682" y="842115"/>
                  </a:lnTo>
                  <a:lnTo>
                    <a:pt x="15668" y="830627"/>
                  </a:lnTo>
                  <a:lnTo>
                    <a:pt x="4202" y="813591"/>
                  </a:lnTo>
                  <a:lnTo>
                    <a:pt x="0" y="792734"/>
                  </a:lnTo>
                  <a:lnTo>
                    <a:pt x="0" y="53594"/>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160527"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 </a:t>
            </a:r>
            <a:r>
              <a:rPr kumimoji="0" sz="30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DESIGNATION</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0" marR="0" lvl="0" indent="0" algn="ctr" defTabSz="914400" eaLnBrk="1" fontAlgn="auto" latinLnBrk="0" hangingPunct="1">
              <a:lnSpc>
                <a:spcPct val="100000"/>
              </a:lnSpc>
              <a:spcBef>
                <a:spcPts val="65"/>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6" name="object 6"/>
          <p:cNvSpPr txBox="1"/>
          <p:nvPr/>
        </p:nvSpPr>
        <p:spPr>
          <a:xfrm>
            <a:off x="1828800" y="1582738"/>
            <a:ext cx="8534400" cy="787400"/>
          </a:xfrm>
          <a:prstGeom prst="rect">
            <a:avLst/>
          </a:prstGeom>
        </p:spPr>
        <p:txBody>
          <a:bodyPr vert="horz" wrap="square" lIns="0" tIns="12065" rIns="0" bIns="0" rtlCol="0">
            <a:spAutoFit/>
          </a:bodyPr>
          <a:lstStyle/>
          <a:p>
            <a:pPr marR="0" algn="ctr" defTabSz="914400" eaLnBrk="1" fontAlgn="auto" hangingPunct="1">
              <a:spcBef>
                <a:spcPts val="95"/>
              </a:spcBef>
              <a:spcAft>
                <a:spcPts val="0"/>
              </a:spcAft>
              <a:buClrTx/>
              <a:buSzTx/>
              <a:buFontTx/>
              <a:buNone/>
              <a:defRPr/>
            </a:pPr>
            <a:r>
              <a:rPr kumimoji="0" sz="2500" kern="0" cap="none" spc="-150" normalizeH="0" baseline="0" noProof="0" dirty="0">
                <a:solidFill>
                  <a:sysClr val="windowText" lastClr="000000"/>
                </a:solidFill>
                <a:latin typeface="Tahoma" panose="020B0604030504040204"/>
                <a:cs typeface="Tahoma" panose="020B0604030504040204"/>
              </a:rPr>
              <a:t>We</a:t>
            </a:r>
            <a:r>
              <a:rPr kumimoji="0" sz="2500" kern="0" cap="none" spc="-50"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encourage</a:t>
            </a:r>
            <a:r>
              <a:rPr kumimoji="0" sz="2500" kern="0" cap="none" spc="-65"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all</a:t>
            </a:r>
            <a:r>
              <a:rPr kumimoji="0" sz="2500" kern="0" cap="none" spc="-80"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eligible</a:t>
            </a:r>
            <a:r>
              <a:rPr kumimoji="0" sz="2500" kern="0" cap="none" spc="-50" normalizeH="0" baseline="0" noProof="0" dirty="0">
                <a:solidFill>
                  <a:sysClr val="windowText" lastClr="000000"/>
                </a:solidFill>
                <a:latin typeface="Tahoma" panose="020B0604030504040204"/>
                <a:cs typeface="Tahoma" panose="020B0604030504040204"/>
              </a:rPr>
              <a:t> </a:t>
            </a:r>
            <a:r>
              <a:rPr kumimoji="0" sz="2500" kern="0" cap="none" spc="-10" normalizeH="0" baseline="0" noProof="0" dirty="0">
                <a:solidFill>
                  <a:sysClr val="windowText" lastClr="000000"/>
                </a:solidFill>
                <a:latin typeface="Tahoma" panose="020B0604030504040204"/>
                <a:cs typeface="Tahoma" panose="020B0604030504040204"/>
              </a:rPr>
              <a:t>employees</a:t>
            </a:r>
            <a:r>
              <a:rPr kumimoji="0" sz="2500" kern="0" cap="none" spc="-55"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to</a:t>
            </a:r>
            <a:r>
              <a:rPr kumimoji="0" sz="2500" kern="0" cap="none" spc="-70" normalizeH="0" baseline="0" noProof="0" dirty="0">
                <a:solidFill>
                  <a:sysClr val="windowText" lastClr="000000"/>
                </a:solidFill>
                <a:latin typeface="Tahoma" panose="020B0604030504040204"/>
                <a:cs typeface="Tahoma" panose="020B0604030504040204"/>
              </a:rPr>
              <a:t> </a:t>
            </a:r>
            <a:r>
              <a:rPr kumimoji="0" sz="2500" kern="0" cap="none" spc="-10" normalizeH="0" baseline="0" noProof="0" dirty="0">
                <a:solidFill>
                  <a:sysClr val="windowText" lastClr="000000"/>
                </a:solidFill>
                <a:latin typeface="Tahoma" panose="020B0604030504040204"/>
                <a:cs typeface="Tahoma" panose="020B0604030504040204"/>
              </a:rPr>
              <a:t>follow</a:t>
            </a:r>
            <a:r>
              <a:rPr kumimoji="0" sz="2500" kern="0" cap="none" spc="-60"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the</a:t>
            </a:r>
            <a:r>
              <a:rPr kumimoji="0" sz="2500" kern="0" cap="none" spc="-114" normalizeH="0" baseline="0" noProof="0" dirty="0">
                <a:solidFill>
                  <a:sysClr val="windowText" lastClr="000000"/>
                </a:solidFill>
                <a:latin typeface="Tahoma" panose="020B0604030504040204"/>
                <a:cs typeface="Tahoma" panose="020B0604030504040204"/>
              </a:rPr>
              <a:t> </a:t>
            </a:r>
            <a:r>
              <a:rPr kumimoji="0" sz="2500" b="1" kern="0" cap="none" spc="65" normalizeH="0" baseline="0" noProof="0" dirty="0">
                <a:solidFill>
                  <a:sysClr val="windowText" lastClr="000000"/>
                </a:solidFill>
                <a:latin typeface="Arial" panose="020B0604020202020204"/>
                <a:cs typeface="Arial" panose="020B0604020202020204"/>
              </a:rPr>
              <a:t>Hierarchy</a:t>
            </a:r>
            <a:endParaRPr kumimoji="0" sz="2500" kern="0" cap="none" spc="0" normalizeH="0" baseline="0" noProof="0">
              <a:solidFill>
                <a:sysClr val="windowText" lastClr="000000"/>
              </a:solidFill>
              <a:latin typeface="Arial" panose="020B0604020202020204"/>
              <a:cs typeface="Arial" panose="020B0604020202020204"/>
            </a:endParaRPr>
          </a:p>
          <a:p>
            <a:pPr marR="0" algn="ctr" defTabSz="914400" eaLnBrk="1" fontAlgn="auto" hangingPunct="1">
              <a:spcBef>
                <a:spcPts val="0"/>
              </a:spcBef>
              <a:spcAft>
                <a:spcPts val="0"/>
              </a:spcAft>
              <a:buClrTx/>
              <a:buSzTx/>
              <a:buFontTx/>
              <a:buNone/>
              <a:defRPr/>
            </a:pPr>
            <a:r>
              <a:rPr kumimoji="0" sz="2500" kern="0" cap="none" spc="-30" normalizeH="0" baseline="0" noProof="0" dirty="0">
                <a:solidFill>
                  <a:sysClr val="windowText" lastClr="000000"/>
                </a:solidFill>
                <a:latin typeface="Tahoma" panose="020B0604030504040204"/>
                <a:cs typeface="Tahoma" panose="020B0604030504040204"/>
              </a:rPr>
              <a:t>below</a:t>
            </a:r>
            <a:r>
              <a:rPr kumimoji="0" sz="2500" kern="0" cap="none" spc="-65"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in</a:t>
            </a:r>
            <a:r>
              <a:rPr kumimoji="0" sz="2500" kern="0" cap="none" spc="-70"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designating</a:t>
            </a:r>
            <a:r>
              <a:rPr kumimoji="0" sz="2500" kern="0" cap="none" spc="-25" normalizeH="0" baseline="0" noProof="0" dirty="0">
                <a:solidFill>
                  <a:sysClr val="windowText" lastClr="000000"/>
                </a:solidFill>
                <a:latin typeface="Tahoma" panose="020B0604030504040204"/>
                <a:cs typeface="Tahoma" panose="020B0604030504040204"/>
              </a:rPr>
              <a:t> </a:t>
            </a:r>
            <a:r>
              <a:rPr kumimoji="0" sz="2500" kern="0" cap="none" spc="0" normalizeH="0" baseline="0" noProof="0" dirty="0">
                <a:solidFill>
                  <a:sysClr val="windowText" lastClr="000000"/>
                </a:solidFill>
                <a:latin typeface="Tahoma" panose="020B0604030504040204"/>
                <a:cs typeface="Tahoma" panose="020B0604030504040204"/>
              </a:rPr>
              <a:t>the</a:t>
            </a:r>
            <a:r>
              <a:rPr kumimoji="0" sz="2500" kern="0" cap="none" spc="-60" normalizeH="0" baseline="0" noProof="0" dirty="0">
                <a:solidFill>
                  <a:sysClr val="windowText" lastClr="000000"/>
                </a:solidFill>
                <a:latin typeface="Tahoma" panose="020B0604030504040204"/>
                <a:cs typeface="Tahoma" panose="020B0604030504040204"/>
              </a:rPr>
              <a:t> </a:t>
            </a:r>
            <a:r>
              <a:rPr kumimoji="0" sz="2500" kern="0" cap="none" spc="-10" normalizeH="0" baseline="0" noProof="0" dirty="0">
                <a:solidFill>
                  <a:sysClr val="windowText" lastClr="000000"/>
                </a:solidFill>
                <a:latin typeface="Tahoma" panose="020B0604030504040204"/>
                <a:cs typeface="Tahoma" panose="020B0604030504040204"/>
              </a:rPr>
              <a:t>beneficiaries:</a:t>
            </a:r>
            <a:endParaRPr kumimoji="0" sz="2500" kern="0" cap="none" spc="0" normalizeH="0" baseline="0" noProof="0">
              <a:solidFill>
                <a:sysClr val="windowText" lastClr="000000"/>
              </a:solidFill>
              <a:latin typeface="Tahoma" panose="020B0604030504040204"/>
              <a:cs typeface="Tahoma" panose="020B0604030504040204"/>
            </a:endParaRPr>
          </a:p>
        </p:txBody>
      </p:sp>
      <p:sp>
        <p:nvSpPr>
          <p:cNvPr id="19461" name="object 7"/>
          <p:cNvSpPr/>
          <p:nvPr/>
        </p:nvSpPr>
        <p:spPr>
          <a:xfrm>
            <a:off x="2109788" y="2811463"/>
            <a:ext cx="2322512" cy="1162050"/>
          </a:xfrm>
          <a:custGeom>
            <a:avLst/>
            <a:gdLst/>
            <a:ahLst/>
            <a:cxnLst/>
            <a:pathLst>
              <a:path w="2322195" h="1161414">
                <a:moveTo>
                  <a:pt x="2128266" y="0"/>
                </a:moveTo>
                <a:lnTo>
                  <a:pt x="193548" y="0"/>
                </a:lnTo>
                <a:lnTo>
                  <a:pt x="149196" y="5109"/>
                </a:lnTo>
                <a:lnTo>
                  <a:pt x="108468" y="19665"/>
                </a:lnTo>
                <a:lnTo>
                  <a:pt x="72529" y="42507"/>
                </a:lnTo>
                <a:lnTo>
                  <a:pt x="42547" y="72476"/>
                </a:lnTo>
                <a:lnTo>
                  <a:pt x="19687" y="108412"/>
                </a:lnTo>
                <a:lnTo>
                  <a:pt x="5116" y="149156"/>
                </a:lnTo>
                <a:lnTo>
                  <a:pt x="0" y="193547"/>
                </a:lnTo>
                <a:lnTo>
                  <a:pt x="0" y="967358"/>
                </a:lnTo>
                <a:lnTo>
                  <a:pt x="5116" y="1011750"/>
                </a:lnTo>
                <a:lnTo>
                  <a:pt x="19687" y="1052494"/>
                </a:lnTo>
                <a:lnTo>
                  <a:pt x="42547" y="1088430"/>
                </a:lnTo>
                <a:lnTo>
                  <a:pt x="72529" y="1118399"/>
                </a:lnTo>
                <a:lnTo>
                  <a:pt x="108468" y="1141241"/>
                </a:lnTo>
                <a:lnTo>
                  <a:pt x="149196" y="1155797"/>
                </a:lnTo>
                <a:lnTo>
                  <a:pt x="193548" y="1160906"/>
                </a:lnTo>
                <a:lnTo>
                  <a:pt x="2128266" y="1160906"/>
                </a:lnTo>
                <a:lnTo>
                  <a:pt x="2172657" y="1155797"/>
                </a:lnTo>
                <a:lnTo>
                  <a:pt x="2213401" y="1141241"/>
                </a:lnTo>
                <a:lnTo>
                  <a:pt x="2249337" y="1118399"/>
                </a:lnTo>
                <a:lnTo>
                  <a:pt x="2279306" y="1088430"/>
                </a:lnTo>
                <a:lnTo>
                  <a:pt x="2302148" y="1052494"/>
                </a:lnTo>
                <a:lnTo>
                  <a:pt x="2316704" y="1011750"/>
                </a:lnTo>
                <a:lnTo>
                  <a:pt x="2321814" y="967358"/>
                </a:lnTo>
                <a:lnTo>
                  <a:pt x="2321814" y="193547"/>
                </a:lnTo>
                <a:lnTo>
                  <a:pt x="2316704" y="149156"/>
                </a:lnTo>
                <a:lnTo>
                  <a:pt x="2302148" y="108412"/>
                </a:lnTo>
                <a:lnTo>
                  <a:pt x="2279306" y="72476"/>
                </a:lnTo>
                <a:lnTo>
                  <a:pt x="2249337" y="42507"/>
                </a:lnTo>
                <a:lnTo>
                  <a:pt x="2213401" y="19665"/>
                </a:lnTo>
                <a:lnTo>
                  <a:pt x="2172657" y="5109"/>
                </a:lnTo>
                <a:lnTo>
                  <a:pt x="2128266" y="0"/>
                </a:lnTo>
                <a:close/>
              </a:path>
            </a:pathLst>
          </a:custGeom>
          <a:solidFill>
            <a:srgbClr val="00A757">
              <a:alpha val="100000"/>
            </a:srgbClr>
          </a:solidFill>
          <a:ln w="9525">
            <a:noFill/>
          </a:ln>
        </p:spPr>
        <p:txBody>
          <a:bodyPr/>
          <a:p>
            <a:endParaRPr lang="en-US"/>
          </a:p>
        </p:txBody>
      </p:sp>
      <p:sp>
        <p:nvSpPr>
          <p:cNvPr id="8" name="object 8"/>
          <p:cNvSpPr txBox="1"/>
          <p:nvPr/>
        </p:nvSpPr>
        <p:spPr>
          <a:xfrm>
            <a:off x="2506663" y="3076575"/>
            <a:ext cx="1528763" cy="587375"/>
          </a:xfrm>
          <a:prstGeom prst="rect">
            <a:avLst/>
          </a:prstGeom>
        </p:spPr>
        <p:txBody>
          <a:bodyPr vert="horz" wrap="square" lIns="0" tIns="60960" rIns="0" bIns="0" rtlCol="0">
            <a:spAutoFit/>
          </a:bodyPr>
          <a:p>
            <a:pPr marL="371475" indent="-358775" eaLnBrk="1" hangingPunct="1">
              <a:lnSpc>
                <a:spcPts val="2025"/>
              </a:lnSpc>
              <a:spcBef>
                <a:spcPts val="475"/>
              </a:spcBef>
              <a:buNone/>
            </a:pPr>
            <a:r>
              <a:rPr lang="en-US" altLang="zh-CN" sz="2000" b="1">
                <a:solidFill>
                  <a:srgbClr val="FFFFFF"/>
                </a:solidFill>
                <a:cs typeface="Arial" panose="020B0604020202020204" pitchFamily="34" charset="0"/>
              </a:rPr>
              <a:t>If Insured is Single</a:t>
            </a:r>
            <a:endParaRPr lang="en-US" altLang="zh-CN" sz="2000">
              <a:solidFill>
                <a:srgbClr val="000000"/>
              </a:solidFill>
              <a:ea typeface="Arial" panose="020B0604020202020204" pitchFamily="34" charset="0"/>
            </a:endParaRPr>
          </a:p>
        </p:txBody>
      </p:sp>
      <p:grpSp>
        <p:nvGrpSpPr>
          <p:cNvPr id="19463" name="object 9"/>
          <p:cNvGrpSpPr/>
          <p:nvPr/>
        </p:nvGrpSpPr>
        <p:grpSpPr>
          <a:xfrm>
            <a:off x="2335213" y="3967163"/>
            <a:ext cx="2103437" cy="1463675"/>
            <a:chOff x="2335910" y="3966464"/>
            <a:chExt cx="2102485" cy="1464310"/>
          </a:xfrm>
        </p:grpSpPr>
        <p:sp>
          <p:nvSpPr>
            <p:cNvPr id="19481" name="object 10"/>
            <p:cNvSpPr/>
            <p:nvPr/>
          </p:nvSpPr>
          <p:spPr>
            <a:xfrm>
              <a:off x="2342260" y="3972814"/>
              <a:ext cx="232410" cy="870585"/>
            </a:xfrm>
            <a:custGeom>
              <a:avLst/>
              <a:gdLst/>
              <a:ahLst/>
              <a:cxnLst/>
              <a:pathLst>
                <a:path w="232410" h="870585">
                  <a:moveTo>
                    <a:pt x="0" y="0"/>
                  </a:moveTo>
                  <a:lnTo>
                    <a:pt x="0" y="870585"/>
                  </a:lnTo>
                  <a:lnTo>
                    <a:pt x="232156" y="870585"/>
                  </a:lnTo>
                </a:path>
              </a:pathLst>
            </a:custGeom>
            <a:noFill/>
            <a:ln w="12700" cap="flat" cmpd="sng">
              <a:solidFill>
                <a:srgbClr val="008444">
                  <a:alpha val="100000"/>
                </a:srgbClr>
              </a:solidFill>
              <a:prstDash val="solid"/>
              <a:headEnd type="none" w="med" len="med"/>
              <a:tailEnd type="none" w="med" len="med"/>
            </a:ln>
          </p:spPr>
          <p:txBody>
            <a:bodyPr/>
            <a:p>
              <a:endParaRPr lang="en-US"/>
            </a:p>
          </p:txBody>
        </p:sp>
        <p:sp>
          <p:nvSpPr>
            <p:cNvPr id="19482" name="object 11"/>
            <p:cNvSpPr/>
            <p:nvPr/>
          </p:nvSpPr>
          <p:spPr>
            <a:xfrm>
              <a:off x="2574416" y="4263009"/>
              <a:ext cx="1857375" cy="1161415"/>
            </a:xfrm>
            <a:custGeom>
              <a:avLst/>
              <a:gdLst/>
              <a:ahLst/>
              <a:cxnLst/>
              <a:pathLst>
                <a:path w="1857375" h="1161414">
                  <a:moveTo>
                    <a:pt x="0" y="116078"/>
                  </a:moveTo>
                  <a:lnTo>
                    <a:pt x="9118" y="70883"/>
                  </a:lnTo>
                  <a:lnTo>
                    <a:pt x="33988" y="33988"/>
                  </a:lnTo>
                  <a:lnTo>
                    <a:pt x="70883" y="9118"/>
                  </a:lnTo>
                  <a:lnTo>
                    <a:pt x="116077" y="0"/>
                  </a:lnTo>
                  <a:lnTo>
                    <a:pt x="1741296" y="0"/>
                  </a:lnTo>
                  <a:lnTo>
                    <a:pt x="1786437" y="9118"/>
                  </a:lnTo>
                  <a:lnTo>
                    <a:pt x="1823338" y="33988"/>
                  </a:lnTo>
                  <a:lnTo>
                    <a:pt x="1848238" y="70883"/>
                  </a:lnTo>
                  <a:lnTo>
                    <a:pt x="1857374" y="116078"/>
                  </a:lnTo>
                  <a:lnTo>
                    <a:pt x="1857374" y="1044829"/>
                  </a:lnTo>
                  <a:lnTo>
                    <a:pt x="1848238" y="1089969"/>
                  </a:lnTo>
                  <a:lnTo>
                    <a:pt x="1823338" y="1126871"/>
                  </a:lnTo>
                  <a:lnTo>
                    <a:pt x="1786437" y="1151770"/>
                  </a:lnTo>
                  <a:lnTo>
                    <a:pt x="1741296" y="1160907"/>
                  </a:lnTo>
                  <a:lnTo>
                    <a:pt x="116077" y="1160907"/>
                  </a:lnTo>
                  <a:lnTo>
                    <a:pt x="70883" y="1151770"/>
                  </a:lnTo>
                  <a:lnTo>
                    <a:pt x="33988" y="1126871"/>
                  </a:lnTo>
                  <a:lnTo>
                    <a:pt x="9118" y="1089969"/>
                  </a:lnTo>
                  <a:lnTo>
                    <a:pt x="0" y="1044829"/>
                  </a:lnTo>
                  <a:lnTo>
                    <a:pt x="0" y="116078"/>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12" name="object 12"/>
          <p:cNvSpPr txBox="1"/>
          <p:nvPr/>
        </p:nvSpPr>
        <p:spPr>
          <a:xfrm>
            <a:off x="2759075" y="4603750"/>
            <a:ext cx="1489075" cy="447675"/>
          </a:xfrm>
          <a:prstGeom prst="rect">
            <a:avLst/>
          </a:prstGeom>
        </p:spPr>
        <p:txBody>
          <a:bodyPr vert="horz" wrap="square" lIns="0" tIns="48894" rIns="0" bIns="0" rtlCol="0">
            <a:spAutoFit/>
          </a:bodyPr>
          <a:p>
            <a:pPr marL="217805" indent="-205105" eaLnBrk="1" hangingPunct="1">
              <a:lnSpc>
                <a:spcPts val="1525"/>
              </a:lnSpc>
              <a:spcBef>
                <a:spcPts val="390"/>
              </a:spcBef>
              <a:buNone/>
            </a:pPr>
            <a:r>
              <a:rPr lang="en-US" altLang="zh-CN" sz="1500" b="1">
                <a:solidFill>
                  <a:srgbClr val="000000"/>
                </a:solidFill>
                <a:cs typeface="Arial" panose="020B0604020202020204" pitchFamily="34" charset="0"/>
              </a:rPr>
              <a:t>Parents are the legal heirs.</a:t>
            </a:r>
            <a:endParaRPr lang="en-US" altLang="zh-CN" sz="1500">
              <a:solidFill>
                <a:srgbClr val="000000"/>
              </a:solidFill>
              <a:ea typeface="Arial" panose="020B0604020202020204" pitchFamily="34" charset="0"/>
            </a:endParaRPr>
          </a:p>
        </p:txBody>
      </p:sp>
      <p:sp>
        <p:nvSpPr>
          <p:cNvPr id="19465" name="object 13"/>
          <p:cNvSpPr/>
          <p:nvPr/>
        </p:nvSpPr>
        <p:spPr>
          <a:xfrm>
            <a:off x="5011738" y="2811463"/>
            <a:ext cx="2322512" cy="1162050"/>
          </a:xfrm>
          <a:custGeom>
            <a:avLst/>
            <a:gdLst/>
            <a:ahLst/>
            <a:cxnLst/>
            <a:pathLst>
              <a:path w="2322195" h="1161414">
                <a:moveTo>
                  <a:pt x="2205609" y="0"/>
                </a:moveTo>
                <a:lnTo>
                  <a:pt x="116077" y="0"/>
                </a:lnTo>
                <a:lnTo>
                  <a:pt x="70883" y="9118"/>
                </a:lnTo>
                <a:lnTo>
                  <a:pt x="33988" y="33988"/>
                </a:lnTo>
                <a:lnTo>
                  <a:pt x="9118" y="70883"/>
                </a:lnTo>
                <a:lnTo>
                  <a:pt x="0" y="116077"/>
                </a:lnTo>
                <a:lnTo>
                  <a:pt x="0" y="1044828"/>
                </a:lnTo>
                <a:lnTo>
                  <a:pt x="9118" y="1090023"/>
                </a:lnTo>
                <a:lnTo>
                  <a:pt x="33988" y="1126918"/>
                </a:lnTo>
                <a:lnTo>
                  <a:pt x="70883" y="1151788"/>
                </a:lnTo>
                <a:lnTo>
                  <a:pt x="116077" y="1160906"/>
                </a:lnTo>
                <a:lnTo>
                  <a:pt x="2205609" y="1160906"/>
                </a:lnTo>
                <a:lnTo>
                  <a:pt x="2250803" y="1151788"/>
                </a:lnTo>
                <a:lnTo>
                  <a:pt x="2287698" y="1126918"/>
                </a:lnTo>
                <a:lnTo>
                  <a:pt x="2312568" y="1090023"/>
                </a:lnTo>
                <a:lnTo>
                  <a:pt x="2321687" y="1044828"/>
                </a:lnTo>
                <a:lnTo>
                  <a:pt x="2321687" y="116077"/>
                </a:lnTo>
                <a:lnTo>
                  <a:pt x="2312568" y="70883"/>
                </a:lnTo>
                <a:lnTo>
                  <a:pt x="2287698" y="33988"/>
                </a:lnTo>
                <a:lnTo>
                  <a:pt x="2250803" y="9118"/>
                </a:lnTo>
                <a:lnTo>
                  <a:pt x="2205609" y="0"/>
                </a:lnTo>
                <a:close/>
              </a:path>
            </a:pathLst>
          </a:custGeom>
          <a:solidFill>
            <a:srgbClr val="00A757">
              <a:alpha val="100000"/>
            </a:srgbClr>
          </a:solidFill>
          <a:ln w="9525">
            <a:noFill/>
          </a:ln>
        </p:spPr>
        <p:txBody>
          <a:bodyPr/>
          <a:p>
            <a:endParaRPr lang="en-US"/>
          </a:p>
        </p:txBody>
      </p:sp>
      <p:sp>
        <p:nvSpPr>
          <p:cNvPr id="14" name="object 14"/>
          <p:cNvSpPr txBox="1"/>
          <p:nvPr/>
        </p:nvSpPr>
        <p:spPr>
          <a:xfrm>
            <a:off x="5359400" y="2946400"/>
            <a:ext cx="1628775" cy="847725"/>
          </a:xfrm>
          <a:prstGeom prst="rect">
            <a:avLst/>
          </a:prstGeom>
        </p:spPr>
        <p:txBody>
          <a:bodyPr vert="horz" wrap="square" lIns="0" tIns="60960" rIns="0" bIns="0" rtlCol="0">
            <a:spAutoFit/>
          </a:bodyPr>
          <a:p>
            <a:pPr marL="11430" algn="ctr" eaLnBrk="1" hangingPunct="1">
              <a:lnSpc>
                <a:spcPts val="2025"/>
              </a:lnSpc>
              <a:spcBef>
                <a:spcPts val="475"/>
              </a:spcBef>
              <a:buNone/>
            </a:pPr>
            <a:r>
              <a:rPr lang="en-US" altLang="zh-CN" sz="2000" b="1">
                <a:solidFill>
                  <a:srgbClr val="FFFFFF"/>
                </a:solidFill>
                <a:cs typeface="Arial" panose="020B0604020202020204" pitchFamily="34" charset="0"/>
              </a:rPr>
              <a:t>If Insured is Single with a Child</a:t>
            </a:r>
            <a:endParaRPr lang="en-US" altLang="zh-CN" sz="2000">
              <a:solidFill>
                <a:srgbClr val="000000"/>
              </a:solidFill>
              <a:ea typeface="Arial" panose="020B0604020202020204" pitchFamily="34" charset="0"/>
            </a:endParaRPr>
          </a:p>
        </p:txBody>
      </p:sp>
      <p:grpSp>
        <p:nvGrpSpPr>
          <p:cNvPr id="19467" name="object 15"/>
          <p:cNvGrpSpPr/>
          <p:nvPr/>
        </p:nvGrpSpPr>
        <p:grpSpPr>
          <a:xfrm>
            <a:off x="5238750" y="3967163"/>
            <a:ext cx="2101850" cy="1463675"/>
            <a:chOff x="5237988" y="3966464"/>
            <a:chExt cx="2102485" cy="1464310"/>
          </a:xfrm>
        </p:grpSpPr>
        <p:sp>
          <p:nvSpPr>
            <p:cNvPr id="19479" name="object 16"/>
            <p:cNvSpPr/>
            <p:nvPr/>
          </p:nvSpPr>
          <p:spPr>
            <a:xfrm>
              <a:off x="5244338" y="3972814"/>
              <a:ext cx="232410" cy="870585"/>
            </a:xfrm>
            <a:custGeom>
              <a:avLst/>
              <a:gdLst/>
              <a:ahLst/>
              <a:cxnLst/>
              <a:pathLst>
                <a:path w="232410" h="870585">
                  <a:moveTo>
                    <a:pt x="0" y="0"/>
                  </a:moveTo>
                  <a:lnTo>
                    <a:pt x="0" y="870585"/>
                  </a:lnTo>
                  <a:lnTo>
                    <a:pt x="232156" y="870585"/>
                  </a:lnTo>
                </a:path>
              </a:pathLst>
            </a:custGeom>
            <a:noFill/>
            <a:ln w="12700" cap="flat" cmpd="sng">
              <a:solidFill>
                <a:srgbClr val="008444">
                  <a:alpha val="100000"/>
                </a:srgbClr>
              </a:solidFill>
              <a:prstDash val="solid"/>
              <a:headEnd type="none" w="med" len="med"/>
              <a:tailEnd type="none" w="med" len="med"/>
            </a:ln>
          </p:spPr>
          <p:txBody>
            <a:bodyPr/>
            <a:p>
              <a:endParaRPr lang="en-US"/>
            </a:p>
          </p:txBody>
        </p:sp>
        <p:sp>
          <p:nvSpPr>
            <p:cNvPr id="19480" name="object 17"/>
            <p:cNvSpPr/>
            <p:nvPr/>
          </p:nvSpPr>
          <p:spPr>
            <a:xfrm>
              <a:off x="5476494" y="4263009"/>
              <a:ext cx="1857375" cy="1161415"/>
            </a:xfrm>
            <a:custGeom>
              <a:avLst/>
              <a:gdLst/>
              <a:ahLst/>
              <a:cxnLst/>
              <a:pathLst>
                <a:path w="1857375" h="1161414">
                  <a:moveTo>
                    <a:pt x="0" y="116078"/>
                  </a:moveTo>
                  <a:lnTo>
                    <a:pt x="9136" y="70883"/>
                  </a:lnTo>
                  <a:lnTo>
                    <a:pt x="34036" y="33988"/>
                  </a:lnTo>
                  <a:lnTo>
                    <a:pt x="70937" y="9118"/>
                  </a:lnTo>
                  <a:lnTo>
                    <a:pt x="116077" y="0"/>
                  </a:lnTo>
                  <a:lnTo>
                    <a:pt x="1741297" y="0"/>
                  </a:lnTo>
                  <a:lnTo>
                    <a:pt x="1786491" y="9118"/>
                  </a:lnTo>
                  <a:lnTo>
                    <a:pt x="1823386" y="33988"/>
                  </a:lnTo>
                  <a:lnTo>
                    <a:pt x="1848256" y="70883"/>
                  </a:lnTo>
                  <a:lnTo>
                    <a:pt x="1857375" y="116078"/>
                  </a:lnTo>
                  <a:lnTo>
                    <a:pt x="1857375" y="1044829"/>
                  </a:lnTo>
                  <a:lnTo>
                    <a:pt x="1848256" y="1089969"/>
                  </a:lnTo>
                  <a:lnTo>
                    <a:pt x="1823386" y="1126871"/>
                  </a:lnTo>
                  <a:lnTo>
                    <a:pt x="1786491" y="1151770"/>
                  </a:lnTo>
                  <a:lnTo>
                    <a:pt x="1741297" y="1160907"/>
                  </a:lnTo>
                  <a:lnTo>
                    <a:pt x="116077" y="1160907"/>
                  </a:lnTo>
                  <a:lnTo>
                    <a:pt x="70937" y="1151770"/>
                  </a:lnTo>
                  <a:lnTo>
                    <a:pt x="34036" y="1126871"/>
                  </a:lnTo>
                  <a:lnTo>
                    <a:pt x="9136" y="1089969"/>
                  </a:lnTo>
                  <a:lnTo>
                    <a:pt x="0" y="1044829"/>
                  </a:lnTo>
                  <a:lnTo>
                    <a:pt x="0" y="116078"/>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18" name="object 18"/>
          <p:cNvSpPr txBox="1"/>
          <p:nvPr/>
        </p:nvSpPr>
        <p:spPr>
          <a:xfrm>
            <a:off x="5551488" y="4338638"/>
            <a:ext cx="1709738" cy="979488"/>
          </a:xfrm>
          <a:prstGeom prst="rect">
            <a:avLst/>
          </a:prstGeom>
        </p:spPr>
        <p:txBody>
          <a:bodyPr vert="horz" wrap="square" lIns="0" tIns="48894" rIns="0" bIns="0" rtlCol="0">
            <a:spAutoFit/>
          </a:bodyPr>
          <a:p>
            <a:pPr marL="59055" algn="ctr" eaLnBrk="1" hangingPunct="1">
              <a:lnSpc>
                <a:spcPts val="1525"/>
              </a:lnSpc>
              <a:spcBef>
                <a:spcPts val="390"/>
              </a:spcBef>
              <a:buNone/>
            </a:pPr>
            <a:r>
              <a:rPr lang="en-US" altLang="zh-CN" sz="1500" b="1">
                <a:solidFill>
                  <a:srgbClr val="000000"/>
                </a:solidFill>
                <a:cs typeface="Arial" panose="020B0604020202020204" pitchFamily="34" charset="0"/>
              </a:rPr>
              <a:t>Child is the legal heir.</a:t>
            </a:r>
            <a:endParaRPr lang="en-US" altLang="zh-CN" sz="1500">
              <a:solidFill>
                <a:srgbClr val="000000"/>
              </a:solidFill>
              <a:cs typeface="Arial" panose="020B0604020202020204" pitchFamily="34" charset="0"/>
            </a:endParaRPr>
          </a:p>
          <a:p>
            <a:pPr marL="59055" algn="ctr" eaLnBrk="1" hangingPunct="1">
              <a:lnSpc>
                <a:spcPct val="81000"/>
              </a:lnSpc>
              <a:spcBef>
                <a:spcPts val="525"/>
              </a:spcBef>
              <a:buNone/>
            </a:pPr>
            <a:r>
              <a:rPr lang="en-US" altLang="zh-CN" sz="1200" i="1">
                <a:solidFill>
                  <a:srgbClr val="000000"/>
                </a:solidFill>
                <a:cs typeface="Arial" panose="020B0604020202020204" pitchFamily="34" charset="0"/>
              </a:rPr>
              <a:t>(subject to submission of proof and other requirements).</a:t>
            </a:r>
            <a:endParaRPr lang="en-US" altLang="zh-CN" sz="1200">
              <a:solidFill>
                <a:srgbClr val="000000"/>
              </a:solidFill>
              <a:ea typeface="Arial" panose="020B0604020202020204" pitchFamily="34" charset="0"/>
            </a:endParaRPr>
          </a:p>
        </p:txBody>
      </p:sp>
      <p:sp>
        <p:nvSpPr>
          <p:cNvPr id="19469" name="object 19"/>
          <p:cNvSpPr/>
          <p:nvPr/>
        </p:nvSpPr>
        <p:spPr>
          <a:xfrm>
            <a:off x="7913688" y="2811463"/>
            <a:ext cx="2322512" cy="1162050"/>
          </a:xfrm>
          <a:custGeom>
            <a:avLst/>
            <a:gdLst/>
            <a:ahLst/>
            <a:cxnLst/>
            <a:pathLst>
              <a:path w="2322195" h="1161414">
                <a:moveTo>
                  <a:pt x="2205609" y="0"/>
                </a:moveTo>
                <a:lnTo>
                  <a:pt x="116078" y="0"/>
                </a:lnTo>
                <a:lnTo>
                  <a:pt x="70883" y="9118"/>
                </a:lnTo>
                <a:lnTo>
                  <a:pt x="33988" y="33988"/>
                </a:lnTo>
                <a:lnTo>
                  <a:pt x="9118" y="70883"/>
                </a:lnTo>
                <a:lnTo>
                  <a:pt x="0" y="116077"/>
                </a:lnTo>
                <a:lnTo>
                  <a:pt x="0" y="1044828"/>
                </a:lnTo>
                <a:lnTo>
                  <a:pt x="9118" y="1090023"/>
                </a:lnTo>
                <a:lnTo>
                  <a:pt x="33988" y="1126918"/>
                </a:lnTo>
                <a:lnTo>
                  <a:pt x="70883" y="1151788"/>
                </a:lnTo>
                <a:lnTo>
                  <a:pt x="116078" y="1160906"/>
                </a:lnTo>
                <a:lnTo>
                  <a:pt x="2205609" y="1160906"/>
                </a:lnTo>
                <a:lnTo>
                  <a:pt x="2250803" y="1151788"/>
                </a:lnTo>
                <a:lnTo>
                  <a:pt x="2287698" y="1126918"/>
                </a:lnTo>
                <a:lnTo>
                  <a:pt x="2312568" y="1090023"/>
                </a:lnTo>
                <a:lnTo>
                  <a:pt x="2321687" y="1044828"/>
                </a:lnTo>
                <a:lnTo>
                  <a:pt x="2321687" y="116077"/>
                </a:lnTo>
                <a:lnTo>
                  <a:pt x="2312568" y="70883"/>
                </a:lnTo>
                <a:lnTo>
                  <a:pt x="2287698" y="33988"/>
                </a:lnTo>
                <a:lnTo>
                  <a:pt x="2250803" y="9118"/>
                </a:lnTo>
                <a:lnTo>
                  <a:pt x="2205609" y="0"/>
                </a:lnTo>
                <a:close/>
              </a:path>
            </a:pathLst>
          </a:custGeom>
          <a:solidFill>
            <a:srgbClr val="00A757">
              <a:alpha val="100000"/>
            </a:srgbClr>
          </a:solidFill>
          <a:ln w="9525">
            <a:noFill/>
          </a:ln>
        </p:spPr>
        <p:txBody>
          <a:bodyPr/>
          <a:p>
            <a:endParaRPr lang="en-US"/>
          </a:p>
        </p:txBody>
      </p:sp>
      <p:sp>
        <p:nvSpPr>
          <p:cNvPr id="20" name="object 20"/>
          <p:cNvSpPr txBox="1"/>
          <p:nvPr/>
        </p:nvSpPr>
        <p:spPr>
          <a:xfrm>
            <a:off x="8312150" y="3076575"/>
            <a:ext cx="1528763" cy="587375"/>
          </a:xfrm>
          <a:prstGeom prst="rect">
            <a:avLst/>
          </a:prstGeom>
        </p:spPr>
        <p:txBody>
          <a:bodyPr vert="horz" wrap="square" lIns="0" tIns="60960" rIns="0" bIns="0" rtlCol="0">
            <a:spAutoFit/>
          </a:bodyPr>
          <a:p>
            <a:pPr marL="255905" indent="-243205" eaLnBrk="1" hangingPunct="1">
              <a:lnSpc>
                <a:spcPts val="2025"/>
              </a:lnSpc>
              <a:spcBef>
                <a:spcPts val="475"/>
              </a:spcBef>
              <a:buNone/>
            </a:pPr>
            <a:r>
              <a:rPr lang="en-US" altLang="zh-CN" sz="2000" b="1">
                <a:solidFill>
                  <a:srgbClr val="FFFFFF"/>
                </a:solidFill>
                <a:cs typeface="Arial" panose="020B0604020202020204" pitchFamily="34" charset="0"/>
              </a:rPr>
              <a:t>If Insured is Married</a:t>
            </a:r>
            <a:endParaRPr lang="en-US" altLang="zh-CN" sz="2000">
              <a:solidFill>
                <a:srgbClr val="000000"/>
              </a:solidFill>
              <a:ea typeface="Arial" panose="020B0604020202020204" pitchFamily="34" charset="0"/>
            </a:endParaRPr>
          </a:p>
        </p:txBody>
      </p:sp>
      <p:grpSp>
        <p:nvGrpSpPr>
          <p:cNvPr id="19471" name="object 21"/>
          <p:cNvGrpSpPr/>
          <p:nvPr/>
        </p:nvGrpSpPr>
        <p:grpSpPr>
          <a:xfrm>
            <a:off x="8140700" y="3967163"/>
            <a:ext cx="2101850" cy="1463675"/>
            <a:chOff x="8140192" y="3966464"/>
            <a:chExt cx="2102485" cy="1464310"/>
          </a:xfrm>
        </p:grpSpPr>
        <p:sp>
          <p:nvSpPr>
            <p:cNvPr id="19477" name="object 22"/>
            <p:cNvSpPr/>
            <p:nvPr/>
          </p:nvSpPr>
          <p:spPr>
            <a:xfrm>
              <a:off x="8146542" y="3972814"/>
              <a:ext cx="232410" cy="870585"/>
            </a:xfrm>
            <a:custGeom>
              <a:avLst/>
              <a:gdLst/>
              <a:ahLst/>
              <a:cxnLst/>
              <a:pathLst>
                <a:path w="232409" h="870585">
                  <a:moveTo>
                    <a:pt x="0" y="0"/>
                  </a:moveTo>
                  <a:lnTo>
                    <a:pt x="0" y="870585"/>
                  </a:lnTo>
                  <a:lnTo>
                    <a:pt x="232155" y="870585"/>
                  </a:lnTo>
                </a:path>
              </a:pathLst>
            </a:custGeom>
            <a:noFill/>
            <a:ln w="12699" cap="flat" cmpd="sng">
              <a:solidFill>
                <a:srgbClr val="008444">
                  <a:alpha val="100000"/>
                </a:srgbClr>
              </a:solidFill>
              <a:prstDash val="solid"/>
              <a:headEnd type="none" w="med" len="med"/>
              <a:tailEnd type="none" w="med" len="med"/>
            </a:ln>
          </p:spPr>
          <p:txBody>
            <a:bodyPr/>
            <a:p>
              <a:endParaRPr lang="en-US"/>
            </a:p>
          </p:txBody>
        </p:sp>
        <p:sp>
          <p:nvSpPr>
            <p:cNvPr id="19478" name="object 23"/>
            <p:cNvSpPr/>
            <p:nvPr/>
          </p:nvSpPr>
          <p:spPr>
            <a:xfrm>
              <a:off x="8378698" y="4263009"/>
              <a:ext cx="1857375" cy="1161415"/>
            </a:xfrm>
            <a:custGeom>
              <a:avLst/>
              <a:gdLst/>
              <a:ahLst/>
              <a:cxnLst/>
              <a:pathLst>
                <a:path w="1857375" h="1161414">
                  <a:moveTo>
                    <a:pt x="0" y="116078"/>
                  </a:moveTo>
                  <a:lnTo>
                    <a:pt x="9118" y="70883"/>
                  </a:lnTo>
                  <a:lnTo>
                    <a:pt x="33988" y="33988"/>
                  </a:lnTo>
                  <a:lnTo>
                    <a:pt x="70883" y="9118"/>
                  </a:lnTo>
                  <a:lnTo>
                    <a:pt x="116077" y="0"/>
                  </a:lnTo>
                  <a:lnTo>
                    <a:pt x="1741297" y="0"/>
                  </a:lnTo>
                  <a:lnTo>
                    <a:pt x="1786491" y="9118"/>
                  </a:lnTo>
                  <a:lnTo>
                    <a:pt x="1823386" y="33988"/>
                  </a:lnTo>
                  <a:lnTo>
                    <a:pt x="1848256" y="70883"/>
                  </a:lnTo>
                  <a:lnTo>
                    <a:pt x="1857375" y="116078"/>
                  </a:lnTo>
                  <a:lnTo>
                    <a:pt x="1857375" y="1044829"/>
                  </a:lnTo>
                  <a:lnTo>
                    <a:pt x="1848256" y="1089969"/>
                  </a:lnTo>
                  <a:lnTo>
                    <a:pt x="1823386" y="1126871"/>
                  </a:lnTo>
                  <a:lnTo>
                    <a:pt x="1786491" y="1151770"/>
                  </a:lnTo>
                  <a:lnTo>
                    <a:pt x="1741297" y="1160907"/>
                  </a:lnTo>
                  <a:lnTo>
                    <a:pt x="116077" y="1160907"/>
                  </a:lnTo>
                  <a:lnTo>
                    <a:pt x="70883" y="1151770"/>
                  </a:lnTo>
                  <a:lnTo>
                    <a:pt x="33988" y="1126871"/>
                  </a:lnTo>
                  <a:lnTo>
                    <a:pt x="9118" y="1089969"/>
                  </a:lnTo>
                  <a:lnTo>
                    <a:pt x="0" y="1044829"/>
                  </a:lnTo>
                  <a:lnTo>
                    <a:pt x="0" y="116078"/>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24" name="object 24"/>
          <p:cNvSpPr txBox="1"/>
          <p:nvPr/>
        </p:nvSpPr>
        <p:spPr>
          <a:xfrm>
            <a:off x="8594725" y="4338638"/>
            <a:ext cx="1427163" cy="979488"/>
          </a:xfrm>
          <a:prstGeom prst="rect">
            <a:avLst/>
          </a:prstGeom>
        </p:spPr>
        <p:txBody>
          <a:bodyPr vert="horz" wrap="square" lIns="0" tIns="48894" rIns="0" bIns="0" rtlCol="0">
            <a:spAutoFit/>
          </a:bodyPr>
          <a:p>
            <a:pPr marL="234950" indent="-146050" algn="just" eaLnBrk="1" hangingPunct="1">
              <a:lnSpc>
                <a:spcPts val="1525"/>
              </a:lnSpc>
              <a:spcBef>
                <a:spcPts val="390"/>
              </a:spcBef>
              <a:buNone/>
            </a:pPr>
            <a:r>
              <a:rPr lang="en-US" altLang="zh-CN" sz="1500" b="1">
                <a:solidFill>
                  <a:srgbClr val="000000"/>
                </a:solidFill>
                <a:cs typeface="Arial" panose="020B0604020202020204" pitchFamily="34" charset="0"/>
              </a:rPr>
              <a:t>Spouse is the legal heir.</a:t>
            </a:r>
            <a:endParaRPr lang="en-US" altLang="zh-CN" sz="1500">
              <a:solidFill>
                <a:srgbClr val="000000"/>
              </a:solidFill>
              <a:cs typeface="Arial" panose="020B0604020202020204" pitchFamily="34" charset="0"/>
            </a:endParaRPr>
          </a:p>
          <a:p>
            <a:pPr marL="234950" indent="-146050" algn="just" eaLnBrk="1" hangingPunct="1">
              <a:lnSpc>
                <a:spcPct val="81000"/>
              </a:lnSpc>
              <a:spcBef>
                <a:spcPts val="525"/>
              </a:spcBef>
              <a:buNone/>
            </a:pPr>
            <a:r>
              <a:rPr lang="en-US" altLang="zh-CN" sz="1200" i="1">
                <a:solidFill>
                  <a:srgbClr val="000000"/>
                </a:solidFill>
                <a:cs typeface="Arial" panose="020B0604020202020204" pitchFamily="34" charset="0"/>
              </a:rPr>
              <a:t>(require Original PSA Marriage Contract &amp; other requirements)</a:t>
            </a:r>
            <a:endParaRPr lang="en-US" altLang="zh-CN" sz="1200">
              <a:solidFill>
                <a:srgbClr val="000000"/>
              </a:solidFill>
              <a:ea typeface="Arial" panose="020B0604020202020204" pitchFamily="34" charset="0"/>
            </a:endParaRPr>
          </a:p>
        </p:txBody>
      </p:sp>
      <p:pic>
        <p:nvPicPr>
          <p:cNvPr id="19473" name="object 25"/>
          <p:cNvPicPr>
            <a:picLocks noChangeAspect="1"/>
          </p:cNvPicPr>
          <p:nvPr/>
        </p:nvPicPr>
        <p:blipFill>
          <a:blip r:embed="rId1"/>
          <a:stretch>
            <a:fillRect/>
          </a:stretch>
        </p:blipFill>
        <p:spPr>
          <a:xfrm>
            <a:off x="1881188" y="2635250"/>
            <a:ext cx="455612" cy="455613"/>
          </a:xfrm>
          <a:prstGeom prst="rect">
            <a:avLst/>
          </a:prstGeom>
          <a:noFill/>
          <a:ln w="9525">
            <a:noFill/>
          </a:ln>
        </p:spPr>
      </p:pic>
      <p:pic>
        <p:nvPicPr>
          <p:cNvPr id="19474" name="object 26"/>
          <p:cNvPicPr>
            <a:picLocks noChangeAspect="1"/>
          </p:cNvPicPr>
          <p:nvPr/>
        </p:nvPicPr>
        <p:blipFill>
          <a:blip r:embed="rId2"/>
          <a:stretch>
            <a:fillRect/>
          </a:stretch>
        </p:blipFill>
        <p:spPr>
          <a:xfrm>
            <a:off x="4781550" y="2635250"/>
            <a:ext cx="455613" cy="455613"/>
          </a:xfrm>
          <a:prstGeom prst="rect">
            <a:avLst/>
          </a:prstGeom>
          <a:noFill/>
          <a:ln w="9525">
            <a:noFill/>
          </a:ln>
        </p:spPr>
      </p:pic>
      <p:pic>
        <p:nvPicPr>
          <p:cNvPr id="19475" name="object 27"/>
          <p:cNvPicPr>
            <a:picLocks noChangeAspect="1"/>
          </p:cNvPicPr>
          <p:nvPr/>
        </p:nvPicPr>
        <p:blipFill>
          <a:blip r:embed="rId3"/>
          <a:stretch>
            <a:fillRect/>
          </a:stretch>
        </p:blipFill>
        <p:spPr>
          <a:xfrm>
            <a:off x="7672388" y="2635250"/>
            <a:ext cx="457200" cy="455613"/>
          </a:xfrm>
          <a:prstGeom prst="rect">
            <a:avLst/>
          </a:prstGeom>
          <a:noFill/>
          <a:ln w="9525">
            <a:noFill/>
          </a:ln>
        </p:spPr>
      </p:pic>
      <p:sp>
        <p:nvSpPr>
          <p:cNvPr id="28" name="object 28"/>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482" name="object 2"/>
          <p:cNvGrpSpPr/>
          <p:nvPr/>
        </p:nvGrpSpPr>
        <p:grpSpPr>
          <a:xfrm>
            <a:off x="2417763" y="1563688"/>
            <a:ext cx="7356475" cy="4876800"/>
            <a:chOff x="2417698" y="1564081"/>
            <a:chExt cx="7356475" cy="4876800"/>
          </a:xfrm>
        </p:grpSpPr>
        <p:pic>
          <p:nvPicPr>
            <p:cNvPr id="20488" name="object 3"/>
            <p:cNvPicPr>
              <a:picLocks noChangeAspect="1"/>
            </p:cNvPicPr>
            <p:nvPr/>
          </p:nvPicPr>
          <p:blipFill>
            <a:blip r:embed="rId1"/>
            <a:stretch>
              <a:fillRect/>
            </a:stretch>
          </p:blipFill>
          <p:spPr>
            <a:xfrm>
              <a:off x="2850758" y="1795371"/>
              <a:ext cx="6700535" cy="4371802"/>
            </a:xfrm>
            <a:prstGeom prst="rect">
              <a:avLst/>
            </a:prstGeom>
            <a:noFill/>
            <a:ln w="9525">
              <a:noFill/>
            </a:ln>
          </p:spPr>
        </p:pic>
        <p:sp>
          <p:nvSpPr>
            <p:cNvPr id="20489" name="object 4"/>
            <p:cNvSpPr/>
            <p:nvPr/>
          </p:nvSpPr>
          <p:spPr>
            <a:xfrm>
              <a:off x="2424048" y="1570431"/>
              <a:ext cx="7343775" cy="4864100"/>
            </a:xfrm>
            <a:custGeom>
              <a:avLst/>
              <a:gdLst/>
              <a:ahLst/>
              <a:cxnLst/>
              <a:pathLst>
                <a:path w="7343775" h="4864100">
                  <a:moveTo>
                    <a:pt x="0" y="4863719"/>
                  </a:moveTo>
                  <a:lnTo>
                    <a:pt x="7343775" y="4863719"/>
                  </a:lnTo>
                  <a:lnTo>
                    <a:pt x="7343775" y="0"/>
                  </a:lnTo>
                  <a:lnTo>
                    <a:pt x="0" y="0"/>
                  </a:lnTo>
                  <a:lnTo>
                    <a:pt x="0" y="4863719"/>
                  </a:lnTo>
                  <a:close/>
                </a:path>
              </a:pathLst>
            </a:custGeom>
            <a:noFill/>
            <a:ln w="12700" cap="flat" cmpd="sng">
              <a:solidFill>
                <a:srgbClr val="D9D9D9">
                  <a:alpha val="100000"/>
                </a:srgbClr>
              </a:solidFill>
              <a:prstDash val="solid"/>
              <a:headEnd type="none" w="med" len="med"/>
              <a:tailEnd type="none" w="med" len="med"/>
            </a:ln>
          </p:spPr>
          <p:txBody>
            <a:bodyPr/>
            <a:p>
              <a:endParaRPr lang="en-US"/>
            </a:p>
          </p:txBody>
        </p:sp>
      </p:grpSp>
      <p:grpSp>
        <p:nvGrpSpPr>
          <p:cNvPr id="20483" name="object 5"/>
          <p:cNvGrpSpPr/>
          <p:nvPr/>
        </p:nvGrpSpPr>
        <p:grpSpPr>
          <a:xfrm>
            <a:off x="1255713" y="525463"/>
            <a:ext cx="9680575" cy="874712"/>
            <a:chOff x="1255141" y="525462"/>
            <a:chExt cx="9681845" cy="875030"/>
          </a:xfrm>
        </p:grpSpPr>
        <p:sp>
          <p:nvSpPr>
            <p:cNvPr id="20486" name="object 6"/>
            <p:cNvSpPr/>
            <p:nvPr/>
          </p:nvSpPr>
          <p:spPr>
            <a:xfrm>
              <a:off x="1269428" y="539750"/>
              <a:ext cx="9653270" cy="846455"/>
            </a:xfrm>
            <a:custGeom>
              <a:avLst/>
              <a:gdLst/>
              <a:ahLst/>
              <a:cxnLst/>
              <a:pathLst>
                <a:path w="9653270" h="846455">
                  <a:moveTo>
                    <a:pt x="9599612" y="0"/>
                  </a:moveTo>
                  <a:lnTo>
                    <a:pt x="53530" y="0"/>
                  </a:lnTo>
                  <a:lnTo>
                    <a:pt x="32682" y="4192"/>
                  </a:lnTo>
                  <a:lnTo>
                    <a:pt x="15668" y="15636"/>
                  </a:lnTo>
                  <a:lnTo>
                    <a:pt x="4202" y="32629"/>
                  </a:lnTo>
                  <a:lnTo>
                    <a:pt x="0" y="53466"/>
                  </a:lnTo>
                  <a:lnTo>
                    <a:pt x="0" y="792734"/>
                  </a:lnTo>
                  <a:lnTo>
                    <a:pt x="4202" y="813571"/>
                  </a:lnTo>
                  <a:lnTo>
                    <a:pt x="15668" y="830564"/>
                  </a:lnTo>
                  <a:lnTo>
                    <a:pt x="32682" y="842008"/>
                  </a:lnTo>
                  <a:lnTo>
                    <a:pt x="53530" y="846201"/>
                  </a:lnTo>
                  <a:lnTo>
                    <a:pt x="9599612" y="846201"/>
                  </a:lnTo>
                  <a:lnTo>
                    <a:pt x="9620450" y="842008"/>
                  </a:lnTo>
                  <a:lnTo>
                    <a:pt x="9637442" y="830564"/>
                  </a:lnTo>
                  <a:lnTo>
                    <a:pt x="9648886" y="813571"/>
                  </a:lnTo>
                  <a:lnTo>
                    <a:pt x="9653079" y="792734"/>
                  </a:lnTo>
                  <a:lnTo>
                    <a:pt x="9653079" y="53466"/>
                  </a:lnTo>
                  <a:lnTo>
                    <a:pt x="9648886" y="32629"/>
                  </a:lnTo>
                  <a:lnTo>
                    <a:pt x="9637442" y="15636"/>
                  </a:lnTo>
                  <a:lnTo>
                    <a:pt x="9620450" y="4192"/>
                  </a:lnTo>
                  <a:lnTo>
                    <a:pt x="9599612" y="0"/>
                  </a:lnTo>
                  <a:close/>
                </a:path>
              </a:pathLst>
            </a:custGeom>
            <a:solidFill>
              <a:srgbClr val="F1F1F1">
                <a:alpha val="100000"/>
              </a:srgbClr>
            </a:solidFill>
            <a:ln w="9525">
              <a:noFill/>
            </a:ln>
          </p:spPr>
          <p:txBody>
            <a:bodyPr/>
            <a:p>
              <a:endParaRPr lang="en-US"/>
            </a:p>
          </p:txBody>
        </p:sp>
        <p:sp>
          <p:nvSpPr>
            <p:cNvPr id="20487" name="object 7"/>
            <p:cNvSpPr/>
            <p:nvPr/>
          </p:nvSpPr>
          <p:spPr>
            <a:xfrm>
              <a:off x="1269428" y="539750"/>
              <a:ext cx="9653270" cy="846455"/>
            </a:xfrm>
            <a:custGeom>
              <a:avLst/>
              <a:gdLst/>
              <a:ahLst/>
              <a:cxnLst/>
              <a:pathLst>
                <a:path w="9653270" h="846455">
                  <a:moveTo>
                    <a:pt x="0" y="53466"/>
                  </a:moveTo>
                  <a:lnTo>
                    <a:pt x="4202" y="32629"/>
                  </a:lnTo>
                  <a:lnTo>
                    <a:pt x="15668" y="15636"/>
                  </a:lnTo>
                  <a:lnTo>
                    <a:pt x="32682" y="4192"/>
                  </a:lnTo>
                  <a:lnTo>
                    <a:pt x="53530" y="0"/>
                  </a:lnTo>
                  <a:lnTo>
                    <a:pt x="9599612" y="0"/>
                  </a:lnTo>
                  <a:lnTo>
                    <a:pt x="9620450" y="4192"/>
                  </a:lnTo>
                  <a:lnTo>
                    <a:pt x="9637442" y="15636"/>
                  </a:lnTo>
                  <a:lnTo>
                    <a:pt x="9648886" y="32629"/>
                  </a:lnTo>
                  <a:lnTo>
                    <a:pt x="9653079" y="53466"/>
                  </a:lnTo>
                  <a:lnTo>
                    <a:pt x="9653079" y="792734"/>
                  </a:lnTo>
                  <a:lnTo>
                    <a:pt x="9648886" y="813571"/>
                  </a:lnTo>
                  <a:lnTo>
                    <a:pt x="9637442" y="830564"/>
                  </a:lnTo>
                  <a:lnTo>
                    <a:pt x="9620450" y="842008"/>
                  </a:lnTo>
                  <a:lnTo>
                    <a:pt x="9599612" y="846201"/>
                  </a:lnTo>
                  <a:lnTo>
                    <a:pt x="53530" y="846201"/>
                  </a:lnTo>
                  <a:lnTo>
                    <a:pt x="32682" y="842008"/>
                  </a:lnTo>
                  <a:lnTo>
                    <a:pt x="15668" y="830564"/>
                  </a:lnTo>
                  <a:lnTo>
                    <a:pt x="4202" y="813571"/>
                  </a:lnTo>
                  <a:lnTo>
                    <a:pt x="0" y="792734"/>
                  </a:lnTo>
                  <a:lnTo>
                    <a:pt x="0" y="53466"/>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8" name="object 8"/>
          <p:cNvSpPr txBox="1">
            <a:spLocks noGrp="1"/>
          </p:cNvSpPr>
          <p:nvPr>
            <p:ph type="title"/>
          </p:nvPr>
        </p:nvSpPr>
        <p:spPr/>
        <p:txBody>
          <a:bodyPr vert="horz" wrap="square" lIns="0" tIns="211759"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a:t>
            </a:r>
            <a:r>
              <a:rPr kumimoji="0" sz="3000" b="1" i="0" u="none" strike="noStrike" kern="0" cap="none" spc="7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DESIGNATION</a:t>
            </a:r>
            <a:r>
              <a:rPr kumimoji="0" sz="3000" b="1" i="0" u="none" strike="noStrike" kern="0" cap="none" spc="80"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20" normalizeH="0" baseline="0" noProof="0" dirty="0">
                <a:ln>
                  <a:noFill/>
                </a:ln>
                <a:solidFill>
                  <a:srgbClr val="000000"/>
                </a:solidFill>
                <a:effectLst/>
                <a:uLnTx/>
                <a:uFillTx/>
                <a:latin typeface="Arial" panose="020B0604020202020204"/>
                <a:ea typeface="+mj-ea"/>
                <a:cs typeface="Arial" panose="020B0604020202020204"/>
              </a:rPr>
              <a:t>FORM</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0" marR="0" lvl="0" indent="0" algn="ctr" defTabSz="914400" eaLnBrk="1" fontAlgn="auto" latinLnBrk="0" hangingPunct="1">
              <a:lnSpc>
                <a:spcPct val="100000"/>
              </a:lnSpc>
              <a:spcBef>
                <a:spcPts val="60"/>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9" name="object 9"/>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6" name="object 2"/>
          <p:cNvGrpSpPr/>
          <p:nvPr/>
        </p:nvGrpSpPr>
        <p:grpSpPr>
          <a:xfrm>
            <a:off x="1257300" y="1730375"/>
            <a:ext cx="9680575" cy="4452938"/>
            <a:chOff x="1256728" y="1730629"/>
            <a:chExt cx="9680575" cy="4451985"/>
          </a:xfrm>
        </p:grpSpPr>
        <p:pic>
          <p:nvPicPr>
            <p:cNvPr id="21516" name="object 3"/>
            <p:cNvPicPr>
              <a:picLocks noChangeAspect="1"/>
            </p:cNvPicPr>
            <p:nvPr/>
          </p:nvPicPr>
          <p:blipFill>
            <a:blip r:embed="rId1"/>
            <a:stretch>
              <a:fillRect/>
            </a:stretch>
          </p:blipFill>
          <p:spPr>
            <a:xfrm>
              <a:off x="1823591" y="1820958"/>
              <a:ext cx="8600613" cy="3293712"/>
            </a:xfrm>
            <a:prstGeom prst="rect">
              <a:avLst/>
            </a:prstGeom>
            <a:noFill/>
            <a:ln w="9525">
              <a:noFill/>
            </a:ln>
          </p:spPr>
        </p:pic>
        <p:sp>
          <p:nvSpPr>
            <p:cNvPr id="21517" name="object 4"/>
            <p:cNvSpPr/>
            <p:nvPr/>
          </p:nvSpPr>
          <p:spPr>
            <a:xfrm>
              <a:off x="1263078" y="1736979"/>
              <a:ext cx="9666605" cy="3384550"/>
            </a:xfrm>
            <a:custGeom>
              <a:avLst/>
              <a:gdLst/>
              <a:ahLst/>
              <a:cxnLst/>
              <a:pathLst>
                <a:path w="9666605" h="3384550">
                  <a:moveTo>
                    <a:pt x="0" y="3384169"/>
                  </a:moveTo>
                  <a:lnTo>
                    <a:pt x="9666224" y="3384169"/>
                  </a:lnTo>
                  <a:lnTo>
                    <a:pt x="9666224" y="0"/>
                  </a:lnTo>
                  <a:lnTo>
                    <a:pt x="0" y="0"/>
                  </a:lnTo>
                  <a:lnTo>
                    <a:pt x="0" y="3384169"/>
                  </a:lnTo>
                  <a:close/>
                </a:path>
              </a:pathLst>
            </a:custGeom>
            <a:noFill/>
            <a:ln w="12700" cap="flat" cmpd="sng">
              <a:solidFill>
                <a:srgbClr val="D9D9D9">
                  <a:alpha val="100000"/>
                </a:srgbClr>
              </a:solidFill>
              <a:prstDash val="solid"/>
              <a:headEnd type="none" w="med" len="med"/>
              <a:tailEnd type="none" w="med" len="med"/>
            </a:ln>
          </p:spPr>
          <p:txBody>
            <a:bodyPr/>
            <a:p>
              <a:endParaRPr lang="en-US"/>
            </a:p>
          </p:txBody>
        </p:sp>
        <p:sp>
          <p:nvSpPr>
            <p:cNvPr id="21518" name="object 5"/>
            <p:cNvSpPr/>
            <p:nvPr/>
          </p:nvSpPr>
          <p:spPr>
            <a:xfrm>
              <a:off x="7409814" y="5336908"/>
              <a:ext cx="3512820" cy="831215"/>
            </a:xfrm>
            <a:custGeom>
              <a:avLst/>
              <a:gdLst/>
              <a:ahLst/>
              <a:cxnLst/>
              <a:pathLst>
                <a:path w="3512820" h="831214">
                  <a:moveTo>
                    <a:pt x="0" y="830999"/>
                  </a:moveTo>
                  <a:lnTo>
                    <a:pt x="3512820" y="830999"/>
                  </a:lnTo>
                  <a:lnTo>
                    <a:pt x="3512820" y="0"/>
                  </a:lnTo>
                  <a:lnTo>
                    <a:pt x="0" y="0"/>
                  </a:lnTo>
                  <a:lnTo>
                    <a:pt x="0" y="830999"/>
                  </a:lnTo>
                  <a:close/>
                </a:path>
              </a:pathLst>
            </a:custGeom>
            <a:noFill/>
            <a:ln w="28575" cap="flat" cmpd="sng">
              <a:solidFill>
                <a:srgbClr val="C00000">
                  <a:alpha val="100000"/>
                </a:srgbClr>
              </a:solidFill>
              <a:prstDash val="solid"/>
              <a:headEnd type="none" w="med" len="med"/>
              <a:tailEnd type="none" w="med" len="med"/>
            </a:ln>
          </p:spPr>
          <p:txBody>
            <a:bodyPr/>
            <a:p>
              <a:endParaRPr lang="en-US"/>
            </a:p>
          </p:txBody>
        </p:sp>
      </p:grpSp>
      <p:grpSp>
        <p:nvGrpSpPr>
          <p:cNvPr id="21507" name="object 6"/>
          <p:cNvGrpSpPr/>
          <p:nvPr/>
        </p:nvGrpSpPr>
        <p:grpSpPr>
          <a:xfrm>
            <a:off x="1255713" y="525463"/>
            <a:ext cx="9680575" cy="874712"/>
            <a:chOff x="1255141" y="525462"/>
            <a:chExt cx="9681845" cy="875030"/>
          </a:xfrm>
        </p:grpSpPr>
        <p:sp>
          <p:nvSpPr>
            <p:cNvPr id="21514" name="object 7"/>
            <p:cNvSpPr/>
            <p:nvPr/>
          </p:nvSpPr>
          <p:spPr>
            <a:xfrm>
              <a:off x="1269428" y="539750"/>
              <a:ext cx="9653270" cy="846455"/>
            </a:xfrm>
            <a:custGeom>
              <a:avLst/>
              <a:gdLst/>
              <a:ahLst/>
              <a:cxnLst/>
              <a:pathLst>
                <a:path w="9653270" h="846455">
                  <a:moveTo>
                    <a:pt x="9599612" y="0"/>
                  </a:moveTo>
                  <a:lnTo>
                    <a:pt x="53530" y="0"/>
                  </a:lnTo>
                  <a:lnTo>
                    <a:pt x="32682" y="4192"/>
                  </a:lnTo>
                  <a:lnTo>
                    <a:pt x="15668" y="15636"/>
                  </a:lnTo>
                  <a:lnTo>
                    <a:pt x="4202" y="32629"/>
                  </a:lnTo>
                  <a:lnTo>
                    <a:pt x="0" y="53466"/>
                  </a:lnTo>
                  <a:lnTo>
                    <a:pt x="0" y="792734"/>
                  </a:lnTo>
                  <a:lnTo>
                    <a:pt x="4202" y="813571"/>
                  </a:lnTo>
                  <a:lnTo>
                    <a:pt x="15668" y="830564"/>
                  </a:lnTo>
                  <a:lnTo>
                    <a:pt x="32682" y="842008"/>
                  </a:lnTo>
                  <a:lnTo>
                    <a:pt x="53530" y="846201"/>
                  </a:lnTo>
                  <a:lnTo>
                    <a:pt x="9599612" y="846201"/>
                  </a:lnTo>
                  <a:lnTo>
                    <a:pt x="9620450" y="842008"/>
                  </a:lnTo>
                  <a:lnTo>
                    <a:pt x="9637442" y="830564"/>
                  </a:lnTo>
                  <a:lnTo>
                    <a:pt x="9648886" y="813571"/>
                  </a:lnTo>
                  <a:lnTo>
                    <a:pt x="9653079" y="792734"/>
                  </a:lnTo>
                  <a:lnTo>
                    <a:pt x="9653079" y="53466"/>
                  </a:lnTo>
                  <a:lnTo>
                    <a:pt x="9648886" y="32629"/>
                  </a:lnTo>
                  <a:lnTo>
                    <a:pt x="9637442" y="15636"/>
                  </a:lnTo>
                  <a:lnTo>
                    <a:pt x="9620450" y="4192"/>
                  </a:lnTo>
                  <a:lnTo>
                    <a:pt x="9599612" y="0"/>
                  </a:lnTo>
                  <a:close/>
                </a:path>
              </a:pathLst>
            </a:custGeom>
            <a:solidFill>
              <a:srgbClr val="F1F1F1">
                <a:alpha val="100000"/>
              </a:srgbClr>
            </a:solidFill>
            <a:ln w="9525">
              <a:noFill/>
            </a:ln>
          </p:spPr>
          <p:txBody>
            <a:bodyPr/>
            <a:p>
              <a:endParaRPr lang="en-US"/>
            </a:p>
          </p:txBody>
        </p:sp>
        <p:sp>
          <p:nvSpPr>
            <p:cNvPr id="21515" name="object 8"/>
            <p:cNvSpPr/>
            <p:nvPr/>
          </p:nvSpPr>
          <p:spPr>
            <a:xfrm>
              <a:off x="1269428" y="539750"/>
              <a:ext cx="9653270" cy="846455"/>
            </a:xfrm>
            <a:custGeom>
              <a:avLst/>
              <a:gdLst/>
              <a:ahLst/>
              <a:cxnLst/>
              <a:pathLst>
                <a:path w="9653270" h="846455">
                  <a:moveTo>
                    <a:pt x="0" y="53466"/>
                  </a:moveTo>
                  <a:lnTo>
                    <a:pt x="4202" y="32629"/>
                  </a:lnTo>
                  <a:lnTo>
                    <a:pt x="15668" y="15636"/>
                  </a:lnTo>
                  <a:lnTo>
                    <a:pt x="32682" y="4192"/>
                  </a:lnTo>
                  <a:lnTo>
                    <a:pt x="53530" y="0"/>
                  </a:lnTo>
                  <a:lnTo>
                    <a:pt x="9599612" y="0"/>
                  </a:lnTo>
                  <a:lnTo>
                    <a:pt x="9620450" y="4192"/>
                  </a:lnTo>
                  <a:lnTo>
                    <a:pt x="9637442" y="15636"/>
                  </a:lnTo>
                  <a:lnTo>
                    <a:pt x="9648886" y="32629"/>
                  </a:lnTo>
                  <a:lnTo>
                    <a:pt x="9653079" y="53466"/>
                  </a:lnTo>
                  <a:lnTo>
                    <a:pt x="9653079" y="792734"/>
                  </a:lnTo>
                  <a:lnTo>
                    <a:pt x="9648886" y="813571"/>
                  </a:lnTo>
                  <a:lnTo>
                    <a:pt x="9637442" y="830564"/>
                  </a:lnTo>
                  <a:lnTo>
                    <a:pt x="9620450" y="842008"/>
                  </a:lnTo>
                  <a:lnTo>
                    <a:pt x="9599612" y="846201"/>
                  </a:lnTo>
                  <a:lnTo>
                    <a:pt x="53530" y="846201"/>
                  </a:lnTo>
                  <a:lnTo>
                    <a:pt x="32682" y="842008"/>
                  </a:lnTo>
                  <a:lnTo>
                    <a:pt x="15668" y="830564"/>
                  </a:lnTo>
                  <a:lnTo>
                    <a:pt x="4202" y="813571"/>
                  </a:lnTo>
                  <a:lnTo>
                    <a:pt x="0" y="792734"/>
                  </a:lnTo>
                  <a:lnTo>
                    <a:pt x="0" y="53466"/>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9" name="object 9"/>
          <p:cNvSpPr txBox="1">
            <a:spLocks noGrp="1"/>
          </p:cNvSpPr>
          <p:nvPr>
            <p:ph type="title"/>
          </p:nvPr>
        </p:nvSpPr>
        <p:spPr/>
        <p:txBody>
          <a:bodyPr vert="horz" wrap="square" lIns="0" tIns="211759"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a:t>
            </a:r>
            <a:r>
              <a:rPr kumimoji="0" sz="3000" b="1" i="0" u="none" strike="noStrike" kern="0" cap="none" spc="7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DESIGNATION</a:t>
            </a:r>
            <a:r>
              <a:rPr kumimoji="0" sz="3000" b="1" i="0" u="none" strike="noStrike" kern="0" cap="none" spc="80"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20" normalizeH="0" baseline="0" noProof="0" dirty="0">
                <a:ln>
                  <a:noFill/>
                </a:ln>
                <a:solidFill>
                  <a:srgbClr val="000000"/>
                </a:solidFill>
                <a:effectLst/>
                <a:uLnTx/>
                <a:uFillTx/>
                <a:latin typeface="Arial" panose="020B0604020202020204"/>
                <a:ea typeface="+mj-ea"/>
                <a:cs typeface="Arial" panose="020B0604020202020204"/>
              </a:rPr>
              <a:t>FORM</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0" marR="0" lvl="0" indent="0" algn="ctr" defTabSz="914400" eaLnBrk="1" fontAlgn="auto" latinLnBrk="0" hangingPunct="1">
              <a:lnSpc>
                <a:spcPct val="100000"/>
              </a:lnSpc>
              <a:spcBef>
                <a:spcPts val="60"/>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10" name="object 10"/>
          <p:cNvSpPr txBox="1"/>
          <p:nvPr/>
        </p:nvSpPr>
        <p:spPr>
          <a:xfrm>
            <a:off x="7489825" y="5365750"/>
            <a:ext cx="3354388" cy="758825"/>
          </a:xfrm>
          <a:prstGeom prst="rect">
            <a:avLst/>
          </a:prstGeom>
        </p:spPr>
        <p:txBody>
          <a:bodyPr vert="horz" wrap="square" lIns="0" tIns="12700" rIns="0" bIns="0" rtlCol="0">
            <a:spAutoFit/>
          </a:bodyPr>
          <a:p>
            <a:pPr marL="12700" algn="just" eaLnBrk="1" hangingPunct="1">
              <a:spcBef>
                <a:spcPts val="100"/>
              </a:spcBef>
              <a:buNone/>
            </a:pPr>
            <a:r>
              <a:rPr lang="en-US" altLang="zh-CN" sz="1200">
                <a:solidFill>
                  <a:srgbClr val="000000"/>
                </a:solidFill>
                <a:latin typeface="Tahoma" panose="020B0604030504040204" pitchFamily="34" charset="0"/>
                <a:cs typeface="Tahoma" panose="020B0604030504040204" pitchFamily="34" charset="0"/>
              </a:rPr>
              <a:t>An insured employee may opt to allocate certain percentage of the proceeds for each of the designated beneficiaries by writing the no. of shares in this portion.</a:t>
            </a:r>
            <a:endParaRPr lang="en-US" altLang="zh-CN" sz="1200">
              <a:solidFill>
                <a:srgbClr val="000000"/>
              </a:solidFill>
              <a:latin typeface="Tahoma" panose="020B0604030504040204" pitchFamily="34" charset="0"/>
              <a:ea typeface="Tahoma" panose="020B0604030504040204" pitchFamily="34" charset="0"/>
            </a:endParaRPr>
          </a:p>
        </p:txBody>
      </p:sp>
      <p:grpSp>
        <p:nvGrpSpPr>
          <p:cNvPr id="21510" name="object 11"/>
          <p:cNvGrpSpPr/>
          <p:nvPr/>
        </p:nvGrpSpPr>
        <p:grpSpPr>
          <a:xfrm>
            <a:off x="8909050" y="1939925"/>
            <a:ext cx="2257425" cy="3827463"/>
            <a:chOff x="8908986" y="1940648"/>
            <a:chExt cx="2256790" cy="3826510"/>
          </a:xfrm>
        </p:grpSpPr>
        <p:sp>
          <p:nvSpPr>
            <p:cNvPr id="21512" name="object 12"/>
            <p:cNvSpPr/>
            <p:nvPr/>
          </p:nvSpPr>
          <p:spPr>
            <a:xfrm>
              <a:off x="8923273" y="1954936"/>
              <a:ext cx="1776730" cy="620395"/>
            </a:xfrm>
            <a:custGeom>
              <a:avLst/>
              <a:gdLst/>
              <a:ahLst/>
              <a:cxnLst/>
              <a:pathLst>
                <a:path w="1776729" h="620394">
                  <a:moveTo>
                    <a:pt x="0" y="620115"/>
                  </a:moveTo>
                  <a:lnTo>
                    <a:pt x="1776222" y="620115"/>
                  </a:lnTo>
                  <a:lnTo>
                    <a:pt x="1776222" y="0"/>
                  </a:lnTo>
                  <a:lnTo>
                    <a:pt x="0" y="0"/>
                  </a:lnTo>
                  <a:lnTo>
                    <a:pt x="0" y="620115"/>
                  </a:lnTo>
                  <a:close/>
                </a:path>
              </a:pathLst>
            </a:custGeom>
            <a:noFill/>
            <a:ln w="28575" cap="flat" cmpd="sng">
              <a:solidFill>
                <a:srgbClr val="C00000">
                  <a:alpha val="100000"/>
                </a:srgbClr>
              </a:solidFill>
              <a:prstDash val="solid"/>
              <a:headEnd type="none" w="med" len="med"/>
              <a:tailEnd type="none" w="med" len="med"/>
            </a:ln>
          </p:spPr>
          <p:txBody>
            <a:bodyPr/>
            <a:p>
              <a:endParaRPr lang="en-US"/>
            </a:p>
          </p:txBody>
        </p:sp>
        <p:sp>
          <p:nvSpPr>
            <p:cNvPr id="21513" name="object 13"/>
            <p:cNvSpPr/>
            <p:nvPr/>
          </p:nvSpPr>
          <p:spPr>
            <a:xfrm>
              <a:off x="10699495" y="2264918"/>
              <a:ext cx="452120" cy="3488054"/>
            </a:xfrm>
            <a:custGeom>
              <a:avLst/>
              <a:gdLst/>
              <a:ahLst/>
              <a:cxnLst/>
              <a:pathLst>
                <a:path w="452120" h="3488054">
                  <a:moveTo>
                    <a:pt x="0" y="0"/>
                  </a:moveTo>
                  <a:lnTo>
                    <a:pt x="451611" y="0"/>
                  </a:lnTo>
                  <a:lnTo>
                    <a:pt x="451611" y="3487483"/>
                  </a:lnTo>
                  <a:lnTo>
                    <a:pt x="223011" y="3487483"/>
                  </a:lnTo>
                </a:path>
              </a:pathLst>
            </a:custGeom>
            <a:noFill/>
            <a:ln w="28575" cap="flat" cmpd="sng">
              <a:solidFill>
                <a:srgbClr val="C00000">
                  <a:alpha val="100000"/>
                </a:srgbClr>
              </a:solidFill>
              <a:prstDash val="solid"/>
              <a:headEnd type="none" w="med" len="med"/>
              <a:tailEnd type="none" w="med" len="med"/>
            </a:ln>
          </p:spPr>
          <p:txBody>
            <a:bodyPr/>
            <a:p>
              <a:endParaRPr lang="en-US"/>
            </a:p>
          </p:txBody>
        </p:sp>
      </p:grpSp>
      <p:sp>
        <p:nvSpPr>
          <p:cNvPr id="14" name="object 14"/>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530" name="object 2"/>
          <p:cNvGrpSpPr/>
          <p:nvPr/>
        </p:nvGrpSpPr>
        <p:grpSpPr>
          <a:xfrm>
            <a:off x="1255713" y="358775"/>
            <a:ext cx="9680575" cy="874713"/>
            <a:chOff x="1255141" y="359092"/>
            <a:chExt cx="9681845" cy="875030"/>
          </a:xfrm>
        </p:grpSpPr>
        <p:sp>
          <p:nvSpPr>
            <p:cNvPr id="22546" name="object 3"/>
            <p:cNvSpPr/>
            <p:nvPr/>
          </p:nvSpPr>
          <p:spPr>
            <a:xfrm>
              <a:off x="1269428" y="373379"/>
              <a:ext cx="9653270" cy="846455"/>
            </a:xfrm>
            <a:custGeom>
              <a:avLst/>
              <a:gdLst/>
              <a:ahLst/>
              <a:cxnLst/>
              <a:pathLst>
                <a:path w="9653270" h="846455">
                  <a:moveTo>
                    <a:pt x="9599612" y="0"/>
                  </a:moveTo>
                  <a:lnTo>
                    <a:pt x="53530" y="0"/>
                  </a:lnTo>
                  <a:lnTo>
                    <a:pt x="32682" y="4212"/>
                  </a:lnTo>
                  <a:lnTo>
                    <a:pt x="15668" y="15700"/>
                  </a:lnTo>
                  <a:lnTo>
                    <a:pt x="4202" y="32736"/>
                  </a:lnTo>
                  <a:lnTo>
                    <a:pt x="0" y="53594"/>
                  </a:lnTo>
                  <a:lnTo>
                    <a:pt x="0" y="792861"/>
                  </a:lnTo>
                  <a:lnTo>
                    <a:pt x="4202" y="813645"/>
                  </a:lnTo>
                  <a:lnTo>
                    <a:pt x="15668" y="830643"/>
                  </a:lnTo>
                  <a:lnTo>
                    <a:pt x="32682" y="842117"/>
                  </a:lnTo>
                  <a:lnTo>
                    <a:pt x="53530" y="846328"/>
                  </a:lnTo>
                  <a:lnTo>
                    <a:pt x="9599612" y="846328"/>
                  </a:lnTo>
                  <a:lnTo>
                    <a:pt x="9620450" y="842117"/>
                  </a:lnTo>
                  <a:lnTo>
                    <a:pt x="9637442" y="830643"/>
                  </a:lnTo>
                  <a:lnTo>
                    <a:pt x="9648886" y="813645"/>
                  </a:lnTo>
                  <a:lnTo>
                    <a:pt x="9653079" y="792861"/>
                  </a:lnTo>
                  <a:lnTo>
                    <a:pt x="9653079" y="53594"/>
                  </a:lnTo>
                  <a:lnTo>
                    <a:pt x="9648886" y="32736"/>
                  </a:lnTo>
                  <a:lnTo>
                    <a:pt x="9637442" y="15700"/>
                  </a:lnTo>
                  <a:lnTo>
                    <a:pt x="9620450" y="4212"/>
                  </a:lnTo>
                  <a:lnTo>
                    <a:pt x="9599612" y="0"/>
                  </a:lnTo>
                  <a:close/>
                </a:path>
              </a:pathLst>
            </a:custGeom>
            <a:solidFill>
              <a:srgbClr val="F1F1F1">
                <a:alpha val="100000"/>
              </a:srgbClr>
            </a:solidFill>
            <a:ln w="9525">
              <a:noFill/>
            </a:ln>
          </p:spPr>
          <p:txBody>
            <a:bodyPr/>
            <a:p>
              <a:endParaRPr lang="en-US"/>
            </a:p>
          </p:txBody>
        </p:sp>
        <p:sp>
          <p:nvSpPr>
            <p:cNvPr id="22547" name="object 4"/>
            <p:cNvSpPr/>
            <p:nvPr/>
          </p:nvSpPr>
          <p:spPr>
            <a:xfrm>
              <a:off x="1269428" y="373379"/>
              <a:ext cx="9653270" cy="846455"/>
            </a:xfrm>
            <a:custGeom>
              <a:avLst/>
              <a:gdLst/>
              <a:ahLst/>
              <a:cxnLst/>
              <a:pathLst>
                <a:path w="9653270" h="846455">
                  <a:moveTo>
                    <a:pt x="0" y="53594"/>
                  </a:moveTo>
                  <a:lnTo>
                    <a:pt x="4202" y="32736"/>
                  </a:lnTo>
                  <a:lnTo>
                    <a:pt x="15668" y="15700"/>
                  </a:lnTo>
                  <a:lnTo>
                    <a:pt x="32682" y="4212"/>
                  </a:lnTo>
                  <a:lnTo>
                    <a:pt x="53530" y="0"/>
                  </a:lnTo>
                  <a:lnTo>
                    <a:pt x="9599612" y="0"/>
                  </a:lnTo>
                  <a:lnTo>
                    <a:pt x="9620450" y="4212"/>
                  </a:lnTo>
                  <a:lnTo>
                    <a:pt x="9637442" y="15700"/>
                  </a:lnTo>
                  <a:lnTo>
                    <a:pt x="9648886" y="32736"/>
                  </a:lnTo>
                  <a:lnTo>
                    <a:pt x="9653079" y="53594"/>
                  </a:lnTo>
                  <a:lnTo>
                    <a:pt x="9653079" y="792861"/>
                  </a:lnTo>
                  <a:lnTo>
                    <a:pt x="9648886" y="813645"/>
                  </a:lnTo>
                  <a:lnTo>
                    <a:pt x="9637442" y="830643"/>
                  </a:lnTo>
                  <a:lnTo>
                    <a:pt x="9620450" y="842117"/>
                  </a:lnTo>
                  <a:lnTo>
                    <a:pt x="9599612" y="846328"/>
                  </a:lnTo>
                  <a:lnTo>
                    <a:pt x="53530" y="846328"/>
                  </a:lnTo>
                  <a:lnTo>
                    <a:pt x="32682" y="842117"/>
                  </a:lnTo>
                  <a:lnTo>
                    <a:pt x="15668" y="830643"/>
                  </a:lnTo>
                  <a:lnTo>
                    <a:pt x="4202" y="813645"/>
                  </a:lnTo>
                  <a:lnTo>
                    <a:pt x="0" y="792861"/>
                  </a:lnTo>
                  <a:lnTo>
                    <a:pt x="0" y="53594"/>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a:xfrm>
            <a:off x="3397250" y="450850"/>
            <a:ext cx="5395913" cy="673100"/>
          </a:xfr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a:t>
            </a:r>
            <a:r>
              <a:rPr kumimoji="0" sz="3000" b="1" i="0" u="none" strike="noStrike" kern="0" cap="none" spc="6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DESIGNATION</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635" marR="0" lvl="0" indent="0" algn="ctr" defTabSz="914400" eaLnBrk="1" fontAlgn="auto" latinLnBrk="0" hangingPunct="1">
              <a:lnSpc>
                <a:spcPct val="100000"/>
              </a:lnSpc>
              <a:spcBef>
                <a:spcPts val="60"/>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sp>
        <p:nvSpPr>
          <p:cNvPr id="6" name="object 6"/>
          <p:cNvSpPr txBox="1"/>
          <p:nvPr/>
        </p:nvSpPr>
        <p:spPr>
          <a:xfrm>
            <a:off x="1347788" y="1393825"/>
            <a:ext cx="9494838" cy="1244600"/>
          </a:xfrm>
          <a:prstGeom prst="rect">
            <a:avLst/>
          </a:prstGeom>
        </p:spPr>
        <p:txBody>
          <a:bodyPr vert="horz" wrap="square" lIns="0" tIns="12065" rIns="0" bIns="0" rtlCol="0">
            <a:spAutoFit/>
          </a:bodyPr>
          <a:p>
            <a:pPr marL="12700" eaLnBrk="1" hangingPunct="1">
              <a:spcBef>
                <a:spcPts val="100"/>
              </a:spcBef>
              <a:buNone/>
            </a:pPr>
            <a:r>
              <a:rPr lang="en-US" altLang="zh-CN" sz="1600">
                <a:solidFill>
                  <a:srgbClr val="000000"/>
                </a:solidFill>
                <a:cs typeface="Arial" panose="020B0604020202020204" pitchFamily="34" charset="0"/>
              </a:rPr>
              <a:t>If the designated beneficiary is a minor, a trustee must be appointed by the insured. If none was appointed, then the guardian will have to be appointed or approved by the court.</a:t>
            </a:r>
            <a:endParaRPr lang="en-US" altLang="zh-CN" sz="1600">
              <a:solidFill>
                <a:srgbClr val="000000"/>
              </a:solidFill>
              <a:cs typeface="Arial" panose="020B0604020202020204" pitchFamily="34" charset="0"/>
            </a:endParaRPr>
          </a:p>
          <a:p>
            <a:pPr marL="12700" eaLnBrk="1" hangingPunct="1">
              <a:spcBef>
                <a:spcPts val="25"/>
              </a:spcBef>
              <a:buNone/>
            </a:pPr>
            <a:endParaRPr lang="en-US" altLang="zh-CN" sz="1600">
              <a:solidFill>
                <a:srgbClr val="000000"/>
              </a:solidFill>
              <a:cs typeface="Arial" panose="020B0604020202020204" pitchFamily="34" charset="0"/>
            </a:endParaRPr>
          </a:p>
          <a:p>
            <a:pPr marL="12700" eaLnBrk="1" hangingPunct="1">
              <a:buNone/>
            </a:pPr>
            <a:r>
              <a:rPr lang="en-US" altLang="zh-CN" sz="1600">
                <a:solidFill>
                  <a:srgbClr val="000000"/>
                </a:solidFill>
                <a:cs typeface="Arial" panose="020B0604020202020204" pitchFamily="34" charset="0"/>
              </a:rPr>
              <a:t>In case of a claim the Claimant’s Statement must be accomplished by the appointed trustee or by the court approved guardian and submit any of the applicable legal documents:</a:t>
            </a:r>
            <a:endParaRPr lang="en-US" altLang="zh-CN" sz="1600">
              <a:solidFill>
                <a:srgbClr val="000000"/>
              </a:solidFill>
              <a:ea typeface="Arial" panose="020B0604020202020204" pitchFamily="34" charset="0"/>
            </a:endParaRPr>
          </a:p>
        </p:txBody>
      </p:sp>
      <p:sp>
        <p:nvSpPr>
          <p:cNvPr id="22533" name="object 7"/>
          <p:cNvSpPr/>
          <p:nvPr/>
        </p:nvSpPr>
        <p:spPr>
          <a:xfrm>
            <a:off x="1412875" y="2708275"/>
            <a:ext cx="10109200" cy="661988"/>
          </a:xfrm>
          <a:custGeom>
            <a:avLst/>
            <a:gdLst/>
            <a:ahLst/>
            <a:cxnLst/>
            <a:pathLst>
              <a:path w="10109200" h="661670">
                <a:moveTo>
                  <a:pt x="10066782" y="0"/>
                </a:moveTo>
                <a:lnTo>
                  <a:pt x="41910" y="0"/>
                </a:lnTo>
                <a:lnTo>
                  <a:pt x="25610" y="3278"/>
                </a:lnTo>
                <a:lnTo>
                  <a:pt x="12287" y="12223"/>
                </a:lnTo>
                <a:lnTo>
                  <a:pt x="3298" y="25503"/>
                </a:lnTo>
                <a:lnTo>
                  <a:pt x="0" y="41783"/>
                </a:lnTo>
                <a:lnTo>
                  <a:pt x="0" y="619506"/>
                </a:lnTo>
                <a:lnTo>
                  <a:pt x="3298" y="635785"/>
                </a:lnTo>
                <a:lnTo>
                  <a:pt x="12287" y="649065"/>
                </a:lnTo>
                <a:lnTo>
                  <a:pt x="25610" y="658010"/>
                </a:lnTo>
                <a:lnTo>
                  <a:pt x="41910" y="661289"/>
                </a:lnTo>
                <a:lnTo>
                  <a:pt x="10066782" y="661289"/>
                </a:lnTo>
                <a:lnTo>
                  <a:pt x="10083081" y="658010"/>
                </a:lnTo>
                <a:lnTo>
                  <a:pt x="10096404" y="649065"/>
                </a:lnTo>
                <a:lnTo>
                  <a:pt x="10105393" y="635785"/>
                </a:lnTo>
                <a:lnTo>
                  <a:pt x="10108692" y="619506"/>
                </a:lnTo>
                <a:lnTo>
                  <a:pt x="10108692" y="41783"/>
                </a:lnTo>
                <a:lnTo>
                  <a:pt x="10105393" y="25503"/>
                </a:lnTo>
                <a:lnTo>
                  <a:pt x="10096404" y="12223"/>
                </a:lnTo>
                <a:lnTo>
                  <a:pt x="10083081" y="3278"/>
                </a:lnTo>
                <a:lnTo>
                  <a:pt x="10066782" y="0"/>
                </a:lnTo>
                <a:close/>
              </a:path>
            </a:pathLst>
          </a:custGeom>
          <a:solidFill>
            <a:srgbClr val="00A757">
              <a:alpha val="100000"/>
            </a:srgbClr>
          </a:solidFill>
          <a:ln w="9525">
            <a:noFill/>
          </a:ln>
        </p:spPr>
        <p:txBody>
          <a:bodyPr/>
          <a:p>
            <a:endParaRPr lang="en-US"/>
          </a:p>
        </p:txBody>
      </p:sp>
      <p:sp>
        <p:nvSpPr>
          <p:cNvPr id="8" name="object 8"/>
          <p:cNvSpPr txBox="1"/>
          <p:nvPr/>
        </p:nvSpPr>
        <p:spPr>
          <a:xfrm>
            <a:off x="1412875" y="2708275"/>
            <a:ext cx="10109200" cy="661988"/>
          </a:xfrm>
          <a:prstGeom prst="rect">
            <a:avLst/>
          </a:prstGeom>
          <a:ln w="15462">
            <a:solidFill>
              <a:srgbClr val="D9D9D9"/>
            </a:solidFill>
          </a:ln>
        </p:spPr>
        <p:txBody>
          <a:bodyPr vert="horz" wrap="square" lIns="0" tIns="81915" rIns="0" bIns="0" rtlCol="0">
            <a:spAutoFit/>
          </a:bodyPr>
          <a:lstStyle/>
          <a:p>
            <a:pPr marL="103505" marR="0" defTabSz="914400" eaLnBrk="1" fontAlgn="auto" hangingPunct="1">
              <a:spcBef>
                <a:spcPts val="645"/>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1.</a:t>
            </a:r>
            <a:r>
              <a:rPr kumimoji="0" sz="1600" kern="0" cap="none" spc="-6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Duly</a:t>
            </a:r>
            <a:r>
              <a:rPr kumimoji="0" sz="1600" kern="0" cap="none" spc="-50" normalizeH="0" baseline="0" noProof="0" dirty="0">
                <a:solidFill>
                  <a:srgbClr val="FFFFFF"/>
                </a:solidFill>
                <a:latin typeface="Arial" panose="020B0604020202020204"/>
                <a:cs typeface="Arial" panose="020B0604020202020204"/>
              </a:rPr>
              <a:t> </a:t>
            </a:r>
            <a:r>
              <a:rPr kumimoji="0" sz="1600" kern="0" cap="none" spc="-20" normalizeH="0" baseline="0" noProof="0" dirty="0">
                <a:solidFill>
                  <a:srgbClr val="FFFFFF"/>
                </a:solidFill>
                <a:latin typeface="Arial" panose="020B0604020202020204"/>
                <a:cs typeface="Arial" panose="020B0604020202020204"/>
              </a:rPr>
              <a:t>Notarized</a:t>
            </a:r>
            <a:r>
              <a:rPr kumimoji="0" sz="1600" kern="0" cap="none" spc="-9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Affidavit</a:t>
            </a:r>
            <a:r>
              <a:rPr kumimoji="0" sz="1600" kern="0" cap="none" spc="-5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Parental</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Care</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&amp;</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Custody.</a:t>
            </a:r>
            <a:r>
              <a:rPr kumimoji="0" sz="1600" kern="0" cap="none" spc="39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This</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is</a:t>
            </a:r>
            <a:r>
              <a:rPr kumimoji="0" sz="1600" kern="0" cap="none" spc="-5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to</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be</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executed</a:t>
            </a:r>
            <a:r>
              <a:rPr kumimoji="0" sz="1600" kern="0" cap="none" spc="-2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by</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minor’s</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father</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or</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in</a:t>
            </a:r>
            <a:r>
              <a:rPr kumimoji="0" sz="1600" kern="0" cap="none" spc="-40" normalizeH="0" baseline="0" noProof="0" dirty="0">
                <a:solidFill>
                  <a:srgbClr val="FFFFFF"/>
                </a:solidFill>
                <a:latin typeface="Arial" panose="020B0604020202020204"/>
                <a:cs typeface="Arial" panose="020B0604020202020204"/>
              </a:rPr>
              <a:t> </a:t>
            </a:r>
            <a:r>
              <a:rPr kumimoji="0" sz="1600" kern="0" cap="none" spc="-25" normalizeH="0" baseline="0" noProof="0" dirty="0">
                <a:solidFill>
                  <a:srgbClr val="FFFFFF"/>
                </a:solidFill>
                <a:latin typeface="Arial" panose="020B0604020202020204"/>
                <a:cs typeface="Arial" panose="020B0604020202020204"/>
              </a:rPr>
              <a:t>his</a:t>
            </a:r>
            <a:endParaRPr kumimoji="0" sz="1600" kern="0" cap="none" spc="0" normalizeH="0" baseline="0" noProof="0">
              <a:solidFill>
                <a:sysClr val="windowText" lastClr="000000"/>
              </a:solidFill>
              <a:latin typeface="Arial" panose="020B0604020202020204"/>
              <a:cs typeface="Arial" panose="020B0604020202020204"/>
            </a:endParaRPr>
          </a:p>
          <a:p>
            <a:pPr marL="103505" marR="0" defTabSz="914400" eaLnBrk="1" fontAlgn="auto" hangingPunct="1">
              <a:spcBef>
                <a:spcPts val="5"/>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absence,</a:t>
            </a:r>
            <a:r>
              <a:rPr kumimoji="0" sz="1600" kern="0" cap="none" spc="-5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0"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mother,</a:t>
            </a:r>
            <a:r>
              <a:rPr kumimoji="0" sz="1600" kern="0" cap="none" spc="-2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if</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share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minor</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does</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not</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exceed</a:t>
            </a:r>
            <a:r>
              <a:rPr kumimoji="0" sz="1600" kern="0" cap="none" spc="-3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Php500,000.00.</a:t>
            </a:r>
            <a:endParaRPr kumimoji="0" sz="1600" kern="0" cap="none" spc="0" normalizeH="0" baseline="0" noProof="0">
              <a:solidFill>
                <a:sysClr val="windowText" lastClr="000000"/>
              </a:solidFill>
              <a:latin typeface="Arial" panose="020B0604020202020204"/>
              <a:cs typeface="Arial" panose="020B0604020202020204"/>
            </a:endParaRPr>
          </a:p>
        </p:txBody>
      </p:sp>
      <p:sp>
        <p:nvSpPr>
          <p:cNvPr id="22535" name="object 9"/>
          <p:cNvSpPr/>
          <p:nvPr/>
        </p:nvSpPr>
        <p:spPr>
          <a:xfrm>
            <a:off x="1412875" y="3435350"/>
            <a:ext cx="10109200" cy="636588"/>
          </a:xfrm>
          <a:custGeom>
            <a:avLst/>
            <a:gdLst/>
            <a:ahLst/>
            <a:cxnLst/>
            <a:pathLst>
              <a:path w="10109200" h="637539">
                <a:moveTo>
                  <a:pt x="10068306" y="0"/>
                </a:moveTo>
                <a:lnTo>
                  <a:pt x="40386" y="0"/>
                </a:lnTo>
                <a:lnTo>
                  <a:pt x="24699" y="3167"/>
                </a:lnTo>
                <a:lnTo>
                  <a:pt x="11858" y="11810"/>
                </a:lnTo>
                <a:lnTo>
                  <a:pt x="3184" y="24645"/>
                </a:lnTo>
                <a:lnTo>
                  <a:pt x="0" y="40385"/>
                </a:lnTo>
                <a:lnTo>
                  <a:pt x="0" y="596899"/>
                </a:lnTo>
                <a:lnTo>
                  <a:pt x="3184" y="612640"/>
                </a:lnTo>
                <a:lnTo>
                  <a:pt x="11858" y="625474"/>
                </a:lnTo>
                <a:lnTo>
                  <a:pt x="24699" y="634118"/>
                </a:lnTo>
                <a:lnTo>
                  <a:pt x="40386" y="637285"/>
                </a:lnTo>
                <a:lnTo>
                  <a:pt x="10068306" y="637285"/>
                </a:lnTo>
                <a:lnTo>
                  <a:pt x="10084046" y="634118"/>
                </a:lnTo>
                <a:lnTo>
                  <a:pt x="10096881" y="625474"/>
                </a:lnTo>
                <a:lnTo>
                  <a:pt x="10105524" y="612640"/>
                </a:lnTo>
                <a:lnTo>
                  <a:pt x="10108692" y="596899"/>
                </a:lnTo>
                <a:lnTo>
                  <a:pt x="10108692" y="40385"/>
                </a:lnTo>
                <a:lnTo>
                  <a:pt x="10105524" y="24645"/>
                </a:lnTo>
                <a:lnTo>
                  <a:pt x="10096881" y="11810"/>
                </a:lnTo>
                <a:lnTo>
                  <a:pt x="10084046" y="3167"/>
                </a:lnTo>
                <a:lnTo>
                  <a:pt x="10068306" y="0"/>
                </a:lnTo>
                <a:close/>
              </a:path>
            </a:pathLst>
          </a:custGeom>
          <a:solidFill>
            <a:srgbClr val="00A757">
              <a:alpha val="100000"/>
            </a:srgbClr>
          </a:solidFill>
          <a:ln w="9525">
            <a:noFill/>
          </a:ln>
        </p:spPr>
        <p:txBody>
          <a:bodyPr/>
          <a:p>
            <a:endParaRPr lang="en-US"/>
          </a:p>
        </p:txBody>
      </p:sp>
      <p:sp>
        <p:nvSpPr>
          <p:cNvPr id="10" name="object 10"/>
          <p:cNvSpPr txBox="1"/>
          <p:nvPr/>
        </p:nvSpPr>
        <p:spPr>
          <a:xfrm>
            <a:off x="1412875" y="3435350"/>
            <a:ext cx="10109200" cy="636588"/>
          </a:xfrm>
          <a:prstGeom prst="rect">
            <a:avLst/>
          </a:prstGeom>
          <a:ln w="14986">
            <a:solidFill>
              <a:srgbClr val="D9D9D9"/>
            </a:solidFill>
          </a:ln>
        </p:spPr>
        <p:txBody>
          <a:bodyPr vert="horz" wrap="square" lIns="0" tIns="69850" rIns="0" bIns="0" rtlCol="0">
            <a:spAutoFit/>
          </a:bodyPr>
          <a:lstStyle/>
          <a:p>
            <a:pPr marL="103505" marR="0" defTabSz="914400" eaLnBrk="1" fontAlgn="auto" hangingPunct="1">
              <a:spcBef>
                <a:spcPts val="550"/>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2.</a:t>
            </a:r>
            <a:r>
              <a:rPr kumimoji="0" sz="1600" kern="0" cap="none" spc="-7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Duly</a:t>
            </a:r>
            <a:r>
              <a:rPr kumimoji="0" sz="1600" kern="0" cap="none" spc="-45" normalizeH="0" baseline="0" noProof="0" dirty="0">
                <a:solidFill>
                  <a:srgbClr val="FFFFFF"/>
                </a:solidFill>
                <a:latin typeface="Arial" panose="020B0604020202020204"/>
                <a:cs typeface="Arial" panose="020B0604020202020204"/>
              </a:rPr>
              <a:t> </a:t>
            </a:r>
            <a:r>
              <a:rPr kumimoji="0" sz="1600" kern="0" cap="none" spc="-20" normalizeH="0" baseline="0" noProof="0" dirty="0">
                <a:solidFill>
                  <a:srgbClr val="FFFFFF"/>
                </a:solidFill>
                <a:latin typeface="Arial" panose="020B0604020202020204"/>
                <a:cs typeface="Arial" panose="020B0604020202020204"/>
              </a:rPr>
              <a:t>Notarized</a:t>
            </a:r>
            <a:r>
              <a:rPr kumimoji="0" sz="1600" kern="0" cap="none" spc="-9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Affidavit</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Substitute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Parental</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Care</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&amp;</a:t>
            </a:r>
            <a:r>
              <a:rPr kumimoji="0" sz="1600" kern="0" cap="none" spc="-110" normalizeH="0" baseline="0" noProof="0" dirty="0">
                <a:solidFill>
                  <a:srgbClr val="FFFFFF"/>
                </a:solidFill>
                <a:latin typeface="Arial" panose="020B0604020202020204"/>
                <a:cs typeface="Arial" panose="020B0604020202020204"/>
              </a:rPr>
              <a:t> </a:t>
            </a:r>
            <a:r>
              <a:rPr kumimoji="0" sz="1600" kern="0" cap="none" spc="-20" normalizeH="0" baseline="0" noProof="0" dirty="0">
                <a:solidFill>
                  <a:srgbClr val="FFFFFF"/>
                </a:solidFill>
                <a:latin typeface="Arial" panose="020B0604020202020204"/>
                <a:cs typeface="Arial" panose="020B0604020202020204"/>
              </a:rPr>
              <a:t>Authority.</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This</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is</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to</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be</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executed</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by</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2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appointed</a:t>
            </a:r>
            <a:endParaRPr kumimoji="0" sz="1600" kern="0" cap="none" spc="0" normalizeH="0" baseline="0" noProof="0">
              <a:solidFill>
                <a:sysClr val="windowText" lastClr="000000"/>
              </a:solidFill>
              <a:latin typeface="Arial" panose="020B0604020202020204"/>
              <a:cs typeface="Arial" panose="020B0604020202020204"/>
            </a:endParaRPr>
          </a:p>
          <a:p>
            <a:pPr marL="103505" marR="0" defTabSz="914400" eaLnBrk="1" fontAlgn="auto" hangingPunct="1">
              <a:spcBef>
                <a:spcPts val="5"/>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trustee</a:t>
            </a:r>
            <a:r>
              <a:rPr kumimoji="0" sz="1600" kern="0" cap="none" spc="-2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other</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than</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natural</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parents</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if</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share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minor</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does</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not</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exceed</a:t>
            </a:r>
            <a:r>
              <a:rPr kumimoji="0" sz="1600" kern="0" cap="none" spc="-3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Php500,000.00.</a:t>
            </a:r>
            <a:endParaRPr kumimoji="0" sz="1600" kern="0" cap="none" spc="0" normalizeH="0" baseline="0" noProof="0">
              <a:solidFill>
                <a:sysClr val="windowText" lastClr="000000"/>
              </a:solidFill>
              <a:latin typeface="Arial" panose="020B0604020202020204"/>
              <a:cs typeface="Arial" panose="020B0604020202020204"/>
            </a:endParaRPr>
          </a:p>
        </p:txBody>
      </p:sp>
      <p:grpSp>
        <p:nvGrpSpPr>
          <p:cNvPr id="22537" name="object 11"/>
          <p:cNvGrpSpPr/>
          <p:nvPr/>
        </p:nvGrpSpPr>
        <p:grpSpPr>
          <a:xfrm>
            <a:off x="1411288" y="4130675"/>
            <a:ext cx="10112375" cy="512763"/>
            <a:chOff x="1411160" y="4130738"/>
            <a:chExt cx="10112375" cy="512445"/>
          </a:xfrm>
        </p:grpSpPr>
        <p:sp>
          <p:nvSpPr>
            <p:cNvPr id="22544" name="object 12"/>
            <p:cNvSpPr/>
            <p:nvPr/>
          </p:nvSpPr>
          <p:spPr>
            <a:xfrm>
              <a:off x="1412747" y="4132326"/>
              <a:ext cx="10109200" cy="509270"/>
            </a:xfrm>
            <a:custGeom>
              <a:avLst/>
              <a:gdLst/>
              <a:ahLst/>
              <a:cxnLst/>
              <a:pathLst>
                <a:path w="10109200" h="509270">
                  <a:moveTo>
                    <a:pt x="10076434" y="0"/>
                  </a:moveTo>
                  <a:lnTo>
                    <a:pt x="32258" y="0"/>
                  </a:lnTo>
                  <a:lnTo>
                    <a:pt x="19716" y="2539"/>
                  </a:lnTo>
                  <a:lnTo>
                    <a:pt x="9461" y="9461"/>
                  </a:lnTo>
                  <a:lnTo>
                    <a:pt x="2540" y="19716"/>
                  </a:lnTo>
                  <a:lnTo>
                    <a:pt x="0" y="32257"/>
                  </a:lnTo>
                  <a:lnTo>
                    <a:pt x="0" y="477138"/>
                  </a:lnTo>
                  <a:lnTo>
                    <a:pt x="2540" y="489660"/>
                  </a:lnTo>
                  <a:lnTo>
                    <a:pt x="9461" y="499871"/>
                  </a:lnTo>
                  <a:lnTo>
                    <a:pt x="19716" y="506749"/>
                  </a:lnTo>
                  <a:lnTo>
                    <a:pt x="32258" y="509269"/>
                  </a:lnTo>
                  <a:lnTo>
                    <a:pt x="10076434" y="509269"/>
                  </a:lnTo>
                  <a:lnTo>
                    <a:pt x="10088975" y="506749"/>
                  </a:lnTo>
                  <a:lnTo>
                    <a:pt x="10099230" y="499871"/>
                  </a:lnTo>
                  <a:lnTo>
                    <a:pt x="10106152" y="489660"/>
                  </a:lnTo>
                  <a:lnTo>
                    <a:pt x="10108692" y="477138"/>
                  </a:lnTo>
                  <a:lnTo>
                    <a:pt x="10108692" y="32257"/>
                  </a:lnTo>
                  <a:lnTo>
                    <a:pt x="10106152" y="19716"/>
                  </a:lnTo>
                  <a:lnTo>
                    <a:pt x="10099230" y="9461"/>
                  </a:lnTo>
                  <a:lnTo>
                    <a:pt x="10088975" y="2539"/>
                  </a:lnTo>
                  <a:lnTo>
                    <a:pt x="10076434" y="0"/>
                  </a:lnTo>
                  <a:close/>
                </a:path>
              </a:pathLst>
            </a:custGeom>
            <a:solidFill>
              <a:srgbClr val="00A757">
                <a:alpha val="100000"/>
              </a:srgbClr>
            </a:solidFill>
            <a:ln w="9525">
              <a:noFill/>
            </a:ln>
          </p:spPr>
          <p:txBody>
            <a:bodyPr/>
            <a:p>
              <a:endParaRPr lang="en-US"/>
            </a:p>
          </p:txBody>
        </p:sp>
        <p:sp>
          <p:nvSpPr>
            <p:cNvPr id="22545" name="object 13"/>
            <p:cNvSpPr/>
            <p:nvPr/>
          </p:nvSpPr>
          <p:spPr>
            <a:xfrm>
              <a:off x="1412747" y="4132326"/>
              <a:ext cx="10109200" cy="509270"/>
            </a:xfrm>
            <a:custGeom>
              <a:avLst/>
              <a:gdLst/>
              <a:ahLst/>
              <a:cxnLst/>
              <a:pathLst>
                <a:path w="10109200" h="509270">
                  <a:moveTo>
                    <a:pt x="0" y="32257"/>
                  </a:moveTo>
                  <a:lnTo>
                    <a:pt x="2540" y="19716"/>
                  </a:lnTo>
                  <a:lnTo>
                    <a:pt x="9461" y="9461"/>
                  </a:lnTo>
                  <a:lnTo>
                    <a:pt x="19716" y="2539"/>
                  </a:lnTo>
                  <a:lnTo>
                    <a:pt x="32258" y="0"/>
                  </a:lnTo>
                  <a:lnTo>
                    <a:pt x="10076434" y="0"/>
                  </a:lnTo>
                  <a:lnTo>
                    <a:pt x="10088975" y="2539"/>
                  </a:lnTo>
                  <a:lnTo>
                    <a:pt x="10099230" y="9461"/>
                  </a:lnTo>
                  <a:lnTo>
                    <a:pt x="10106152" y="19716"/>
                  </a:lnTo>
                  <a:lnTo>
                    <a:pt x="10108692" y="32257"/>
                  </a:lnTo>
                  <a:lnTo>
                    <a:pt x="10108692" y="477138"/>
                  </a:lnTo>
                  <a:lnTo>
                    <a:pt x="10106152" y="489660"/>
                  </a:lnTo>
                  <a:lnTo>
                    <a:pt x="10099230" y="499871"/>
                  </a:lnTo>
                  <a:lnTo>
                    <a:pt x="10088975" y="506749"/>
                  </a:lnTo>
                  <a:lnTo>
                    <a:pt x="10076434" y="509269"/>
                  </a:lnTo>
                  <a:lnTo>
                    <a:pt x="32258" y="509269"/>
                  </a:lnTo>
                  <a:lnTo>
                    <a:pt x="19716" y="506749"/>
                  </a:lnTo>
                  <a:lnTo>
                    <a:pt x="9461" y="499871"/>
                  </a:lnTo>
                  <a:lnTo>
                    <a:pt x="2540" y="489660"/>
                  </a:lnTo>
                  <a:lnTo>
                    <a:pt x="0" y="477138"/>
                  </a:lnTo>
                  <a:lnTo>
                    <a:pt x="0" y="32257"/>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4" name="object 14"/>
          <p:cNvSpPr txBox="1"/>
          <p:nvPr/>
        </p:nvSpPr>
        <p:spPr>
          <a:xfrm>
            <a:off x="1501775" y="4248150"/>
            <a:ext cx="7623175" cy="269875"/>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3.</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Letters</a:t>
            </a:r>
            <a:r>
              <a:rPr kumimoji="0" sz="1600" kern="0" cap="none" spc="-2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30"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Guardianship</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shall</a:t>
            </a:r>
            <a:r>
              <a:rPr kumimoji="0" sz="1600" kern="0" cap="none" spc="-6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required</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if</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minor</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is</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orphaned</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on</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both</a:t>
            </a:r>
            <a:r>
              <a:rPr kumimoji="0" sz="1600" kern="0" cap="none" spc="-2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parents.</a:t>
            </a:r>
            <a:endParaRPr kumimoji="0" sz="1600" kern="0" cap="none" spc="0" normalizeH="0" baseline="0" noProof="0">
              <a:solidFill>
                <a:sysClr val="windowText" lastClr="000000"/>
              </a:solidFill>
              <a:latin typeface="Arial" panose="020B0604020202020204"/>
              <a:cs typeface="Arial" panose="020B0604020202020204"/>
            </a:endParaRPr>
          </a:p>
        </p:txBody>
      </p:sp>
      <p:sp>
        <p:nvSpPr>
          <p:cNvPr id="22539" name="object 15"/>
          <p:cNvSpPr/>
          <p:nvPr/>
        </p:nvSpPr>
        <p:spPr>
          <a:xfrm>
            <a:off x="1412875" y="4695825"/>
            <a:ext cx="10109200" cy="636588"/>
          </a:xfrm>
          <a:custGeom>
            <a:avLst/>
            <a:gdLst/>
            <a:ahLst/>
            <a:cxnLst/>
            <a:pathLst>
              <a:path w="10109200" h="637539">
                <a:moveTo>
                  <a:pt x="10068306" y="0"/>
                </a:moveTo>
                <a:lnTo>
                  <a:pt x="40386" y="0"/>
                </a:lnTo>
                <a:lnTo>
                  <a:pt x="24699" y="3167"/>
                </a:lnTo>
                <a:lnTo>
                  <a:pt x="11858" y="11810"/>
                </a:lnTo>
                <a:lnTo>
                  <a:pt x="3184" y="24645"/>
                </a:lnTo>
                <a:lnTo>
                  <a:pt x="0" y="40385"/>
                </a:lnTo>
                <a:lnTo>
                  <a:pt x="0" y="596899"/>
                </a:lnTo>
                <a:lnTo>
                  <a:pt x="3184" y="612640"/>
                </a:lnTo>
                <a:lnTo>
                  <a:pt x="11858" y="625474"/>
                </a:lnTo>
                <a:lnTo>
                  <a:pt x="24699" y="634118"/>
                </a:lnTo>
                <a:lnTo>
                  <a:pt x="40386" y="637285"/>
                </a:lnTo>
                <a:lnTo>
                  <a:pt x="10068306" y="637285"/>
                </a:lnTo>
                <a:lnTo>
                  <a:pt x="10084046" y="634118"/>
                </a:lnTo>
                <a:lnTo>
                  <a:pt x="10096881" y="625474"/>
                </a:lnTo>
                <a:lnTo>
                  <a:pt x="10105524" y="612640"/>
                </a:lnTo>
                <a:lnTo>
                  <a:pt x="10108692" y="596899"/>
                </a:lnTo>
                <a:lnTo>
                  <a:pt x="10108692" y="40385"/>
                </a:lnTo>
                <a:lnTo>
                  <a:pt x="10105524" y="24645"/>
                </a:lnTo>
                <a:lnTo>
                  <a:pt x="10096881" y="11810"/>
                </a:lnTo>
                <a:lnTo>
                  <a:pt x="10084046" y="3167"/>
                </a:lnTo>
                <a:lnTo>
                  <a:pt x="10068306" y="0"/>
                </a:lnTo>
                <a:close/>
              </a:path>
            </a:pathLst>
          </a:custGeom>
          <a:solidFill>
            <a:srgbClr val="00A757">
              <a:alpha val="100000"/>
            </a:srgbClr>
          </a:solidFill>
          <a:ln w="9525">
            <a:noFill/>
          </a:ln>
        </p:spPr>
        <p:txBody>
          <a:bodyPr/>
          <a:p>
            <a:endParaRPr lang="en-US"/>
          </a:p>
        </p:txBody>
      </p:sp>
      <p:sp>
        <p:nvSpPr>
          <p:cNvPr id="16" name="object 16"/>
          <p:cNvSpPr txBox="1"/>
          <p:nvPr/>
        </p:nvSpPr>
        <p:spPr>
          <a:xfrm>
            <a:off x="1412875" y="4695825"/>
            <a:ext cx="10109200" cy="636588"/>
          </a:xfrm>
          <a:prstGeom prst="rect">
            <a:avLst/>
          </a:prstGeom>
          <a:ln w="14986">
            <a:solidFill>
              <a:srgbClr val="D9D9D9"/>
            </a:solidFill>
          </a:ln>
        </p:spPr>
        <p:txBody>
          <a:bodyPr vert="horz" wrap="square" lIns="0" tIns="70485" rIns="0" bIns="0" rtlCol="0">
            <a:spAutoFit/>
          </a:bodyPr>
          <a:lstStyle/>
          <a:p>
            <a:pPr marL="103505" marR="0" defTabSz="914400" eaLnBrk="1" fontAlgn="auto" hangingPunct="1">
              <a:spcBef>
                <a:spcPts val="555"/>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4.</a:t>
            </a:r>
            <a:r>
              <a:rPr kumimoji="0" sz="1600" kern="0" cap="none" spc="-114"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Approved</a:t>
            </a:r>
            <a:r>
              <a:rPr kumimoji="0" sz="1600" kern="0" cap="none" spc="-4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Verified</a:t>
            </a:r>
            <a:r>
              <a:rPr kumimoji="0" sz="1600" kern="0" cap="none" spc="-6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Petition</a:t>
            </a:r>
            <a:r>
              <a:rPr kumimoji="0" sz="1600" kern="0" cap="none" spc="-5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for</a:t>
            </a:r>
            <a:r>
              <a:rPr kumimoji="0" sz="1600" kern="0" cap="none" spc="-25"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Guardian’s</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Bond</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if</a:t>
            </a:r>
            <a:r>
              <a:rPr kumimoji="0" sz="1600" kern="0" cap="none" spc="-5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appointed</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trustee</a:t>
            </a:r>
            <a:r>
              <a:rPr kumimoji="0" sz="1600" kern="0" cap="none" spc="-2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is</a:t>
            </a:r>
            <a:r>
              <a:rPr kumimoji="0" sz="1600" kern="0" cap="none" spc="-5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any</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or</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both</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natural</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parents</a:t>
            </a:r>
            <a:r>
              <a:rPr kumimoji="0" sz="1600" kern="0" cap="none" spc="-30" normalizeH="0" baseline="0" noProof="0" dirty="0">
                <a:solidFill>
                  <a:srgbClr val="FFFFFF"/>
                </a:solidFill>
                <a:latin typeface="Arial" panose="020B0604020202020204"/>
                <a:cs typeface="Arial" panose="020B0604020202020204"/>
              </a:rPr>
              <a:t> </a:t>
            </a:r>
            <a:r>
              <a:rPr kumimoji="0" sz="1600" kern="0" cap="none" spc="-25" normalizeH="0" baseline="0" noProof="0" dirty="0">
                <a:solidFill>
                  <a:srgbClr val="FFFFFF"/>
                </a:solidFill>
                <a:latin typeface="Arial" panose="020B0604020202020204"/>
                <a:cs typeface="Arial" panose="020B0604020202020204"/>
              </a:rPr>
              <a:t>if</a:t>
            </a:r>
            <a:endParaRPr kumimoji="0" sz="1600" kern="0" cap="none" spc="0" normalizeH="0" baseline="0" noProof="0">
              <a:solidFill>
                <a:sysClr val="windowText" lastClr="000000"/>
              </a:solidFill>
              <a:latin typeface="Arial" panose="020B0604020202020204"/>
              <a:cs typeface="Arial" panose="020B0604020202020204"/>
            </a:endParaRPr>
          </a:p>
          <a:p>
            <a:pPr marL="103505" marR="0" defTabSz="914400" eaLnBrk="1" fontAlgn="auto" hangingPunct="1">
              <a:spcBef>
                <a:spcPts val="0"/>
              </a:spcBef>
              <a:spcAft>
                <a:spcPts val="0"/>
              </a:spcAft>
              <a:buClrTx/>
              <a:buSzTx/>
              <a:buFontTx/>
              <a:buNone/>
              <a:defRPr/>
            </a:pPr>
            <a:r>
              <a:rPr kumimoji="0" sz="1600" kern="0" cap="none" spc="0" normalizeH="0" baseline="0" noProof="0" dirty="0">
                <a:solidFill>
                  <a:srgbClr val="FFFFFF"/>
                </a:solidFill>
                <a:latin typeface="Arial" panose="020B0604020202020204"/>
                <a:cs typeface="Arial" panose="020B0604020202020204"/>
              </a:rPr>
              <a:t>the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share</a:t>
            </a:r>
            <a:r>
              <a:rPr kumimoji="0" sz="1600" kern="0" cap="none" spc="-3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of</a:t>
            </a:r>
            <a:r>
              <a:rPr kumimoji="0" sz="1600" kern="0" cap="none" spc="-4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the</a:t>
            </a:r>
            <a:r>
              <a:rPr kumimoji="0" sz="1600" kern="0" cap="none" spc="-30"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minor</a:t>
            </a:r>
            <a:r>
              <a:rPr kumimoji="0" sz="1600" kern="0" cap="none" spc="-45" normalizeH="0" baseline="0" noProof="0" dirty="0">
                <a:solidFill>
                  <a:srgbClr val="FFFFFF"/>
                </a:solidFill>
                <a:latin typeface="Arial" panose="020B0604020202020204"/>
                <a:cs typeface="Arial" panose="020B0604020202020204"/>
              </a:rPr>
              <a:t> </a:t>
            </a:r>
            <a:r>
              <a:rPr kumimoji="0" sz="1600" kern="0" cap="none" spc="0" normalizeH="0" baseline="0" noProof="0" dirty="0">
                <a:solidFill>
                  <a:srgbClr val="FFFFFF"/>
                </a:solidFill>
                <a:latin typeface="Arial" panose="020B0604020202020204"/>
                <a:cs typeface="Arial" panose="020B0604020202020204"/>
              </a:rPr>
              <a:t>exceeds</a:t>
            </a:r>
            <a:r>
              <a:rPr kumimoji="0" sz="1600" kern="0" cap="none" spc="-30" normalizeH="0" baseline="0" noProof="0" dirty="0">
                <a:solidFill>
                  <a:srgbClr val="FFFFFF"/>
                </a:solidFill>
                <a:latin typeface="Arial" panose="020B0604020202020204"/>
                <a:cs typeface="Arial" panose="020B0604020202020204"/>
              </a:rPr>
              <a:t> </a:t>
            </a:r>
            <a:r>
              <a:rPr kumimoji="0" sz="1600" kern="0" cap="none" spc="-10" normalizeH="0" baseline="0" noProof="0" dirty="0">
                <a:solidFill>
                  <a:srgbClr val="FFFFFF"/>
                </a:solidFill>
                <a:latin typeface="Arial" panose="020B0604020202020204"/>
                <a:cs typeface="Arial" panose="020B0604020202020204"/>
              </a:rPr>
              <a:t>Php500,000.00.</a:t>
            </a:r>
            <a:endParaRPr kumimoji="0" sz="1600" kern="0" cap="none" spc="0" normalizeH="0" baseline="0" noProof="0">
              <a:solidFill>
                <a:sysClr val="windowText" lastClr="000000"/>
              </a:solidFill>
              <a:latin typeface="Arial" panose="020B0604020202020204"/>
              <a:cs typeface="Arial" panose="020B0604020202020204"/>
            </a:endParaRPr>
          </a:p>
        </p:txBody>
      </p:sp>
      <p:sp>
        <p:nvSpPr>
          <p:cNvPr id="22541" name="object 17"/>
          <p:cNvSpPr/>
          <p:nvPr/>
        </p:nvSpPr>
        <p:spPr>
          <a:xfrm>
            <a:off x="1412875" y="5408613"/>
            <a:ext cx="10109200" cy="636587"/>
          </a:xfrm>
          <a:custGeom>
            <a:avLst/>
            <a:gdLst/>
            <a:ahLst/>
            <a:cxnLst/>
            <a:pathLst>
              <a:path w="10109200" h="637539">
                <a:moveTo>
                  <a:pt x="10068306" y="0"/>
                </a:moveTo>
                <a:lnTo>
                  <a:pt x="40386" y="0"/>
                </a:lnTo>
                <a:lnTo>
                  <a:pt x="24699" y="3184"/>
                </a:lnTo>
                <a:lnTo>
                  <a:pt x="11858" y="11858"/>
                </a:lnTo>
                <a:lnTo>
                  <a:pt x="3184" y="24699"/>
                </a:lnTo>
                <a:lnTo>
                  <a:pt x="0" y="40386"/>
                </a:lnTo>
                <a:lnTo>
                  <a:pt x="0" y="596950"/>
                </a:lnTo>
                <a:lnTo>
                  <a:pt x="3184" y="612650"/>
                </a:lnTo>
                <a:lnTo>
                  <a:pt x="11858" y="625471"/>
                </a:lnTo>
                <a:lnTo>
                  <a:pt x="24699" y="634116"/>
                </a:lnTo>
                <a:lnTo>
                  <a:pt x="40386" y="637286"/>
                </a:lnTo>
                <a:lnTo>
                  <a:pt x="10068306" y="637286"/>
                </a:lnTo>
                <a:lnTo>
                  <a:pt x="10084046" y="634116"/>
                </a:lnTo>
                <a:lnTo>
                  <a:pt x="10096881" y="625471"/>
                </a:lnTo>
                <a:lnTo>
                  <a:pt x="10105524" y="612650"/>
                </a:lnTo>
                <a:lnTo>
                  <a:pt x="10108692" y="596950"/>
                </a:lnTo>
                <a:lnTo>
                  <a:pt x="10108692" y="40386"/>
                </a:lnTo>
                <a:lnTo>
                  <a:pt x="10105524" y="24699"/>
                </a:lnTo>
                <a:lnTo>
                  <a:pt x="10096881" y="11858"/>
                </a:lnTo>
                <a:lnTo>
                  <a:pt x="10084046" y="3184"/>
                </a:lnTo>
                <a:lnTo>
                  <a:pt x="10068306" y="0"/>
                </a:lnTo>
                <a:close/>
              </a:path>
            </a:pathLst>
          </a:custGeom>
          <a:solidFill>
            <a:srgbClr val="00A757">
              <a:alpha val="100000"/>
            </a:srgbClr>
          </a:solidFill>
          <a:ln w="9525">
            <a:noFill/>
          </a:ln>
        </p:spPr>
        <p:txBody>
          <a:bodyPr/>
          <a:p>
            <a:endParaRPr lang="en-US"/>
          </a:p>
        </p:txBody>
      </p:sp>
      <p:sp>
        <p:nvSpPr>
          <p:cNvPr id="18" name="object 18"/>
          <p:cNvSpPr txBox="1"/>
          <p:nvPr/>
        </p:nvSpPr>
        <p:spPr>
          <a:xfrm>
            <a:off x="1412875" y="5408613"/>
            <a:ext cx="10109200" cy="636588"/>
          </a:xfrm>
          <a:prstGeom prst="rect">
            <a:avLst/>
          </a:prstGeom>
          <a:ln w="14986">
            <a:solidFill>
              <a:srgbClr val="D9D9D9"/>
            </a:solidFill>
          </a:ln>
        </p:spPr>
        <p:txBody>
          <a:bodyPr vert="horz" wrap="square" lIns="0" tIns="70485" rIns="0" bIns="0" rtlCol="0">
            <a:spAutoFit/>
          </a:bodyPr>
          <a:p>
            <a:pPr marL="103505" eaLnBrk="1" hangingPunct="1">
              <a:spcBef>
                <a:spcPts val="550"/>
              </a:spcBef>
              <a:buNone/>
            </a:pPr>
            <a:r>
              <a:rPr lang="en-US" altLang="zh-CN" sz="1600">
                <a:solidFill>
                  <a:srgbClr val="FFFFFF"/>
                </a:solidFill>
                <a:cs typeface="Arial" panose="020B0604020202020204" pitchFamily="34" charset="0"/>
              </a:rPr>
              <a:t>5. Trusteeship Bond if the appointed trustee is other than the natural parents if the share of the minor beneficiary exceeds Php500,000.00.</a:t>
            </a:r>
            <a:endParaRPr lang="en-US" altLang="zh-CN" sz="1600">
              <a:solidFill>
                <a:srgbClr val="000000"/>
              </a:solidFill>
              <a:ea typeface="Arial" panose="020B0604020202020204" pitchFamily="34" charset="0"/>
            </a:endParaRPr>
          </a:p>
        </p:txBody>
      </p:sp>
      <p:sp>
        <p:nvSpPr>
          <p:cNvPr id="19" name="object 19"/>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4" name="object 2"/>
          <p:cNvGrpSpPr/>
          <p:nvPr/>
        </p:nvGrpSpPr>
        <p:grpSpPr>
          <a:xfrm>
            <a:off x="1255713" y="525463"/>
            <a:ext cx="9680575" cy="874712"/>
            <a:chOff x="1255141" y="525462"/>
            <a:chExt cx="9681845" cy="875030"/>
          </a:xfrm>
        </p:grpSpPr>
        <p:sp>
          <p:nvSpPr>
            <p:cNvPr id="23558" name="object 3"/>
            <p:cNvSpPr/>
            <p:nvPr/>
          </p:nvSpPr>
          <p:spPr>
            <a:xfrm>
              <a:off x="1269428" y="539750"/>
              <a:ext cx="9653270" cy="846455"/>
            </a:xfrm>
            <a:custGeom>
              <a:avLst/>
              <a:gdLst/>
              <a:ahLst/>
              <a:cxnLst/>
              <a:pathLst>
                <a:path w="9653270" h="846455">
                  <a:moveTo>
                    <a:pt x="9599612" y="0"/>
                  </a:moveTo>
                  <a:lnTo>
                    <a:pt x="53530" y="0"/>
                  </a:lnTo>
                  <a:lnTo>
                    <a:pt x="32682" y="4192"/>
                  </a:lnTo>
                  <a:lnTo>
                    <a:pt x="15668" y="15636"/>
                  </a:lnTo>
                  <a:lnTo>
                    <a:pt x="4202" y="32629"/>
                  </a:lnTo>
                  <a:lnTo>
                    <a:pt x="0" y="53466"/>
                  </a:lnTo>
                  <a:lnTo>
                    <a:pt x="0" y="792734"/>
                  </a:lnTo>
                  <a:lnTo>
                    <a:pt x="4202" y="813571"/>
                  </a:lnTo>
                  <a:lnTo>
                    <a:pt x="15668" y="830564"/>
                  </a:lnTo>
                  <a:lnTo>
                    <a:pt x="32682" y="842008"/>
                  </a:lnTo>
                  <a:lnTo>
                    <a:pt x="53530" y="846201"/>
                  </a:lnTo>
                  <a:lnTo>
                    <a:pt x="9599612" y="846201"/>
                  </a:lnTo>
                  <a:lnTo>
                    <a:pt x="9620450" y="842008"/>
                  </a:lnTo>
                  <a:lnTo>
                    <a:pt x="9637442" y="830564"/>
                  </a:lnTo>
                  <a:lnTo>
                    <a:pt x="9648886" y="813571"/>
                  </a:lnTo>
                  <a:lnTo>
                    <a:pt x="9653079" y="792734"/>
                  </a:lnTo>
                  <a:lnTo>
                    <a:pt x="9653079" y="53466"/>
                  </a:lnTo>
                  <a:lnTo>
                    <a:pt x="9648886" y="32629"/>
                  </a:lnTo>
                  <a:lnTo>
                    <a:pt x="9637442" y="15636"/>
                  </a:lnTo>
                  <a:lnTo>
                    <a:pt x="9620450" y="4192"/>
                  </a:lnTo>
                  <a:lnTo>
                    <a:pt x="9599612" y="0"/>
                  </a:lnTo>
                  <a:close/>
                </a:path>
              </a:pathLst>
            </a:custGeom>
            <a:solidFill>
              <a:srgbClr val="F1F1F1">
                <a:alpha val="100000"/>
              </a:srgbClr>
            </a:solidFill>
            <a:ln w="9525">
              <a:noFill/>
            </a:ln>
          </p:spPr>
          <p:txBody>
            <a:bodyPr/>
            <a:p>
              <a:endParaRPr lang="en-US"/>
            </a:p>
          </p:txBody>
        </p:sp>
        <p:sp>
          <p:nvSpPr>
            <p:cNvPr id="23559" name="object 4"/>
            <p:cNvSpPr/>
            <p:nvPr/>
          </p:nvSpPr>
          <p:spPr>
            <a:xfrm>
              <a:off x="1269428" y="539750"/>
              <a:ext cx="9653270" cy="846455"/>
            </a:xfrm>
            <a:custGeom>
              <a:avLst/>
              <a:gdLst/>
              <a:ahLst/>
              <a:cxnLst/>
              <a:pathLst>
                <a:path w="9653270" h="846455">
                  <a:moveTo>
                    <a:pt x="0" y="53466"/>
                  </a:moveTo>
                  <a:lnTo>
                    <a:pt x="4202" y="32629"/>
                  </a:lnTo>
                  <a:lnTo>
                    <a:pt x="15668" y="15636"/>
                  </a:lnTo>
                  <a:lnTo>
                    <a:pt x="32682" y="4192"/>
                  </a:lnTo>
                  <a:lnTo>
                    <a:pt x="53530" y="0"/>
                  </a:lnTo>
                  <a:lnTo>
                    <a:pt x="9599612" y="0"/>
                  </a:lnTo>
                  <a:lnTo>
                    <a:pt x="9620450" y="4192"/>
                  </a:lnTo>
                  <a:lnTo>
                    <a:pt x="9637442" y="15636"/>
                  </a:lnTo>
                  <a:lnTo>
                    <a:pt x="9648886" y="32629"/>
                  </a:lnTo>
                  <a:lnTo>
                    <a:pt x="9653079" y="53466"/>
                  </a:lnTo>
                  <a:lnTo>
                    <a:pt x="9653079" y="792734"/>
                  </a:lnTo>
                  <a:lnTo>
                    <a:pt x="9648886" y="813571"/>
                  </a:lnTo>
                  <a:lnTo>
                    <a:pt x="9637442" y="830564"/>
                  </a:lnTo>
                  <a:lnTo>
                    <a:pt x="9620450" y="842008"/>
                  </a:lnTo>
                  <a:lnTo>
                    <a:pt x="9599612" y="846201"/>
                  </a:lnTo>
                  <a:lnTo>
                    <a:pt x="53530" y="846201"/>
                  </a:lnTo>
                  <a:lnTo>
                    <a:pt x="32682" y="842008"/>
                  </a:lnTo>
                  <a:lnTo>
                    <a:pt x="15668" y="830564"/>
                  </a:lnTo>
                  <a:lnTo>
                    <a:pt x="4202" y="813571"/>
                  </a:lnTo>
                  <a:lnTo>
                    <a:pt x="0" y="792734"/>
                  </a:lnTo>
                  <a:lnTo>
                    <a:pt x="0" y="53466"/>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211759"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a:t>
            </a:r>
            <a:r>
              <a:rPr kumimoji="0" sz="3000" b="1" i="0" u="none" strike="noStrike" kern="0" cap="none" spc="7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DESIGNATION</a:t>
            </a:r>
            <a:r>
              <a:rPr kumimoji="0" sz="3000" b="1" i="0" u="none" strike="noStrike" kern="0" cap="none" spc="80"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20" normalizeH="0" baseline="0" noProof="0" dirty="0">
                <a:ln>
                  <a:noFill/>
                </a:ln>
                <a:solidFill>
                  <a:srgbClr val="000000"/>
                </a:solidFill>
                <a:effectLst/>
                <a:uLnTx/>
                <a:uFillTx/>
                <a:latin typeface="Arial" panose="020B0604020202020204"/>
                <a:ea typeface="+mj-ea"/>
                <a:cs typeface="Arial" panose="020B0604020202020204"/>
              </a:rPr>
              <a:t>FORM</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0" marR="0" lvl="0" indent="0" algn="ctr" defTabSz="914400" eaLnBrk="1" fontAlgn="auto" latinLnBrk="0" hangingPunct="1">
              <a:lnSpc>
                <a:spcPct val="100000"/>
              </a:lnSpc>
              <a:spcBef>
                <a:spcPts val="60"/>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pic>
        <p:nvPicPr>
          <p:cNvPr id="23556" name="object 6"/>
          <p:cNvPicPr>
            <a:picLocks noChangeAspect="1"/>
          </p:cNvPicPr>
          <p:nvPr/>
        </p:nvPicPr>
        <p:blipFill>
          <a:blip r:embed="rId1"/>
          <a:stretch>
            <a:fillRect/>
          </a:stretch>
        </p:blipFill>
        <p:spPr>
          <a:xfrm>
            <a:off x="1350963" y="2057400"/>
            <a:ext cx="9067800" cy="2805113"/>
          </a:xfrm>
          <a:prstGeom prst="rect">
            <a:avLst/>
          </a:prstGeom>
          <a:noFill/>
          <a:ln w="9525">
            <a:noFill/>
          </a:ln>
        </p:spPr>
      </p:pic>
      <p:sp>
        <p:nvSpPr>
          <p:cNvPr id="7" name="object 7"/>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578" name="object 2"/>
          <p:cNvGrpSpPr/>
          <p:nvPr/>
        </p:nvGrpSpPr>
        <p:grpSpPr>
          <a:xfrm>
            <a:off x="1255713" y="525463"/>
            <a:ext cx="9680575" cy="874712"/>
            <a:chOff x="1255141" y="525462"/>
            <a:chExt cx="9681845" cy="875030"/>
          </a:xfrm>
        </p:grpSpPr>
        <p:sp>
          <p:nvSpPr>
            <p:cNvPr id="24600" name="object 3"/>
            <p:cNvSpPr/>
            <p:nvPr/>
          </p:nvSpPr>
          <p:spPr>
            <a:xfrm>
              <a:off x="1269428" y="539750"/>
              <a:ext cx="9653270" cy="846455"/>
            </a:xfrm>
            <a:custGeom>
              <a:avLst/>
              <a:gdLst/>
              <a:ahLst/>
              <a:cxnLst/>
              <a:pathLst>
                <a:path w="9653270" h="846455">
                  <a:moveTo>
                    <a:pt x="9599612" y="0"/>
                  </a:moveTo>
                  <a:lnTo>
                    <a:pt x="53530" y="0"/>
                  </a:lnTo>
                  <a:lnTo>
                    <a:pt x="32682" y="4192"/>
                  </a:lnTo>
                  <a:lnTo>
                    <a:pt x="15668" y="15636"/>
                  </a:lnTo>
                  <a:lnTo>
                    <a:pt x="4202" y="32629"/>
                  </a:lnTo>
                  <a:lnTo>
                    <a:pt x="0" y="53466"/>
                  </a:lnTo>
                  <a:lnTo>
                    <a:pt x="0" y="792734"/>
                  </a:lnTo>
                  <a:lnTo>
                    <a:pt x="4202" y="813571"/>
                  </a:lnTo>
                  <a:lnTo>
                    <a:pt x="15668" y="830564"/>
                  </a:lnTo>
                  <a:lnTo>
                    <a:pt x="32682" y="842008"/>
                  </a:lnTo>
                  <a:lnTo>
                    <a:pt x="53530" y="846201"/>
                  </a:lnTo>
                  <a:lnTo>
                    <a:pt x="9599612" y="846201"/>
                  </a:lnTo>
                  <a:lnTo>
                    <a:pt x="9620450" y="842008"/>
                  </a:lnTo>
                  <a:lnTo>
                    <a:pt x="9637442" y="830564"/>
                  </a:lnTo>
                  <a:lnTo>
                    <a:pt x="9648886" y="813571"/>
                  </a:lnTo>
                  <a:lnTo>
                    <a:pt x="9653079" y="792734"/>
                  </a:lnTo>
                  <a:lnTo>
                    <a:pt x="9653079" y="53466"/>
                  </a:lnTo>
                  <a:lnTo>
                    <a:pt x="9648886" y="32629"/>
                  </a:lnTo>
                  <a:lnTo>
                    <a:pt x="9637442" y="15636"/>
                  </a:lnTo>
                  <a:lnTo>
                    <a:pt x="9620450" y="4192"/>
                  </a:lnTo>
                  <a:lnTo>
                    <a:pt x="9599612" y="0"/>
                  </a:lnTo>
                  <a:close/>
                </a:path>
              </a:pathLst>
            </a:custGeom>
            <a:solidFill>
              <a:srgbClr val="F1F1F1">
                <a:alpha val="100000"/>
              </a:srgbClr>
            </a:solidFill>
            <a:ln w="9525">
              <a:noFill/>
            </a:ln>
          </p:spPr>
          <p:txBody>
            <a:bodyPr/>
            <a:p>
              <a:endParaRPr lang="en-US"/>
            </a:p>
          </p:txBody>
        </p:sp>
        <p:sp>
          <p:nvSpPr>
            <p:cNvPr id="24601" name="object 4"/>
            <p:cNvSpPr/>
            <p:nvPr/>
          </p:nvSpPr>
          <p:spPr>
            <a:xfrm>
              <a:off x="1269428" y="539750"/>
              <a:ext cx="9653270" cy="846455"/>
            </a:xfrm>
            <a:custGeom>
              <a:avLst/>
              <a:gdLst/>
              <a:ahLst/>
              <a:cxnLst/>
              <a:pathLst>
                <a:path w="9653270" h="846455">
                  <a:moveTo>
                    <a:pt x="0" y="53466"/>
                  </a:moveTo>
                  <a:lnTo>
                    <a:pt x="4202" y="32629"/>
                  </a:lnTo>
                  <a:lnTo>
                    <a:pt x="15668" y="15636"/>
                  </a:lnTo>
                  <a:lnTo>
                    <a:pt x="32682" y="4192"/>
                  </a:lnTo>
                  <a:lnTo>
                    <a:pt x="53530" y="0"/>
                  </a:lnTo>
                  <a:lnTo>
                    <a:pt x="9599612" y="0"/>
                  </a:lnTo>
                  <a:lnTo>
                    <a:pt x="9620450" y="4192"/>
                  </a:lnTo>
                  <a:lnTo>
                    <a:pt x="9637442" y="15636"/>
                  </a:lnTo>
                  <a:lnTo>
                    <a:pt x="9648886" y="32629"/>
                  </a:lnTo>
                  <a:lnTo>
                    <a:pt x="9653079" y="53466"/>
                  </a:lnTo>
                  <a:lnTo>
                    <a:pt x="9653079" y="792734"/>
                  </a:lnTo>
                  <a:lnTo>
                    <a:pt x="9648886" y="813571"/>
                  </a:lnTo>
                  <a:lnTo>
                    <a:pt x="9637442" y="830564"/>
                  </a:lnTo>
                  <a:lnTo>
                    <a:pt x="9620450" y="842008"/>
                  </a:lnTo>
                  <a:lnTo>
                    <a:pt x="9599612" y="846201"/>
                  </a:lnTo>
                  <a:lnTo>
                    <a:pt x="53530" y="846201"/>
                  </a:lnTo>
                  <a:lnTo>
                    <a:pt x="32682" y="842008"/>
                  </a:lnTo>
                  <a:lnTo>
                    <a:pt x="15668" y="830564"/>
                  </a:lnTo>
                  <a:lnTo>
                    <a:pt x="4202" y="813571"/>
                  </a:lnTo>
                  <a:lnTo>
                    <a:pt x="0" y="792734"/>
                  </a:lnTo>
                  <a:lnTo>
                    <a:pt x="0" y="53466"/>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211759"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defRPr/>
            </a:pPr>
            <a:r>
              <a:rPr kumimoji="0" sz="3000" b="1" i="0" u="none" strike="noStrike" kern="0" cap="none" spc="0" normalizeH="0" baseline="0" noProof="0" dirty="0">
                <a:ln>
                  <a:noFill/>
                </a:ln>
                <a:solidFill>
                  <a:srgbClr val="000000"/>
                </a:solidFill>
                <a:effectLst/>
                <a:uLnTx/>
                <a:uFillTx/>
                <a:latin typeface="Arial" panose="020B0604020202020204"/>
                <a:ea typeface="+mj-ea"/>
                <a:cs typeface="Arial" panose="020B0604020202020204"/>
              </a:rPr>
              <a:t>BENEFICIARY</a:t>
            </a:r>
            <a:r>
              <a:rPr kumimoji="0" sz="3000" b="1" i="0" u="none" strike="noStrike" kern="0" cap="none" spc="65" normalizeH="0" baseline="0" noProof="0" dirty="0">
                <a:ln>
                  <a:noFill/>
                </a:ln>
                <a:solidFill>
                  <a:srgbClr val="000000"/>
                </a:solidFill>
                <a:effectLst/>
                <a:uLnTx/>
                <a:uFillTx/>
                <a:latin typeface="Arial" panose="020B0604020202020204"/>
                <a:ea typeface="+mj-ea"/>
                <a:cs typeface="Arial" panose="020B0604020202020204"/>
              </a:rPr>
              <a:t> </a:t>
            </a:r>
            <a:r>
              <a:rPr kumimoji="0" sz="30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DESIGNATION</a:t>
            </a:r>
            <a:endParaRPr kumimoji="0" sz="3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a:p>
            <a:pPr marL="0" marR="0" lvl="0" indent="0" algn="ctr" defTabSz="914400" eaLnBrk="1" fontAlgn="auto" latinLnBrk="0" hangingPunct="1">
              <a:lnSpc>
                <a:spcPct val="100000"/>
              </a:lnSpc>
              <a:spcBef>
                <a:spcPts val="60"/>
              </a:spcBef>
              <a:spcAft>
                <a:spcPts val="0"/>
              </a:spcAft>
              <a:buClrTx/>
              <a:buSzTx/>
              <a:buFontTx/>
              <a:buNone/>
              <a:defRPr/>
            </a:pPr>
            <a:r>
              <a:rPr kumimoji="0" sz="1200" b="0" i="0" u="none" strike="noStrike" kern="0" cap="none" spc="0" normalizeH="0" baseline="0" noProof="0" dirty="0">
                <a:ln>
                  <a:noFill/>
                </a:ln>
                <a:solidFill>
                  <a:srgbClr val="000000"/>
                </a:solidFill>
                <a:effectLst/>
                <a:uLnTx/>
                <a:uFillTx/>
                <a:latin typeface="Tahoma" panose="020B0604030504040204"/>
                <a:ea typeface="+mj-ea"/>
                <a:cs typeface="Tahoma" panose="020B0604030504040204"/>
              </a:rPr>
              <a:t>GROUP</a:t>
            </a:r>
            <a:r>
              <a:rPr kumimoji="0" sz="1200" b="0" i="0" u="none" strike="noStrike" kern="0" cap="none" spc="-5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LIFE</a:t>
            </a:r>
            <a:r>
              <a:rPr kumimoji="0" sz="1200" b="0" i="0" u="none" strike="noStrike" kern="0" cap="none" spc="-60" normalizeH="0" baseline="0" noProof="0" dirty="0">
                <a:ln>
                  <a:noFill/>
                </a:ln>
                <a:solidFill>
                  <a:srgbClr val="000000"/>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grpSp>
        <p:nvGrpSpPr>
          <p:cNvPr id="24580" name="object 6"/>
          <p:cNvGrpSpPr/>
          <p:nvPr/>
        </p:nvGrpSpPr>
        <p:grpSpPr>
          <a:xfrm>
            <a:off x="1306513" y="3629025"/>
            <a:ext cx="4635500" cy="393700"/>
            <a:chOff x="1307274" y="3628326"/>
            <a:chExt cx="4635500" cy="393700"/>
          </a:xfrm>
        </p:grpSpPr>
        <p:sp>
          <p:nvSpPr>
            <p:cNvPr id="24598" name="object 7"/>
            <p:cNvSpPr/>
            <p:nvPr/>
          </p:nvSpPr>
          <p:spPr>
            <a:xfrm>
              <a:off x="1308861" y="3629914"/>
              <a:ext cx="4632325" cy="390525"/>
            </a:xfrm>
            <a:custGeom>
              <a:avLst/>
              <a:gdLst/>
              <a:ahLst/>
              <a:cxnLst/>
              <a:pathLst>
                <a:path w="4632325" h="390525">
                  <a:moveTo>
                    <a:pt x="4607687" y="0"/>
                  </a:moveTo>
                  <a:lnTo>
                    <a:pt x="24637" y="0"/>
                  </a:lnTo>
                  <a:lnTo>
                    <a:pt x="15055" y="1938"/>
                  </a:lnTo>
                  <a:lnTo>
                    <a:pt x="7223" y="7223"/>
                  </a:lnTo>
                  <a:lnTo>
                    <a:pt x="1938" y="15055"/>
                  </a:lnTo>
                  <a:lnTo>
                    <a:pt x="0" y="24637"/>
                  </a:lnTo>
                  <a:lnTo>
                    <a:pt x="0" y="365379"/>
                  </a:lnTo>
                  <a:lnTo>
                    <a:pt x="1938" y="375034"/>
                  </a:lnTo>
                  <a:lnTo>
                    <a:pt x="7223" y="382904"/>
                  </a:lnTo>
                  <a:lnTo>
                    <a:pt x="15055" y="388203"/>
                  </a:lnTo>
                  <a:lnTo>
                    <a:pt x="24637" y="390144"/>
                  </a:lnTo>
                  <a:lnTo>
                    <a:pt x="4607687" y="390144"/>
                  </a:lnTo>
                  <a:lnTo>
                    <a:pt x="4617269" y="388203"/>
                  </a:lnTo>
                  <a:lnTo>
                    <a:pt x="4625101" y="382905"/>
                  </a:lnTo>
                  <a:lnTo>
                    <a:pt x="4630386" y="375034"/>
                  </a:lnTo>
                  <a:lnTo>
                    <a:pt x="4632325" y="365379"/>
                  </a:lnTo>
                  <a:lnTo>
                    <a:pt x="4632325" y="24637"/>
                  </a:lnTo>
                  <a:lnTo>
                    <a:pt x="4630386" y="15055"/>
                  </a:lnTo>
                  <a:lnTo>
                    <a:pt x="4625101" y="7223"/>
                  </a:lnTo>
                  <a:lnTo>
                    <a:pt x="4617269" y="1938"/>
                  </a:lnTo>
                  <a:lnTo>
                    <a:pt x="4607687" y="0"/>
                  </a:lnTo>
                  <a:close/>
                </a:path>
              </a:pathLst>
            </a:custGeom>
            <a:solidFill>
              <a:srgbClr val="00A757">
                <a:alpha val="100000"/>
              </a:srgbClr>
            </a:solidFill>
            <a:ln w="9525">
              <a:noFill/>
            </a:ln>
          </p:spPr>
          <p:txBody>
            <a:bodyPr/>
            <a:p>
              <a:endParaRPr lang="en-US"/>
            </a:p>
          </p:txBody>
        </p:sp>
        <p:sp>
          <p:nvSpPr>
            <p:cNvPr id="24599" name="object 8"/>
            <p:cNvSpPr/>
            <p:nvPr/>
          </p:nvSpPr>
          <p:spPr>
            <a:xfrm>
              <a:off x="1308861" y="3629914"/>
              <a:ext cx="4632325" cy="390525"/>
            </a:xfrm>
            <a:custGeom>
              <a:avLst/>
              <a:gdLst/>
              <a:ahLst/>
              <a:cxnLst/>
              <a:pathLst>
                <a:path w="4632325" h="390525">
                  <a:moveTo>
                    <a:pt x="0" y="24637"/>
                  </a:moveTo>
                  <a:lnTo>
                    <a:pt x="1938" y="15055"/>
                  </a:lnTo>
                  <a:lnTo>
                    <a:pt x="7223" y="7223"/>
                  </a:lnTo>
                  <a:lnTo>
                    <a:pt x="15055" y="1938"/>
                  </a:lnTo>
                  <a:lnTo>
                    <a:pt x="24637" y="0"/>
                  </a:lnTo>
                  <a:lnTo>
                    <a:pt x="4607687" y="0"/>
                  </a:lnTo>
                  <a:lnTo>
                    <a:pt x="4617269" y="1938"/>
                  </a:lnTo>
                  <a:lnTo>
                    <a:pt x="4625101" y="7223"/>
                  </a:lnTo>
                  <a:lnTo>
                    <a:pt x="4630386" y="15055"/>
                  </a:lnTo>
                  <a:lnTo>
                    <a:pt x="4632325" y="24637"/>
                  </a:lnTo>
                  <a:lnTo>
                    <a:pt x="4632325" y="365379"/>
                  </a:lnTo>
                  <a:lnTo>
                    <a:pt x="4630386" y="375034"/>
                  </a:lnTo>
                  <a:lnTo>
                    <a:pt x="4625101" y="382905"/>
                  </a:lnTo>
                  <a:lnTo>
                    <a:pt x="4617269" y="388203"/>
                  </a:lnTo>
                  <a:lnTo>
                    <a:pt x="4607687" y="390144"/>
                  </a:lnTo>
                  <a:lnTo>
                    <a:pt x="24637" y="390144"/>
                  </a:lnTo>
                  <a:lnTo>
                    <a:pt x="15055" y="388203"/>
                  </a:lnTo>
                  <a:lnTo>
                    <a:pt x="7223" y="382904"/>
                  </a:lnTo>
                  <a:lnTo>
                    <a:pt x="1938" y="375034"/>
                  </a:lnTo>
                  <a:lnTo>
                    <a:pt x="0" y="365379"/>
                  </a:lnTo>
                  <a:lnTo>
                    <a:pt x="0" y="24637"/>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4581" name="object 9"/>
          <p:cNvGrpSpPr/>
          <p:nvPr/>
        </p:nvGrpSpPr>
        <p:grpSpPr>
          <a:xfrm>
            <a:off x="1306513" y="4106863"/>
            <a:ext cx="4635500" cy="393700"/>
            <a:chOff x="1307274" y="4106862"/>
            <a:chExt cx="4635500" cy="393700"/>
          </a:xfrm>
        </p:grpSpPr>
        <p:sp>
          <p:nvSpPr>
            <p:cNvPr id="24596" name="object 10"/>
            <p:cNvSpPr/>
            <p:nvPr/>
          </p:nvSpPr>
          <p:spPr>
            <a:xfrm>
              <a:off x="1308861" y="4108450"/>
              <a:ext cx="4632325" cy="390525"/>
            </a:xfrm>
            <a:custGeom>
              <a:avLst/>
              <a:gdLst/>
              <a:ahLst/>
              <a:cxnLst/>
              <a:pathLst>
                <a:path w="4632325" h="390525">
                  <a:moveTo>
                    <a:pt x="4607687" y="0"/>
                  </a:moveTo>
                  <a:lnTo>
                    <a:pt x="24637" y="0"/>
                  </a:lnTo>
                  <a:lnTo>
                    <a:pt x="15055" y="1940"/>
                  </a:lnTo>
                  <a:lnTo>
                    <a:pt x="7223" y="7238"/>
                  </a:lnTo>
                  <a:lnTo>
                    <a:pt x="1938" y="15109"/>
                  </a:lnTo>
                  <a:lnTo>
                    <a:pt x="0" y="24764"/>
                  </a:lnTo>
                  <a:lnTo>
                    <a:pt x="0" y="365506"/>
                  </a:lnTo>
                  <a:lnTo>
                    <a:pt x="1938" y="375161"/>
                  </a:lnTo>
                  <a:lnTo>
                    <a:pt x="7223" y="383031"/>
                  </a:lnTo>
                  <a:lnTo>
                    <a:pt x="15055" y="388330"/>
                  </a:lnTo>
                  <a:lnTo>
                    <a:pt x="24637" y="390270"/>
                  </a:lnTo>
                  <a:lnTo>
                    <a:pt x="4607687" y="390270"/>
                  </a:lnTo>
                  <a:lnTo>
                    <a:pt x="4617269" y="388330"/>
                  </a:lnTo>
                  <a:lnTo>
                    <a:pt x="4625101" y="383031"/>
                  </a:lnTo>
                  <a:lnTo>
                    <a:pt x="4630386" y="375161"/>
                  </a:lnTo>
                  <a:lnTo>
                    <a:pt x="4632325" y="365506"/>
                  </a:lnTo>
                  <a:lnTo>
                    <a:pt x="4632325" y="24764"/>
                  </a:lnTo>
                  <a:lnTo>
                    <a:pt x="4630386" y="15109"/>
                  </a:lnTo>
                  <a:lnTo>
                    <a:pt x="4625101" y="7239"/>
                  </a:lnTo>
                  <a:lnTo>
                    <a:pt x="4617269" y="1940"/>
                  </a:lnTo>
                  <a:lnTo>
                    <a:pt x="4607687" y="0"/>
                  </a:lnTo>
                  <a:close/>
                </a:path>
              </a:pathLst>
            </a:custGeom>
            <a:solidFill>
              <a:srgbClr val="00A757">
                <a:alpha val="100000"/>
              </a:srgbClr>
            </a:solidFill>
            <a:ln w="9525">
              <a:noFill/>
            </a:ln>
          </p:spPr>
          <p:txBody>
            <a:bodyPr/>
            <a:p>
              <a:endParaRPr lang="en-US"/>
            </a:p>
          </p:txBody>
        </p:sp>
        <p:sp>
          <p:nvSpPr>
            <p:cNvPr id="24597" name="object 11"/>
            <p:cNvSpPr/>
            <p:nvPr/>
          </p:nvSpPr>
          <p:spPr>
            <a:xfrm>
              <a:off x="1308861" y="4108450"/>
              <a:ext cx="4632325" cy="390525"/>
            </a:xfrm>
            <a:custGeom>
              <a:avLst/>
              <a:gdLst/>
              <a:ahLst/>
              <a:cxnLst/>
              <a:pathLst>
                <a:path w="4632325" h="390525">
                  <a:moveTo>
                    <a:pt x="0" y="24764"/>
                  </a:moveTo>
                  <a:lnTo>
                    <a:pt x="1938" y="15109"/>
                  </a:lnTo>
                  <a:lnTo>
                    <a:pt x="7223" y="7238"/>
                  </a:lnTo>
                  <a:lnTo>
                    <a:pt x="15055" y="1940"/>
                  </a:lnTo>
                  <a:lnTo>
                    <a:pt x="24637" y="0"/>
                  </a:lnTo>
                  <a:lnTo>
                    <a:pt x="4607687" y="0"/>
                  </a:lnTo>
                  <a:lnTo>
                    <a:pt x="4617269" y="1940"/>
                  </a:lnTo>
                  <a:lnTo>
                    <a:pt x="4625101" y="7239"/>
                  </a:lnTo>
                  <a:lnTo>
                    <a:pt x="4630386" y="15109"/>
                  </a:lnTo>
                  <a:lnTo>
                    <a:pt x="4632325" y="24764"/>
                  </a:lnTo>
                  <a:lnTo>
                    <a:pt x="4632325" y="365506"/>
                  </a:lnTo>
                  <a:lnTo>
                    <a:pt x="4630386" y="375161"/>
                  </a:lnTo>
                  <a:lnTo>
                    <a:pt x="4625101" y="383031"/>
                  </a:lnTo>
                  <a:lnTo>
                    <a:pt x="4617269" y="388330"/>
                  </a:lnTo>
                  <a:lnTo>
                    <a:pt x="4607687" y="390270"/>
                  </a:lnTo>
                  <a:lnTo>
                    <a:pt x="24637" y="390270"/>
                  </a:lnTo>
                  <a:lnTo>
                    <a:pt x="15055" y="388330"/>
                  </a:lnTo>
                  <a:lnTo>
                    <a:pt x="7223" y="383031"/>
                  </a:lnTo>
                  <a:lnTo>
                    <a:pt x="1938" y="375161"/>
                  </a:lnTo>
                  <a:lnTo>
                    <a:pt x="0" y="365506"/>
                  </a:lnTo>
                  <a:lnTo>
                    <a:pt x="0" y="24764"/>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4582" name="object 12"/>
          <p:cNvGrpSpPr/>
          <p:nvPr/>
        </p:nvGrpSpPr>
        <p:grpSpPr>
          <a:xfrm>
            <a:off x="1306513" y="4597400"/>
            <a:ext cx="4635500" cy="393700"/>
            <a:chOff x="1307274" y="4597463"/>
            <a:chExt cx="4635500" cy="393700"/>
          </a:xfrm>
        </p:grpSpPr>
        <p:sp>
          <p:nvSpPr>
            <p:cNvPr id="24594" name="object 13"/>
            <p:cNvSpPr/>
            <p:nvPr/>
          </p:nvSpPr>
          <p:spPr>
            <a:xfrm>
              <a:off x="1308861" y="4599051"/>
              <a:ext cx="4632325" cy="390525"/>
            </a:xfrm>
            <a:custGeom>
              <a:avLst/>
              <a:gdLst/>
              <a:ahLst/>
              <a:cxnLst/>
              <a:pathLst>
                <a:path w="4632325" h="390525">
                  <a:moveTo>
                    <a:pt x="4607687" y="0"/>
                  </a:moveTo>
                  <a:lnTo>
                    <a:pt x="24637" y="0"/>
                  </a:lnTo>
                  <a:lnTo>
                    <a:pt x="15055" y="1938"/>
                  </a:lnTo>
                  <a:lnTo>
                    <a:pt x="7223" y="7223"/>
                  </a:lnTo>
                  <a:lnTo>
                    <a:pt x="1938" y="15055"/>
                  </a:lnTo>
                  <a:lnTo>
                    <a:pt x="0" y="24637"/>
                  </a:lnTo>
                  <a:lnTo>
                    <a:pt x="0" y="365506"/>
                  </a:lnTo>
                  <a:lnTo>
                    <a:pt x="1938" y="375088"/>
                  </a:lnTo>
                  <a:lnTo>
                    <a:pt x="7223" y="382920"/>
                  </a:lnTo>
                  <a:lnTo>
                    <a:pt x="15055" y="388205"/>
                  </a:lnTo>
                  <a:lnTo>
                    <a:pt x="24637" y="390144"/>
                  </a:lnTo>
                  <a:lnTo>
                    <a:pt x="4607687" y="390144"/>
                  </a:lnTo>
                  <a:lnTo>
                    <a:pt x="4617269" y="388205"/>
                  </a:lnTo>
                  <a:lnTo>
                    <a:pt x="4625101" y="382920"/>
                  </a:lnTo>
                  <a:lnTo>
                    <a:pt x="4630386" y="375088"/>
                  </a:lnTo>
                  <a:lnTo>
                    <a:pt x="4632325" y="365506"/>
                  </a:lnTo>
                  <a:lnTo>
                    <a:pt x="4632325" y="24637"/>
                  </a:lnTo>
                  <a:lnTo>
                    <a:pt x="4630386" y="15055"/>
                  </a:lnTo>
                  <a:lnTo>
                    <a:pt x="4625101" y="7223"/>
                  </a:lnTo>
                  <a:lnTo>
                    <a:pt x="4617269" y="1938"/>
                  </a:lnTo>
                  <a:lnTo>
                    <a:pt x="4607687" y="0"/>
                  </a:lnTo>
                  <a:close/>
                </a:path>
              </a:pathLst>
            </a:custGeom>
            <a:solidFill>
              <a:srgbClr val="00A757">
                <a:alpha val="100000"/>
              </a:srgbClr>
            </a:solidFill>
            <a:ln w="9525">
              <a:noFill/>
            </a:ln>
          </p:spPr>
          <p:txBody>
            <a:bodyPr/>
            <a:p>
              <a:endParaRPr lang="en-US"/>
            </a:p>
          </p:txBody>
        </p:sp>
        <p:sp>
          <p:nvSpPr>
            <p:cNvPr id="24595" name="object 14"/>
            <p:cNvSpPr/>
            <p:nvPr/>
          </p:nvSpPr>
          <p:spPr>
            <a:xfrm>
              <a:off x="1308861" y="4599051"/>
              <a:ext cx="4632325" cy="390525"/>
            </a:xfrm>
            <a:custGeom>
              <a:avLst/>
              <a:gdLst/>
              <a:ahLst/>
              <a:cxnLst/>
              <a:pathLst>
                <a:path w="4632325" h="390525">
                  <a:moveTo>
                    <a:pt x="0" y="24637"/>
                  </a:moveTo>
                  <a:lnTo>
                    <a:pt x="1938" y="15055"/>
                  </a:lnTo>
                  <a:lnTo>
                    <a:pt x="7223" y="7223"/>
                  </a:lnTo>
                  <a:lnTo>
                    <a:pt x="15055" y="1938"/>
                  </a:lnTo>
                  <a:lnTo>
                    <a:pt x="24637" y="0"/>
                  </a:lnTo>
                  <a:lnTo>
                    <a:pt x="4607687" y="0"/>
                  </a:lnTo>
                  <a:lnTo>
                    <a:pt x="4617269" y="1938"/>
                  </a:lnTo>
                  <a:lnTo>
                    <a:pt x="4625101" y="7223"/>
                  </a:lnTo>
                  <a:lnTo>
                    <a:pt x="4630386" y="15055"/>
                  </a:lnTo>
                  <a:lnTo>
                    <a:pt x="4632325" y="24637"/>
                  </a:lnTo>
                  <a:lnTo>
                    <a:pt x="4632325" y="365506"/>
                  </a:lnTo>
                  <a:lnTo>
                    <a:pt x="4630386" y="375088"/>
                  </a:lnTo>
                  <a:lnTo>
                    <a:pt x="4625101" y="382920"/>
                  </a:lnTo>
                  <a:lnTo>
                    <a:pt x="4617269" y="388205"/>
                  </a:lnTo>
                  <a:lnTo>
                    <a:pt x="4607687" y="390144"/>
                  </a:lnTo>
                  <a:lnTo>
                    <a:pt x="24637" y="390144"/>
                  </a:lnTo>
                  <a:lnTo>
                    <a:pt x="15055" y="388205"/>
                  </a:lnTo>
                  <a:lnTo>
                    <a:pt x="7223" y="382920"/>
                  </a:lnTo>
                  <a:lnTo>
                    <a:pt x="1938" y="375088"/>
                  </a:lnTo>
                  <a:lnTo>
                    <a:pt x="0" y="365506"/>
                  </a:lnTo>
                  <a:lnTo>
                    <a:pt x="0" y="24637"/>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4583" name="object 15"/>
          <p:cNvGrpSpPr/>
          <p:nvPr/>
        </p:nvGrpSpPr>
        <p:grpSpPr>
          <a:xfrm>
            <a:off x="6297613" y="3633788"/>
            <a:ext cx="4635500" cy="393700"/>
            <a:chOff x="6297612" y="3633533"/>
            <a:chExt cx="4636135" cy="393700"/>
          </a:xfrm>
        </p:grpSpPr>
        <p:sp>
          <p:nvSpPr>
            <p:cNvPr id="24592" name="object 16"/>
            <p:cNvSpPr/>
            <p:nvPr/>
          </p:nvSpPr>
          <p:spPr>
            <a:xfrm>
              <a:off x="6299200" y="3635121"/>
              <a:ext cx="4632960" cy="390525"/>
            </a:xfrm>
            <a:custGeom>
              <a:avLst/>
              <a:gdLst/>
              <a:ahLst/>
              <a:cxnLst/>
              <a:pathLst>
                <a:path w="4632959" h="390525">
                  <a:moveTo>
                    <a:pt x="4607686" y="0"/>
                  </a:moveTo>
                  <a:lnTo>
                    <a:pt x="24637" y="0"/>
                  </a:lnTo>
                  <a:lnTo>
                    <a:pt x="15055" y="1938"/>
                  </a:lnTo>
                  <a:lnTo>
                    <a:pt x="7223" y="7223"/>
                  </a:lnTo>
                  <a:lnTo>
                    <a:pt x="1938" y="15055"/>
                  </a:lnTo>
                  <a:lnTo>
                    <a:pt x="0" y="24637"/>
                  </a:lnTo>
                  <a:lnTo>
                    <a:pt x="0" y="365505"/>
                  </a:lnTo>
                  <a:lnTo>
                    <a:pt x="1938" y="375088"/>
                  </a:lnTo>
                  <a:lnTo>
                    <a:pt x="7223" y="382920"/>
                  </a:lnTo>
                  <a:lnTo>
                    <a:pt x="15055" y="388205"/>
                  </a:lnTo>
                  <a:lnTo>
                    <a:pt x="24637" y="390143"/>
                  </a:lnTo>
                  <a:lnTo>
                    <a:pt x="4607686" y="390143"/>
                  </a:lnTo>
                  <a:lnTo>
                    <a:pt x="4617342" y="388205"/>
                  </a:lnTo>
                  <a:lnTo>
                    <a:pt x="4625213" y="382920"/>
                  </a:lnTo>
                  <a:lnTo>
                    <a:pt x="4630511" y="375088"/>
                  </a:lnTo>
                  <a:lnTo>
                    <a:pt x="4632452" y="365505"/>
                  </a:lnTo>
                  <a:lnTo>
                    <a:pt x="4632452" y="24637"/>
                  </a:lnTo>
                  <a:lnTo>
                    <a:pt x="4630511" y="15055"/>
                  </a:lnTo>
                  <a:lnTo>
                    <a:pt x="4625213" y="7223"/>
                  </a:lnTo>
                  <a:lnTo>
                    <a:pt x="4617342" y="1938"/>
                  </a:lnTo>
                  <a:lnTo>
                    <a:pt x="4607686" y="0"/>
                  </a:lnTo>
                  <a:close/>
                </a:path>
              </a:pathLst>
            </a:custGeom>
            <a:solidFill>
              <a:srgbClr val="00A757">
                <a:alpha val="100000"/>
              </a:srgbClr>
            </a:solidFill>
            <a:ln w="9525">
              <a:noFill/>
            </a:ln>
          </p:spPr>
          <p:txBody>
            <a:bodyPr/>
            <a:p>
              <a:endParaRPr lang="en-US"/>
            </a:p>
          </p:txBody>
        </p:sp>
        <p:sp>
          <p:nvSpPr>
            <p:cNvPr id="24593" name="object 17"/>
            <p:cNvSpPr/>
            <p:nvPr/>
          </p:nvSpPr>
          <p:spPr>
            <a:xfrm>
              <a:off x="6299200" y="3635121"/>
              <a:ext cx="4632960" cy="390525"/>
            </a:xfrm>
            <a:custGeom>
              <a:avLst/>
              <a:gdLst/>
              <a:ahLst/>
              <a:cxnLst/>
              <a:pathLst>
                <a:path w="4632959" h="390525">
                  <a:moveTo>
                    <a:pt x="0" y="24637"/>
                  </a:moveTo>
                  <a:lnTo>
                    <a:pt x="1938" y="15055"/>
                  </a:lnTo>
                  <a:lnTo>
                    <a:pt x="7223" y="7223"/>
                  </a:lnTo>
                  <a:lnTo>
                    <a:pt x="15055" y="1938"/>
                  </a:lnTo>
                  <a:lnTo>
                    <a:pt x="24637" y="0"/>
                  </a:lnTo>
                  <a:lnTo>
                    <a:pt x="4607686" y="0"/>
                  </a:lnTo>
                  <a:lnTo>
                    <a:pt x="4617342" y="1938"/>
                  </a:lnTo>
                  <a:lnTo>
                    <a:pt x="4625213" y="7223"/>
                  </a:lnTo>
                  <a:lnTo>
                    <a:pt x="4630511" y="15055"/>
                  </a:lnTo>
                  <a:lnTo>
                    <a:pt x="4632452" y="24637"/>
                  </a:lnTo>
                  <a:lnTo>
                    <a:pt x="4632452" y="365505"/>
                  </a:lnTo>
                  <a:lnTo>
                    <a:pt x="4630511" y="375088"/>
                  </a:lnTo>
                  <a:lnTo>
                    <a:pt x="4625213" y="382920"/>
                  </a:lnTo>
                  <a:lnTo>
                    <a:pt x="4617342" y="388205"/>
                  </a:lnTo>
                  <a:lnTo>
                    <a:pt x="4607686" y="390143"/>
                  </a:lnTo>
                  <a:lnTo>
                    <a:pt x="24637" y="390143"/>
                  </a:lnTo>
                  <a:lnTo>
                    <a:pt x="15055" y="388205"/>
                  </a:lnTo>
                  <a:lnTo>
                    <a:pt x="7223" y="382920"/>
                  </a:lnTo>
                  <a:lnTo>
                    <a:pt x="1938" y="375088"/>
                  </a:lnTo>
                  <a:lnTo>
                    <a:pt x="0" y="365505"/>
                  </a:lnTo>
                  <a:lnTo>
                    <a:pt x="0" y="24637"/>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4584" name="object 18"/>
          <p:cNvGrpSpPr/>
          <p:nvPr/>
        </p:nvGrpSpPr>
        <p:grpSpPr>
          <a:xfrm>
            <a:off x="6297613" y="4111625"/>
            <a:ext cx="4635500" cy="393700"/>
            <a:chOff x="6297612" y="4112196"/>
            <a:chExt cx="4636135" cy="393700"/>
          </a:xfrm>
        </p:grpSpPr>
        <p:sp>
          <p:nvSpPr>
            <p:cNvPr id="24590" name="object 19"/>
            <p:cNvSpPr/>
            <p:nvPr/>
          </p:nvSpPr>
          <p:spPr>
            <a:xfrm>
              <a:off x="6299200" y="4113784"/>
              <a:ext cx="4632960" cy="390525"/>
            </a:xfrm>
            <a:custGeom>
              <a:avLst/>
              <a:gdLst/>
              <a:ahLst/>
              <a:cxnLst/>
              <a:pathLst>
                <a:path w="4632959" h="390525">
                  <a:moveTo>
                    <a:pt x="4607686" y="0"/>
                  </a:moveTo>
                  <a:lnTo>
                    <a:pt x="24637" y="0"/>
                  </a:lnTo>
                  <a:lnTo>
                    <a:pt x="15055" y="1938"/>
                  </a:lnTo>
                  <a:lnTo>
                    <a:pt x="7223" y="7223"/>
                  </a:lnTo>
                  <a:lnTo>
                    <a:pt x="1938" y="15055"/>
                  </a:lnTo>
                  <a:lnTo>
                    <a:pt x="0" y="24638"/>
                  </a:lnTo>
                  <a:lnTo>
                    <a:pt x="0" y="365506"/>
                  </a:lnTo>
                  <a:lnTo>
                    <a:pt x="1938" y="375088"/>
                  </a:lnTo>
                  <a:lnTo>
                    <a:pt x="7223" y="382920"/>
                  </a:lnTo>
                  <a:lnTo>
                    <a:pt x="15055" y="388205"/>
                  </a:lnTo>
                  <a:lnTo>
                    <a:pt x="24637" y="390144"/>
                  </a:lnTo>
                  <a:lnTo>
                    <a:pt x="4607686" y="390144"/>
                  </a:lnTo>
                  <a:lnTo>
                    <a:pt x="4617289" y="388205"/>
                  </a:lnTo>
                  <a:lnTo>
                    <a:pt x="4625165" y="382920"/>
                  </a:lnTo>
                  <a:lnTo>
                    <a:pt x="4630493" y="375088"/>
                  </a:lnTo>
                  <a:lnTo>
                    <a:pt x="4632452" y="365506"/>
                  </a:lnTo>
                  <a:lnTo>
                    <a:pt x="4632452" y="24638"/>
                  </a:lnTo>
                  <a:lnTo>
                    <a:pt x="4630493" y="15055"/>
                  </a:lnTo>
                  <a:lnTo>
                    <a:pt x="4625165" y="7223"/>
                  </a:lnTo>
                  <a:lnTo>
                    <a:pt x="4617289" y="1938"/>
                  </a:lnTo>
                  <a:lnTo>
                    <a:pt x="4607686" y="0"/>
                  </a:lnTo>
                  <a:close/>
                </a:path>
              </a:pathLst>
            </a:custGeom>
            <a:solidFill>
              <a:srgbClr val="00A757">
                <a:alpha val="100000"/>
              </a:srgbClr>
            </a:solidFill>
            <a:ln w="9525">
              <a:noFill/>
            </a:ln>
          </p:spPr>
          <p:txBody>
            <a:bodyPr/>
            <a:p>
              <a:endParaRPr lang="en-US"/>
            </a:p>
          </p:txBody>
        </p:sp>
        <p:sp>
          <p:nvSpPr>
            <p:cNvPr id="24591" name="object 20"/>
            <p:cNvSpPr/>
            <p:nvPr/>
          </p:nvSpPr>
          <p:spPr>
            <a:xfrm>
              <a:off x="6299200" y="4113784"/>
              <a:ext cx="4632960" cy="390525"/>
            </a:xfrm>
            <a:custGeom>
              <a:avLst/>
              <a:gdLst/>
              <a:ahLst/>
              <a:cxnLst/>
              <a:pathLst>
                <a:path w="4632959" h="390525">
                  <a:moveTo>
                    <a:pt x="0" y="24638"/>
                  </a:moveTo>
                  <a:lnTo>
                    <a:pt x="1938" y="15055"/>
                  </a:lnTo>
                  <a:lnTo>
                    <a:pt x="7223" y="7223"/>
                  </a:lnTo>
                  <a:lnTo>
                    <a:pt x="15055" y="1938"/>
                  </a:lnTo>
                  <a:lnTo>
                    <a:pt x="24637" y="0"/>
                  </a:lnTo>
                  <a:lnTo>
                    <a:pt x="4607686" y="0"/>
                  </a:lnTo>
                  <a:lnTo>
                    <a:pt x="4617289" y="1938"/>
                  </a:lnTo>
                  <a:lnTo>
                    <a:pt x="4625165" y="7223"/>
                  </a:lnTo>
                  <a:lnTo>
                    <a:pt x="4630493" y="15055"/>
                  </a:lnTo>
                  <a:lnTo>
                    <a:pt x="4632452" y="24638"/>
                  </a:lnTo>
                  <a:lnTo>
                    <a:pt x="4632452" y="365506"/>
                  </a:lnTo>
                  <a:lnTo>
                    <a:pt x="4630493" y="375088"/>
                  </a:lnTo>
                  <a:lnTo>
                    <a:pt x="4625165" y="382920"/>
                  </a:lnTo>
                  <a:lnTo>
                    <a:pt x="4617289" y="388205"/>
                  </a:lnTo>
                  <a:lnTo>
                    <a:pt x="4607686" y="390144"/>
                  </a:lnTo>
                  <a:lnTo>
                    <a:pt x="24637" y="390144"/>
                  </a:lnTo>
                  <a:lnTo>
                    <a:pt x="15055" y="388205"/>
                  </a:lnTo>
                  <a:lnTo>
                    <a:pt x="7223" y="382920"/>
                  </a:lnTo>
                  <a:lnTo>
                    <a:pt x="1938" y="375088"/>
                  </a:lnTo>
                  <a:lnTo>
                    <a:pt x="0" y="365506"/>
                  </a:lnTo>
                  <a:lnTo>
                    <a:pt x="0" y="24638"/>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4585" name="object 21"/>
          <p:cNvGrpSpPr/>
          <p:nvPr/>
        </p:nvGrpSpPr>
        <p:grpSpPr>
          <a:xfrm>
            <a:off x="6297613" y="4602163"/>
            <a:ext cx="4635500" cy="393700"/>
            <a:chOff x="6297612" y="4602670"/>
            <a:chExt cx="4636135" cy="393700"/>
          </a:xfrm>
        </p:grpSpPr>
        <p:sp>
          <p:nvSpPr>
            <p:cNvPr id="24588" name="object 22"/>
            <p:cNvSpPr/>
            <p:nvPr/>
          </p:nvSpPr>
          <p:spPr>
            <a:xfrm>
              <a:off x="6299200" y="4604258"/>
              <a:ext cx="4632960" cy="390525"/>
            </a:xfrm>
            <a:custGeom>
              <a:avLst/>
              <a:gdLst/>
              <a:ahLst/>
              <a:cxnLst/>
              <a:pathLst>
                <a:path w="4632959" h="390525">
                  <a:moveTo>
                    <a:pt x="4607686" y="0"/>
                  </a:moveTo>
                  <a:lnTo>
                    <a:pt x="24637" y="0"/>
                  </a:lnTo>
                  <a:lnTo>
                    <a:pt x="15055" y="1940"/>
                  </a:lnTo>
                  <a:lnTo>
                    <a:pt x="7223" y="7239"/>
                  </a:lnTo>
                  <a:lnTo>
                    <a:pt x="1938" y="15109"/>
                  </a:lnTo>
                  <a:lnTo>
                    <a:pt x="0" y="24765"/>
                  </a:lnTo>
                  <a:lnTo>
                    <a:pt x="0" y="365506"/>
                  </a:lnTo>
                  <a:lnTo>
                    <a:pt x="1938" y="375161"/>
                  </a:lnTo>
                  <a:lnTo>
                    <a:pt x="7223" y="383032"/>
                  </a:lnTo>
                  <a:lnTo>
                    <a:pt x="15055" y="388330"/>
                  </a:lnTo>
                  <a:lnTo>
                    <a:pt x="24637" y="390271"/>
                  </a:lnTo>
                  <a:lnTo>
                    <a:pt x="4607686" y="390271"/>
                  </a:lnTo>
                  <a:lnTo>
                    <a:pt x="4617289" y="388330"/>
                  </a:lnTo>
                  <a:lnTo>
                    <a:pt x="4625165" y="383032"/>
                  </a:lnTo>
                  <a:lnTo>
                    <a:pt x="4630493" y="375161"/>
                  </a:lnTo>
                  <a:lnTo>
                    <a:pt x="4632452" y="365506"/>
                  </a:lnTo>
                  <a:lnTo>
                    <a:pt x="4632452" y="24765"/>
                  </a:lnTo>
                  <a:lnTo>
                    <a:pt x="4630493" y="15109"/>
                  </a:lnTo>
                  <a:lnTo>
                    <a:pt x="4625165" y="7239"/>
                  </a:lnTo>
                  <a:lnTo>
                    <a:pt x="4617289" y="1940"/>
                  </a:lnTo>
                  <a:lnTo>
                    <a:pt x="4607686" y="0"/>
                  </a:lnTo>
                  <a:close/>
                </a:path>
              </a:pathLst>
            </a:custGeom>
            <a:solidFill>
              <a:srgbClr val="00A757">
                <a:alpha val="100000"/>
              </a:srgbClr>
            </a:solidFill>
            <a:ln w="9525">
              <a:noFill/>
            </a:ln>
          </p:spPr>
          <p:txBody>
            <a:bodyPr/>
            <a:p>
              <a:endParaRPr lang="en-US"/>
            </a:p>
          </p:txBody>
        </p:sp>
        <p:sp>
          <p:nvSpPr>
            <p:cNvPr id="24589" name="object 23"/>
            <p:cNvSpPr/>
            <p:nvPr/>
          </p:nvSpPr>
          <p:spPr>
            <a:xfrm>
              <a:off x="6299200" y="4604258"/>
              <a:ext cx="4632960" cy="390525"/>
            </a:xfrm>
            <a:custGeom>
              <a:avLst/>
              <a:gdLst/>
              <a:ahLst/>
              <a:cxnLst/>
              <a:pathLst>
                <a:path w="4632959" h="390525">
                  <a:moveTo>
                    <a:pt x="0" y="24765"/>
                  </a:moveTo>
                  <a:lnTo>
                    <a:pt x="1938" y="15109"/>
                  </a:lnTo>
                  <a:lnTo>
                    <a:pt x="7223" y="7239"/>
                  </a:lnTo>
                  <a:lnTo>
                    <a:pt x="15055" y="1940"/>
                  </a:lnTo>
                  <a:lnTo>
                    <a:pt x="24637" y="0"/>
                  </a:lnTo>
                  <a:lnTo>
                    <a:pt x="4607686" y="0"/>
                  </a:lnTo>
                  <a:lnTo>
                    <a:pt x="4617289" y="1940"/>
                  </a:lnTo>
                  <a:lnTo>
                    <a:pt x="4625165" y="7239"/>
                  </a:lnTo>
                  <a:lnTo>
                    <a:pt x="4630493" y="15109"/>
                  </a:lnTo>
                  <a:lnTo>
                    <a:pt x="4632452" y="24765"/>
                  </a:lnTo>
                  <a:lnTo>
                    <a:pt x="4632452" y="365506"/>
                  </a:lnTo>
                  <a:lnTo>
                    <a:pt x="4630493" y="375161"/>
                  </a:lnTo>
                  <a:lnTo>
                    <a:pt x="4625165" y="383032"/>
                  </a:lnTo>
                  <a:lnTo>
                    <a:pt x="4617289" y="388330"/>
                  </a:lnTo>
                  <a:lnTo>
                    <a:pt x="4607686" y="390271"/>
                  </a:lnTo>
                  <a:lnTo>
                    <a:pt x="24637" y="390271"/>
                  </a:lnTo>
                  <a:lnTo>
                    <a:pt x="15055" y="388330"/>
                  </a:lnTo>
                  <a:lnTo>
                    <a:pt x="7223" y="383032"/>
                  </a:lnTo>
                  <a:lnTo>
                    <a:pt x="1938" y="375161"/>
                  </a:lnTo>
                  <a:lnTo>
                    <a:pt x="0" y="365506"/>
                  </a:lnTo>
                  <a:lnTo>
                    <a:pt x="0" y="24765"/>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4" name="object 24"/>
          <p:cNvSpPr txBox="1"/>
          <p:nvPr/>
        </p:nvSpPr>
        <p:spPr>
          <a:xfrm>
            <a:off x="1273175" y="1895475"/>
            <a:ext cx="9571038" cy="3048000"/>
          </a:xfrm>
          <a:prstGeom prst="rect">
            <a:avLst/>
          </a:prstGeom>
        </p:spPr>
        <p:txBody>
          <a:bodyPr vert="horz" wrap="square" lIns="0" tIns="26034" rIns="0" bIns="0" rtlCol="0">
            <a:spAutoFit/>
          </a:bodyPr>
          <a:p>
            <a:pPr marL="85725" eaLnBrk="1" hangingPunct="1">
              <a:lnSpc>
                <a:spcPts val="2875"/>
              </a:lnSpc>
              <a:spcBef>
                <a:spcPts val="200"/>
              </a:spcBef>
              <a:buNone/>
            </a:pPr>
            <a:r>
              <a:rPr lang="en-US" altLang="zh-CN" sz="2400">
                <a:solidFill>
                  <a:srgbClr val="000000"/>
                </a:solidFill>
                <a:cs typeface="Arial" panose="020B0604020202020204" pitchFamily="34" charset="0"/>
              </a:rPr>
              <a:t>Common Law Partner or Same Sex Partner can be designated as a beneficiary provided that they are able to submit the ff requirements:</a:t>
            </a:r>
            <a:endParaRPr lang="en-US" altLang="zh-CN" sz="2400">
              <a:solidFill>
                <a:srgbClr val="000000"/>
              </a:solidFill>
              <a:cs typeface="Arial" panose="020B0604020202020204" pitchFamily="34" charset="0"/>
            </a:endParaRPr>
          </a:p>
          <a:p>
            <a:pPr marL="85725" eaLnBrk="1" hangingPunct="1">
              <a:spcBef>
                <a:spcPts val="40"/>
              </a:spcBef>
              <a:buNone/>
            </a:pPr>
            <a:endParaRPr lang="en-US" altLang="zh-CN" sz="3300">
              <a:solidFill>
                <a:srgbClr val="000000"/>
              </a:solidFill>
              <a:cs typeface="Arial" panose="020B0604020202020204" pitchFamily="34" charset="0"/>
            </a:endParaRPr>
          </a:p>
          <a:p>
            <a:pPr marL="85725" eaLnBrk="1" hangingPunct="1">
              <a:buNone/>
            </a:pPr>
            <a:r>
              <a:rPr lang="en-US" altLang="zh-CN" sz="2400" b="1">
                <a:solidFill>
                  <a:srgbClr val="000000"/>
                </a:solidFill>
                <a:cs typeface="Arial" panose="020B0604020202020204" pitchFamily="34" charset="0"/>
              </a:rPr>
              <a:t>Common Law Partner:	Same Sex Partner:</a:t>
            </a:r>
            <a:endParaRPr lang="en-US" altLang="zh-CN" sz="2400">
              <a:solidFill>
                <a:srgbClr val="000000"/>
              </a:solidFill>
              <a:cs typeface="Arial" panose="020B0604020202020204" pitchFamily="34" charset="0"/>
            </a:endParaRPr>
          </a:p>
          <a:p>
            <a:pPr marL="85725" eaLnBrk="1" hangingPunct="1">
              <a:spcBef>
                <a:spcPts val="1465"/>
              </a:spcBef>
              <a:buAutoNum type="arabicPeriod"/>
            </a:pPr>
            <a:r>
              <a:rPr lang="en-US" altLang="zh-CN" sz="2700" baseline="2000">
                <a:solidFill>
                  <a:srgbClr val="FFFFFF"/>
                </a:solidFill>
                <a:cs typeface="Arial" panose="020B0604020202020204" pitchFamily="34" charset="0"/>
              </a:rPr>
              <a:t>Cenomar for both partners	</a:t>
            </a:r>
            <a:r>
              <a:rPr lang="en-US" altLang="zh-CN">
                <a:solidFill>
                  <a:srgbClr val="FFFFFF"/>
                </a:solidFill>
                <a:cs typeface="Arial" panose="020B0604020202020204" pitchFamily="34" charset="0"/>
              </a:rPr>
              <a:t>1. Cenomar for both partners</a:t>
            </a:r>
            <a:endParaRPr lang="en-US" altLang="zh-CN">
              <a:solidFill>
                <a:srgbClr val="000000"/>
              </a:solidFill>
              <a:cs typeface="Arial" panose="020B0604020202020204" pitchFamily="34" charset="0"/>
            </a:endParaRPr>
          </a:p>
          <a:p>
            <a:pPr marL="85725" eaLnBrk="1" hangingPunct="1">
              <a:spcBef>
                <a:spcPts val="1600"/>
              </a:spcBef>
              <a:buFont typeface="Arial" panose="020B0604020202020204" pitchFamily="34" charset="0"/>
              <a:buAutoNum type="arabicPeriod"/>
            </a:pPr>
            <a:r>
              <a:rPr lang="en-US" altLang="zh-CN" sz="2700" baseline="2000">
                <a:solidFill>
                  <a:srgbClr val="FFFFFF"/>
                </a:solidFill>
                <a:latin typeface="Tahoma" panose="020B0604030504040204" pitchFamily="34" charset="0"/>
                <a:cs typeface="Tahoma" panose="020B0604030504040204" pitchFamily="34" charset="0"/>
              </a:rPr>
              <a:t>Affidavit of Joint Domestic Partnership	</a:t>
            </a:r>
            <a:r>
              <a:rPr lang="en-US" altLang="zh-CN">
                <a:solidFill>
                  <a:srgbClr val="FFFFFF"/>
                </a:solidFill>
                <a:cs typeface="Arial" panose="020B0604020202020204" pitchFamily="34" charset="0"/>
              </a:rPr>
              <a:t>2. </a:t>
            </a:r>
            <a:r>
              <a:rPr lang="en-US" altLang="zh-CN">
                <a:solidFill>
                  <a:srgbClr val="FFFFFF"/>
                </a:solidFill>
                <a:latin typeface="Tahoma" panose="020B0604030504040204" pitchFamily="34" charset="0"/>
                <a:cs typeface="Tahoma" panose="020B0604030504040204" pitchFamily="34" charset="0"/>
              </a:rPr>
              <a:t>Interview by a Manulife Advisor</a:t>
            </a:r>
            <a:endParaRPr lang="en-US" altLang="zh-CN">
              <a:solidFill>
                <a:srgbClr val="000000"/>
              </a:solidFill>
              <a:latin typeface="Tahoma" panose="020B0604030504040204" pitchFamily="34" charset="0"/>
              <a:cs typeface="Tahoma" panose="020B0604030504040204" pitchFamily="34" charset="0"/>
            </a:endParaRPr>
          </a:p>
          <a:p>
            <a:pPr marL="85725" eaLnBrk="1" hangingPunct="1">
              <a:spcBef>
                <a:spcPts val="1700"/>
              </a:spcBef>
              <a:buAutoNum type="arabicPeriod"/>
            </a:pPr>
            <a:r>
              <a:rPr lang="en-US" altLang="zh-CN" sz="2700" baseline="2000">
                <a:solidFill>
                  <a:srgbClr val="FFFFFF"/>
                </a:solidFill>
                <a:cs typeface="Arial" panose="020B0604020202020204" pitchFamily="34" charset="0"/>
              </a:rPr>
              <a:t>Va</a:t>
            </a:r>
            <a:r>
              <a:rPr lang="en-US" altLang="zh-CN" sz="2700" baseline="2000">
                <a:solidFill>
                  <a:srgbClr val="FFFFFF"/>
                </a:solidFill>
                <a:latin typeface="Tahoma" panose="020B0604030504040204" pitchFamily="34" charset="0"/>
                <a:cs typeface="Tahoma" panose="020B0604030504040204" pitchFamily="34" charset="0"/>
              </a:rPr>
              <a:t>lid ID’s of both partners	</a:t>
            </a:r>
            <a:r>
              <a:rPr lang="en-US" altLang="zh-CN">
                <a:solidFill>
                  <a:srgbClr val="FFFFFF"/>
                </a:solidFill>
                <a:cs typeface="Arial" panose="020B0604020202020204" pitchFamily="34" charset="0"/>
              </a:rPr>
              <a:t>3. Va</a:t>
            </a:r>
            <a:r>
              <a:rPr lang="en-US" altLang="zh-CN">
                <a:solidFill>
                  <a:srgbClr val="FFFFFF"/>
                </a:solidFill>
                <a:latin typeface="Tahoma" panose="020B0604030504040204" pitchFamily="34" charset="0"/>
                <a:cs typeface="Tahoma" panose="020B0604030504040204" pitchFamily="34" charset="0"/>
              </a:rPr>
              <a:t>lid ID’s of both partners</a:t>
            </a:r>
            <a:endParaRPr lang="en-US" altLang="zh-CN">
              <a:solidFill>
                <a:srgbClr val="000000"/>
              </a:solidFill>
              <a:latin typeface="Tahoma" panose="020B0604030504040204" pitchFamily="34" charset="0"/>
              <a:ea typeface="Tahoma" panose="020B0604030504040204" pitchFamily="34" charset="0"/>
            </a:endParaRPr>
          </a:p>
        </p:txBody>
      </p:sp>
      <p:sp>
        <p:nvSpPr>
          <p:cNvPr id="25" name="object 25"/>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2" name="object 2"/>
          <p:cNvSpPr/>
          <p:nvPr/>
        </p:nvSpPr>
        <p:spPr>
          <a:xfrm>
            <a:off x="0" y="0"/>
            <a:ext cx="12192000" cy="6858000"/>
          </a:xfrm>
          <a:custGeom>
            <a:avLst/>
            <a:gdLst/>
            <a:ahLst/>
            <a:cxnLst/>
            <a:pathLst>
              <a:path w="12192000" h="6858000">
                <a:moveTo>
                  <a:pt x="12192000" y="0"/>
                </a:moveTo>
                <a:lnTo>
                  <a:pt x="0" y="0"/>
                </a:lnTo>
                <a:lnTo>
                  <a:pt x="0" y="6858000"/>
                </a:lnTo>
                <a:lnTo>
                  <a:pt x="12192000" y="6858000"/>
                </a:lnTo>
                <a:lnTo>
                  <a:pt x="12192000" y="0"/>
                </a:lnTo>
                <a:close/>
              </a:path>
            </a:pathLst>
          </a:custGeom>
          <a:solidFill>
            <a:srgbClr val="00A757">
              <a:alpha val="100000"/>
            </a:srgbClr>
          </a:solidFill>
          <a:ln w="9525">
            <a:noFill/>
          </a:ln>
        </p:spPr>
        <p:txBody>
          <a:bodyPr/>
          <a:p>
            <a:endParaRPr lang="en-US"/>
          </a:p>
        </p:txBody>
      </p:sp>
      <p:grpSp>
        <p:nvGrpSpPr>
          <p:cNvPr id="25603" name="object 3"/>
          <p:cNvGrpSpPr/>
          <p:nvPr/>
        </p:nvGrpSpPr>
        <p:grpSpPr>
          <a:xfrm>
            <a:off x="890588" y="6361113"/>
            <a:ext cx="854075" cy="192087"/>
            <a:chOff x="889994" y="6361744"/>
            <a:chExt cx="855344" cy="191135"/>
          </a:xfrm>
        </p:grpSpPr>
        <p:pic>
          <p:nvPicPr>
            <p:cNvPr id="25607" name="object 4"/>
            <p:cNvPicPr>
              <a:picLocks noChangeAspect="1"/>
            </p:cNvPicPr>
            <p:nvPr/>
          </p:nvPicPr>
          <p:blipFill>
            <a:blip r:embed="rId1"/>
            <a:stretch>
              <a:fillRect/>
            </a:stretch>
          </p:blipFill>
          <p:spPr>
            <a:xfrm>
              <a:off x="1075742" y="6424295"/>
              <a:ext cx="103011" cy="128102"/>
            </a:xfrm>
            <a:prstGeom prst="rect">
              <a:avLst/>
            </a:prstGeom>
            <a:noFill/>
            <a:ln w="9525">
              <a:noFill/>
            </a:ln>
          </p:spPr>
        </p:pic>
        <p:pic>
          <p:nvPicPr>
            <p:cNvPr id="25608" name="object 5"/>
            <p:cNvPicPr>
              <a:picLocks noChangeAspect="1"/>
            </p:cNvPicPr>
            <p:nvPr/>
          </p:nvPicPr>
          <p:blipFill>
            <a:blip r:embed="rId2"/>
            <a:stretch>
              <a:fillRect/>
            </a:stretch>
          </p:blipFill>
          <p:spPr>
            <a:xfrm>
              <a:off x="1202859" y="6424295"/>
              <a:ext cx="101819" cy="125258"/>
            </a:xfrm>
            <a:prstGeom prst="rect">
              <a:avLst/>
            </a:prstGeom>
            <a:noFill/>
            <a:ln w="9525">
              <a:noFill/>
            </a:ln>
          </p:spPr>
        </p:pic>
        <p:pic>
          <p:nvPicPr>
            <p:cNvPr id="25609" name="object 6"/>
            <p:cNvPicPr>
              <a:picLocks noChangeAspect="1"/>
            </p:cNvPicPr>
            <p:nvPr/>
          </p:nvPicPr>
          <p:blipFill>
            <a:blip r:embed="rId3"/>
            <a:stretch>
              <a:fillRect/>
            </a:stretch>
          </p:blipFill>
          <p:spPr>
            <a:xfrm>
              <a:off x="1326084" y="6427220"/>
              <a:ext cx="101254" cy="125177"/>
            </a:xfrm>
            <a:prstGeom prst="rect">
              <a:avLst/>
            </a:prstGeom>
            <a:noFill/>
            <a:ln w="9525">
              <a:noFill/>
            </a:ln>
          </p:spPr>
        </p:pic>
        <p:sp>
          <p:nvSpPr>
            <p:cNvPr id="25610" name="object 7"/>
            <p:cNvSpPr/>
            <p:nvPr/>
          </p:nvSpPr>
          <p:spPr>
            <a:xfrm>
              <a:off x="1457344" y="6361744"/>
              <a:ext cx="27305" cy="187960"/>
            </a:xfrm>
            <a:custGeom>
              <a:avLst/>
              <a:gdLst/>
              <a:ahLst/>
              <a:cxnLst/>
              <a:pathLst>
                <a:path w="27305" h="187959">
                  <a:moveTo>
                    <a:pt x="27181" y="0"/>
                  </a:moveTo>
                  <a:lnTo>
                    <a:pt x="0" y="26741"/>
                  </a:lnTo>
                  <a:lnTo>
                    <a:pt x="0" y="187810"/>
                  </a:lnTo>
                  <a:lnTo>
                    <a:pt x="27181" y="187810"/>
                  </a:lnTo>
                  <a:lnTo>
                    <a:pt x="27181" y="0"/>
                  </a:lnTo>
                  <a:close/>
                </a:path>
              </a:pathLst>
            </a:custGeom>
            <a:solidFill>
              <a:srgbClr val="FFFFFF">
                <a:alpha val="100000"/>
              </a:srgbClr>
            </a:solidFill>
            <a:ln w="9525">
              <a:noFill/>
            </a:ln>
          </p:spPr>
          <p:txBody>
            <a:bodyPr/>
            <a:p>
              <a:endParaRPr lang="en-US"/>
            </a:p>
          </p:txBody>
        </p:sp>
        <p:pic>
          <p:nvPicPr>
            <p:cNvPr id="25611" name="object 8"/>
            <p:cNvPicPr>
              <a:picLocks noChangeAspect="1"/>
            </p:cNvPicPr>
            <p:nvPr/>
          </p:nvPicPr>
          <p:blipFill>
            <a:blip r:embed="rId4"/>
            <a:stretch>
              <a:fillRect/>
            </a:stretch>
          </p:blipFill>
          <p:spPr>
            <a:xfrm>
              <a:off x="1511267" y="6363540"/>
              <a:ext cx="234020" cy="188783"/>
            </a:xfrm>
            <a:prstGeom prst="rect">
              <a:avLst/>
            </a:prstGeom>
            <a:noFill/>
            <a:ln w="9525">
              <a:noFill/>
            </a:ln>
          </p:spPr>
        </p:pic>
        <p:pic>
          <p:nvPicPr>
            <p:cNvPr id="25612" name="object 9"/>
            <p:cNvPicPr>
              <a:picLocks noChangeAspect="1"/>
            </p:cNvPicPr>
            <p:nvPr/>
          </p:nvPicPr>
          <p:blipFill>
            <a:blip r:embed="rId5"/>
            <a:stretch>
              <a:fillRect/>
            </a:stretch>
          </p:blipFill>
          <p:spPr>
            <a:xfrm>
              <a:off x="889994" y="6379649"/>
              <a:ext cx="164467" cy="169905"/>
            </a:xfrm>
            <a:prstGeom prst="rect">
              <a:avLst/>
            </a:prstGeom>
            <a:noFill/>
            <a:ln w="9525">
              <a:noFill/>
            </a:ln>
          </p:spPr>
        </p:pic>
      </p:grpSp>
      <p:sp>
        <p:nvSpPr>
          <p:cNvPr id="25604" name="object 10"/>
          <p:cNvSpPr/>
          <p:nvPr/>
        </p:nvSpPr>
        <p:spPr>
          <a:xfrm>
            <a:off x="463550" y="6348413"/>
            <a:ext cx="212725" cy="233362"/>
          </a:xfrm>
          <a:custGeom>
            <a:avLst/>
            <a:gdLst/>
            <a:ahLst/>
            <a:cxnLst/>
            <a:pathLst>
              <a:path w="213995" h="233679">
                <a:moveTo>
                  <a:pt x="42748" y="0"/>
                </a:moveTo>
                <a:lnTo>
                  <a:pt x="0" y="42481"/>
                </a:lnTo>
                <a:lnTo>
                  <a:pt x="0" y="233578"/>
                </a:lnTo>
                <a:lnTo>
                  <a:pt x="42748" y="191109"/>
                </a:lnTo>
                <a:lnTo>
                  <a:pt x="42748" y="0"/>
                </a:lnTo>
                <a:close/>
              </a:path>
              <a:path w="213995" h="233679">
                <a:moveTo>
                  <a:pt x="128193" y="0"/>
                </a:moveTo>
                <a:lnTo>
                  <a:pt x="85509" y="42481"/>
                </a:lnTo>
                <a:lnTo>
                  <a:pt x="85509" y="233578"/>
                </a:lnTo>
                <a:lnTo>
                  <a:pt x="128193" y="191109"/>
                </a:lnTo>
                <a:lnTo>
                  <a:pt x="128193" y="0"/>
                </a:lnTo>
                <a:close/>
              </a:path>
              <a:path w="213995" h="233679">
                <a:moveTo>
                  <a:pt x="213702" y="0"/>
                </a:moveTo>
                <a:lnTo>
                  <a:pt x="170942" y="42481"/>
                </a:lnTo>
                <a:lnTo>
                  <a:pt x="170942" y="233578"/>
                </a:lnTo>
                <a:lnTo>
                  <a:pt x="213702" y="191109"/>
                </a:lnTo>
                <a:lnTo>
                  <a:pt x="213702" y="0"/>
                </a:lnTo>
                <a:close/>
              </a:path>
            </a:pathLst>
          </a:custGeom>
          <a:solidFill>
            <a:srgbClr val="FFFFFF">
              <a:alpha val="100000"/>
            </a:srgbClr>
          </a:solidFill>
          <a:ln w="9525">
            <a:noFill/>
          </a:ln>
        </p:spPr>
        <p:txBody>
          <a:bodyPr/>
          <a:p>
            <a:endParaRPr lang="en-US"/>
          </a:p>
        </p:txBody>
      </p:sp>
      <p:sp>
        <p:nvSpPr>
          <p:cNvPr id="11" name="object 11"/>
          <p:cNvSpPr txBox="1">
            <a:spLocks noGrp="1"/>
          </p:cNvSpPr>
          <p:nvPr>
            <p:ph type="title"/>
          </p:nvPr>
        </p:nvSpPr>
        <p:spPr>
          <a:xfrm>
            <a:off x="300038" y="2322513"/>
            <a:ext cx="7243763" cy="2159000"/>
          </a:xfrm>
        </p:spPr>
        <p:txBody>
          <a:bodyPr vert="horz" wrap="square" lIns="0" tIns="12065" rIns="0" bIns="0" rtlCol="0">
            <a:spAutoFit/>
          </a:bodyPr>
          <a:p>
            <a:pPr marL="12700" indent="0" eaLnBrk="1" hangingPunct="1">
              <a:spcBef>
                <a:spcPts val="100"/>
              </a:spcBef>
              <a:buNone/>
            </a:pPr>
            <a:r>
              <a:rPr lang="en-US" altLang="zh-CN" sz="7000">
                <a:latin typeface="Arial" panose="020B0604020202020204" pitchFamily="34" charset="0"/>
                <a:ea typeface="+mj-ea"/>
                <a:cs typeface="Arial" panose="020B0604020202020204" pitchFamily="34" charset="0"/>
              </a:rPr>
              <a:t>CLAIMS REQUIREMENTS</a:t>
            </a:r>
            <a:endParaRPr lang="en-US" altLang="zh-CN" sz="7000">
              <a:latin typeface="Arial" panose="020B0604020202020204" pitchFamily="34" charset="0"/>
              <a:ea typeface="Arial" panose="020B0604020202020204" pitchFamily="34" charset="0"/>
              <a:cs typeface="+mj-cs"/>
            </a:endParaRPr>
          </a:p>
        </p:txBody>
      </p:sp>
      <p:pic>
        <p:nvPicPr>
          <p:cNvPr id="25606" name="object 12"/>
          <p:cNvPicPr>
            <a:picLocks noChangeAspect="1"/>
          </p:cNvPicPr>
          <p:nvPr/>
        </p:nvPicPr>
        <p:blipFill>
          <a:blip r:embed="rId6"/>
          <a:stretch>
            <a:fillRect/>
          </a:stretch>
        </p:blipFill>
        <p:spPr>
          <a:xfrm>
            <a:off x="3429000" y="1331913"/>
            <a:ext cx="2363788" cy="2363787"/>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376238" y="109538"/>
            <a:ext cx="3656013" cy="33178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b="1" kern="0" cap="none" spc="0" normalizeH="0" baseline="0" noProof="0" dirty="0">
                <a:solidFill>
                  <a:srgbClr val="7E7E7E"/>
                </a:solidFill>
                <a:latin typeface="Arial" panose="020B0604020202020204"/>
                <a:cs typeface="Arial" panose="020B0604020202020204"/>
              </a:rPr>
              <a:t>Group</a:t>
            </a:r>
            <a:r>
              <a:rPr kumimoji="0" sz="2000" b="1" kern="0" cap="none" spc="135" normalizeH="0" baseline="0" noProof="0" dirty="0">
                <a:solidFill>
                  <a:srgbClr val="7E7E7E"/>
                </a:solidFill>
                <a:latin typeface="Arial" panose="020B0604020202020204"/>
                <a:cs typeface="Arial" panose="020B0604020202020204"/>
              </a:rPr>
              <a:t> </a:t>
            </a:r>
            <a:r>
              <a:rPr kumimoji="0" sz="2000" b="1" kern="0" cap="none" spc="50" normalizeH="0" baseline="0" noProof="0" dirty="0">
                <a:solidFill>
                  <a:srgbClr val="7E7E7E"/>
                </a:solidFill>
                <a:latin typeface="Arial" panose="020B0604020202020204"/>
                <a:cs typeface="Arial" panose="020B0604020202020204"/>
              </a:rPr>
              <a:t>Life</a:t>
            </a:r>
            <a:r>
              <a:rPr kumimoji="0" sz="2000" b="1" kern="0" cap="none" spc="140" normalizeH="0" baseline="0" noProof="0" dirty="0">
                <a:solidFill>
                  <a:srgbClr val="7E7E7E"/>
                </a:solidFill>
                <a:latin typeface="Arial" panose="020B0604020202020204"/>
                <a:cs typeface="Arial" panose="020B0604020202020204"/>
              </a:rPr>
              <a:t> </a:t>
            </a:r>
            <a:r>
              <a:rPr kumimoji="0" sz="2000" b="1" kern="0" cap="none" spc="0" normalizeH="0" baseline="0" noProof="0" dirty="0">
                <a:solidFill>
                  <a:srgbClr val="7E7E7E"/>
                </a:solidFill>
                <a:latin typeface="Arial" panose="020B0604020202020204"/>
                <a:cs typeface="Arial" panose="020B0604020202020204"/>
              </a:rPr>
              <a:t>Insurance</a:t>
            </a:r>
            <a:r>
              <a:rPr kumimoji="0" sz="2000" b="1" kern="0" cap="none" spc="175" normalizeH="0" baseline="0" noProof="0" dirty="0">
                <a:solidFill>
                  <a:srgbClr val="7E7E7E"/>
                </a:solidFill>
                <a:latin typeface="Arial" panose="020B0604020202020204"/>
                <a:cs typeface="Arial" panose="020B0604020202020204"/>
              </a:rPr>
              <a:t> </a:t>
            </a:r>
            <a:r>
              <a:rPr kumimoji="0" sz="2000" b="1" kern="0" cap="none" spc="40" normalizeH="0" baseline="0" noProof="0" dirty="0">
                <a:solidFill>
                  <a:srgbClr val="7E7E7E"/>
                </a:solidFill>
                <a:latin typeface="Arial" panose="020B0604020202020204"/>
                <a:cs typeface="Arial" panose="020B0604020202020204"/>
              </a:rPr>
              <a:t>Benefit</a:t>
            </a:r>
            <a:endParaRPr kumimoji="0" sz="2000" kern="0" cap="none" spc="0" normalizeH="0" baseline="0" noProof="0">
              <a:solidFill>
                <a:sysClr val="windowText" lastClr="000000"/>
              </a:solidFill>
              <a:latin typeface="Arial" panose="020B0604020202020204"/>
              <a:cs typeface="Arial" panose="020B0604020202020204"/>
            </a:endParaRPr>
          </a:p>
        </p:txBody>
      </p:sp>
      <p:sp>
        <p:nvSpPr>
          <p:cNvPr id="26627" name="object 3"/>
          <p:cNvSpPr/>
          <p:nvPr/>
        </p:nvSpPr>
        <p:spPr>
          <a:xfrm>
            <a:off x="120650" y="1582738"/>
            <a:ext cx="2298700" cy="1379537"/>
          </a:xfrm>
          <a:custGeom>
            <a:avLst/>
            <a:gdLst/>
            <a:ahLst/>
            <a:cxnLst/>
            <a:pathLst>
              <a:path w="2298700" h="1379220">
                <a:moveTo>
                  <a:pt x="2160459" y="0"/>
                </a:moveTo>
                <a:lnTo>
                  <a:pt x="137895" y="0"/>
                </a:lnTo>
                <a:lnTo>
                  <a:pt x="94312" y="7040"/>
                </a:lnTo>
                <a:lnTo>
                  <a:pt x="56459" y="26639"/>
                </a:lnTo>
                <a:lnTo>
                  <a:pt x="26608" y="56509"/>
                </a:lnTo>
                <a:lnTo>
                  <a:pt x="7030" y="94366"/>
                </a:lnTo>
                <a:lnTo>
                  <a:pt x="0" y="137922"/>
                </a:lnTo>
                <a:lnTo>
                  <a:pt x="0" y="1241171"/>
                </a:lnTo>
                <a:lnTo>
                  <a:pt x="7030" y="1284775"/>
                </a:lnTo>
                <a:lnTo>
                  <a:pt x="26608" y="1322637"/>
                </a:lnTo>
                <a:lnTo>
                  <a:pt x="56459" y="1352490"/>
                </a:lnTo>
                <a:lnTo>
                  <a:pt x="94312" y="1372064"/>
                </a:lnTo>
                <a:lnTo>
                  <a:pt x="137895" y="1379093"/>
                </a:lnTo>
                <a:lnTo>
                  <a:pt x="2160459" y="1379093"/>
                </a:lnTo>
                <a:lnTo>
                  <a:pt x="2204015" y="1372064"/>
                </a:lnTo>
                <a:lnTo>
                  <a:pt x="2241871" y="1352490"/>
                </a:lnTo>
                <a:lnTo>
                  <a:pt x="2271741" y="1322637"/>
                </a:lnTo>
                <a:lnTo>
                  <a:pt x="2291340" y="1284775"/>
                </a:lnTo>
                <a:lnTo>
                  <a:pt x="2298381" y="1241171"/>
                </a:lnTo>
                <a:lnTo>
                  <a:pt x="2298381" y="137922"/>
                </a:lnTo>
                <a:lnTo>
                  <a:pt x="2291340" y="94366"/>
                </a:lnTo>
                <a:lnTo>
                  <a:pt x="2271741" y="56509"/>
                </a:lnTo>
                <a:lnTo>
                  <a:pt x="2241871" y="26639"/>
                </a:lnTo>
                <a:lnTo>
                  <a:pt x="2204015" y="7040"/>
                </a:lnTo>
                <a:lnTo>
                  <a:pt x="2160459" y="0"/>
                </a:lnTo>
                <a:close/>
              </a:path>
            </a:pathLst>
          </a:custGeom>
          <a:solidFill>
            <a:srgbClr val="00A757">
              <a:alpha val="100000"/>
            </a:srgbClr>
          </a:solidFill>
          <a:ln w="9525">
            <a:noFill/>
          </a:ln>
        </p:spPr>
        <p:txBody>
          <a:bodyPr/>
          <a:p>
            <a:endParaRPr lang="en-US"/>
          </a:p>
        </p:txBody>
      </p:sp>
      <p:sp>
        <p:nvSpPr>
          <p:cNvPr id="4" name="object 4"/>
          <p:cNvSpPr txBox="1"/>
          <p:nvPr/>
        </p:nvSpPr>
        <p:spPr>
          <a:xfrm>
            <a:off x="242888" y="1930400"/>
            <a:ext cx="2055813" cy="577850"/>
          </a:xfrm>
          <a:prstGeom prst="rect">
            <a:avLst/>
          </a:prstGeom>
        </p:spPr>
        <p:txBody>
          <a:bodyPr vert="horz" wrap="square" lIns="0" tIns="59055" rIns="0" bIns="0" rtlCol="0">
            <a:spAutoFit/>
          </a:bodyPr>
          <a:lstStyle/>
          <a:p>
            <a:pPr marR="0" algn="ctr" defTabSz="914400" eaLnBrk="1" fontAlgn="auto" hangingPunct="1">
              <a:spcBef>
                <a:spcPts val="465"/>
              </a:spcBef>
              <a:spcAft>
                <a:spcPts val="0"/>
              </a:spcAft>
              <a:buClrTx/>
              <a:buSzTx/>
              <a:buFontTx/>
              <a:buNone/>
              <a:defRPr/>
            </a:pPr>
            <a:r>
              <a:rPr kumimoji="0" b="1" i="1" kern="0" cap="none" spc="-10" normalizeH="0" baseline="0" noProof="0" dirty="0">
                <a:solidFill>
                  <a:srgbClr val="FFFFFF"/>
                </a:solidFill>
                <a:latin typeface="Gill Sans MT" panose="020B0502020104020203"/>
                <a:cs typeface="Gill Sans MT" panose="020B0502020104020203"/>
              </a:rPr>
              <a:t>Customer/Agent</a:t>
            </a:r>
            <a:endParaRPr kumimoji="0" kern="0" cap="none" spc="0" normalizeH="0" baseline="0" noProof="0">
              <a:solidFill>
                <a:sysClr val="windowText" lastClr="000000"/>
              </a:solidFill>
              <a:latin typeface="Gill Sans MT" panose="020B0502020104020203"/>
              <a:cs typeface="Gill Sans MT" panose="020B0502020104020203"/>
            </a:endParaRPr>
          </a:p>
          <a:p>
            <a:pPr marR="0" algn="ctr" defTabSz="914400" eaLnBrk="1" fontAlgn="auto" hangingPunct="1">
              <a:spcBef>
                <a:spcPts val="260"/>
              </a:spcBef>
              <a:spcAft>
                <a:spcPts val="0"/>
              </a:spcAft>
              <a:buClrTx/>
              <a:buSzTx/>
              <a:buFontTx/>
              <a:buNone/>
              <a:defRPr/>
            </a:pPr>
            <a:r>
              <a:rPr kumimoji="0" sz="1300" kern="0" cap="none" spc="0" normalizeH="0" baseline="0" noProof="0" dirty="0">
                <a:solidFill>
                  <a:srgbClr val="FFFFFF"/>
                </a:solidFill>
                <a:latin typeface="Tahoma" panose="020B0604030504040204"/>
                <a:cs typeface="Tahoma" panose="020B0604030504040204"/>
              </a:rPr>
              <a:t>Send</a:t>
            </a:r>
            <a:r>
              <a:rPr kumimoji="0" sz="1300" kern="0" cap="none" spc="-5" normalizeH="0" baseline="0" noProof="0" dirty="0">
                <a:solidFill>
                  <a:srgbClr val="FFFFFF"/>
                </a:solidFill>
                <a:latin typeface="Tahoma" panose="020B0604030504040204"/>
                <a:cs typeface="Tahoma" panose="020B0604030504040204"/>
              </a:rPr>
              <a:t> </a:t>
            </a:r>
            <a:r>
              <a:rPr kumimoji="0" sz="1300" kern="0" cap="none" spc="0" normalizeH="0" baseline="0" noProof="0" dirty="0">
                <a:solidFill>
                  <a:srgbClr val="FFFFFF"/>
                </a:solidFill>
                <a:latin typeface="Tahoma" panose="020B0604030504040204"/>
                <a:cs typeface="Tahoma" panose="020B0604030504040204"/>
              </a:rPr>
              <a:t>an email</a:t>
            </a:r>
            <a:r>
              <a:rPr kumimoji="0" sz="1300" kern="0" cap="none" spc="-20" normalizeH="0" baseline="0" noProof="0" dirty="0">
                <a:solidFill>
                  <a:srgbClr val="FFFFFF"/>
                </a:solidFill>
                <a:latin typeface="Tahoma" panose="020B0604030504040204"/>
                <a:cs typeface="Tahoma" panose="020B0604030504040204"/>
              </a:rPr>
              <a:t> </a:t>
            </a:r>
            <a:r>
              <a:rPr kumimoji="0" sz="1300" kern="0" cap="none" spc="0" normalizeH="0" baseline="0" noProof="0" dirty="0">
                <a:solidFill>
                  <a:srgbClr val="FFFFFF"/>
                </a:solidFill>
                <a:latin typeface="Tahoma" panose="020B0604030504040204"/>
                <a:cs typeface="Tahoma" panose="020B0604030504040204"/>
              </a:rPr>
              <a:t>to</a:t>
            </a:r>
            <a:r>
              <a:rPr kumimoji="0" sz="1300" kern="0" cap="none" spc="-5" normalizeH="0" baseline="0" noProof="0" dirty="0">
                <a:solidFill>
                  <a:srgbClr val="FFFFFF"/>
                </a:solidFill>
                <a:latin typeface="Tahoma" panose="020B0604030504040204"/>
                <a:cs typeface="Tahoma" panose="020B0604030504040204"/>
              </a:rPr>
              <a:t> </a:t>
            </a:r>
            <a:r>
              <a:rPr kumimoji="0" sz="1300" kern="0" cap="none" spc="0" normalizeH="0" baseline="0" noProof="0" dirty="0">
                <a:solidFill>
                  <a:srgbClr val="FFFFFF"/>
                </a:solidFill>
                <a:latin typeface="Tahoma" panose="020B0604030504040204"/>
                <a:cs typeface="Tahoma" panose="020B0604030504040204"/>
              </a:rPr>
              <a:t>PH</a:t>
            </a:r>
            <a:r>
              <a:rPr kumimoji="0" sz="1300" kern="0" cap="none" spc="-10" normalizeH="0" baseline="0" noProof="0" dirty="0">
                <a:solidFill>
                  <a:srgbClr val="FFFFFF"/>
                </a:solidFill>
                <a:latin typeface="Tahoma" panose="020B0604030504040204"/>
                <a:cs typeface="Tahoma" panose="020B0604030504040204"/>
              </a:rPr>
              <a:t> Claims</a:t>
            </a:r>
            <a:endParaRPr kumimoji="0" sz="1300" kern="0" cap="none" spc="0" normalizeH="0" baseline="0" noProof="0">
              <a:solidFill>
                <a:sysClr val="windowText" lastClr="000000"/>
              </a:solidFill>
              <a:latin typeface="Tahoma" panose="020B0604030504040204"/>
              <a:cs typeface="Tahoma" panose="020B0604030504040204"/>
            </a:endParaRPr>
          </a:p>
        </p:txBody>
      </p:sp>
      <p:grpSp>
        <p:nvGrpSpPr>
          <p:cNvPr id="26629" name="object 5"/>
          <p:cNvGrpSpPr/>
          <p:nvPr/>
        </p:nvGrpSpPr>
        <p:grpSpPr>
          <a:xfrm>
            <a:off x="2643188" y="1982788"/>
            <a:ext cx="498475" cy="579437"/>
            <a:chOff x="2643695" y="1982914"/>
            <a:chExt cx="497205" cy="579755"/>
          </a:xfrm>
        </p:grpSpPr>
        <p:sp>
          <p:nvSpPr>
            <p:cNvPr id="26660" name="object 6"/>
            <p:cNvSpPr/>
            <p:nvPr/>
          </p:nvSpPr>
          <p:spPr>
            <a:xfrm>
              <a:off x="2648457" y="1987676"/>
              <a:ext cx="487680" cy="570230"/>
            </a:xfrm>
            <a:custGeom>
              <a:avLst/>
              <a:gdLst/>
              <a:ahLst/>
              <a:cxnLst/>
              <a:pathLst>
                <a:path w="487680" h="570230">
                  <a:moveTo>
                    <a:pt x="243712" y="0"/>
                  </a:moveTo>
                  <a:lnTo>
                    <a:pt x="243712" y="113919"/>
                  </a:lnTo>
                  <a:lnTo>
                    <a:pt x="0" y="113919"/>
                  </a:lnTo>
                  <a:lnTo>
                    <a:pt x="0" y="455930"/>
                  </a:lnTo>
                  <a:lnTo>
                    <a:pt x="243712" y="455930"/>
                  </a:lnTo>
                  <a:lnTo>
                    <a:pt x="243712" y="569976"/>
                  </a:lnTo>
                  <a:lnTo>
                    <a:pt x="487299" y="284988"/>
                  </a:lnTo>
                  <a:lnTo>
                    <a:pt x="243712" y="0"/>
                  </a:lnTo>
                  <a:close/>
                </a:path>
              </a:pathLst>
            </a:custGeom>
            <a:solidFill>
              <a:srgbClr val="FF7769">
                <a:alpha val="100000"/>
              </a:srgbClr>
            </a:solidFill>
            <a:ln w="9525">
              <a:noFill/>
            </a:ln>
          </p:spPr>
          <p:txBody>
            <a:bodyPr/>
            <a:p>
              <a:endParaRPr lang="en-US"/>
            </a:p>
          </p:txBody>
        </p:sp>
        <p:sp>
          <p:nvSpPr>
            <p:cNvPr id="26661" name="object 7"/>
            <p:cNvSpPr/>
            <p:nvPr/>
          </p:nvSpPr>
          <p:spPr>
            <a:xfrm>
              <a:off x="2648457" y="1987676"/>
              <a:ext cx="487680" cy="570230"/>
            </a:xfrm>
            <a:custGeom>
              <a:avLst/>
              <a:gdLst/>
              <a:ahLst/>
              <a:cxnLst/>
              <a:pathLst>
                <a:path w="487680" h="570230">
                  <a:moveTo>
                    <a:pt x="0" y="113919"/>
                  </a:moveTo>
                  <a:lnTo>
                    <a:pt x="243712" y="113919"/>
                  </a:lnTo>
                  <a:lnTo>
                    <a:pt x="243712" y="0"/>
                  </a:lnTo>
                  <a:lnTo>
                    <a:pt x="487299" y="284988"/>
                  </a:lnTo>
                  <a:lnTo>
                    <a:pt x="243712" y="569976"/>
                  </a:lnTo>
                  <a:lnTo>
                    <a:pt x="243712" y="455930"/>
                  </a:lnTo>
                  <a:lnTo>
                    <a:pt x="0" y="455930"/>
                  </a:lnTo>
                  <a:lnTo>
                    <a:pt x="0" y="113919"/>
                  </a:lnTo>
                  <a:close/>
                </a:path>
              </a:pathLst>
            </a:custGeom>
            <a:noFill/>
            <a:ln w="9524" cap="flat" cmpd="sng">
              <a:solidFill>
                <a:srgbClr val="FF7769">
                  <a:alpha val="100000"/>
                </a:srgbClr>
              </a:solidFill>
              <a:prstDash val="solid"/>
              <a:headEnd type="none" w="med" len="med"/>
              <a:tailEnd type="none" w="med" len="med"/>
            </a:ln>
          </p:spPr>
          <p:txBody>
            <a:bodyPr/>
            <a:p>
              <a:endParaRPr lang="en-US"/>
            </a:p>
          </p:txBody>
        </p:sp>
      </p:grpSp>
      <p:grpSp>
        <p:nvGrpSpPr>
          <p:cNvPr id="26630" name="object 8"/>
          <p:cNvGrpSpPr/>
          <p:nvPr/>
        </p:nvGrpSpPr>
        <p:grpSpPr>
          <a:xfrm>
            <a:off x="3332163" y="1576388"/>
            <a:ext cx="2311400" cy="1392237"/>
            <a:chOff x="3331590" y="1576705"/>
            <a:chExt cx="2311400" cy="1391920"/>
          </a:xfrm>
        </p:grpSpPr>
        <p:sp>
          <p:nvSpPr>
            <p:cNvPr id="26658" name="object 9"/>
            <p:cNvSpPr/>
            <p:nvPr/>
          </p:nvSpPr>
          <p:spPr>
            <a:xfrm>
              <a:off x="3337940" y="1583055"/>
              <a:ext cx="2298700" cy="1379220"/>
            </a:xfrm>
            <a:custGeom>
              <a:avLst/>
              <a:gdLst/>
              <a:ahLst/>
              <a:cxnLst/>
              <a:pathLst>
                <a:path w="2298700" h="1379220">
                  <a:moveTo>
                    <a:pt x="2160524" y="0"/>
                  </a:moveTo>
                  <a:lnTo>
                    <a:pt x="137922" y="0"/>
                  </a:lnTo>
                  <a:lnTo>
                    <a:pt x="94366" y="7040"/>
                  </a:lnTo>
                  <a:lnTo>
                    <a:pt x="56509" y="26639"/>
                  </a:lnTo>
                  <a:lnTo>
                    <a:pt x="26639" y="56509"/>
                  </a:lnTo>
                  <a:lnTo>
                    <a:pt x="7040" y="94366"/>
                  </a:lnTo>
                  <a:lnTo>
                    <a:pt x="0" y="137922"/>
                  </a:lnTo>
                  <a:lnTo>
                    <a:pt x="0" y="1241171"/>
                  </a:lnTo>
                  <a:lnTo>
                    <a:pt x="7040" y="1284775"/>
                  </a:lnTo>
                  <a:lnTo>
                    <a:pt x="26639" y="1322637"/>
                  </a:lnTo>
                  <a:lnTo>
                    <a:pt x="56509" y="1352490"/>
                  </a:lnTo>
                  <a:lnTo>
                    <a:pt x="94366" y="1372064"/>
                  </a:lnTo>
                  <a:lnTo>
                    <a:pt x="137922" y="1379093"/>
                  </a:lnTo>
                  <a:lnTo>
                    <a:pt x="2160524" y="1379093"/>
                  </a:lnTo>
                  <a:lnTo>
                    <a:pt x="2204079" y="1372064"/>
                  </a:lnTo>
                  <a:lnTo>
                    <a:pt x="2241936" y="1352490"/>
                  </a:lnTo>
                  <a:lnTo>
                    <a:pt x="2271806" y="1322637"/>
                  </a:lnTo>
                  <a:lnTo>
                    <a:pt x="2291405" y="1284775"/>
                  </a:lnTo>
                  <a:lnTo>
                    <a:pt x="2298446" y="1241171"/>
                  </a:lnTo>
                  <a:lnTo>
                    <a:pt x="2298446" y="137922"/>
                  </a:lnTo>
                  <a:lnTo>
                    <a:pt x="2291405" y="94366"/>
                  </a:lnTo>
                  <a:lnTo>
                    <a:pt x="2271806" y="56509"/>
                  </a:lnTo>
                  <a:lnTo>
                    <a:pt x="2241936" y="26639"/>
                  </a:lnTo>
                  <a:lnTo>
                    <a:pt x="2204079" y="7040"/>
                  </a:lnTo>
                  <a:lnTo>
                    <a:pt x="2160524" y="0"/>
                  </a:lnTo>
                  <a:close/>
                </a:path>
              </a:pathLst>
            </a:custGeom>
            <a:solidFill>
              <a:srgbClr val="00A757">
                <a:alpha val="100000"/>
              </a:srgbClr>
            </a:solidFill>
            <a:ln w="9525">
              <a:noFill/>
            </a:ln>
          </p:spPr>
          <p:txBody>
            <a:bodyPr/>
            <a:p>
              <a:endParaRPr lang="en-US"/>
            </a:p>
          </p:txBody>
        </p:sp>
        <p:sp>
          <p:nvSpPr>
            <p:cNvPr id="26659" name="object 10"/>
            <p:cNvSpPr/>
            <p:nvPr/>
          </p:nvSpPr>
          <p:spPr>
            <a:xfrm>
              <a:off x="3337940" y="1583055"/>
              <a:ext cx="2298700" cy="1379220"/>
            </a:xfrm>
            <a:custGeom>
              <a:avLst/>
              <a:gdLst/>
              <a:ahLst/>
              <a:cxnLst/>
              <a:pathLst>
                <a:path w="2298700" h="1379220">
                  <a:moveTo>
                    <a:pt x="0" y="137922"/>
                  </a:moveTo>
                  <a:lnTo>
                    <a:pt x="7040" y="94366"/>
                  </a:lnTo>
                  <a:lnTo>
                    <a:pt x="26639" y="56509"/>
                  </a:lnTo>
                  <a:lnTo>
                    <a:pt x="56509" y="26639"/>
                  </a:lnTo>
                  <a:lnTo>
                    <a:pt x="94366" y="7040"/>
                  </a:lnTo>
                  <a:lnTo>
                    <a:pt x="137922" y="0"/>
                  </a:lnTo>
                  <a:lnTo>
                    <a:pt x="2160524" y="0"/>
                  </a:lnTo>
                  <a:lnTo>
                    <a:pt x="2204079" y="7040"/>
                  </a:lnTo>
                  <a:lnTo>
                    <a:pt x="2241936" y="26639"/>
                  </a:lnTo>
                  <a:lnTo>
                    <a:pt x="2271806" y="56509"/>
                  </a:lnTo>
                  <a:lnTo>
                    <a:pt x="2291405" y="94366"/>
                  </a:lnTo>
                  <a:lnTo>
                    <a:pt x="2298446" y="137922"/>
                  </a:lnTo>
                  <a:lnTo>
                    <a:pt x="2298446" y="1241171"/>
                  </a:lnTo>
                  <a:lnTo>
                    <a:pt x="2291405" y="1284775"/>
                  </a:lnTo>
                  <a:lnTo>
                    <a:pt x="2271806" y="1322637"/>
                  </a:lnTo>
                  <a:lnTo>
                    <a:pt x="2241936" y="1352490"/>
                  </a:lnTo>
                  <a:lnTo>
                    <a:pt x="2204079" y="1372064"/>
                  </a:lnTo>
                  <a:lnTo>
                    <a:pt x="2160524" y="1379093"/>
                  </a:lnTo>
                  <a:lnTo>
                    <a:pt x="137922" y="1379093"/>
                  </a:lnTo>
                  <a:lnTo>
                    <a:pt x="94366" y="1372064"/>
                  </a:lnTo>
                  <a:lnTo>
                    <a:pt x="56509" y="1352490"/>
                  </a:lnTo>
                  <a:lnTo>
                    <a:pt x="26639" y="1322637"/>
                  </a:lnTo>
                  <a:lnTo>
                    <a:pt x="7040" y="1284775"/>
                  </a:lnTo>
                  <a:lnTo>
                    <a:pt x="0" y="1241171"/>
                  </a:lnTo>
                  <a:lnTo>
                    <a:pt x="0" y="137922"/>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11" name="object 11"/>
          <p:cNvSpPr txBox="1"/>
          <p:nvPr/>
        </p:nvSpPr>
        <p:spPr>
          <a:xfrm>
            <a:off x="3630613" y="1843088"/>
            <a:ext cx="1714500" cy="746125"/>
          </a:xfrm>
          <a:prstGeom prst="rect">
            <a:avLst/>
          </a:prstGeom>
        </p:spPr>
        <p:txBody>
          <a:bodyPr vert="horz" wrap="square" lIns="0" tIns="59690" rIns="0" bIns="0" rtlCol="0">
            <a:spAutoFit/>
          </a:bodyPr>
          <a:p>
            <a:pPr algn="ctr" eaLnBrk="1" hangingPunct="1">
              <a:spcBef>
                <a:spcPts val="475"/>
              </a:spcBef>
              <a:buNone/>
            </a:pPr>
            <a:r>
              <a:rPr lang="en-US" altLang="zh-CN" b="1" i="1">
                <a:solidFill>
                  <a:srgbClr val="FFFFFF"/>
                </a:solidFill>
                <a:latin typeface="Gill Sans MT" panose="020B0502020104020203" pitchFamily="34" charset="0"/>
                <a:cs typeface="Gill Sans MT" panose="020B0502020104020203" pitchFamily="34" charset="0"/>
              </a:rPr>
              <a:t>PH Claims</a:t>
            </a:r>
            <a:endParaRPr lang="en-US" altLang="zh-CN">
              <a:solidFill>
                <a:srgbClr val="000000"/>
              </a:solidFill>
              <a:latin typeface="Gill Sans MT" panose="020B0502020104020203" pitchFamily="34" charset="0"/>
              <a:cs typeface="Gill Sans MT" panose="020B0502020104020203" pitchFamily="34" charset="0"/>
            </a:endParaRPr>
          </a:p>
          <a:p>
            <a:pPr algn="ctr" eaLnBrk="1" hangingPunct="1">
              <a:lnSpc>
                <a:spcPts val="1325"/>
              </a:lnSpc>
              <a:spcBef>
                <a:spcPts val="500"/>
              </a:spcBef>
              <a:buNone/>
            </a:pPr>
            <a:r>
              <a:rPr lang="en-US" altLang="zh-CN" sz="1300">
                <a:solidFill>
                  <a:srgbClr val="FFFFFF"/>
                </a:solidFill>
                <a:latin typeface="Tahoma" panose="020B0604030504040204" pitchFamily="34" charset="0"/>
                <a:cs typeface="Tahoma" panose="020B0604030504040204" pitchFamily="34" charset="0"/>
              </a:rPr>
              <a:t>Screen and endorse for processing</a:t>
            </a:r>
            <a:endParaRPr lang="en-US" altLang="zh-CN" sz="1300">
              <a:solidFill>
                <a:srgbClr val="000000"/>
              </a:solidFill>
              <a:latin typeface="Tahoma" panose="020B0604030504040204" pitchFamily="34" charset="0"/>
              <a:ea typeface="Tahoma" panose="020B0604030504040204" pitchFamily="34" charset="0"/>
            </a:endParaRPr>
          </a:p>
        </p:txBody>
      </p:sp>
      <p:grpSp>
        <p:nvGrpSpPr>
          <p:cNvPr id="26632" name="object 12"/>
          <p:cNvGrpSpPr/>
          <p:nvPr/>
        </p:nvGrpSpPr>
        <p:grpSpPr>
          <a:xfrm>
            <a:off x="5861050" y="1982788"/>
            <a:ext cx="496888" cy="579437"/>
            <a:chOff x="5861367" y="1982914"/>
            <a:chExt cx="497205" cy="579755"/>
          </a:xfrm>
        </p:grpSpPr>
        <p:sp>
          <p:nvSpPr>
            <p:cNvPr id="26656" name="object 13"/>
            <p:cNvSpPr/>
            <p:nvPr/>
          </p:nvSpPr>
          <p:spPr>
            <a:xfrm>
              <a:off x="5866129" y="1987676"/>
              <a:ext cx="487680" cy="570230"/>
            </a:xfrm>
            <a:custGeom>
              <a:avLst/>
              <a:gdLst/>
              <a:ahLst/>
              <a:cxnLst/>
              <a:pathLst>
                <a:path w="487679" h="570230">
                  <a:moveTo>
                    <a:pt x="243712" y="0"/>
                  </a:moveTo>
                  <a:lnTo>
                    <a:pt x="243712" y="113919"/>
                  </a:lnTo>
                  <a:lnTo>
                    <a:pt x="0" y="113919"/>
                  </a:lnTo>
                  <a:lnTo>
                    <a:pt x="0" y="455930"/>
                  </a:lnTo>
                  <a:lnTo>
                    <a:pt x="243712" y="455930"/>
                  </a:lnTo>
                  <a:lnTo>
                    <a:pt x="243712" y="569976"/>
                  </a:lnTo>
                  <a:lnTo>
                    <a:pt x="487299" y="284988"/>
                  </a:lnTo>
                  <a:lnTo>
                    <a:pt x="243712" y="0"/>
                  </a:lnTo>
                  <a:close/>
                </a:path>
              </a:pathLst>
            </a:custGeom>
            <a:solidFill>
              <a:srgbClr val="FF7769">
                <a:alpha val="100000"/>
              </a:srgbClr>
            </a:solidFill>
            <a:ln w="9525">
              <a:noFill/>
            </a:ln>
          </p:spPr>
          <p:txBody>
            <a:bodyPr/>
            <a:p>
              <a:endParaRPr lang="en-US"/>
            </a:p>
          </p:txBody>
        </p:sp>
        <p:sp>
          <p:nvSpPr>
            <p:cNvPr id="26657" name="object 14"/>
            <p:cNvSpPr/>
            <p:nvPr/>
          </p:nvSpPr>
          <p:spPr>
            <a:xfrm>
              <a:off x="5866129" y="1987676"/>
              <a:ext cx="487680" cy="570230"/>
            </a:xfrm>
            <a:custGeom>
              <a:avLst/>
              <a:gdLst/>
              <a:ahLst/>
              <a:cxnLst/>
              <a:pathLst>
                <a:path w="487679" h="570230">
                  <a:moveTo>
                    <a:pt x="0" y="113919"/>
                  </a:moveTo>
                  <a:lnTo>
                    <a:pt x="243712" y="113919"/>
                  </a:lnTo>
                  <a:lnTo>
                    <a:pt x="243712" y="0"/>
                  </a:lnTo>
                  <a:lnTo>
                    <a:pt x="487299" y="284988"/>
                  </a:lnTo>
                  <a:lnTo>
                    <a:pt x="243712" y="569976"/>
                  </a:lnTo>
                  <a:lnTo>
                    <a:pt x="243712" y="455930"/>
                  </a:lnTo>
                  <a:lnTo>
                    <a:pt x="0" y="455930"/>
                  </a:lnTo>
                  <a:lnTo>
                    <a:pt x="0" y="113919"/>
                  </a:lnTo>
                  <a:close/>
                </a:path>
              </a:pathLst>
            </a:custGeom>
            <a:noFill/>
            <a:ln w="9524" cap="flat" cmpd="sng">
              <a:solidFill>
                <a:srgbClr val="FF7769">
                  <a:alpha val="100000"/>
                </a:srgbClr>
              </a:solidFill>
              <a:prstDash val="solid"/>
              <a:headEnd type="none" w="med" len="med"/>
              <a:tailEnd type="none" w="med" len="med"/>
            </a:ln>
          </p:spPr>
          <p:txBody>
            <a:bodyPr/>
            <a:p>
              <a:endParaRPr lang="en-US"/>
            </a:p>
          </p:txBody>
        </p:sp>
      </p:grpSp>
      <p:grpSp>
        <p:nvGrpSpPr>
          <p:cNvPr id="26633" name="object 15"/>
          <p:cNvGrpSpPr/>
          <p:nvPr/>
        </p:nvGrpSpPr>
        <p:grpSpPr>
          <a:xfrm>
            <a:off x="6550025" y="1576388"/>
            <a:ext cx="2311400" cy="1392237"/>
            <a:chOff x="6549263" y="1576705"/>
            <a:chExt cx="2311400" cy="1391920"/>
          </a:xfrm>
        </p:grpSpPr>
        <p:sp>
          <p:nvSpPr>
            <p:cNvPr id="26654" name="object 16"/>
            <p:cNvSpPr/>
            <p:nvPr/>
          </p:nvSpPr>
          <p:spPr>
            <a:xfrm>
              <a:off x="6555613" y="1583055"/>
              <a:ext cx="2298700" cy="1379220"/>
            </a:xfrm>
            <a:custGeom>
              <a:avLst/>
              <a:gdLst/>
              <a:ahLst/>
              <a:cxnLst/>
              <a:pathLst>
                <a:path w="2298700" h="1379220">
                  <a:moveTo>
                    <a:pt x="2160523" y="0"/>
                  </a:moveTo>
                  <a:lnTo>
                    <a:pt x="137921" y="0"/>
                  </a:lnTo>
                  <a:lnTo>
                    <a:pt x="94366" y="7040"/>
                  </a:lnTo>
                  <a:lnTo>
                    <a:pt x="56509" y="26639"/>
                  </a:lnTo>
                  <a:lnTo>
                    <a:pt x="26639" y="56509"/>
                  </a:lnTo>
                  <a:lnTo>
                    <a:pt x="7040" y="94366"/>
                  </a:lnTo>
                  <a:lnTo>
                    <a:pt x="0" y="137922"/>
                  </a:lnTo>
                  <a:lnTo>
                    <a:pt x="0" y="1241171"/>
                  </a:lnTo>
                  <a:lnTo>
                    <a:pt x="7040" y="1284775"/>
                  </a:lnTo>
                  <a:lnTo>
                    <a:pt x="26639" y="1322637"/>
                  </a:lnTo>
                  <a:lnTo>
                    <a:pt x="56509" y="1352490"/>
                  </a:lnTo>
                  <a:lnTo>
                    <a:pt x="94366" y="1372064"/>
                  </a:lnTo>
                  <a:lnTo>
                    <a:pt x="137921" y="1379093"/>
                  </a:lnTo>
                  <a:lnTo>
                    <a:pt x="2160523" y="1379093"/>
                  </a:lnTo>
                  <a:lnTo>
                    <a:pt x="2204079" y="1372064"/>
                  </a:lnTo>
                  <a:lnTo>
                    <a:pt x="2241936" y="1352490"/>
                  </a:lnTo>
                  <a:lnTo>
                    <a:pt x="2271806" y="1322637"/>
                  </a:lnTo>
                  <a:lnTo>
                    <a:pt x="2291405" y="1284775"/>
                  </a:lnTo>
                  <a:lnTo>
                    <a:pt x="2298445" y="1241171"/>
                  </a:lnTo>
                  <a:lnTo>
                    <a:pt x="2298445" y="137922"/>
                  </a:lnTo>
                  <a:lnTo>
                    <a:pt x="2291405" y="94366"/>
                  </a:lnTo>
                  <a:lnTo>
                    <a:pt x="2271806" y="56509"/>
                  </a:lnTo>
                  <a:lnTo>
                    <a:pt x="2241936" y="26639"/>
                  </a:lnTo>
                  <a:lnTo>
                    <a:pt x="2204079" y="7040"/>
                  </a:lnTo>
                  <a:lnTo>
                    <a:pt x="2160523" y="0"/>
                  </a:lnTo>
                  <a:close/>
                </a:path>
              </a:pathLst>
            </a:custGeom>
            <a:solidFill>
              <a:srgbClr val="00A757">
                <a:alpha val="100000"/>
              </a:srgbClr>
            </a:solidFill>
            <a:ln w="9525">
              <a:noFill/>
            </a:ln>
          </p:spPr>
          <p:txBody>
            <a:bodyPr/>
            <a:p>
              <a:endParaRPr lang="en-US"/>
            </a:p>
          </p:txBody>
        </p:sp>
        <p:sp>
          <p:nvSpPr>
            <p:cNvPr id="26655" name="object 17"/>
            <p:cNvSpPr/>
            <p:nvPr/>
          </p:nvSpPr>
          <p:spPr>
            <a:xfrm>
              <a:off x="6555613" y="1583055"/>
              <a:ext cx="2298700" cy="1379220"/>
            </a:xfrm>
            <a:custGeom>
              <a:avLst/>
              <a:gdLst/>
              <a:ahLst/>
              <a:cxnLst/>
              <a:pathLst>
                <a:path w="2298700" h="1379220">
                  <a:moveTo>
                    <a:pt x="0" y="137922"/>
                  </a:moveTo>
                  <a:lnTo>
                    <a:pt x="7040" y="94366"/>
                  </a:lnTo>
                  <a:lnTo>
                    <a:pt x="26639" y="56509"/>
                  </a:lnTo>
                  <a:lnTo>
                    <a:pt x="56509" y="26639"/>
                  </a:lnTo>
                  <a:lnTo>
                    <a:pt x="94366" y="7040"/>
                  </a:lnTo>
                  <a:lnTo>
                    <a:pt x="137921" y="0"/>
                  </a:lnTo>
                  <a:lnTo>
                    <a:pt x="2160523" y="0"/>
                  </a:lnTo>
                  <a:lnTo>
                    <a:pt x="2204079" y="7040"/>
                  </a:lnTo>
                  <a:lnTo>
                    <a:pt x="2241936" y="26639"/>
                  </a:lnTo>
                  <a:lnTo>
                    <a:pt x="2271806" y="56509"/>
                  </a:lnTo>
                  <a:lnTo>
                    <a:pt x="2291405" y="94366"/>
                  </a:lnTo>
                  <a:lnTo>
                    <a:pt x="2298445" y="137922"/>
                  </a:lnTo>
                  <a:lnTo>
                    <a:pt x="2298445" y="1241171"/>
                  </a:lnTo>
                  <a:lnTo>
                    <a:pt x="2291405" y="1284775"/>
                  </a:lnTo>
                  <a:lnTo>
                    <a:pt x="2271806" y="1322637"/>
                  </a:lnTo>
                  <a:lnTo>
                    <a:pt x="2241936" y="1352490"/>
                  </a:lnTo>
                  <a:lnTo>
                    <a:pt x="2204079" y="1372064"/>
                  </a:lnTo>
                  <a:lnTo>
                    <a:pt x="2160523" y="1379093"/>
                  </a:lnTo>
                  <a:lnTo>
                    <a:pt x="137921" y="1379093"/>
                  </a:lnTo>
                  <a:lnTo>
                    <a:pt x="94366" y="1372064"/>
                  </a:lnTo>
                  <a:lnTo>
                    <a:pt x="56509" y="1352490"/>
                  </a:lnTo>
                  <a:lnTo>
                    <a:pt x="26639" y="1322637"/>
                  </a:lnTo>
                  <a:lnTo>
                    <a:pt x="7040" y="1284775"/>
                  </a:lnTo>
                  <a:lnTo>
                    <a:pt x="0" y="1241171"/>
                  </a:lnTo>
                  <a:lnTo>
                    <a:pt x="0" y="137922"/>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18" name="object 18"/>
          <p:cNvSpPr txBox="1"/>
          <p:nvPr/>
        </p:nvSpPr>
        <p:spPr>
          <a:xfrm>
            <a:off x="6756400" y="1895475"/>
            <a:ext cx="1897063" cy="619125"/>
          </a:xfrm>
          <a:prstGeom prst="rect">
            <a:avLst/>
          </a:prstGeom>
        </p:spPr>
        <p:txBody>
          <a:bodyPr vert="horz" wrap="square" lIns="0" tIns="83185" rIns="0" bIns="0" rtlCol="0">
            <a:spAutoFit/>
          </a:bodyPr>
          <a:lstStyle/>
          <a:p>
            <a:pPr marL="1270" marR="0" algn="ctr" defTabSz="914400" eaLnBrk="1" fontAlgn="auto" hangingPunct="1">
              <a:spcBef>
                <a:spcPts val="655"/>
              </a:spcBef>
              <a:spcAft>
                <a:spcPts val="0"/>
              </a:spcAft>
              <a:buClrTx/>
              <a:buSzTx/>
              <a:buFontTx/>
              <a:buNone/>
              <a:defRPr/>
            </a:pPr>
            <a:r>
              <a:rPr kumimoji="0" b="1" i="1" kern="0" cap="none" spc="0" normalizeH="0" baseline="0" noProof="0" dirty="0">
                <a:solidFill>
                  <a:srgbClr val="FFFFFF"/>
                </a:solidFill>
                <a:latin typeface="Gill Sans MT" panose="020B0502020104020203"/>
                <a:cs typeface="Gill Sans MT" panose="020B0502020104020203"/>
              </a:rPr>
              <a:t>Claims</a:t>
            </a:r>
            <a:r>
              <a:rPr kumimoji="0" b="1" i="1" kern="0" cap="none" spc="120" normalizeH="0" baseline="0" noProof="0" dirty="0">
                <a:solidFill>
                  <a:srgbClr val="FFFFFF"/>
                </a:solidFill>
                <a:latin typeface="Gill Sans MT" panose="020B0502020104020203"/>
                <a:cs typeface="Gill Sans MT" panose="020B0502020104020203"/>
              </a:rPr>
              <a:t> </a:t>
            </a:r>
            <a:r>
              <a:rPr kumimoji="0" b="1" i="1" kern="0" cap="none" spc="-20" normalizeH="0" baseline="0" noProof="0" dirty="0">
                <a:solidFill>
                  <a:srgbClr val="FFFFFF"/>
                </a:solidFill>
                <a:latin typeface="Gill Sans MT" panose="020B0502020104020203"/>
                <a:cs typeface="Gill Sans MT" panose="020B0502020104020203"/>
              </a:rPr>
              <a:t>Team</a:t>
            </a:r>
            <a:endParaRPr kumimoji="0" kern="0" cap="none" spc="0" normalizeH="0" baseline="0" noProof="0">
              <a:solidFill>
                <a:sysClr val="windowText" lastClr="000000"/>
              </a:solidFill>
              <a:latin typeface="Gill Sans MT" panose="020B0502020104020203"/>
              <a:cs typeface="Gill Sans MT" panose="020B0502020104020203"/>
            </a:endParaRPr>
          </a:p>
          <a:p>
            <a:pPr marR="0" algn="ctr" defTabSz="914400" eaLnBrk="1" fontAlgn="auto" hangingPunct="1">
              <a:spcBef>
                <a:spcPts val="395"/>
              </a:spcBef>
              <a:spcAft>
                <a:spcPts val="0"/>
              </a:spcAft>
              <a:buClrTx/>
              <a:buSzTx/>
              <a:buFontTx/>
              <a:buNone/>
              <a:defRPr/>
            </a:pPr>
            <a:r>
              <a:rPr kumimoji="0" sz="1300" kern="0" cap="none" spc="-35" normalizeH="0" baseline="0" noProof="0" dirty="0">
                <a:solidFill>
                  <a:srgbClr val="FFFFFF"/>
                </a:solidFill>
                <a:latin typeface="Tahoma" panose="020B0604030504040204"/>
                <a:cs typeface="Tahoma" panose="020B0604030504040204"/>
              </a:rPr>
              <a:t>Review</a:t>
            </a:r>
            <a:r>
              <a:rPr kumimoji="0" sz="1300" kern="0" cap="none" spc="20" normalizeH="0" baseline="0" noProof="0" dirty="0">
                <a:solidFill>
                  <a:srgbClr val="FFFFFF"/>
                </a:solidFill>
                <a:latin typeface="Tahoma" panose="020B0604030504040204"/>
                <a:cs typeface="Tahoma" panose="020B0604030504040204"/>
              </a:rPr>
              <a:t> </a:t>
            </a:r>
            <a:r>
              <a:rPr kumimoji="0" sz="1300" kern="0" cap="none" spc="0" normalizeH="0" baseline="0" noProof="0" dirty="0">
                <a:solidFill>
                  <a:srgbClr val="FFFFFF"/>
                </a:solidFill>
                <a:latin typeface="Tahoma" panose="020B0604030504040204"/>
                <a:cs typeface="Tahoma" panose="020B0604030504040204"/>
              </a:rPr>
              <a:t>and</a:t>
            </a:r>
            <a:r>
              <a:rPr kumimoji="0" sz="1300" kern="0" cap="none" spc="10" normalizeH="0" baseline="0" noProof="0" dirty="0">
                <a:solidFill>
                  <a:srgbClr val="FFFFFF"/>
                </a:solidFill>
                <a:latin typeface="Tahoma" panose="020B0604030504040204"/>
                <a:cs typeface="Tahoma" panose="020B0604030504040204"/>
              </a:rPr>
              <a:t> </a:t>
            </a:r>
            <a:r>
              <a:rPr kumimoji="0" sz="1300" kern="0" cap="none" spc="0" normalizeH="0" baseline="0" noProof="0" dirty="0">
                <a:solidFill>
                  <a:srgbClr val="FFFFFF"/>
                </a:solidFill>
                <a:latin typeface="Tahoma" panose="020B0604030504040204"/>
                <a:cs typeface="Tahoma" panose="020B0604030504040204"/>
              </a:rPr>
              <a:t>Process</a:t>
            </a:r>
            <a:r>
              <a:rPr kumimoji="0" sz="1300" kern="0" cap="none" spc="10" normalizeH="0" baseline="0" noProof="0" dirty="0">
                <a:solidFill>
                  <a:srgbClr val="FFFFFF"/>
                </a:solidFill>
                <a:latin typeface="Tahoma" panose="020B0604030504040204"/>
                <a:cs typeface="Tahoma" panose="020B0604030504040204"/>
              </a:rPr>
              <a:t> </a:t>
            </a:r>
            <a:r>
              <a:rPr kumimoji="0" sz="1300" kern="0" cap="none" spc="-20" normalizeH="0" baseline="0" noProof="0" dirty="0">
                <a:solidFill>
                  <a:srgbClr val="FFFFFF"/>
                </a:solidFill>
                <a:latin typeface="Tahoma" panose="020B0604030504040204"/>
                <a:cs typeface="Tahoma" panose="020B0604030504040204"/>
              </a:rPr>
              <a:t>claim</a:t>
            </a:r>
            <a:endParaRPr kumimoji="0" sz="1300" kern="0" cap="none" spc="0" normalizeH="0" baseline="0" noProof="0">
              <a:solidFill>
                <a:sysClr val="windowText" lastClr="000000"/>
              </a:solidFill>
              <a:latin typeface="Tahoma" panose="020B0604030504040204"/>
              <a:cs typeface="Tahoma" panose="020B0604030504040204"/>
            </a:endParaRPr>
          </a:p>
        </p:txBody>
      </p:sp>
      <p:grpSp>
        <p:nvGrpSpPr>
          <p:cNvPr id="26635" name="object 19"/>
          <p:cNvGrpSpPr/>
          <p:nvPr/>
        </p:nvGrpSpPr>
        <p:grpSpPr>
          <a:xfrm>
            <a:off x="9078913" y="1982788"/>
            <a:ext cx="496887" cy="579437"/>
            <a:chOff x="9079039" y="1982914"/>
            <a:chExt cx="497205" cy="579755"/>
          </a:xfrm>
        </p:grpSpPr>
        <p:sp>
          <p:nvSpPr>
            <p:cNvPr id="26652" name="object 20"/>
            <p:cNvSpPr/>
            <p:nvPr/>
          </p:nvSpPr>
          <p:spPr>
            <a:xfrm>
              <a:off x="9083802" y="1987676"/>
              <a:ext cx="487680" cy="570230"/>
            </a:xfrm>
            <a:custGeom>
              <a:avLst/>
              <a:gdLst/>
              <a:ahLst/>
              <a:cxnLst/>
              <a:pathLst>
                <a:path w="487679" h="570230">
                  <a:moveTo>
                    <a:pt x="243713" y="0"/>
                  </a:moveTo>
                  <a:lnTo>
                    <a:pt x="243713" y="113919"/>
                  </a:lnTo>
                  <a:lnTo>
                    <a:pt x="0" y="113919"/>
                  </a:lnTo>
                  <a:lnTo>
                    <a:pt x="0" y="455930"/>
                  </a:lnTo>
                  <a:lnTo>
                    <a:pt x="243713" y="455930"/>
                  </a:lnTo>
                  <a:lnTo>
                    <a:pt x="243713" y="569976"/>
                  </a:lnTo>
                  <a:lnTo>
                    <a:pt x="487299" y="284988"/>
                  </a:lnTo>
                  <a:lnTo>
                    <a:pt x="243713" y="0"/>
                  </a:lnTo>
                  <a:close/>
                </a:path>
              </a:pathLst>
            </a:custGeom>
            <a:solidFill>
              <a:srgbClr val="FF7769">
                <a:alpha val="100000"/>
              </a:srgbClr>
            </a:solidFill>
            <a:ln w="9525">
              <a:noFill/>
            </a:ln>
          </p:spPr>
          <p:txBody>
            <a:bodyPr/>
            <a:p>
              <a:endParaRPr lang="en-US"/>
            </a:p>
          </p:txBody>
        </p:sp>
        <p:sp>
          <p:nvSpPr>
            <p:cNvPr id="26653" name="object 21"/>
            <p:cNvSpPr/>
            <p:nvPr/>
          </p:nvSpPr>
          <p:spPr>
            <a:xfrm>
              <a:off x="9083802" y="1987676"/>
              <a:ext cx="487680" cy="570230"/>
            </a:xfrm>
            <a:custGeom>
              <a:avLst/>
              <a:gdLst/>
              <a:ahLst/>
              <a:cxnLst/>
              <a:pathLst>
                <a:path w="487679" h="570230">
                  <a:moveTo>
                    <a:pt x="0" y="113919"/>
                  </a:moveTo>
                  <a:lnTo>
                    <a:pt x="243713" y="113919"/>
                  </a:lnTo>
                  <a:lnTo>
                    <a:pt x="243713" y="0"/>
                  </a:lnTo>
                  <a:lnTo>
                    <a:pt x="487299" y="284988"/>
                  </a:lnTo>
                  <a:lnTo>
                    <a:pt x="243713" y="569976"/>
                  </a:lnTo>
                  <a:lnTo>
                    <a:pt x="243713" y="455930"/>
                  </a:lnTo>
                  <a:lnTo>
                    <a:pt x="0" y="455930"/>
                  </a:lnTo>
                  <a:lnTo>
                    <a:pt x="0" y="113919"/>
                  </a:lnTo>
                  <a:close/>
                </a:path>
              </a:pathLst>
            </a:custGeom>
            <a:noFill/>
            <a:ln w="9524" cap="flat" cmpd="sng">
              <a:solidFill>
                <a:srgbClr val="FF7769">
                  <a:alpha val="100000"/>
                </a:srgbClr>
              </a:solidFill>
              <a:prstDash val="solid"/>
              <a:headEnd type="none" w="med" len="med"/>
              <a:tailEnd type="none" w="med" len="med"/>
            </a:ln>
          </p:spPr>
          <p:txBody>
            <a:bodyPr/>
            <a:p>
              <a:endParaRPr lang="en-US"/>
            </a:p>
          </p:txBody>
        </p:sp>
      </p:grpSp>
      <p:grpSp>
        <p:nvGrpSpPr>
          <p:cNvPr id="26636" name="object 22"/>
          <p:cNvGrpSpPr/>
          <p:nvPr/>
        </p:nvGrpSpPr>
        <p:grpSpPr>
          <a:xfrm>
            <a:off x="9766300" y="1576388"/>
            <a:ext cx="2311400" cy="1392237"/>
            <a:chOff x="9766934" y="1576705"/>
            <a:chExt cx="2311400" cy="1391920"/>
          </a:xfrm>
        </p:grpSpPr>
        <p:sp>
          <p:nvSpPr>
            <p:cNvPr id="26650" name="object 23"/>
            <p:cNvSpPr/>
            <p:nvPr/>
          </p:nvSpPr>
          <p:spPr>
            <a:xfrm>
              <a:off x="9773284" y="1583055"/>
              <a:ext cx="2298700" cy="1379220"/>
            </a:xfrm>
            <a:custGeom>
              <a:avLst/>
              <a:gdLst/>
              <a:ahLst/>
              <a:cxnLst/>
              <a:pathLst>
                <a:path w="2298700" h="1379220">
                  <a:moveTo>
                    <a:pt x="2160524" y="0"/>
                  </a:moveTo>
                  <a:lnTo>
                    <a:pt x="137922" y="0"/>
                  </a:lnTo>
                  <a:lnTo>
                    <a:pt x="94366" y="7040"/>
                  </a:lnTo>
                  <a:lnTo>
                    <a:pt x="56509" y="26639"/>
                  </a:lnTo>
                  <a:lnTo>
                    <a:pt x="26639" y="56509"/>
                  </a:lnTo>
                  <a:lnTo>
                    <a:pt x="7040" y="94366"/>
                  </a:lnTo>
                  <a:lnTo>
                    <a:pt x="0" y="137922"/>
                  </a:lnTo>
                  <a:lnTo>
                    <a:pt x="0" y="1241171"/>
                  </a:lnTo>
                  <a:lnTo>
                    <a:pt x="7040" y="1284775"/>
                  </a:lnTo>
                  <a:lnTo>
                    <a:pt x="26639" y="1322637"/>
                  </a:lnTo>
                  <a:lnTo>
                    <a:pt x="56509" y="1352490"/>
                  </a:lnTo>
                  <a:lnTo>
                    <a:pt x="94366" y="1372064"/>
                  </a:lnTo>
                  <a:lnTo>
                    <a:pt x="137922" y="1379093"/>
                  </a:lnTo>
                  <a:lnTo>
                    <a:pt x="2160524" y="1379093"/>
                  </a:lnTo>
                  <a:lnTo>
                    <a:pt x="2204066" y="1372064"/>
                  </a:lnTo>
                  <a:lnTo>
                    <a:pt x="2241891" y="1352490"/>
                  </a:lnTo>
                  <a:lnTo>
                    <a:pt x="2271724" y="1322637"/>
                  </a:lnTo>
                  <a:lnTo>
                    <a:pt x="2291291" y="1284775"/>
                  </a:lnTo>
                  <a:lnTo>
                    <a:pt x="2298319" y="1241171"/>
                  </a:lnTo>
                  <a:lnTo>
                    <a:pt x="2298319" y="137922"/>
                  </a:lnTo>
                  <a:lnTo>
                    <a:pt x="2291291" y="94366"/>
                  </a:lnTo>
                  <a:lnTo>
                    <a:pt x="2271724" y="56509"/>
                  </a:lnTo>
                  <a:lnTo>
                    <a:pt x="2241891" y="26639"/>
                  </a:lnTo>
                  <a:lnTo>
                    <a:pt x="2204066" y="7040"/>
                  </a:lnTo>
                  <a:lnTo>
                    <a:pt x="2160524" y="0"/>
                  </a:lnTo>
                  <a:close/>
                </a:path>
              </a:pathLst>
            </a:custGeom>
            <a:solidFill>
              <a:srgbClr val="00A757">
                <a:alpha val="100000"/>
              </a:srgbClr>
            </a:solidFill>
            <a:ln w="9525">
              <a:noFill/>
            </a:ln>
          </p:spPr>
          <p:txBody>
            <a:bodyPr/>
            <a:p>
              <a:endParaRPr lang="en-US"/>
            </a:p>
          </p:txBody>
        </p:sp>
        <p:sp>
          <p:nvSpPr>
            <p:cNvPr id="26651" name="object 24"/>
            <p:cNvSpPr/>
            <p:nvPr/>
          </p:nvSpPr>
          <p:spPr>
            <a:xfrm>
              <a:off x="9773284" y="1583055"/>
              <a:ext cx="2298700" cy="1379220"/>
            </a:xfrm>
            <a:custGeom>
              <a:avLst/>
              <a:gdLst/>
              <a:ahLst/>
              <a:cxnLst/>
              <a:pathLst>
                <a:path w="2298700" h="1379220">
                  <a:moveTo>
                    <a:pt x="0" y="137922"/>
                  </a:moveTo>
                  <a:lnTo>
                    <a:pt x="7040" y="94366"/>
                  </a:lnTo>
                  <a:lnTo>
                    <a:pt x="26639" y="56509"/>
                  </a:lnTo>
                  <a:lnTo>
                    <a:pt x="56509" y="26639"/>
                  </a:lnTo>
                  <a:lnTo>
                    <a:pt x="94366" y="7040"/>
                  </a:lnTo>
                  <a:lnTo>
                    <a:pt x="137922" y="0"/>
                  </a:lnTo>
                  <a:lnTo>
                    <a:pt x="2160524" y="0"/>
                  </a:lnTo>
                  <a:lnTo>
                    <a:pt x="2204066" y="7040"/>
                  </a:lnTo>
                  <a:lnTo>
                    <a:pt x="2241891" y="26639"/>
                  </a:lnTo>
                  <a:lnTo>
                    <a:pt x="2271724" y="56509"/>
                  </a:lnTo>
                  <a:lnTo>
                    <a:pt x="2291291" y="94366"/>
                  </a:lnTo>
                  <a:lnTo>
                    <a:pt x="2298319" y="137922"/>
                  </a:lnTo>
                  <a:lnTo>
                    <a:pt x="2298319" y="1241171"/>
                  </a:lnTo>
                  <a:lnTo>
                    <a:pt x="2291291" y="1284775"/>
                  </a:lnTo>
                  <a:lnTo>
                    <a:pt x="2271724" y="1322637"/>
                  </a:lnTo>
                  <a:lnTo>
                    <a:pt x="2241891" y="1352490"/>
                  </a:lnTo>
                  <a:lnTo>
                    <a:pt x="2204066" y="1372064"/>
                  </a:lnTo>
                  <a:lnTo>
                    <a:pt x="2160524" y="1379093"/>
                  </a:lnTo>
                  <a:lnTo>
                    <a:pt x="137922" y="1379093"/>
                  </a:lnTo>
                  <a:lnTo>
                    <a:pt x="94366" y="1372064"/>
                  </a:lnTo>
                  <a:lnTo>
                    <a:pt x="56509" y="1352490"/>
                  </a:lnTo>
                  <a:lnTo>
                    <a:pt x="26639" y="1322637"/>
                  </a:lnTo>
                  <a:lnTo>
                    <a:pt x="7040" y="1284775"/>
                  </a:lnTo>
                  <a:lnTo>
                    <a:pt x="0" y="1241171"/>
                  </a:lnTo>
                  <a:lnTo>
                    <a:pt x="0" y="137922"/>
                  </a:lnTo>
                  <a:close/>
                </a:path>
              </a:pathLst>
            </a:custGeom>
            <a:noFill/>
            <a:ln w="12700" cap="flat" cmpd="sng">
              <a:solidFill>
                <a:srgbClr val="00A757">
                  <a:alpha val="100000"/>
                </a:srgbClr>
              </a:solidFill>
              <a:prstDash val="solid"/>
              <a:headEnd type="none" w="med" len="med"/>
              <a:tailEnd type="none" w="med" len="med"/>
            </a:ln>
          </p:spPr>
          <p:txBody>
            <a:bodyPr/>
            <a:p>
              <a:endParaRPr lang="en-US"/>
            </a:p>
          </p:txBody>
        </p:sp>
      </p:grpSp>
      <p:sp>
        <p:nvSpPr>
          <p:cNvPr id="25" name="object 25"/>
          <p:cNvSpPr txBox="1"/>
          <p:nvPr/>
        </p:nvSpPr>
        <p:spPr>
          <a:xfrm>
            <a:off x="9996488" y="1843088"/>
            <a:ext cx="1854200" cy="746125"/>
          </a:xfrm>
          <a:prstGeom prst="rect">
            <a:avLst/>
          </a:prstGeom>
        </p:spPr>
        <p:txBody>
          <a:bodyPr vert="horz" wrap="square" lIns="0" tIns="59690" rIns="0" bIns="0" rtlCol="0">
            <a:spAutoFit/>
          </a:bodyPr>
          <a:p>
            <a:pPr algn="ctr" eaLnBrk="1" hangingPunct="1">
              <a:spcBef>
                <a:spcPts val="475"/>
              </a:spcBef>
              <a:buNone/>
            </a:pPr>
            <a:r>
              <a:rPr lang="en-US" altLang="zh-CN" b="1" i="1">
                <a:solidFill>
                  <a:srgbClr val="FFFFFF"/>
                </a:solidFill>
                <a:latin typeface="Gill Sans MT" panose="020B0502020104020203" pitchFamily="34" charset="0"/>
                <a:cs typeface="Gill Sans MT" panose="020B0502020104020203" pitchFamily="34" charset="0"/>
              </a:rPr>
              <a:t>PH Claims</a:t>
            </a:r>
            <a:endParaRPr lang="en-US" altLang="zh-CN">
              <a:solidFill>
                <a:srgbClr val="000000"/>
              </a:solidFill>
              <a:latin typeface="Gill Sans MT" panose="020B0502020104020203" pitchFamily="34" charset="0"/>
              <a:cs typeface="Gill Sans MT" panose="020B0502020104020203" pitchFamily="34" charset="0"/>
            </a:endParaRPr>
          </a:p>
          <a:p>
            <a:pPr algn="ctr" eaLnBrk="1" hangingPunct="1">
              <a:lnSpc>
                <a:spcPts val="1325"/>
              </a:lnSpc>
              <a:spcBef>
                <a:spcPts val="500"/>
              </a:spcBef>
              <a:buNone/>
            </a:pPr>
            <a:r>
              <a:rPr lang="en-US" altLang="zh-CN" sz="1300">
                <a:solidFill>
                  <a:srgbClr val="FFFFFF"/>
                </a:solidFill>
                <a:latin typeface="Tahoma" panose="020B0604030504040204" pitchFamily="34" charset="0"/>
                <a:cs typeface="Tahoma" panose="020B0604030504040204" pitchFamily="34" charset="0"/>
              </a:rPr>
              <a:t>Notify customer/agent of completion</a:t>
            </a:r>
            <a:endParaRPr lang="en-US" altLang="zh-CN" sz="1300">
              <a:solidFill>
                <a:srgbClr val="000000"/>
              </a:solidFill>
              <a:latin typeface="Tahoma" panose="020B0604030504040204" pitchFamily="34" charset="0"/>
              <a:ea typeface="Tahoma" panose="020B0604030504040204" pitchFamily="34" charset="0"/>
            </a:endParaRPr>
          </a:p>
        </p:txBody>
      </p:sp>
      <p:sp>
        <p:nvSpPr>
          <p:cNvPr id="26638" name="object 26"/>
          <p:cNvSpPr/>
          <p:nvPr/>
        </p:nvSpPr>
        <p:spPr>
          <a:xfrm>
            <a:off x="114300" y="3079750"/>
            <a:ext cx="2295525" cy="1689100"/>
          </a:xfrm>
          <a:custGeom>
            <a:avLst/>
            <a:gdLst/>
            <a:ahLst/>
            <a:cxnLst/>
            <a:pathLst>
              <a:path w="2295525" h="1689100">
                <a:moveTo>
                  <a:pt x="0" y="129032"/>
                </a:moveTo>
                <a:lnTo>
                  <a:pt x="10137" y="78813"/>
                </a:lnTo>
                <a:lnTo>
                  <a:pt x="37783" y="37798"/>
                </a:lnTo>
                <a:lnTo>
                  <a:pt x="78788" y="10142"/>
                </a:lnTo>
                <a:lnTo>
                  <a:pt x="129002" y="0"/>
                </a:lnTo>
                <a:lnTo>
                  <a:pt x="2166349" y="0"/>
                </a:lnTo>
                <a:lnTo>
                  <a:pt x="2216568" y="10142"/>
                </a:lnTo>
                <a:lnTo>
                  <a:pt x="2257583" y="37798"/>
                </a:lnTo>
                <a:lnTo>
                  <a:pt x="2285239" y="78813"/>
                </a:lnTo>
                <a:lnTo>
                  <a:pt x="2295381" y="129032"/>
                </a:lnTo>
                <a:lnTo>
                  <a:pt x="2295381" y="1559814"/>
                </a:lnTo>
                <a:lnTo>
                  <a:pt x="2285239" y="1610032"/>
                </a:lnTo>
                <a:lnTo>
                  <a:pt x="2257583" y="1651047"/>
                </a:lnTo>
                <a:lnTo>
                  <a:pt x="2216568" y="1678703"/>
                </a:lnTo>
                <a:lnTo>
                  <a:pt x="2166349" y="1688846"/>
                </a:lnTo>
                <a:lnTo>
                  <a:pt x="129002" y="1688846"/>
                </a:lnTo>
                <a:lnTo>
                  <a:pt x="78788" y="1678703"/>
                </a:lnTo>
                <a:lnTo>
                  <a:pt x="37783" y="1651047"/>
                </a:lnTo>
                <a:lnTo>
                  <a:pt x="10137" y="1610032"/>
                </a:lnTo>
                <a:lnTo>
                  <a:pt x="0" y="1559814"/>
                </a:lnTo>
                <a:lnTo>
                  <a:pt x="0" y="129032"/>
                </a:lnTo>
                <a:close/>
              </a:path>
            </a:pathLst>
          </a:custGeom>
          <a:noFill/>
          <a:ln w="19050" cap="flat" cmpd="sng">
            <a:solidFill>
              <a:srgbClr val="00A757">
                <a:alpha val="100000"/>
              </a:srgbClr>
            </a:solidFill>
            <a:prstDash val="solid"/>
            <a:headEnd type="none" w="med" len="med"/>
            <a:tailEnd type="none" w="med" len="med"/>
          </a:ln>
        </p:spPr>
        <p:txBody>
          <a:bodyPr/>
          <a:p>
            <a:endParaRPr lang="en-US"/>
          </a:p>
        </p:txBody>
      </p:sp>
      <p:sp>
        <p:nvSpPr>
          <p:cNvPr id="27" name="object 27"/>
          <p:cNvSpPr txBox="1"/>
          <p:nvPr/>
        </p:nvSpPr>
        <p:spPr>
          <a:xfrm>
            <a:off x="231775" y="3541713"/>
            <a:ext cx="2022475" cy="757238"/>
          </a:xfrm>
          <a:prstGeom prst="rect">
            <a:avLst/>
          </a:prstGeom>
        </p:spPr>
        <p:txBody>
          <a:bodyPr vert="horz" wrap="square" lIns="0" tIns="12700" rIns="0" bIns="0" rtlCol="0">
            <a:spAutoFit/>
          </a:bodyPr>
          <a:p>
            <a:pPr marL="298450" indent="-285750" defTabSz="914400" eaLnBrk="1" hangingPunct="1">
              <a:spcBef>
                <a:spcPts val="100"/>
              </a:spcBef>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Send claim notification</a:t>
            </a:r>
            <a:endParaRPr lang="en-US" altLang="zh-CN" sz="1200">
              <a:solidFill>
                <a:srgbClr val="000000"/>
              </a:solidFill>
              <a:latin typeface="Tahoma" panose="020B0604030504040204" pitchFamily="34" charset="0"/>
              <a:cs typeface="Tahoma" panose="020B0604030504040204" pitchFamily="34" charset="0"/>
            </a:endParaRPr>
          </a:p>
          <a:p>
            <a:pPr marL="298450" indent="-285750" defTabSz="914400" eaLnBrk="1" hangingPunct="1">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Send requirement (please refer to separate checklist)</a:t>
            </a:r>
            <a:endParaRPr lang="en-US" altLang="zh-CN" sz="1200">
              <a:solidFill>
                <a:srgbClr val="000000"/>
              </a:solidFill>
              <a:latin typeface="Tahoma" panose="020B0604030504040204" pitchFamily="34" charset="0"/>
              <a:ea typeface="Tahoma" panose="020B0604030504040204" pitchFamily="34" charset="0"/>
            </a:endParaRPr>
          </a:p>
        </p:txBody>
      </p:sp>
      <p:sp>
        <p:nvSpPr>
          <p:cNvPr id="26640" name="object 28"/>
          <p:cNvSpPr/>
          <p:nvPr/>
        </p:nvSpPr>
        <p:spPr>
          <a:xfrm>
            <a:off x="3346450" y="3079750"/>
            <a:ext cx="2295525" cy="1689100"/>
          </a:xfrm>
          <a:custGeom>
            <a:avLst/>
            <a:gdLst/>
            <a:ahLst/>
            <a:cxnLst/>
            <a:pathLst>
              <a:path w="2295525" h="1689100">
                <a:moveTo>
                  <a:pt x="0" y="129032"/>
                </a:moveTo>
                <a:lnTo>
                  <a:pt x="10142" y="78813"/>
                </a:lnTo>
                <a:lnTo>
                  <a:pt x="37798" y="37798"/>
                </a:lnTo>
                <a:lnTo>
                  <a:pt x="78813" y="10142"/>
                </a:lnTo>
                <a:lnTo>
                  <a:pt x="129032" y="0"/>
                </a:lnTo>
                <a:lnTo>
                  <a:pt x="2166366" y="0"/>
                </a:lnTo>
                <a:lnTo>
                  <a:pt x="2216564" y="10142"/>
                </a:lnTo>
                <a:lnTo>
                  <a:pt x="2257536" y="37798"/>
                </a:lnTo>
                <a:lnTo>
                  <a:pt x="2285148" y="78813"/>
                </a:lnTo>
                <a:lnTo>
                  <a:pt x="2295271" y="129032"/>
                </a:lnTo>
                <a:lnTo>
                  <a:pt x="2295271" y="1559814"/>
                </a:lnTo>
                <a:lnTo>
                  <a:pt x="2285148" y="1610032"/>
                </a:lnTo>
                <a:lnTo>
                  <a:pt x="2257536" y="1651047"/>
                </a:lnTo>
                <a:lnTo>
                  <a:pt x="2216564" y="1678703"/>
                </a:lnTo>
                <a:lnTo>
                  <a:pt x="2166366" y="1688846"/>
                </a:lnTo>
                <a:lnTo>
                  <a:pt x="129032" y="1688846"/>
                </a:lnTo>
                <a:lnTo>
                  <a:pt x="78813" y="1678703"/>
                </a:lnTo>
                <a:lnTo>
                  <a:pt x="37798" y="1651047"/>
                </a:lnTo>
                <a:lnTo>
                  <a:pt x="10142" y="1610032"/>
                </a:lnTo>
                <a:lnTo>
                  <a:pt x="0" y="1559814"/>
                </a:lnTo>
                <a:lnTo>
                  <a:pt x="0" y="129032"/>
                </a:lnTo>
                <a:close/>
              </a:path>
            </a:pathLst>
          </a:custGeom>
          <a:noFill/>
          <a:ln w="19050" cap="flat" cmpd="sng">
            <a:solidFill>
              <a:srgbClr val="00A757">
                <a:alpha val="100000"/>
              </a:srgbClr>
            </a:solidFill>
            <a:prstDash val="solid"/>
            <a:headEnd type="none" w="med" len="med"/>
            <a:tailEnd type="none" w="med" len="med"/>
          </a:ln>
        </p:spPr>
        <p:txBody>
          <a:bodyPr/>
          <a:p>
            <a:endParaRPr lang="en-US"/>
          </a:p>
        </p:txBody>
      </p:sp>
      <p:sp>
        <p:nvSpPr>
          <p:cNvPr id="29" name="object 29"/>
          <p:cNvSpPr txBox="1"/>
          <p:nvPr/>
        </p:nvSpPr>
        <p:spPr>
          <a:xfrm>
            <a:off x="3463925" y="3175000"/>
            <a:ext cx="1889125" cy="1489075"/>
          </a:xfrm>
          <a:prstGeom prst="rect">
            <a:avLst/>
          </a:prstGeom>
        </p:spPr>
        <p:txBody>
          <a:bodyPr vert="horz" wrap="square" lIns="0" tIns="12700" rIns="0" bIns="0" rtlCol="0">
            <a:spAutoFit/>
          </a:bodyPr>
          <a:p>
            <a:pPr marL="298450" indent="-285750" defTabSz="914400" eaLnBrk="1" hangingPunct="1">
              <a:spcBef>
                <a:spcPts val="100"/>
              </a:spcBef>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Send acknowledgement within 24 to 48 hours</a:t>
            </a:r>
            <a:endParaRPr lang="en-US" altLang="zh-CN" sz="1200">
              <a:solidFill>
                <a:srgbClr val="000000"/>
              </a:solidFill>
              <a:latin typeface="Tahoma" panose="020B0604030504040204" pitchFamily="34" charset="0"/>
              <a:cs typeface="Tahoma" panose="020B0604030504040204" pitchFamily="34" charset="0"/>
            </a:endParaRPr>
          </a:p>
          <a:p>
            <a:pPr marL="298450" indent="-285750" defTabSz="914400" eaLnBrk="1" hangingPunct="1">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Ask for additional requirements (if any)</a:t>
            </a:r>
            <a:endParaRPr lang="en-US" altLang="zh-CN" sz="1200">
              <a:solidFill>
                <a:srgbClr val="000000"/>
              </a:solidFill>
              <a:latin typeface="Tahoma" panose="020B0604030504040204" pitchFamily="34" charset="0"/>
              <a:cs typeface="Tahoma" panose="020B0604030504040204" pitchFamily="34" charset="0"/>
            </a:endParaRPr>
          </a:p>
          <a:p>
            <a:pPr marL="298450" indent="-285750" defTabSz="914400" eaLnBrk="1" hangingPunct="1">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Screen for completion and endorse to processing team for review</a:t>
            </a:r>
            <a:endParaRPr lang="en-US" altLang="zh-CN" sz="1200">
              <a:solidFill>
                <a:srgbClr val="000000"/>
              </a:solidFill>
              <a:latin typeface="Tahoma" panose="020B0604030504040204" pitchFamily="34" charset="0"/>
              <a:ea typeface="Tahoma" panose="020B0604030504040204" pitchFamily="34" charset="0"/>
            </a:endParaRPr>
          </a:p>
        </p:txBody>
      </p:sp>
      <p:sp>
        <p:nvSpPr>
          <p:cNvPr id="26642" name="object 30"/>
          <p:cNvSpPr/>
          <p:nvPr/>
        </p:nvSpPr>
        <p:spPr>
          <a:xfrm>
            <a:off x="6550025" y="3079750"/>
            <a:ext cx="2295525" cy="1689100"/>
          </a:xfrm>
          <a:custGeom>
            <a:avLst/>
            <a:gdLst/>
            <a:ahLst/>
            <a:cxnLst/>
            <a:pathLst>
              <a:path w="2295525" h="1689100">
                <a:moveTo>
                  <a:pt x="0" y="129032"/>
                </a:moveTo>
                <a:lnTo>
                  <a:pt x="10122" y="78813"/>
                </a:lnTo>
                <a:lnTo>
                  <a:pt x="37734" y="37798"/>
                </a:lnTo>
                <a:lnTo>
                  <a:pt x="78706" y="10142"/>
                </a:lnTo>
                <a:lnTo>
                  <a:pt x="128904" y="0"/>
                </a:lnTo>
                <a:lnTo>
                  <a:pt x="2166239" y="0"/>
                </a:lnTo>
                <a:lnTo>
                  <a:pt x="2216457" y="10142"/>
                </a:lnTo>
                <a:lnTo>
                  <a:pt x="2257472" y="37798"/>
                </a:lnTo>
                <a:lnTo>
                  <a:pt x="2285128" y="78813"/>
                </a:lnTo>
                <a:lnTo>
                  <a:pt x="2295271" y="129032"/>
                </a:lnTo>
                <a:lnTo>
                  <a:pt x="2295271" y="1559814"/>
                </a:lnTo>
                <a:lnTo>
                  <a:pt x="2285128" y="1610032"/>
                </a:lnTo>
                <a:lnTo>
                  <a:pt x="2257472" y="1651047"/>
                </a:lnTo>
                <a:lnTo>
                  <a:pt x="2216457" y="1678703"/>
                </a:lnTo>
                <a:lnTo>
                  <a:pt x="2166239" y="1688846"/>
                </a:lnTo>
                <a:lnTo>
                  <a:pt x="128904" y="1688846"/>
                </a:lnTo>
                <a:lnTo>
                  <a:pt x="78706" y="1678703"/>
                </a:lnTo>
                <a:lnTo>
                  <a:pt x="37734" y="1651047"/>
                </a:lnTo>
                <a:lnTo>
                  <a:pt x="10122" y="1610032"/>
                </a:lnTo>
                <a:lnTo>
                  <a:pt x="0" y="1559814"/>
                </a:lnTo>
                <a:lnTo>
                  <a:pt x="0" y="129032"/>
                </a:lnTo>
                <a:close/>
              </a:path>
            </a:pathLst>
          </a:custGeom>
          <a:noFill/>
          <a:ln w="19050" cap="flat" cmpd="sng">
            <a:solidFill>
              <a:srgbClr val="00A757">
                <a:alpha val="100000"/>
              </a:srgbClr>
            </a:solidFill>
            <a:prstDash val="solid"/>
            <a:headEnd type="none" w="med" len="med"/>
            <a:tailEnd type="none" w="med" len="med"/>
          </a:ln>
        </p:spPr>
        <p:txBody>
          <a:bodyPr/>
          <a:p>
            <a:endParaRPr lang="en-US"/>
          </a:p>
        </p:txBody>
      </p:sp>
      <p:sp>
        <p:nvSpPr>
          <p:cNvPr id="31" name="object 31"/>
          <p:cNvSpPr txBox="1"/>
          <p:nvPr/>
        </p:nvSpPr>
        <p:spPr>
          <a:xfrm>
            <a:off x="6667500" y="3541713"/>
            <a:ext cx="2020888" cy="757238"/>
          </a:xfrm>
          <a:prstGeom prst="rect">
            <a:avLst/>
          </a:prstGeom>
        </p:spPr>
        <p:txBody>
          <a:bodyPr vert="horz" wrap="square" lIns="0" tIns="12700" rIns="0" bIns="0" rtlCol="0">
            <a:spAutoFit/>
          </a:bodyPr>
          <a:p>
            <a:pPr marL="298450" indent="-285750" defTabSz="914400" eaLnBrk="1" hangingPunct="1">
              <a:spcBef>
                <a:spcPts val="100"/>
              </a:spcBef>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Review, approve, and process claim application</a:t>
            </a:r>
            <a:endParaRPr lang="en-US" altLang="zh-CN" sz="1200">
              <a:solidFill>
                <a:srgbClr val="000000"/>
              </a:solidFill>
              <a:latin typeface="Tahoma" panose="020B0604030504040204" pitchFamily="34" charset="0"/>
              <a:cs typeface="Tahoma" panose="020B0604030504040204" pitchFamily="34" charset="0"/>
            </a:endParaRPr>
          </a:p>
          <a:p>
            <a:pPr marL="298450" indent="-285750" defTabSz="914400" eaLnBrk="1" hangingPunct="1">
              <a:buFont typeface="Arial" panose="020B0604020202020204" pitchFamily="34" charset="0"/>
              <a:buChar char="•"/>
              <a:tabLst>
                <a:tab pos="298450" algn="l"/>
              </a:tabLst>
            </a:pPr>
            <a:r>
              <a:rPr lang="en-US" altLang="zh-CN" sz="1200">
                <a:solidFill>
                  <a:srgbClr val="000000"/>
                </a:solidFill>
                <a:latin typeface="Tahoma" panose="020B0604030504040204" pitchFamily="34" charset="0"/>
                <a:cs typeface="Tahoma" panose="020B0604030504040204" pitchFamily="34" charset="0"/>
              </a:rPr>
              <a:t>Directly credit proceeds to bank account</a:t>
            </a:r>
            <a:endParaRPr lang="en-US" altLang="zh-CN" sz="1200">
              <a:solidFill>
                <a:srgbClr val="000000"/>
              </a:solidFill>
              <a:latin typeface="Tahoma" panose="020B0604030504040204" pitchFamily="34" charset="0"/>
              <a:ea typeface="Tahoma" panose="020B0604030504040204" pitchFamily="34" charset="0"/>
            </a:endParaRPr>
          </a:p>
        </p:txBody>
      </p:sp>
      <p:sp>
        <p:nvSpPr>
          <p:cNvPr id="26644" name="object 32"/>
          <p:cNvSpPr/>
          <p:nvPr/>
        </p:nvSpPr>
        <p:spPr>
          <a:xfrm>
            <a:off x="9782175" y="3079750"/>
            <a:ext cx="2295525" cy="1689100"/>
          </a:xfrm>
          <a:custGeom>
            <a:avLst/>
            <a:gdLst/>
            <a:ahLst/>
            <a:cxnLst/>
            <a:pathLst>
              <a:path w="2295525" h="1689100">
                <a:moveTo>
                  <a:pt x="0" y="129032"/>
                </a:moveTo>
                <a:lnTo>
                  <a:pt x="10142" y="78813"/>
                </a:lnTo>
                <a:lnTo>
                  <a:pt x="37798" y="37798"/>
                </a:lnTo>
                <a:lnTo>
                  <a:pt x="78813" y="10142"/>
                </a:lnTo>
                <a:lnTo>
                  <a:pt x="129031" y="0"/>
                </a:lnTo>
                <a:lnTo>
                  <a:pt x="2166365" y="0"/>
                </a:lnTo>
                <a:lnTo>
                  <a:pt x="2216584" y="10142"/>
                </a:lnTo>
                <a:lnTo>
                  <a:pt x="2257599" y="37798"/>
                </a:lnTo>
                <a:lnTo>
                  <a:pt x="2285255" y="78813"/>
                </a:lnTo>
                <a:lnTo>
                  <a:pt x="2295398" y="129032"/>
                </a:lnTo>
                <a:lnTo>
                  <a:pt x="2295398" y="1559814"/>
                </a:lnTo>
                <a:lnTo>
                  <a:pt x="2285255" y="1610032"/>
                </a:lnTo>
                <a:lnTo>
                  <a:pt x="2257599" y="1651047"/>
                </a:lnTo>
                <a:lnTo>
                  <a:pt x="2216584" y="1678703"/>
                </a:lnTo>
                <a:lnTo>
                  <a:pt x="2166365" y="1688846"/>
                </a:lnTo>
                <a:lnTo>
                  <a:pt x="129031" y="1688846"/>
                </a:lnTo>
                <a:lnTo>
                  <a:pt x="78813" y="1678703"/>
                </a:lnTo>
                <a:lnTo>
                  <a:pt x="37798" y="1651047"/>
                </a:lnTo>
                <a:lnTo>
                  <a:pt x="10142" y="1610032"/>
                </a:lnTo>
                <a:lnTo>
                  <a:pt x="0" y="1559814"/>
                </a:lnTo>
                <a:lnTo>
                  <a:pt x="0" y="129032"/>
                </a:lnTo>
                <a:close/>
              </a:path>
            </a:pathLst>
          </a:custGeom>
          <a:noFill/>
          <a:ln w="19050" cap="flat" cmpd="sng">
            <a:solidFill>
              <a:srgbClr val="00A757">
                <a:alpha val="100000"/>
              </a:srgbClr>
            </a:solidFill>
            <a:prstDash val="solid"/>
            <a:headEnd type="none" w="med" len="med"/>
            <a:tailEnd type="none" w="med" len="med"/>
          </a:ln>
        </p:spPr>
        <p:txBody>
          <a:bodyPr/>
          <a:p>
            <a:endParaRPr lang="en-US"/>
          </a:p>
        </p:txBody>
      </p:sp>
      <p:sp>
        <p:nvSpPr>
          <p:cNvPr id="33" name="object 33"/>
          <p:cNvSpPr txBox="1"/>
          <p:nvPr/>
        </p:nvSpPr>
        <p:spPr>
          <a:xfrm>
            <a:off x="9899650" y="3541713"/>
            <a:ext cx="2062163" cy="757238"/>
          </a:xfrm>
          <a:prstGeom prst="rect">
            <a:avLst/>
          </a:prstGeom>
        </p:spPr>
        <p:txBody>
          <a:bodyPr vert="horz" wrap="square" lIns="0" tIns="12700" rIns="0" bIns="0" rtlCol="0">
            <a:spAutoFit/>
          </a:bodyPr>
          <a:p>
            <a:pPr marL="184150" indent="-171450" defTabSz="914400" eaLnBrk="1" hangingPunct="1">
              <a:spcBef>
                <a:spcPts val="100"/>
              </a:spcBef>
              <a:buFont typeface="Arial" panose="020B0604020202020204" pitchFamily="34" charset="0"/>
              <a:buChar char="•"/>
              <a:tabLst>
                <a:tab pos="184150" algn="l"/>
              </a:tabLst>
            </a:pPr>
            <a:r>
              <a:rPr lang="en-US" altLang="zh-CN" sz="1200">
                <a:solidFill>
                  <a:srgbClr val="000000"/>
                </a:solidFill>
                <a:latin typeface="Tahoma" panose="020B0604030504040204" pitchFamily="34" charset="0"/>
                <a:cs typeface="Tahoma" panose="020B0604030504040204" pitchFamily="34" charset="0"/>
              </a:rPr>
              <a:t>Notify customer and agent via email that proceeds was already credited to bank account</a:t>
            </a:r>
            <a:endParaRPr lang="en-US" altLang="zh-CN" sz="1200">
              <a:solidFill>
                <a:srgbClr val="000000"/>
              </a:solidFill>
              <a:latin typeface="Tahoma" panose="020B0604030504040204" pitchFamily="34" charset="0"/>
              <a:ea typeface="Tahoma" panose="020B0604030504040204" pitchFamily="34" charset="0"/>
            </a:endParaRPr>
          </a:p>
        </p:txBody>
      </p:sp>
      <p:sp>
        <p:nvSpPr>
          <p:cNvPr id="26646" name="object 34"/>
          <p:cNvSpPr/>
          <p:nvPr/>
        </p:nvSpPr>
        <p:spPr>
          <a:xfrm>
            <a:off x="0" y="742950"/>
            <a:ext cx="12192000" cy="463550"/>
          </a:xfrm>
          <a:custGeom>
            <a:avLst/>
            <a:gdLst/>
            <a:ahLst/>
            <a:cxnLst/>
            <a:pathLst>
              <a:path w="12192000" h="462280">
                <a:moveTo>
                  <a:pt x="12192000" y="0"/>
                </a:moveTo>
                <a:lnTo>
                  <a:pt x="0" y="0"/>
                </a:lnTo>
                <a:lnTo>
                  <a:pt x="0" y="461670"/>
                </a:lnTo>
                <a:lnTo>
                  <a:pt x="12192000" y="461670"/>
                </a:lnTo>
                <a:lnTo>
                  <a:pt x="12192000" y="0"/>
                </a:lnTo>
                <a:close/>
              </a:path>
            </a:pathLst>
          </a:custGeom>
          <a:solidFill>
            <a:srgbClr val="00A757">
              <a:alpha val="100000"/>
            </a:srgbClr>
          </a:solidFill>
          <a:ln w="9525">
            <a:noFill/>
          </a:ln>
        </p:spPr>
        <p:txBody>
          <a:bodyPr/>
          <a:p>
            <a:endParaRPr lang="en-US"/>
          </a:p>
        </p:txBody>
      </p:sp>
      <p:sp>
        <p:nvSpPr>
          <p:cNvPr id="35" name="object 35"/>
          <p:cNvSpPr txBox="1">
            <a:spLocks noGrp="1"/>
          </p:cNvSpPr>
          <p:nvPr>
            <p:ph type="title"/>
          </p:nvPr>
        </p:nvSpPr>
        <p:spPr>
          <a:xfrm>
            <a:off x="4745038" y="768350"/>
            <a:ext cx="2705100" cy="390525"/>
          </a:xfr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defRPr/>
            </a:pPr>
            <a:r>
              <a:rPr kumimoji="0" sz="24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CLAIMS</a:t>
            </a:r>
            <a:r>
              <a:rPr kumimoji="0" sz="2400" b="1" i="0" u="none" strike="noStrike" kern="0" cap="none" spc="15" normalizeH="0" baseline="0" noProof="0" dirty="0">
                <a:ln>
                  <a:noFill/>
                </a:ln>
                <a:solidFill>
                  <a:schemeClr val="bg1"/>
                </a:solidFill>
                <a:effectLst/>
                <a:uLnTx/>
                <a:uFillTx/>
                <a:latin typeface="Arial" panose="020B0604020202020204"/>
                <a:ea typeface="+mj-ea"/>
                <a:cs typeface="Arial" panose="020B0604020202020204"/>
              </a:rPr>
              <a:t> </a:t>
            </a:r>
            <a:r>
              <a:rPr kumimoji="0" sz="2400" b="1" i="0" u="none" strike="noStrike" kern="0" cap="none" spc="-75" normalizeH="0" baseline="0" noProof="0" dirty="0">
                <a:ln>
                  <a:noFill/>
                </a:ln>
                <a:solidFill>
                  <a:schemeClr val="bg1"/>
                </a:solidFill>
                <a:effectLst/>
                <a:uLnTx/>
                <a:uFillTx/>
                <a:latin typeface="Arial" panose="020B0604020202020204"/>
                <a:ea typeface="+mj-ea"/>
                <a:cs typeface="Arial" panose="020B0604020202020204"/>
              </a:rPr>
              <a:t>PROCESS</a:t>
            </a:r>
            <a:endParaRPr kumimoji="0" sz="24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sp>
        <p:nvSpPr>
          <p:cNvPr id="37" name="object 37"/>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36" name="object 36"/>
          <p:cNvSpPr txBox="1"/>
          <p:nvPr/>
        </p:nvSpPr>
        <p:spPr>
          <a:xfrm>
            <a:off x="2276475" y="5100638"/>
            <a:ext cx="7902575" cy="1116013"/>
          </a:xfrm>
          <a:prstGeom prst="rect">
            <a:avLst/>
          </a:prstGeom>
        </p:spPr>
        <p:txBody>
          <a:bodyPr vert="horz" wrap="square" lIns="0" tIns="13335" rIns="0" bIns="0" rtlCol="0">
            <a:spAutoFit/>
          </a:bodyPr>
          <a:p>
            <a:pPr algn="ctr" eaLnBrk="1" hangingPunct="1">
              <a:lnSpc>
                <a:spcPts val="2400"/>
              </a:lnSpc>
              <a:spcBef>
                <a:spcPts val="100"/>
              </a:spcBef>
              <a:buNone/>
            </a:pPr>
            <a:r>
              <a:rPr lang="en-US" altLang="zh-CN" sz="2000">
                <a:solidFill>
                  <a:srgbClr val="000000"/>
                </a:solidFill>
                <a:latin typeface="Tahoma" panose="020B0604030504040204" pitchFamily="34" charset="0"/>
                <a:cs typeface="Tahoma" panose="020B0604030504040204" pitchFamily="34" charset="0"/>
              </a:rPr>
              <a:t>Dedicated email for Group and Individual Claims:</a:t>
            </a:r>
            <a:endParaRPr lang="en-US" altLang="zh-CN" sz="2000">
              <a:solidFill>
                <a:srgbClr val="000000"/>
              </a:solidFill>
              <a:latin typeface="Tahoma" panose="020B0604030504040204" pitchFamily="34" charset="0"/>
              <a:cs typeface="Tahoma" panose="020B0604030504040204" pitchFamily="34" charset="0"/>
            </a:endParaRPr>
          </a:p>
          <a:p>
            <a:pPr algn="ctr" eaLnBrk="1" hangingPunct="1">
              <a:lnSpc>
                <a:spcPts val="2875"/>
              </a:lnSpc>
              <a:buNone/>
            </a:pPr>
            <a:r>
              <a:rPr lang="en-US" altLang="zh-CN" sz="2400" b="1" u="sng">
                <a:solidFill>
                  <a:srgbClr val="0000C1"/>
                </a:solidFill>
                <a:cs typeface="Arial" panose="020B0604020202020204" pitchFamily="34" charset="0"/>
                <a:hlinkClick r:id="rId1"/>
              </a:rPr>
              <a:t>phclaims@manulife.com</a:t>
            </a:r>
            <a:endParaRPr lang="en-US" altLang="zh-CN" sz="2400">
              <a:solidFill>
                <a:srgbClr val="000000"/>
              </a:solidFill>
              <a:cs typeface="Arial" panose="020B0604020202020204" pitchFamily="34" charset="0"/>
            </a:endParaRPr>
          </a:p>
          <a:p>
            <a:pPr eaLnBrk="1" hangingPunct="1">
              <a:spcBef>
                <a:spcPts val="1150"/>
              </a:spcBef>
              <a:buNone/>
            </a:pPr>
            <a:r>
              <a:rPr lang="en-US" altLang="zh-CN">
                <a:solidFill>
                  <a:srgbClr val="000000"/>
                </a:solidFill>
                <a:latin typeface="Tahoma" panose="020B0604030504040204" pitchFamily="34" charset="0"/>
                <a:cs typeface="Tahoma" panose="020B0604030504040204" pitchFamily="34" charset="0"/>
              </a:rPr>
              <a:t>- All submissions, inquiries, and status updates can be emailed to this address</a:t>
            </a:r>
            <a:endParaRPr lang="en-US" altLang="zh-CN">
              <a:solidFill>
                <a:srgbClr val="000000"/>
              </a:solidFill>
              <a:latin typeface="Tahoma" panose="020B0604030504040204" pitchFamily="34" charset="0"/>
              <a:ea typeface="Tahom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376238" y="109538"/>
            <a:ext cx="3656013" cy="331788"/>
          </a:xfr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defRPr/>
            </a:pPr>
            <a:r>
              <a:rPr kumimoji="0" sz="2000" b="1" i="0" u="none" strike="noStrike" kern="0" cap="none" spc="0" normalizeH="0" baseline="0" noProof="0" dirty="0">
                <a:ln>
                  <a:noFill/>
                </a:ln>
                <a:solidFill>
                  <a:srgbClr val="7E7E7E"/>
                </a:solidFill>
                <a:effectLst/>
                <a:uLnTx/>
                <a:uFillTx/>
                <a:latin typeface="Arial" panose="020B0604020202020204"/>
                <a:ea typeface="+mj-ea"/>
                <a:cs typeface="Arial" panose="020B0604020202020204"/>
              </a:rPr>
              <a:t>Group</a:t>
            </a:r>
            <a:r>
              <a:rPr kumimoji="0" sz="2000" b="1" i="0" u="none" strike="noStrike" kern="0" cap="none" spc="13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50" normalizeH="0" baseline="0" noProof="0" dirty="0">
                <a:ln>
                  <a:noFill/>
                </a:ln>
                <a:solidFill>
                  <a:srgbClr val="7E7E7E"/>
                </a:solidFill>
                <a:effectLst/>
                <a:uLnTx/>
                <a:uFillTx/>
                <a:latin typeface="Arial" panose="020B0604020202020204"/>
                <a:ea typeface="+mj-ea"/>
                <a:cs typeface="Arial" panose="020B0604020202020204"/>
              </a:rPr>
              <a:t>Life</a:t>
            </a:r>
            <a:r>
              <a:rPr kumimoji="0" sz="2000" b="1" i="0" u="none" strike="noStrike" kern="0" cap="none" spc="140"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0" normalizeH="0" baseline="0" noProof="0" dirty="0">
                <a:ln>
                  <a:noFill/>
                </a:ln>
                <a:solidFill>
                  <a:srgbClr val="7E7E7E"/>
                </a:solidFill>
                <a:effectLst/>
                <a:uLnTx/>
                <a:uFillTx/>
                <a:latin typeface="Arial" panose="020B0604020202020204"/>
                <a:ea typeface="+mj-ea"/>
                <a:cs typeface="Arial" panose="020B0604020202020204"/>
              </a:rPr>
              <a:t>Insurance</a:t>
            </a:r>
            <a:r>
              <a:rPr kumimoji="0" sz="2000" b="1" i="0" u="none" strike="noStrike" kern="0" cap="none" spc="17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40" normalizeH="0" baseline="0" noProof="0" dirty="0">
                <a:ln>
                  <a:noFill/>
                </a:ln>
                <a:solidFill>
                  <a:srgbClr val="7E7E7E"/>
                </a:solidFill>
                <a:effectLst/>
                <a:uLnTx/>
                <a:uFillTx/>
                <a:latin typeface="Arial" panose="020B0604020202020204"/>
                <a:ea typeface="+mj-ea"/>
                <a:cs typeface="Arial" panose="020B0604020202020204"/>
              </a:rPr>
              <a:t>Benefit</a:t>
            </a:r>
            <a:endParaRPr kumimoji="0" sz="20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grpSp>
        <p:nvGrpSpPr>
          <p:cNvPr id="27651" name="object 3"/>
          <p:cNvGrpSpPr/>
          <p:nvPr/>
        </p:nvGrpSpPr>
        <p:grpSpPr>
          <a:xfrm>
            <a:off x="2152650" y="1812925"/>
            <a:ext cx="7886700" cy="476250"/>
            <a:chOff x="2153094" y="1812353"/>
            <a:chExt cx="7886065" cy="476884"/>
          </a:xfrm>
        </p:grpSpPr>
        <p:sp>
          <p:nvSpPr>
            <p:cNvPr id="27682" name="object 4"/>
            <p:cNvSpPr/>
            <p:nvPr/>
          </p:nvSpPr>
          <p:spPr>
            <a:xfrm>
              <a:off x="2154682" y="1813941"/>
              <a:ext cx="7882890" cy="473709"/>
            </a:xfrm>
            <a:custGeom>
              <a:avLst/>
              <a:gdLst/>
              <a:ahLst/>
              <a:cxnLst/>
              <a:pathLst>
                <a:path w="7882890" h="473710">
                  <a:moveTo>
                    <a:pt x="7852791" y="0"/>
                  </a:moveTo>
                  <a:lnTo>
                    <a:pt x="29972" y="0"/>
                  </a:lnTo>
                  <a:lnTo>
                    <a:pt x="18270" y="2343"/>
                  </a:lnTo>
                  <a:lnTo>
                    <a:pt x="8747" y="8747"/>
                  </a:lnTo>
                  <a:lnTo>
                    <a:pt x="2343" y="18270"/>
                  </a:lnTo>
                  <a:lnTo>
                    <a:pt x="0" y="29972"/>
                  </a:lnTo>
                  <a:lnTo>
                    <a:pt x="0" y="443484"/>
                  </a:lnTo>
                  <a:lnTo>
                    <a:pt x="2343" y="455132"/>
                  </a:lnTo>
                  <a:lnTo>
                    <a:pt x="8747" y="464661"/>
                  </a:lnTo>
                  <a:lnTo>
                    <a:pt x="18270" y="471094"/>
                  </a:lnTo>
                  <a:lnTo>
                    <a:pt x="29972" y="473456"/>
                  </a:lnTo>
                  <a:lnTo>
                    <a:pt x="7852791" y="473456"/>
                  </a:lnTo>
                  <a:lnTo>
                    <a:pt x="7864439" y="471094"/>
                  </a:lnTo>
                  <a:lnTo>
                    <a:pt x="7873968" y="464661"/>
                  </a:lnTo>
                  <a:lnTo>
                    <a:pt x="7880401" y="455132"/>
                  </a:lnTo>
                  <a:lnTo>
                    <a:pt x="7882763" y="443484"/>
                  </a:lnTo>
                  <a:lnTo>
                    <a:pt x="7882763" y="29972"/>
                  </a:lnTo>
                  <a:lnTo>
                    <a:pt x="7880401" y="18270"/>
                  </a:lnTo>
                  <a:lnTo>
                    <a:pt x="7873968" y="8747"/>
                  </a:lnTo>
                  <a:lnTo>
                    <a:pt x="7864439" y="2343"/>
                  </a:lnTo>
                  <a:lnTo>
                    <a:pt x="7852791" y="0"/>
                  </a:lnTo>
                  <a:close/>
                </a:path>
              </a:pathLst>
            </a:custGeom>
            <a:solidFill>
              <a:srgbClr val="F1F1F1">
                <a:alpha val="100000"/>
              </a:srgbClr>
            </a:solidFill>
            <a:ln w="9525">
              <a:noFill/>
            </a:ln>
          </p:spPr>
          <p:txBody>
            <a:bodyPr/>
            <a:p>
              <a:endParaRPr lang="en-US"/>
            </a:p>
          </p:txBody>
        </p:sp>
        <p:sp>
          <p:nvSpPr>
            <p:cNvPr id="27683" name="object 5"/>
            <p:cNvSpPr/>
            <p:nvPr/>
          </p:nvSpPr>
          <p:spPr>
            <a:xfrm>
              <a:off x="2154682" y="1813941"/>
              <a:ext cx="7882890" cy="473709"/>
            </a:xfrm>
            <a:custGeom>
              <a:avLst/>
              <a:gdLst/>
              <a:ahLst/>
              <a:cxnLst/>
              <a:pathLst>
                <a:path w="7882890" h="473710">
                  <a:moveTo>
                    <a:pt x="0" y="29972"/>
                  </a:moveTo>
                  <a:lnTo>
                    <a:pt x="2343" y="18270"/>
                  </a:lnTo>
                  <a:lnTo>
                    <a:pt x="8747" y="8747"/>
                  </a:lnTo>
                  <a:lnTo>
                    <a:pt x="18270" y="2343"/>
                  </a:lnTo>
                  <a:lnTo>
                    <a:pt x="29972" y="0"/>
                  </a:lnTo>
                  <a:lnTo>
                    <a:pt x="7852791" y="0"/>
                  </a:lnTo>
                  <a:lnTo>
                    <a:pt x="7864439" y="2343"/>
                  </a:lnTo>
                  <a:lnTo>
                    <a:pt x="7873968" y="8747"/>
                  </a:lnTo>
                  <a:lnTo>
                    <a:pt x="7880401" y="18270"/>
                  </a:lnTo>
                  <a:lnTo>
                    <a:pt x="7882763" y="29972"/>
                  </a:lnTo>
                  <a:lnTo>
                    <a:pt x="7882763" y="443484"/>
                  </a:lnTo>
                  <a:lnTo>
                    <a:pt x="7880401" y="455132"/>
                  </a:lnTo>
                  <a:lnTo>
                    <a:pt x="7873968" y="464661"/>
                  </a:lnTo>
                  <a:lnTo>
                    <a:pt x="7864439" y="471094"/>
                  </a:lnTo>
                  <a:lnTo>
                    <a:pt x="7852791" y="473456"/>
                  </a:lnTo>
                  <a:lnTo>
                    <a:pt x="29972" y="473456"/>
                  </a:lnTo>
                  <a:lnTo>
                    <a:pt x="18270" y="471094"/>
                  </a:lnTo>
                  <a:lnTo>
                    <a:pt x="8747" y="464661"/>
                  </a:lnTo>
                  <a:lnTo>
                    <a:pt x="2343"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7652" name="object 6"/>
          <p:cNvGrpSpPr/>
          <p:nvPr/>
        </p:nvGrpSpPr>
        <p:grpSpPr>
          <a:xfrm>
            <a:off x="2152650" y="2338388"/>
            <a:ext cx="7886700" cy="477837"/>
            <a:chOff x="2153094" y="2338768"/>
            <a:chExt cx="7886065" cy="476884"/>
          </a:xfrm>
        </p:grpSpPr>
        <p:sp>
          <p:nvSpPr>
            <p:cNvPr id="27680" name="object 7"/>
            <p:cNvSpPr/>
            <p:nvPr/>
          </p:nvSpPr>
          <p:spPr>
            <a:xfrm>
              <a:off x="2154682" y="2340355"/>
              <a:ext cx="7882890" cy="473709"/>
            </a:xfrm>
            <a:custGeom>
              <a:avLst/>
              <a:gdLst/>
              <a:ahLst/>
              <a:cxnLst/>
              <a:pathLst>
                <a:path w="7882890" h="473710">
                  <a:moveTo>
                    <a:pt x="7852791" y="0"/>
                  </a:moveTo>
                  <a:lnTo>
                    <a:pt x="29844" y="0"/>
                  </a:lnTo>
                  <a:lnTo>
                    <a:pt x="18216" y="2361"/>
                  </a:lnTo>
                  <a:lnTo>
                    <a:pt x="8731" y="8794"/>
                  </a:lnTo>
                  <a:lnTo>
                    <a:pt x="2341" y="18323"/>
                  </a:lnTo>
                  <a:lnTo>
                    <a:pt x="0" y="29972"/>
                  </a:lnTo>
                  <a:lnTo>
                    <a:pt x="0" y="443484"/>
                  </a:lnTo>
                  <a:lnTo>
                    <a:pt x="2341" y="455185"/>
                  </a:lnTo>
                  <a:lnTo>
                    <a:pt x="8731" y="464708"/>
                  </a:lnTo>
                  <a:lnTo>
                    <a:pt x="18216" y="471112"/>
                  </a:lnTo>
                  <a:lnTo>
                    <a:pt x="29844" y="473456"/>
                  </a:lnTo>
                  <a:lnTo>
                    <a:pt x="7852791" y="473456"/>
                  </a:lnTo>
                  <a:lnTo>
                    <a:pt x="7864439" y="471112"/>
                  </a:lnTo>
                  <a:lnTo>
                    <a:pt x="7873968" y="464708"/>
                  </a:lnTo>
                  <a:lnTo>
                    <a:pt x="7880401" y="455185"/>
                  </a:lnTo>
                  <a:lnTo>
                    <a:pt x="7882763" y="443484"/>
                  </a:lnTo>
                  <a:lnTo>
                    <a:pt x="7882763" y="29972"/>
                  </a:lnTo>
                  <a:lnTo>
                    <a:pt x="7880401" y="18323"/>
                  </a:lnTo>
                  <a:lnTo>
                    <a:pt x="7873968" y="8794"/>
                  </a:lnTo>
                  <a:lnTo>
                    <a:pt x="7864439" y="2361"/>
                  </a:lnTo>
                  <a:lnTo>
                    <a:pt x="7852791" y="0"/>
                  </a:lnTo>
                  <a:close/>
                </a:path>
              </a:pathLst>
            </a:custGeom>
            <a:solidFill>
              <a:srgbClr val="F1F1F1">
                <a:alpha val="100000"/>
              </a:srgbClr>
            </a:solidFill>
            <a:ln w="9525">
              <a:noFill/>
            </a:ln>
          </p:spPr>
          <p:txBody>
            <a:bodyPr/>
            <a:p>
              <a:endParaRPr lang="en-US"/>
            </a:p>
          </p:txBody>
        </p:sp>
        <p:sp>
          <p:nvSpPr>
            <p:cNvPr id="27681" name="object 8"/>
            <p:cNvSpPr/>
            <p:nvPr/>
          </p:nvSpPr>
          <p:spPr>
            <a:xfrm>
              <a:off x="2154682" y="2340355"/>
              <a:ext cx="7882890" cy="473709"/>
            </a:xfrm>
            <a:custGeom>
              <a:avLst/>
              <a:gdLst/>
              <a:ahLst/>
              <a:cxnLst/>
              <a:pathLst>
                <a:path w="7882890" h="473710">
                  <a:moveTo>
                    <a:pt x="0" y="29972"/>
                  </a:moveTo>
                  <a:lnTo>
                    <a:pt x="2341" y="18323"/>
                  </a:lnTo>
                  <a:lnTo>
                    <a:pt x="8731" y="8794"/>
                  </a:lnTo>
                  <a:lnTo>
                    <a:pt x="18216" y="2361"/>
                  </a:lnTo>
                  <a:lnTo>
                    <a:pt x="29844" y="0"/>
                  </a:lnTo>
                  <a:lnTo>
                    <a:pt x="7852791" y="0"/>
                  </a:lnTo>
                  <a:lnTo>
                    <a:pt x="7864439" y="2361"/>
                  </a:lnTo>
                  <a:lnTo>
                    <a:pt x="7873968" y="8794"/>
                  </a:lnTo>
                  <a:lnTo>
                    <a:pt x="7880401" y="18323"/>
                  </a:lnTo>
                  <a:lnTo>
                    <a:pt x="7882763" y="29972"/>
                  </a:lnTo>
                  <a:lnTo>
                    <a:pt x="7882763" y="443484"/>
                  </a:lnTo>
                  <a:lnTo>
                    <a:pt x="7880401" y="455185"/>
                  </a:lnTo>
                  <a:lnTo>
                    <a:pt x="7873968" y="464708"/>
                  </a:lnTo>
                  <a:lnTo>
                    <a:pt x="7864439" y="471112"/>
                  </a:lnTo>
                  <a:lnTo>
                    <a:pt x="7852791" y="473456"/>
                  </a:lnTo>
                  <a:lnTo>
                    <a:pt x="29844" y="473456"/>
                  </a:lnTo>
                  <a:lnTo>
                    <a:pt x="18216" y="471112"/>
                  </a:lnTo>
                  <a:lnTo>
                    <a:pt x="8731" y="464708"/>
                  </a:lnTo>
                  <a:lnTo>
                    <a:pt x="2341" y="455185"/>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7653" name="object 9"/>
          <p:cNvGrpSpPr/>
          <p:nvPr/>
        </p:nvGrpSpPr>
        <p:grpSpPr>
          <a:xfrm>
            <a:off x="2152650" y="2865438"/>
            <a:ext cx="7886700" cy="476250"/>
            <a:chOff x="2153094" y="2865310"/>
            <a:chExt cx="7886065" cy="476884"/>
          </a:xfrm>
        </p:grpSpPr>
        <p:sp>
          <p:nvSpPr>
            <p:cNvPr id="27678" name="object 10"/>
            <p:cNvSpPr/>
            <p:nvPr/>
          </p:nvSpPr>
          <p:spPr>
            <a:xfrm>
              <a:off x="2154682" y="2866898"/>
              <a:ext cx="7882890" cy="473709"/>
            </a:xfrm>
            <a:custGeom>
              <a:avLst/>
              <a:gdLst/>
              <a:ahLst/>
              <a:cxnLst/>
              <a:pathLst>
                <a:path w="7882890" h="473710">
                  <a:moveTo>
                    <a:pt x="7852791" y="0"/>
                  </a:moveTo>
                  <a:lnTo>
                    <a:pt x="29844" y="0"/>
                  </a:lnTo>
                  <a:lnTo>
                    <a:pt x="18216" y="2343"/>
                  </a:lnTo>
                  <a:lnTo>
                    <a:pt x="8731" y="8747"/>
                  </a:lnTo>
                  <a:lnTo>
                    <a:pt x="2341" y="18270"/>
                  </a:lnTo>
                  <a:lnTo>
                    <a:pt x="0" y="29972"/>
                  </a:lnTo>
                  <a:lnTo>
                    <a:pt x="0" y="443484"/>
                  </a:lnTo>
                  <a:lnTo>
                    <a:pt x="2341" y="455132"/>
                  </a:lnTo>
                  <a:lnTo>
                    <a:pt x="8731" y="464661"/>
                  </a:lnTo>
                  <a:lnTo>
                    <a:pt x="18216" y="471094"/>
                  </a:lnTo>
                  <a:lnTo>
                    <a:pt x="29844" y="473455"/>
                  </a:lnTo>
                  <a:lnTo>
                    <a:pt x="7852791" y="473455"/>
                  </a:lnTo>
                  <a:lnTo>
                    <a:pt x="7864439" y="471094"/>
                  </a:lnTo>
                  <a:lnTo>
                    <a:pt x="7873968" y="464661"/>
                  </a:lnTo>
                  <a:lnTo>
                    <a:pt x="7880401" y="455132"/>
                  </a:lnTo>
                  <a:lnTo>
                    <a:pt x="7882763" y="443484"/>
                  </a:lnTo>
                  <a:lnTo>
                    <a:pt x="7882763" y="29972"/>
                  </a:lnTo>
                  <a:lnTo>
                    <a:pt x="7880401" y="18270"/>
                  </a:lnTo>
                  <a:lnTo>
                    <a:pt x="7873968" y="8747"/>
                  </a:lnTo>
                  <a:lnTo>
                    <a:pt x="7864439" y="2343"/>
                  </a:lnTo>
                  <a:lnTo>
                    <a:pt x="7852791" y="0"/>
                  </a:lnTo>
                  <a:close/>
                </a:path>
              </a:pathLst>
            </a:custGeom>
            <a:solidFill>
              <a:srgbClr val="F1F1F1">
                <a:alpha val="100000"/>
              </a:srgbClr>
            </a:solidFill>
            <a:ln w="9525">
              <a:noFill/>
            </a:ln>
          </p:spPr>
          <p:txBody>
            <a:bodyPr/>
            <a:p>
              <a:endParaRPr lang="en-US"/>
            </a:p>
          </p:txBody>
        </p:sp>
        <p:sp>
          <p:nvSpPr>
            <p:cNvPr id="27679" name="object 11"/>
            <p:cNvSpPr/>
            <p:nvPr/>
          </p:nvSpPr>
          <p:spPr>
            <a:xfrm>
              <a:off x="2154682" y="2866898"/>
              <a:ext cx="7882890" cy="473709"/>
            </a:xfrm>
            <a:custGeom>
              <a:avLst/>
              <a:gdLst/>
              <a:ahLst/>
              <a:cxnLst/>
              <a:pathLst>
                <a:path w="7882890" h="473710">
                  <a:moveTo>
                    <a:pt x="0" y="29972"/>
                  </a:moveTo>
                  <a:lnTo>
                    <a:pt x="2341" y="18270"/>
                  </a:lnTo>
                  <a:lnTo>
                    <a:pt x="8731" y="8747"/>
                  </a:lnTo>
                  <a:lnTo>
                    <a:pt x="18216" y="2343"/>
                  </a:lnTo>
                  <a:lnTo>
                    <a:pt x="29844" y="0"/>
                  </a:lnTo>
                  <a:lnTo>
                    <a:pt x="7852791" y="0"/>
                  </a:lnTo>
                  <a:lnTo>
                    <a:pt x="7864439" y="2343"/>
                  </a:lnTo>
                  <a:lnTo>
                    <a:pt x="7873968" y="8747"/>
                  </a:lnTo>
                  <a:lnTo>
                    <a:pt x="7880401" y="18270"/>
                  </a:lnTo>
                  <a:lnTo>
                    <a:pt x="7882763" y="29972"/>
                  </a:lnTo>
                  <a:lnTo>
                    <a:pt x="7882763" y="443484"/>
                  </a:lnTo>
                  <a:lnTo>
                    <a:pt x="7880401" y="455132"/>
                  </a:lnTo>
                  <a:lnTo>
                    <a:pt x="7873968" y="464661"/>
                  </a:lnTo>
                  <a:lnTo>
                    <a:pt x="7864439" y="471094"/>
                  </a:lnTo>
                  <a:lnTo>
                    <a:pt x="7852791" y="473455"/>
                  </a:lnTo>
                  <a:lnTo>
                    <a:pt x="29844" y="473455"/>
                  </a:lnTo>
                  <a:lnTo>
                    <a:pt x="18216" y="471094"/>
                  </a:lnTo>
                  <a:lnTo>
                    <a:pt x="8731" y="464661"/>
                  </a:lnTo>
                  <a:lnTo>
                    <a:pt x="234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7654" name="object 12"/>
          <p:cNvGrpSpPr/>
          <p:nvPr/>
        </p:nvGrpSpPr>
        <p:grpSpPr>
          <a:xfrm>
            <a:off x="2152650" y="3392488"/>
            <a:ext cx="7886700" cy="476250"/>
            <a:chOff x="2153094" y="3391725"/>
            <a:chExt cx="7886065" cy="476884"/>
          </a:xfrm>
        </p:grpSpPr>
        <p:sp>
          <p:nvSpPr>
            <p:cNvPr id="27676" name="object 13"/>
            <p:cNvSpPr/>
            <p:nvPr/>
          </p:nvSpPr>
          <p:spPr>
            <a:xfrm>
              <a:off x="2154682" y="3393313"/>
              <a:ext cx="7882890" cy="473709"/>
            </a:xfrm>
            <a:custGeom>
              <a:avLst/>
              <a:gdLst/>
              <a:ahLst/>
              <a:cxnLst/>
              <a:pathLst>
                <a:path w="7882890" h="473710">
                  <a:moveTo>
                    <a:pt x="7852791" y="0"/>
                  </a:moveTo>
                  <a:lnTo>
                    <a:pt x="29844" y="0"/>
                  </a:lnTo>
                  <a:lnTo>
                    <a:pt x="18216" y="2361"/>
                  </a:lnTo>
                  <a:lnTo>
                    <a:pt x="8731" y="8794"/>
                  </a:lnTo>
                  <a:lnTo>
                    <a:pt x="2341" y="18323"/>
                  </a:lnTo>
                  <a:lnTo>
                    <a:pt x="0" y="29972"/>
                  </a:lnTo>
                  <a:lnTo>
                    <a:pt x="0" y="443611"/>
                  </a:lnTo>
                  <a:lnTo>
                    <a:pt x="2341" y="455239"/>
                  </a:lnTo>
                  <a:lnTo>
                    <a:pt x="8731" y="464724"/>
                  </a:lnTo>
                  <a:lnTo>
                    <a:pt x="18216" y="471114"/>
                  </a:lnTo>
                  <a:lnTo>
                    <a:pt x="29844" y="473456"/>
                  </a:lnTo>
                  <a:lnTo>
                    <a:pt x="7852791" y="473456"/>
                  </a:lnTo>
                  <a:lnTo>
                    <a:pt x="7864439" y="471114"/>
                  </a:lnTo>
                  <a:lnTo>
                    <a:pt x="7873968" y="464724"/>
                  </a:lnTo>
                  <a:lnTo>
                    <a:pt x="7880401" y="455239"/>
                  </a:lnTo>
                  <a:lnTo>
                    <a:pt x="7882763" y="443611"/>
                  </a:lnTo>
                  <a:lnTo>
                    <a:pt x="7882763" y="29972"/>
                  </a:lnTo>
                  <a:lnTo>
                    <a:pt x="7880401" y="18323"/>
                  </a:lnTo>
                  <a:lnTo>
                    <a:pt x="7873968" y="8794"/>
                  </a:lnTo>
                  <a:lnTo>
                    <a:pt x="7864439" y="2361"/>
                  </a:lnTo>
                  <a:lnTo>
                    <a:pt x="7852791" y="0"/>
                  </a:lnTo>
                  <a:close/>
                </a:path>
              </a:pathLst>
            </a:custGeom>
            <a:solidFill>
              <a:srgbClr val="F1F1F1">
                <a:alpha val="100000"/>
              </a:srgbClr>
            </a:solidFill>
            <a:ln w="9525">
              <a:noFill/>
            </a:ln>
          </p:spPr>
          <p:txBody>
            <a:bodyPr/>
            <a:p>
              <a:endParaRPr lang="en-US"/>
            </a:p>
          </p:txBody>
        </p:sp>
        <p:sp>
          <p:nvSpPr>
            <p:cNvPr id="27677" name="object 14"/>
            <p:cNvSpPr/>
            <p:nvPr/>
          </p:nvSpPr>
          <p:spPr>
            <a:xfrm>
              <a:off x="2154682" y="3393313"/>
              <a:ext cx="7882890" cy="473709"/>
            </a:xfrm>
            <a:custGeom>
              <a:avLst/>
              <a:gdLst/>
              <a:ahLst/>
              <a:cxnLst/>
              <a:pathLst>
                <a:path w="7882890" h="473710">
                  <a:moveTo>
                    <a:pt x="0" y="29972"/>
                  </a:moveTo>
                  <a:lnTo>
                    <a:pt x="2341" y="18323"/>
                  </a:lnTo>
                  <a:lnTo>
                    <a:pt x="8731" y="8794"/>
                  </a:lnTo>
                  <a:lnTo>
                    <a:pt x="18216" y="2361"/>
                  </a:lnTo>
                  <a:lnTo>
                    <a:pt x="29844" y="0"/>
                  </a:lnTo>
                  <a:lnTo>
                    <a:pt x="7852791" y="0"/>
                  </a:lnTo>
                  <a:lnTo>
                    <a:pt x="7864439" y="2361"/>
                  </a:lnTo>
                  <a:lnTo>
                    <a:pt x="7873968" y="8794"/>
                  </a:lnTo>
                  <a:lnTo>
                    <a:pt x="7880401" y="18323"/>
                  </a:lnTo>
                  <a:lnTo>
                    <a:pt x="7882763" y="29972"/>
                  </a:lnTo>
                  <a:lnTo>
                    <a:pt x="7882763" y="443611"/>
                  </a:lnTo>
                  <a:lnTo>
                    <a:pt x="7880401" y="455239"/>
                  </a:lnTo>
                  <a:lnTo>
                    <a:pt x="7873968" y="464724"/>
                  </a:lnTo>
                  <a:lnTo>
                    <a:pt x="7864439" y="471114"/>
                  </a:lnTo>
                  <a:lnTo>
                    <a:pt x="7852791" y="473456"/>
                  </a:lnTo>
                  <a:lnTo>
                    <a:pt x="29844" y="473456"/>
                  </a:lnTo>
                  <a:lnTo>
                    <a:pt x="18216" y="471114"/>
                  </a:lnTo>
                  <a:lnTo>
                    <a:pt x="8731" y="464724"/>
                  </a:lnTo>
                  <a:lnTo>
                    <a:pt x="2341" y="455239"/>
                  </a:lnTo>
                  <a:lnTo>
                    <a:pt x="0" y="443611"/>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5" name="object 15"/>
          <p:cNvSpPr txBox="1"/>
          <p:nvPr/>
        </p:nvSpPr>
        <p:spPr>
          <a:xfrm>
            <a:off x="2243138" y="3473450"/>
            <a:ext cx="7559675"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tabLst>
                <a:tab pos="3378200" algn="l"/>
              </a:tabLst>
              <a:defRPr/>
            </a:pPr>
            <a:r>
              <a:rPr kumimoji="0" kern="0" cap="none" spc="0" normalizeH="0" baseline="0" noProof="0" dirty="0">
                <a:solidFill>
                  <a:sysClr val="windowText" lastClr="000000"/>
                </a:solidFill>
                <a:latin typeface="Tahoma" panose="020B0604030504040204"/>
                <a:cs typeface="Tahoma" panose="020B0604030504040204"/>
              </a:rPr>
              <a:t>Original</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or</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Certified</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true</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copy</a:t>
            </a:r>
            <a:r>
              <a:rPr kumimoji="0" kern="0" cap="none" spc="-45"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of</a:t>
            </a:r>
            <a:r>
              <a:rPr kumimoji="0" kern="0" cap="none" spc="0" normalizeH="0" baseline="0" noProof="0" dirty="0">
                <a:solidFill>
                  <a:sysClr val="windowText" lastClr="000000"/>
                </a:solidFill>
                <a:latin typeface="Tahoma" panose="020B0604030504040204"/>
                <a:cs typeface="Tahoma" panose="020B0604030504040204"/>
              </a:rPr>
              <a:t>	Birth/Baptismal</a:t>
            </a:r>
            <a:r>
              <a:rPr kumimoji="0" kern="0" cap="none" spc="8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Certificate</a:t>
            </a:r>
            <a:r>
              <a:rPr kumimoji="0" kern="0" cap="none" spc="1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1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the</a:t>
            </a:r>
            <a:r>
              <a:rPr kumimoji="0" kern="0" cap="none" spc="10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insured</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7656" name="object 16"/>
          <p:cNvGrpSpPr/>
          <p:nvPr/>
        </p:nvGrpSpPr>
        <p:grpSpPr>
          <a:xfrm>
            <a:off x="2152650" y="3917950"/>
            <a:ext cx="7886700" cy="477838"/>
            <a:chOff x="2153094" y="3918267"/>
            <a:chExt cx="7886065" cy="476884"/>
          </a:xfrm>
        </p:grpSpPr>
        <p:sp>
          <p:nvSpPr>
            <p:cNvPr id="27674" name="object 17"/>
            <p:cNvSpPr/>
            <p:nvPr/>
          </p:nvSpPr>
          <p:spPr>
            <a:xfrm>
              <a:off x="2154682" y="3919854"/>
              <a:ext cx="7882890" cy="473709"/>
            </a:xfrm>
            <a:custGeom>
              <a:avLst/>
              <a:gdLst/>
              <a:ahLst/>
              <a:cxnLst/>
              <a:pathLst>
                <a:path w="7882890" h="473710">
                  <a:moveTo>
                    <a:pt x="7852791" y="0"/>
                  </a:moveTo>
                  <a:lnTo>
                    <a:pt x="29844" y="0"/>
                  </a:lnTo>
                  <a:lnTo>
                    <a:pt x="18216" y="2361"/>
                  </a:lnTo>
                  <a:lnTo>
                    <a:pt x="8731" y="8794"/>
                  </a:lnTo>
                  <a:lnTo>
                    <a:pt x="2341" y="18323"/>
                  </a:lnTo>
                  <a:lnTo>
                    <a:pt x="0" y="29972"/>
                  </a:lnTo>
                  <a:lnTo>
                    <a:pt x="0" y="443484"/>
                  </a:lnTo>
                  <a:lnTo>
                    <a:pt x="2341" y="455132"/>
                  </a:lnTo>
                  <a:lnTo>
                    <a:pt x="8731" y="464661"/>
                  </a:lnTo>
                  <a:lnTo>
                    <a:pt x="18216" y="471094"/>
                  </a:lnTo>
                  <a:lnTo>
                    <a:pt x="29844" y="473456"/>
                  </a:lnTo>
                  <a:lnTo>
                    <a:pt x="7852791" y="473456"/>
                  </a:lnTo>
                  <a:lnTo>
                    <a:pt x="7864419" y="471094"/>
                  </a:lnTo>
                  <a:lnTo>
                    <a:pt x="7873904" y="464661"/>
                  </a:lnTo>
                  <a:lnTo>
                    <a:pt x="7880294" y="455132"/>
                  </a:lnTo>
                  <a:lnTo>
                    <a:pt x="7882636" y="443484"/>
                  </a:lnTo>
                  <a:lnTo>
                    <a:pt x="7882636" y="29972"/>
                  </a:lnTo>
                  <a:lnTo>
                    <a:pt x="7880294" y="18323"/>
                  </a:lnTo>
                  <a:lnTo>
                    <a:pt x="7873904" y="8794"/>
                  </a:lnTo>
                  <a:lnTo>
                    <a:pt x="7864419" y="2361"/>
                  </a:lnTo>
                  <a:lnTo>
                    <a:pt x="7852791" y="0"/>
                  </a:lnTo>
                  <a:close/>
                </a:path>
              </a:pathLst>
            </a:custGeom>
            <a:solidFill>
              <a:srgbClr val="F1F1F1">
                <a:alpha val="100000"/>
              </a:srgbClr>
            </a:solidFill>
            <a:ln w="9525">
              <a:noFill/>
            </a:ln>
          </p:spPr>
          <p:txBody>
            <a:bodyPr/>
            <a:p>
              <a:endParaRPr lang="en-US"/>
            </a:p>
          </p:txBody>
        </p:sp>
        <p:sp>
          <p:nvSpPr>
            <p:cNvPr id="27675" name="object 18"/>
            <p:cNvSpPr/>
            <p:nvPr/>
          </p:nvSpPr>
          <p:spPr>
            <a:xfrm>
              <a:off x="2154682" y="3919854"/>
              <a:ext cx="7882890" cy="473709"/>
            </a:xfrm>
            <a:custGeom>
              <a:avLst/>
              <a:gdLst/>
              <a:ahLst/>
              <a:cxnLst/>
              <a:pathLst>
                <a:path w="7882890" h="473710">
                  <a:moveTo>
                    <a:pt x="0" y="29972"/>
                  </a:moveTo>
                  <a:lnTo>
                    <a:pt x="2341" y="18323"/>
                  </a:lnTo>
                  <a:lnTo>
                    <a:pt x="8731" y="8794"/>
                  </a:lnTo>
                  <a:lnTo>
                    <a:pt x="18216" y="2361"/>
                  </a:lnTo>
                  <a:lnTo>
                    <a:pt x="29844" y="0"/>
                  </a:lnTo>
                  <a:lnTo>
                    <a:pt x="7852791" y="0"/>
                  </a:lnTo>
                  <a:lnTo>
                    <a:pt x="7864419" y="2361"/>
                  </a:lnTo>
                  <a:lnTo>
                    <a:pt x="7873904" y="8794"/>
                  </a:lnTo>
                  <a:lnTo>
                    <a:pt x="7880294" y="18323"/>
                  </a:lnTo>
                  <a:lnTo>
                    <a:pt x="7882636" y="29972"/>
                  </a:lnTo>
                  <a:lnTo>
                    <a:pt x="7882636" y="443484"/>
                  </a:lnTo>
                  <a:lnTo>
                    <a:pt x="7880294" y="455132"/>
                  </a:lnTo>
                  <a:lnTo>
                    <a:pt x="7873904" y="464661"/>
                  </a:lnTo>
                  <a:lnTo>
                    <a:pt x="7864419" y="471094"/>
                  </a:lnTo>
                  <a:lnTo>
                    <a:pt x="7852791" y="473456"/>
                  </a:lnTo>
                  <a:lnTo>
                    <a:pt x="29844" y="473456"/>
                  </a:lnTo>
                  <a:lnTo>
                    <a:pt x="18216" y="471094"/>
                  </a:lnTo>
                  <a:lnTo>
                    <a:pt x="8731" y="464661"/>
                  </a:lnTo>
                  <a:lnTo>
                    <a:pt x="234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9" name="object 19"/>
          <p:cNvSpPr txBox="1"/>
          <p:nvPr/>
        </p:nvSpPr>
        <p:spPr>
          <a:xfrm>
            <a:off x="2243138" y="4000500"/>
            <a:ext cx="7213600" cy="2984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PSA</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Original</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copy</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4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Marriage</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contract</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(if</a:t>
            </a:r>
            <a:r>
              <a:rPr kumimoji="0" kern="0" cap="none" spc="-3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the</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beneficiary</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is</a:t>
            </a:r>
            <a:r>
              <a:rPr kumimoji="0" kern="0" cap="none" spc="-3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the</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spouse)</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7658" name="object 20"/>
          <p:cNvGrpSpPr/>
          <p:nvPr/>
        </p:nvGrpSpPr>
        <p:grpSpPr>
          <a:xfrm>
            <a:off x="2152650" y="4445000"/>
            <a:ext cx="7886700" cy="476250"/>
            <a:chOff x="2153094" y="4444809"/>
            <a:chExt cx="7886065" cy="476884"/>
          </a:xfrm>
        </p:grpSpPr>
        <p:sp>
          <p:nvSpPr>
            <p:cNvPr id="27672" name="object 21"/>
            <p:cNvSpPr/>
            <p:nvPr/>
          </p:nvSpPr>
          <p:spPr>
            <a:xfrm>
              <a:off x="2154682" y="4446396"/>
              <a:ext cx="7882890" cy="473709"/>
            </a:xfrm>
            <a:custGeom>
              <a:avLst/>
              <a:gdLst/>
              <a:ahLst/>
              <a:cxnLst/>
              <a:pathLst>
                <a:path w="7882890" h="473710">
                  <a:moveTo>
                    <a:pt x="7852791" y="0"/>
                  </a:moveTo>
                  <a:lnTo>
                    <a:pt x="29844" y="0"/>
                  </a:lnTo>
                  <a:lnTo>
                    <a:pt x="18216" y="2343"/>
                  </a:lnTo>
                  <a:lnTo>
                    <a:pt x="8731" y="8747"/>
                  </a:lnTo>
                  <a:lnTo>
                    <a:pt x="2341" y="18270"/>
                  </a:lnTo>
                  <a:lnTo>
                    <a:pt x="0" y="29971"/>
                  </a:lnTo>
                  <a:lnTo>
                    <a:pt x="0" y="443483"/>
                  </a:lnTo>
                  <a:lnTo>
                    <a:pt x="2341" y="455132"/>
                  </a:lnTo>
                  <a:lnTo>
                    <a:pt x="8731" y="464661"/>
                  </a:lnTo>
                  <a:lnTo>
                    <a:pt x="18216" y="471094"/>
                  </a:lnTo>
                  <a:lnTo>
                    <a:pt x="29844" y="473455"/>
                  </a:lnTo>
                  <a:lnTo>
                    <a:pt x="7852791" y="473455"/>
                  </a:lnTo>
                  <a:lnTo>
                    <a:pt x="7864419" y="471094"/>
                  </a:lnTo>
                  <a:lnTo>
                    <a:pt x="7873904" y="464661"/>
                  </a:lnTo>
                  <a:lnTo>
                    <a:pt x="7880294" y="455132"/>
                  </a:lnTo>
                  <a:lnTo>
                    <a:pt x="7882636" y="443483"/>
                  </a:lnTo>
                  <a:lnTo>
                    <a:pt x="7882636" y="29971"/>
                  </a:lnTo>
                  <a:lnTo>
                    <a:pt x="7880294" y="18270"/>
                  </a:lnTo>
                  <a:lnTo>
                    <a:pt x="7873904" y="8747"/>
                  </a:lnTo>
                  <a:lnTo>
                    <a:pt x="7864419" y="2343"/>
                  </a:lnTo>
                  <a:lnTo>
                    <a:pt x="7852791" y="0"/>
                  </a:lnTo>
                  <a:close/>
                </a:path>
              </a:pathLst>
            </a:custGeom>
            <a:solidFill>
              <a:srgbClr val="F1F1F1">
                <a:alpha val="100000"/>
              </a:srgbClr>
            </a:solidFill>
            <a:ln w="9525">
              <a:noFill/>
            </a:ln>
          </p:spPr>
          <p:txBody>
            <a:bodyPr/>
            <a:p>
              <a:endParaRPr lang="en-US"/>
            </a:p>
          </p:txBody>
        </p:sp>
        <p:sp>
          <p:nvSpPr>
            <p:cNvPr id="27673" name="object 22"/>
            <p:cNvSpPr/>
            <p:nvPr/>
          </p:nvSpPr>
          <p:spPr>
            <a:xfrm>
              <a:off x="2154682" y="4446396"/>
              <a:ext cx="7882890" cy="473709"/>
            </a:xfrm>
            <a:custGeom>
              <a:avLst/>
              <a:gdLst/>
              <a:ahLst/>
              <a:cxnLst/>
              <a:pathLst>
                <a:path w="7882890" h="473710">
                  <a:moveTo>
                    <a:pt x="0" y="29971"/>
                  </a:moveTo>
                  <a:lnTo>
                    <a:pt x="2341" y="18270"/>
                  </a:lnTo>
                  <a:lnTo>
                    <a:pt x="8731" y="8747"/>
                  </a:lnTo>
                  <a:lnTo>
                    <a:pt x="18216" y="2343"/>
                  </a:lnTo>
                  <a:lnTo>
                    <a:pt x="29844" y="0"/>
                  </a:lnTo>
                  <a:lnTo>
                    <a:pt x="7852791" y="0"/>
                  </a:lnTo>
                  <a:lnTo>
                    <a:pt x="7864419" y="2343"/>
                  </a:lnTo>
                  <a:lnTo>
                    <a:pt x="7873904" y="8747"/>
                  </a:lnTo>
                  <a:lnTo>
                    <a:pt x="7880294" y="18270"/>
                  </a:lnTo>
                  <a:lnTo>
                    <a:pt x="7882636" y="29971"/>
                  </a:lnTo>
                  <a:lnTo>
                    <a:pt x="7882636" y="443483"/>
                  </a:lnTo>
                  <a:lnTo>
                    <a:pt x="7880294" y="455132"/>
                  </a:lnTo>
                  <a:lnTo>
                    <a:pt x="7873904" y="464661"/>
                  </a:lnTo>
                  <a:lnTo>
                    <a:pt x="7864419" y="471094"/>
                  </a:lnTo>
                  <a:lnTo>
                    <a:pt x="7852791" y="473455"/>
                  </a:lnTo>
                  <a:lnTo>
                    <a:pt x="29844" y="473455"/>
                  </a:lnTo>
                  <a:lnTo>
                    <a:pt x="18216" y="471094"/>
                  </a:lnTo>
                  <a:lnTo>
                    <a:pt x="8731" y="464661"/>
                  </a:lnTo>
                  <a:lnTo>
                    <a:pt x="2341" y="455132"/>
                  </a:lnTo>
                  <a:lnTo>
                    <a:pt x="0" y="443483"/>
                  </a:lnTo>
                  <a:lnTo>
                    <a:pt x="0" y="29971"/>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3" name="object 23"/>
          <p:cNvSpPr txBox="1"/>
          <p:nvPr/>
        </p:nvSpPr>
        <p:spPr>
          <a:xfrm>
            <a:off x="2243138" y="4525963"/>
            <a:ext cx="6140450"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tabLst>
                <a:tab pos="1456690" algn="l"/>
                <a:tab pos="3382645" algn="l"/>
              </a:tabLst>
              <a:defRPr/>
            </a:pPr>
            <a:r>
              <a:rPr kumimoji="0" kern="0" cap="none" spc="0" normalizeH="0" baseline="0" noProof="0" dirty="0">
                <a:solidFill>
                  <a:sysClr val="windowText" lastClr="000000"/>
                </a:solidFill>
                <a:latin typeface="Tahoma" panose="020B0604030504040204"/>
                <a:cs typeface="Tahoma" panose="020B0604030504040204"/>
              </a:rPr>
              <a:t>Photocopy</a:t>
            </a:r>
            <a:r>
              <a:rPr kumimoji="0" kern="0" cap="none" spc="-20"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of</a:t>
            </a:r>
            <a:r>
              <a:rPr kumimoji="0" kern="0" cap="none" spc="0" normalizeH="0" baseline="0" noProof="0" dirty="0">
                <a:solidFill>
                  <a:sysClr val="windowText" lastClr="000000"/>
                </a:solidFill>
                <a:latin typeface="Tahoma" panose="020B0604030504040204"/>
                <a:cs typeface="Tahoma" panose="020B0604030504040204"/>
              </a:rPr>
              <a:t>	</a:t>
            </a:r>
            <a:r>
              <a:rPr kumimoji="0" kern="0" cap="none" spc="-35" normalizeH="0" baseline="0" noProof="0" dirty="0">
                <a:solidFill>
                  <a:sysClr val="windowText" lastClr="000000"/>
                </a:solidFill>
                <a:latin typeface="Tahoma" panose="020B0604030504040204"/>
                <a:cs typeface="Tahoma" panose="020B0604030504040204"/>
              </a:rPr>
              <a:t>two</a:t>
            </a:r>
            <a:r>
              <a:rPr kumimoji="0" kern="0" cap="none" spc="-105"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(2)</a:t>
            </a:r>
            <a:r>
              <a:rPr kumimoji="0" kern="0" cap="none" spc="-10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claimant’s</a:t>
            </a:r>
            <a:r>
              <a:rPr kumimoji="0" kern="0" cap="none" spc="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valid/government</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issued</a:t>
            </a:r>
            <a:r>
              <a:rPr kumimoji="0" kern="0" cap="none" spc="-5"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ID</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7660" name="object 24"/>
          <p:cNvGrpSpPr/>
          <p:nvPr/>
        </p:nvGrpSpPr>
        <p:grpSpPr>
          <a:xfrm>
            <a:off x="2152650" y="4970463"/>
            <a:ext cx="7886700" cy="477837"/>
            <a:chOff x="2153094" y="4971224"/>
            <a:chExt cx="7886065" cy="476884"/>
          </a:xfrm>
        </p:grpSpPr>
        <p:sp>
          <p:nvSpPr>
            <p:cNvPr id="27670" name="object 25"/>
            <p:cNvSpPr/>
            <p:nvPr/>
          </p:nvSpPr>
          <p:spPr>
            <a:xfrm>
              <a:off x="2154682" y="4972811"/>
              <a:ext cx="7882890" cy="473709"/>
            </a:xfrm>
            <a:custGeom>
              <a:avLst/>
              <a:gdLst/>
              <a:ahLst/>
              <a:cxnLst/>
              <a:pathLst>
                <a:path w="7882890" h="473710">
                  <a:moveTo>
                    <a:pt x="7852791" y="0"/>
                  </a:moveTo>
                  <a:lnTo>
                    <a:pt x="29844" y="0"/>
                  </a:lnTo>
                  <a:lnTo>
                    <a:pt x="18216" y="2361"/>
                  </a:lnTo>
                  <a:lnTo>
                    <a:pt x="8731" y="8794"/>
                  </a:lnTo>
                  <a:lnTo>
                    <a:pt x="2341" y="18323"/>
                  </a:lnTo>
                  <a:lnTo>
                    <a:pt x="0" y="29971"/>
                  </a:lnTo>
                  <a:lnTo>
                    <a:pt x="0" y="443484"/>
                  </a:lnTo>
                  <a:lnTo>
                    <a:pt x="2341" y="455185"/>
                  </a:lnTo>
                  <a:lnTo>
                    <a:pt x="8731" y="464708"/>
                  </a:lnTo>
                  <a:lnTo>
                    <a:pt x="18216" y="471112"/>
                  </a:lnTo>
                  <a:lnTo>
                    <a:pt x="29844" y="473456"/>
                  </a:lnTo>
                  <a:lnTo>
                    <a:pt x="7852791" y="473456"/>
                  </a:lnTo>
                  <a:lnTo>
                    <a:pt x="7864419" y="471112"/>
                  </a:lnTo>
                  <a:lnTo>
                    <a:pt x="7873904" y="464708"/>
                  </a:lnTo>
                  <a:lnTo>
                    <a:pt x="7880294" y="455185"/>
                  </a:lnTo>
                  <a:lnTo>
                    <a:pt x="7882636" y="443484"/>
                  </a:lnTo>
                  <a:lnTo>
                    <a:pt x="7882636" y="29971"/>
                  </a:lnTo>
                  <a:lnTo>
                    <a:pt x="7880294" y="18323"/>
                  </a:lnTo>
                  <a:lnTo>
                    <a:pt x="7873904" y="8794"/>
                  </a:lnTo>
                  <a:lnTo>
                    <a:pt x="7864419" y="2361"/>
                  </a:lnTo>
                  <a:lnTo>
                    <a:pt x="7852791" y="0"/>
                  </a:lnTo>
                  <a:close/>
                </a:path>
              </a:pathLst>
            </a:custGeom>
            <a:solidFill>
              <a:srgbClr val="F1F1F1">
                <a:alpha val="100000"/>
              </a:srgbClr>
            </a:solidFill>
            <a:ln w="9525">
              <a:noFill/>
            </a:ln>
          </p:spPr>
          <p:txBody>
            <a:bodyPr/>
            <a:p>
              <a:endParaRPr lang="en-US"/>
            </a:p>
          </p:txBody>
        </p:sp>
        <p:sp>
          <p:nvSpPr>
            <p:cNvPr id="27671" name="object 26"/>
            <p:cNvSpPr/>
            <p:nvPr/>
          </p:nvSpPr>
          <p:spPr>
            <a:xfrm>
              <a:off x="2154682" y="4972811"/>
              <a:ext cx="7882890" cy="473709"/>
            </a:xfrm>
            <a:custGeom>
              <a:avLst/>
              <a:gdLst/>
              <a:ahLst/>
              <a:cxnLst/>
              <a:pathLst>
                <a:path w="7882890" h="473710">
                  <a:moveTo>
                    <a:pt x="0" y="29971"/>
                  </a:moveTo>
                  <a:lnTo>
                    <a:pt x="2341" y="18323"/>
                  </a:lnTo>
                  <a:lnTo>
                    <a:pt x="8731" y="8794"/>
                  </a:lnTo>
                  <a:lnTo>
                    <a:pt x="18216" y="2361"/>
                  </a:lnTo>
                  <a:lnTo>
                    <a:pt x="29844" y="0"/>
                  </a:lnTo>
                  <a:lnTo>
                    <a:pt x="7852791" y="0"/>
                  </a:lnTo>
                  <a:lnTo>
                    <a:pt x="7864419" y="2361"/>
                  </a:lnTo>
                  <a:lnTo>
                    <a:pt x="7873904" y="8794"/>
                  </a:lnTo>
                  <a:lnTo>
                    <a:pt x="7880294" y="18323"/>
                  </a:lnTo>
                  <a:lnTo>
                    <a:pt x="7882636" y="29971"/>
                  </a:lnTo>
                  <a:lnTo>
                    <a:pt x="7882636" y="443484"/>
                  </a:lnTo>
                  <a:lnTo>
                    <a:pt x="7880294" y="455185"/>
                  </a:lnTo>
                  <a:lnTo>
                    <a:pt x="7873904" y="464708"/>
                  </a:lnTo>
                  <a:lnTo>
                    <a:pt x="7864419" y="471112"/>
                  </a:lnTo>
                  <a:lnTo>
                    <a:pt x="7852791" y="473456"/>
                  </a:lnTo>
                  <a:lnTo>
                    <a:pt x="29844" y="473456"/>
                  </a:lnTo>
                  <a:lnTo>
                    <a:pt x="18216" y="471112"/>
                  </a:lnTo>
                  <a:lnTo>
                    <a:pt x="8731" y="464708"/>
                  </a:lnTo>
                  <a:lnTo>
                    <a:pt x="2341" y="455185"/>
                  </a:lnTo>
                  <a:lnTo>
                    <a:pt x="0" y="443484"/>
                  </a:lnTo>
                  <a:lnTo>
                    <a:pt x="0" y="29971"/>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7" name="object 27"/>
          <p:cNvSpPr txBox="1"/>
          <p:nvPr/>
        </p:nvSpPr>
        <p:spPr>
          <a:xfrm>
            <a:off x="1884363" y="5053013"/>
            <a:ext cx="9188450" cy="7953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tabLst>
                <a:tab pos="370205" algn="l"/>
              </a:tabLst>
              <a:defRPr/>
            </a:pPr>
            <a:r>
              <a:rPr kumimoji="0" b="1" kern="0" cap="none" spc="60" normalizeH="0" baseline="0" noProof="0" dirty="0">
                <a:solidFill>
                  <a:sysClr val="windowText" lastClr="000000"/>
                </a:solidFill>
                <a:latin typeface="Arial" panose="020B0604020202020204"/>
                <a:cs typeface="Arial" panose="020B0604020202020204"/>
              </a:rPr>
              <a:t>7</a:t>
            </a:r>
            <a:r>
              <a:rPr kumimoji="0" b="1" kern="0" cap="none" spc="0" normalizeH="0" baseline="0" noProof="0" dirty="0">
                <a:solidFill>
                  <a:sysClr val="windowText" lastClr="000000"/>
                </a:solidFill>
                <a:latin typeface="Arial" panose="020B0604020202020204"/>
                <a:cs typeface="Arial" panose="020B0604020202020204"/>
              </a:rPr>
              <a:t>	</a:t>
            </a:r>
            <a:r>
              <a:rPr kumimoji="0" kern="0" cap="none" spc="0" normalizeH="0" baseline="0" noProof="0" dirty="0">
                <a:solidFill>
                  <a:sysClr val="windowText" lastClr="000000"/>
                </a:solidFill>
                <a:latin typeface="Tahoma" panose="020B0604030504040204"/>
                <a:cs typeface="Tahoma" panose="020B0604030504040204"/>
              </a:rPr>
              <a:t>Employer’s</a:t>
            </a:r>
            <a:r>
              <a:rPr kumimoji="0" kern="0" cap="none" spc="-10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35"/>
              </a:spcBef>
              <a:spcAft>
                <a:spcPts val="0"/>
              </a:spcAft>
              <a:buClrTx/>
              <a:buSzTx/>
              <a:buFontTx/>
              <a:buNone/>
              <a:defRPr/>
            </a:pPr>
            <a:endParaRPr kumimoji="0" sz="1750" kern="0" cap="none" spc="0" normalizeH="0" baseline="0" noProof="0">
              <a:solidFill>
                <a:sysClr val="windowText" lastClr="000000"/>
              </a:solidFill>
              <a:latin typeface="Tahoma" panose="020B0604030504040204"/>
              <a:cs typeface="Tahoma" panose="020B0604030504040204"/>
            </a:endParaRPr>
          </a:p>
          <a:p>
            <a:pPr marL="257175" marR="0" defTabSz="914400" eaLnBrk="1" fontAlgn="auto" hangingPunct="1">
              <a:spcBef>
                <a:spcPts val="5"/>
              </a:spcBef>
              <a:spcAft>
                <a:spcPts val="0"/>
              </a:spcAft>
              <a:buClrTx/>
              <a:buSzTx/>
              <a:buFontTx/>
              <a:buNone/>
              <a:defRPr/>
            </a:pPr>
            <a:r>
              <a:rPr kumimoji="0" sz="1450" i="1" kern="0" cap="none" spc="-20" normalizeH="0" baseline="0" noProof="0" dirty="0">
                <a:solidFill>
                  <a:srgbClr val="FF0000"/>
                </a:solidFill>
                <a:latin typeface="Arial" panose="020B0604020202020204"/>
                <a:cs typeface="Arial" panose="020B0604020202020204"/>
              </a:rPr>
              <a:t>Note:</a:t>
            </a:r>
            <a:r>
              <a:rPr kumimoji="0" sz="1450" i="1" kern="0" cap="none" spc="-85" normalizeH="0" baseline="0" noProof="0" dirty="0">
                <a:solidFill>
                  <a:srgbClr val="FF0000"/>
                </a:solidFill>
                <a:latin typeface="Arial" panose="020B0604020202020204"/>
                <a:cs typeface="Arial" panose="020B0604020202020204"/>
              </a:rPr>
              <a:t> </a:t>
            </a:r>
            <a:r>
              <a:rPr kumimoji="0" sz="1450" i="1" kern="0" cap="none" spc="-20" normalizeH="0" baseline="0" noProof="0" dirty="0">
                <a:solidFill>
                  <a:srgbClr val="FF0000"/>
                </a:solidFill>
                <a:latin typeface="Arial" panose="020B0604020202020204"/>
                <a:cs typeface="Arial" panose="020B0604020202020204"/>
              </a:rPr>
              <a:t>Additional</a:t>
            </a:r>
            <a:r>
              <a:rPr kumimoji="0" sz="1450" i="1" kern="0" cap="none" spc="-60" normalizeH="0" baseline="0" noProof="0" dirty="0">
                <a:solidFill>
                  <a:srgbClr val="FF0000"/>
                </a:solidFill>
                <a:latin typeface="Arial" panose="020B0604020202020204"/>
                <a:cs typeface="Arial" panose="020B0604020202020204"/>
              </a:rPr>
              <a:t> </a:t>
            </a:r>
            <a:r>
              <a:rPr kumimoji="0" sz="1450" i="1" kern="0" cap="none" spc="-35" normalizeH="0" baseline="0" noProof="0" dirty="0">
                <a:solidFill>
                  <a:srgbClr val="FF0000"/>
                </a:solidFill>
                <a:latin typeface="Arial" panose="020B0604020202020204"/>
                <a:cs typeface="Arial" panose="020B0604020202020204"/>
              </a:rPr>
              <a:t>documents</a:t>
            </a:r>
            <a:r>
              <a:rPr kumimoji="0" sz="1450" i="1" kern="0" cap="none" spc="-40" normalizeH="0" baseline="0" noProof="0" dirty="0">
                <a:solidFill>
                  <a:srgbClr val="FF0000"/>
                </a:solidFill>
                <a:latin typeface="Arial" panose="020B0604020202020204"/>
                <a:cs typeface="Arial" panose="020B0604020202020204"/>
              </a:rPr>
              <a:t> </a:t>
            </a:r>
            <a:r>
              <a:rPr kumimoji="0" sz="1450" i="1" kern="0" cap="none" spc="-45" normalizeH="0" baseline="0" noProof="0" dirty="0">
                <a:solidFill>
                  <a:srgbClr val="FF0000"/>
                </a:solidFill>
                <a:latin typeface="Arial" panose="020B0604020202020204"/>
                <a:cs typeface="Arial" panose="020B0604020202020204"/>
              </a:rPr>
              <a:t>may</a:t>
            </a:r>
            <a:r>
              <a:rPr kumimoji="0" sz="1450" i="1" kern="0" cap="none" spc="-35" normalizeH="0" baseline="0" noProof="0" dirty="0">
                <a:solidFill>
                  <a:srgbClr val="FF0000"/>
                </a:solidFill>
                <a:latin typeface="Arial" panose="020B0604020202020204"/>
                <a:cs typeface="Arial" panose="020B0604020202020204"/>
              </a:rPr>
              <a:t> </a:t>
            </a:r>
            <a:r>
              <a:rPr kumimoji="0" sz="1450" i="1" kern="0" cap="none" spc="-50" normalizeH="0" baseline="0" noProof="0" dirty="0">
                <a:solidFill>
                  <a:srgbClr val="FF0000"/>
                </a:solidFill>
                <a:latin typeface="Arial" panose="020B0604020202020204"/>
                <a:cs typeface="Arial" panose="020B0604020202020204"/>
              </a:rPr>
              <a:t>be</a:t>
            </a:r>
            <a:r>
              <a:rPr kumimoji="0" sz="1450" i="1" kern="0" cap="none" spc="-40" normalizeH="0" baseline="0" noProof="0" dirty="0">
                <a:solidFill>
                  <a:srgbClr val="FF0000"/>
                </a:solidFill>
                <a:latin typeface="Arial" panose="020B0604020202020204"/>
                <a:cs typeface="Arial" panose="020B0604020202020204"/>
              </a:rPr>
              <a:t> </a:t>
            </a:r>
            <a:r>
              <a:rPr kumimoji="0" sz="1450" i="1" kern="0" cap="none" spc="-25" normalizeH="0" baseline="0" noProof="0" dirty="0">
                <a:solidFill>
                  <a:srgbClr val="FF0000"/>
                </a:solidFill>
                <a:latin typeface="Arial" panose="020B0604020202020204"/>
                <a:cs typeface="Arial" panose="020B0604020202020204"/>
              </a:rPr>
              <a:t>required</a:t>
            </a:r>
            <a:r>
              <a:rPr kumimoji="0" sz="1450" i="1" kern="0" cap="none" spc="-6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in</a:t>
            </a:r>
            <a:r>
              <a:rPr kumimoji="0" sz="1450" i="1" kern="0" cap="none" spc="-35" normalizeH="0" baseline="0" noProof="0" dirty="0">
                <a:solidFill>
                  <a:srgbClr val="FF0000"/>
                </a:solidFill>
                <a:latin typeface="Arial" panose="020B0604020202020204"/>
                <a:cs typeface="Arial" panose="020B0604020202020204"/>
              </a:rPr>
              <a:t> </a:t>
            </a:r>
            <a:r>
              <a:rPr kumimoji="0" sz="1450" i="1" kern="0" cap="none" spc="-75" normalizeH="0" baseline="0" noProof="0" dirty="0">
                <a:solidFill>
                  <a:srgbClr val="FF0000"/>
                </a:solidFill>
                <a:latin typeface="Arial" panose="020B0604020202020204"/>
                <a:cs typeface="Arial" panose="020B0604020202020204"/>
              </a:rPr>
              <a:t>view</a:t>
            </a:r>
            <a:r>
              <a:rPr kumimoji="0" sz="1450" i="1" kern="0" cap="none" spc="-30"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of</a:t>
            </a:r>
            <a:r>
              <a:rPr kumimoji="0" sz="1450" i="1" kern="0" cap="none" spc="-25"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certain</a:t>
            </a:r>
            <a:r>
              <a:rPr kumimoji="0" sz="1450" i="1" kern="0" cap="none" spc="-45"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information</a:t>
            </a:r>
            <a:r>
              <a:rPr kumimoji="0" sz="1450" i="1" kern="0" cap="none" spc="-50" normalizeH="0" baseline="0" noProof="0" dirty="0">
                <a:solidFill>
                  <a:srgbClr val="FF0000"/>
                </a:solidFill>
                <a:latin typeface="Arial" panose="020B0604020202020204"/>
                <a:cs typeface="Arial" panose="020B0604020202020204"/>
              </a:rPr>
              <a:t> </a:t>
            </a:r>
            <a:r>
              <a:rPr kumimoji="0" sz="1450" i="1" kern="0" cap="none" spc="-55" normalizeH="0" baseline="0" noProof="0" dirty="0">
                <a:solidFill>
                  <a:srgbClr val="FF0000"/>
                </a:solidFill>
                <a:latin typeface="Arial" panose="020B0604020202020204"/>
                <a:cs typeface="Arial" panose="020B0604020202020204"/>
              </a:rPr>
              <a:t>revealed</a:t>
            </a:r>
            <a:r>
              <a:rPr kumimoji="0" sz="1450" i="1" kern="0" cap="none" spc="-45"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during</a:t>
            </a:r>
            <a:r>
              <a:rPr kumimoji="0" sz="1450" i="1" kern="0" cap="none" spc="-50"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the</a:t>
            </a:r>
            <a:r>
              <a:rPr kumimoji="0" sz="1450" i="1" kern="0" cap="none" spc="-40" normalizeH="0" baseline="0" noProof="0" dirty="0">
                <a:solidFill>
                  <a:srgbClr val="FF0000"/>
                </a:solidFill>
                <a:latin typeface="Arial" panose="020B0604020202020204"/>
                <a:cs typeface="Arial" panose="020B0604020202020204"/>
              </a:rPr>
              <a:t> </a:t>
            </a:r>
            <a:r>
              <a:rPr kumimoji="0" sz="1450" i="1" kern="0" cap="none" spc="-65" normalizeH="0" baseline="0" noProof="0" dirty="0">
                <a:solidFill>
                  <a:srgbClr val="FF0000"/>
                </a:solidFill>
                <a:latin typeface="Arial" panose="020B0604020202020204"/>
                <a:cs typeface="Arial" panose="020B0604020202020204"/>
              </a:rPr>
              <a:t>review</a:t>
            </a:r>
            <a:r>
              <a:rPr kumimoji="0" sz="1450" i="1" kern="0" cap="none" spc="-3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of</a:t>
            </a:r>
            <a:r>
              <a:rPr kumimoji="0" sz="1450" i="1" kern="0" cap="none" spc="-2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the</a:t>
            </a:r>
            <a:r>
              <a:rPr kumimoji="0" sz="1450" i="1" kern="0" cap="none" spc="-35"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claim.</a:t>
            </a:r>
            <a:endParaRPr kumimoji="0" sz="1450" kern="0" cap="none" spc="0" normalizeH="0" baseline="0" noProof="0">
              <a:solidFill>
                <a:sysClr val="windowText" lastClr="000000"/>
              </a:solidFill>
              <a:latin typeface="Arial" panose="020B0604020202020204"/>
              <a:cs typeface="Arial" panose="020B0604020202020204"/>
            </a:endParaRPr>
          </a:p>
        </p:txBody>
      </p:sp>
      <p:sp>
        <p:nvSpPr>
          <p:cNvPr id="28" name="object 28"/>
          <p:cNvSpPr txBox="1"/>
          <p:nvPr/>
        </p:nvSpPr>
        <p:spPr>
          <a:xfrm>
            <a:off x="1874838" y="3500438"/>
            <a:ext cx="16668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4</a:t>
            </a:r>
            <a:endParaRPr kumimoji="0" kern="0" cap="none" spc="0" normalizeH="0" baseline="0" noProof="0">
              <a:solidFill>
                <a:sysClr val="windowText" lastClr="000000"/>
              </a:solidFill>
              <a:latin typeface="Arial" panose="020B0604020202020204"/>
              <a:cs typeface="Arial" panose="020B0604020202020204"/>
            </a:endParaRPr>
          </a:p>
        </p:txBody>
      </p:sp>
      <p:sp>
        <p:nvSpPr>
          <p:cNvPr id="29" name="object 29"/>
          <p:cNvSpPr txBox="1"/>
          <p:nvPr/>
        </p:nvSpPr>
        <p:spPr>
          <a:xfrm>
            <a:off x="1874838" y="4022725"/>
            <a:ext cx="16668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5</a:t>
            </a:r>
            <a:endParaRPr kumimoji="0" kern="0" cap="none" spc="0" normalizeH="0" baseline="0" noProof="0">
              <a:solidFill>
                <a:sysClr val="windowText" lastClr="000000"/>
              </a:solidFill>
              <a:latin typeface="Arial" panose="020B0604020202020204"/>
              <a:cs typeface="Arial" panose="020B0604020202020204"/>
            </a:endParaRPr>
          </a:p>
        </p:txBody>
      </p:sp>
      <p:sp>
        <p:nvSpPr>
          <p:cNvPr id="30" name="object 30"/>
          <p:cNvSpPr txBox="1"/>
          <p:nvPr/>
        </p:nvSpPr>
        <p:spPr>
          <a:xfrm>
            <a:off x="1874838" y="4552950"/>
            <a:ext cx="16668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6</a:t>
            </a:r>
            <a:endParaRPr kumimoji="0" kern="0" cap="none" spc="0" normalizeH="0" baseline="0" noProof="0">
              <a:solidFill>
                <a:sysClr val="windowText" lastClr="000000"/>
              </a:solidFill>
              <a:latin typeface="Arial" panose="020B0604020202020204"/>
              <a:cs typeface="Arial" panose="020B0604020202020204"/>
            </a:endParaRPr>
          </a:p>
        </p:txBody>
      </p:sp>
      <p:grpSp>
        <p:nvGrpSpPr>
          <p:cNvPr id="27665" name="object 31"/>
          <p:cNvGrpSpPr/>
          <p:nvPr/>
        </p:nvGrpSpPr>
        <p:grpSpPr>
          <a:xfrm>
            <a:off x="1249363" y="809625"/>
            <a:ext cx="9693275" cy="879475"/>
            <a:chOff x="1250073" y="810196"/>
            <a:chExt cx="9692005" cy="878205"/>
          </a:xfrm>
        </p:grpSpPr>
        <p:sp>
          <p:nvSpPr>
            <p:cNvPr id="27668" name="object 32"/>
            <p:cNvSpPr/>
            <p:nvPr/>
          </p:nvSpPr>
          <p:spPr>
            <a:xfrm>
              <a:off x="1264361" y="824483"/>
              <a:ext cx="9663430" cy="849630"/>
            </a:xfrm>
            <a:custGeom>
              <a:avLst/>
              <a:gdLst/>
              <a:ahLst/>
              <a:cxnLst/>
              <a:pathLst>
                <a:path w="9663430" h="849630">
                  <a:moveTo>
                    <a:pt x="9609505" y="0"/>
                  </a:moveTo>
                  <a:lnTo>
                    <a:pt x="53771" y="0"/>
                  </a:lnTo>
                  <a:lnTo>
                    <a:pt x="32832" y="4214"/>
                  </a:lnTo>
                  <a:lnTo>
                    <a:pt x="15741" y="15716"/>
                  </a:lnTo>
                  <a:lnTo>
                    <a:pt x="4222" y="32789"/>
                  </a:lnTo>
                  <a:lnTo>
                    <a:pt x="0" y="53720"/>
                  </a:lnTo>
                  <a:lnTo>
                    <a:pt x="0" y="795401"/>
                  </a:lnTo>
                  <a:lnTo>
                    <a:pt x="4222" y="816352"/>
                  </a:lnTo>
                  <a:lnTo>
                    <a:pt x="15741" y="833469"/>
                  </a:lnTo>
                  <a:lnTo>
                    <a:pt x="32832" y="845014"/>
                  </a:lnTo>
                  <a:lnTo>
                    <a:pt x="53771" y="849249"/>
                  </a:lnTo>
                  <a:lnTo>
                    <a:pt x="9609505" y="849249"/>
                  </a:lnTo>
                  <a:lnTo>
                    <a:pt x="9630436" y="845014"/>
                  </a:lnTo>
                  <a:lnTo>
                    <a:pt x="9647510" y="833469"/>
                  </a:lnTo>
                  <a:lnTo>
                    <a:pt x="9659011" y="816352"/>
                  </a:lnTo>
                  <a:lnTo>
                    <a:pt x="9663226" y="795401"/>
                  </a:lnTo>
                  <a:lnTo>
                    <a:pt x="9663226" y="53720"/>
                  </a:lnTo>
                  <a:lnTo>
                    <a:pt x="9659011" y="32789"/>
                  </a:lnTo>
                  <a:lnTo>
                    <a:pt x="9647510" y="15716"/>
                  </a:lnTo>
                  <a:lnTo>
                    <a:pt x="9630436" y="4214"/>
                  </a:lnTo>
                  <a:lnTo>
                    <a:pt x="9609505" y="0"/>
                  </a:lnTo>
                  <a:close/>
                </a:path>
              </a:pathLst>
            </a:custGeom>
            <a:solidFill>
              <a:srgbClr val="00A757">
                <a:alpha val="100000"/>
              </a:srgbClr>
            </a:solidFill>
            <a:ln w="9525">
              <a:noFill/>
            </a:ln>
          </p:spPr>
          <p:txBody>
            <a:bodyPr/>
            <a:p>
              <a:endParaRPr lang="en-US"/>
            </a:p>
          </p:txBody>
        </p:sp>
        <p:sp>
          <p:nvSpPr>
            <p:cNvPr id="27669" name="object 33"/>
            <p:cNvSpPr/>
            <p:nvPr/>
          </p:nvSpPr>
          <p:spPr>
            <a:xfrm>
              <a:off x="1264361" y="824483"/>
              <a:ext cx="9663430" cy="849630"/>
            </a:xfrm>
            <a:custGeom>
              <a:avLst/>
              <a:gdLst/>
              <a:ahLst/>
              <a:cxnLst/>
              <a:pathLst>
                <a:path w="9663430" h="849630">
                  <a:moveTo>
                    <a:pt x="0" y="53720"/>
                  </a:moveTo>
                  <a:lnTo>
                    <a:pt x="4222" y="32789"/>
                  </a:lnTo>
                  <a:lnTo>
                    <a:pt x="15741" y="15716"/>
                  </a:lnTo>
                  <a:lnTo>
                    <a:pt x="32832" y="4214"/>
                  </a:lnTo>
                  <a:lnTo>
                    <a:pt x="53771" y="0"/>
                  </a:lnTo>
                  <a:lnTo>
                    <a:pt x="9609505" y="0"/>
                  </a:lnTo>
                  <a:lnTo>
                    <a:pt x="9630436" y="4214"/>
                  </a:lnTo>
                  <a:lnTo>
                    <a:pt x="9647510" y="15716"/>
                  </a:lnTo>
                  <a:lnTo>
                    <a:pt x="9659011" y="32789"/>
                  </a:lnTo>
                  <a:lnTo>
                    <a:pt x="9663226" y="53720"/>
                  </a:lnTo>
                  <a:lnTo>
                    <a:pt x="9663226" y="795401"/>
                  </a:lnTo>
                  <a:lnTo>
                    <a:pt x="9659011" y="816352"/>
                  </a:lnTo>
                  <a:lnTo>
                    <a:pt x="9647510" y="833469"/>
                  </a:lnTo>
                  <a:lnTo>
                    <a:pt x="9630436" y="845014"/>
                  </a:lnTo>
                  <a:lnTo>
                    <a:pt x="9609505" y="849249"/>
                  </a:lnTo>
                  <a:lnTo>
                    <a:pt x="53771" y="849249"/>
                  </a:lnTo>
                  <a:lnTo>
                    <a:pt x="32832" y="845014"/>
                  </a:lnTo>
                  <a:lnTo>
                    <a:pt x="15741" y="833469"/>
                  </a:lnTo>
                  <a:lnTo>
                    <a:pt x="4222" y="816352"/>
                  </a:lnTo>
                  <a:lnTo>
                    <a:pt x="0" y="795401"/>
                  </a:lnTo>
                  <a:lnTo>
                    <a:pt x="0" y="53720"/>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34" name="object 34"/>
          <p:cNvSpPr txBox="1"/>
          <p:nvPr/>
        </p:nvSpPr>
        <p:spPr>
          <a:xfrm>
            <a:off x="1466850" y="941388"/>
            <a:ext cx="6594475" cy="2306638"/>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2500" b="1" kern="0" cap="none" spc="-10" normalizeH="0" baseline="0" noProof="0" dirty="0">
                <a:solidFill>
                  <a:srgbClr val="FFFFFF"/>
                </a:solidFill>
                <a:latin typeface="Arial" panose="020B0604020202020204"/>
                <a:cs typeface="Arial" panose="020B0604020202020204"/>
              </a:rPr>
              <a:t>DEATH</a:t>
            </a:r>
            <a:r>
              <a:rPr kumimoji="0" sz="2500" b="1" kern="0" cap="none" spc="-15" normalizeH="0" baseline="0" noProof="0" dirty="0">
                <a:solidFill>
                  <a:srgbClr val="FFFFFF"/>
                </a:solidFill>
                <a:latin typeface="Arial" panose="020B0604020202020204"/>
                <a:cs typeface="Arial" panose="020B0604020202020204"/>
              </a:rPr>
              <a:t> </a:t>
            </a:r>
            <a:r>
              <a:rPr kumimoji="0" sz="2500" b="1" kern="0" cap="none" spc="0" normalizeH="0" baseline="0" noProof="0" dirty="0">
                <a:solidFill>
                  <a:srgbClr val="FFFFFF"/>
                </a:solidFill>
                <a:latin typeface="Arial" panose="020B0604020202020204"/>
                <a:cs typeface="Arial" panose="020B0604020202020204"/>
              </a:rPr>
              <a:t>CLAIMS</a:t>
            </a:r>
            <a:r>
              <a:rPr kumimoji="0" sz="2500" b="1" kern="0" cap="none" spc="-20" normalizeH="0" baseline="0" noProof="0" dirty="0">
                <a:solidFill>
                  <a:srgbClr val="FFFFFF"/>
                </a:solidFill>
                <a:latin typeface="Arial" panose="020B0604020202020204"/>
                <a:cs typeface="Arial" panose="020B0604020202020204"/>
              </a:rPr>
              <a:t> </a:t>
            </a:r>
            <a:r>
              <a:rPr kumimoji="0" sz="2500" b="1" kern="0" cap="none" spc="0" normalizeH="0" baseline="0" noProof="0" dirty="0">
                <a:solidFill>
                  <a:srgbClr val="FFFFFF"/>
                </a:solidFill>
                <a:latin typeface="Arial" panose="020B0604020202020204"/>
                <a:cs typeface="Arial" panose="020B0604020202020204"/>
              </a:rPr>
              <a:t>REQUIREMENTS</a:t>
            </a:r>
            <a:r>
              <a:rPr kumimoji="0" sz="2500" b="1" kern="0" cap="none" spc="-15" normalizeH="0" baseline="0" noProof="0" dirty="0">
                <a:solidFill>
                  <a:srgbClr val="FFFFFF"/>
                </a:solidFill>
                <a:latin typeface="Arial" panose="020B0604020202020204"/>
                <a:cs typeface="Arial" panose="020B0604020202020204"/>
              </a:rPr>
              <a:t> </a:t>
            </a:r>
            <a:r>
              <a:rPr kumimoji="0" sz="2500" b="1" kern="0" cap="none" spc="-10" normalizeH="0" baseline="0" noProof="0" dirty="0">
                <a:solidFill>
                  <a:srgbClr val="FFFFFF"/>
                </a:solidFill>
                <a:latin typeface="Arial" panose="020B0604020202020204"/>
                <a:cs typeface="Arial" panose="020B0604020202020204"/>
              </a:rPr>
              <a:t>(BL/FAB)</a:t>
            </a:r>
            <a:endParaRPr kumimoji="0" sz="250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spcBef>
                <a:spcPts val="45"/>
              </a:spcBef>
              <a:spcAft>
                <a:spcPts val="0"/>
              </a:spcAft>
              <a:buClrTx/>
              <a:buSzTx/>
              <a:buFontTx/>
              <a:buNone/>
              <a:defRPr/>
            </a:pPr>
            <a:r>
              <a:rPr kumimoji="0" sz="1200" kern="0" cap="none" spc="0" normalizeH="0" baseline="0" noProof="0" dirty="0">
                <a:solidFill>
                  <a:srgbClr val="FFFFFF"/>
                </a:solidFill>
                <a:latin typeface="Tahoma" panose="020B0604030504040204"/>
                <a:cs typeface="Tahoma" panose="020B0604030504040204"/>
              </a:rPr>
              <a:t>GROUP</a:t>
            </a:r>
            <a:r>
              <a:rPr kumimoji="0" sz="1200" kern="0" cap="none" spc="-35"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LIFE</a:t>
            </a:r>
            <a:r>
              <a:rPr kumimoji="0" sz="1200" kern="0" cap="none" spc="-50" normalizeH="0" baseline="0" noProof="0" dirty="0">
                <a:solidFill>
                  <a:srgbClr val="FFFFFF"/>
                </a:solidFill>
                <a:latin typeface="Tahoma" panose="020B0604030504040204"/>
                <a:cs typeface="Tahoma" panose="020B0604030504040204"/>
              </a:rPr>
              <a:t> </a:t>
            </a:r>
            <a:r>
              <a:rPr kumimoji="0" sz="1200" kern="0" cap="none" spc="-10" normalizeH="0" baseline="0" noProof="0" dirty="0">
                <a:solidFill>
                  <a:srgbClr val="FFFFFF"/>
                </a:solidFill>
                <a:latin typeface="Tahoma" panose="020B0604030504040204"/>
                <a:cs typeface="Tahoma" panose="020B0604030504040204"/>
              </a:rPr>
              <a:t>INSURANCE</a:t>
            </a:r>
            <a:endParaRPr kumimoji="0" sz="120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0"/>
              </a:spcBef>
              <a:spcAft>
                <a:spcPts val="0"/>
              </a:spcAft>
              <a:buClrTx/>
              <a:buSzTx/>
              <a:buFontTx/>
              <a:buNone/>
              <a:defRPr/>
            </a:pPr>
            <a:endParaRPr kumimoji="0" sz="120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10"/>
              </a:spcBef>
              <a:spcAft>
                <a:spcPts val="0"/>
              </a:spcAft>
              <a:buClrTx/>
              <a:buSzTx/>
              <a:buFontTx/>
              <a:buNone/>
              <a:defRPr/>
            </a:pPr>
            <a:endParaRPr kumimoji="0" sz="1300" kern="0" cap="none" spc="0" normalizeH="0" baseline="0" noProof="0">
              <a:solidFill>
                <a:sysClr val="windowText" lastClr="000000"/>
              </a:solidFill>
              <a:latin typeface="Tahoma" panose="020B0604030504040204"/>
              <a:cs typeface="Tahoma" panose="020B0604030504040204"/>
            </a:endParaRPr>
          </a:p>
          <a:p>
            <a:pPr marL="788670" marR="0" indent="-351790" defTabSz="914400" eaLnBrk="1" fontAlgn="auto" hangingPunct="1">
              <a:spcBef>
                <a:spcPts val="5"/>
              </a:spcBef>
              <a:spcAft>
                <a:spcPts val="0"/>
              </a:spcAft>
              <a:buClrTx/>
              <a:buSzTx/>
              <a:buFont typeface="Arial" panose="020B0604020202020204"/>
              <a:buAutoNum type="arabicPlain"/>
              <a:tabLst>
                <a:tab pos="788670" algn="l"/>
                <a:tab pos="789305" algn="l"/>
              </a:tabLst>
              <a:defRPr/>
            </a:pPr>
            <a:r>
              <a:rPr kumimoji="0" kern="0" cap="none" spc="0" normalizeH="0" baseline="0" noProof="0" dirty="0">
                <a:solidFill>
                  <a:sysClr val="windowText" lastClr="000000"/>
                </a:solidFill>
                <a:latin typeface="Tahoma" panose="020B0604030504040204"/>
                <a:cs typeface="Tahoma" panose="020B0604030504040204"/>
              </a:rPr>
              <a:t>Claimant’s</a:t>
            </a:r>
            <a:r>
              <a:rPr kumimoji="0" kern="0" cap="none" spc="10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35"/>
              </a:spcBef>
              <a:spcAft>
                <a:spcPts val="0"/>
              </a:spcAft>
              <a:buClrTx/>
              <a:buSzTx/>
              <a:buFont typeface="Arial" panose="020B0604020202020204"/>
              <a:buAutoNum type="arabicPlain"/>
              <a:defRPr/>
            </a:pPr>
            <a:endParaRPr kumimoji="0" sz="1600" kern="0" cap="none" spc="0" normalizeH="0" baseline="0" noProof="0">
              <a:solidFill>
                <a:sysClr val="windowText" lastClr="000000"/>
              </a:solidFill>
              <a:latin typeface="Tahoma" panose="020B0604030504040204"/>
              <a:cs typeface="Tahoma" panose="020B0604030504040204"/>
            </a:endParaRPr>
          </a:p>
          <a:p>
            <a:pPr marL="788670" marR="0" indent="-368935" defTabSz="914400" eaLnBrk="1" fontAlgn="auto" hangingPunct="1">
              <a:spcBef>
                <a:spcPts val="0"/>
              </a:spcBef>
              <a:spcAft>
                <a:spcPts val="0"/>
              </a:spcAft>
              <a:buClrTx/>
              <a:buSzTx/>
              <a:buFont typeface="Arial" panose="020B0604020202020204"/>
              <a:buAutoNum type="arabicPlain"/>
              <a:tabLst>
                <a:tab pos="788670" algn="l"/>
                <a:tab pos="789305" algn="l"/>
              </a:tabLst>
              <a:defRPr/>
            </a:pPr>
            <a:r>
              <a:rPr kumimoji="0" kern="0" cap="none" spc="0" normalizeH="0" baseline="0" noProof="0" dirty="0">
                <a:solidFill>
                  <a:sysClr val="windowText" lastClr="000000"/>
                </a:solidFill>
                <a:latin typeface="Tahoma" panose="020B0604030504040204"/>
                <a:cs typeface="Tahoma" panose="020B0604030504040204"/>
              </a:rPr>
              <a:t>Physician’s</a:t>
            </a:r>
            <a:r>
              <a:rPr kumimoji="0" kern="0" cap="none" spc="14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5"/>
              </a:spcBef>
              <a:spcAft>
                <a:spcPts val="0"/>
              </a:spcAft>
              <a:buClrTx/>
              <a:buSzTx/>
              <a:buFont typeface="Arial" panose="020B0604020202020204"/>
              <a:buAutoNum type="arabicPlain"/>
              <a:defRPr/>
            </a:pPr>
            <a:endParaRPr kumimoji="0" sz="1650" kern="0" cap="none" spc="0" normalizeH="0" baseline="0" noProof="0">
              <a:solidFill>
                <a:sysClr val="windowText" lastClr="000000"/>
              </a:solidFill>
              <a:latin typeface="Tahoma" panose="020B0604030504040204"/>
              <a:cs typeface="Tahoma" panose="020B0604030504040204"/>
            </a:endParaRPr>
          </a:p>
          <a:p>
            <a:pPr marL="788670" marR="0" indent="-368935" defTabSz="914400" eaLnBrk="1" fontAlgn="auto" hangingPunct="1">
              <a:spcBef>
                <a:spcPts val="0"/>
              </a:spcBef>
              <a:spcAft>
                <a:spcPts val="0"/>
              </a:spcAft>
              <a:buClrTx/>
              <a:buSzTx/>
              <a:buFont typeface="Arial" panose="020B0604020202020204"/>
              <a:buAutoNum type="arabicPlain"/>
              <a:tabLst>
                <a:tab pos="788670" algn="l"/>
                <a:tab pos="789305" algn="l"/>
              </a:tabLst>
              <a:defRPr/>
            </a:pPr>
            <a:r>
              <a:rPr kumimoji="0" kern="0" cap="none" spc="0" normalizeH="0" baseline="0" noProof="0" dirty="0">
                <a:solidFill>
                  <a:sysClr val="windowText" lastClr="000000"/>
                </a:solidFill>
                <a:latin typeface="Tahoma" panose="020B0604030504040204"/>
                <a:cs typeface="Tahoma" panose="020B0604030504040204"/>
              </a:rPr>
              <a:t>Original</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or</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Certified</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true</a:t>
            </a:r>
            <a:r>
              <a:rPr kumimoji="0" kern="0" cap="none" spc="-7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copy</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5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Death</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Certificate</a:t>
            </a:r>
            <a:endParaRPr kumimoji="0" kern="0" cap="none" spc="0" normalizeH="0" baseline="0" noProof="0">
              <a:solidFill>
                <a:sysClr val="windowText" lastClr="000000"/>
              </a:solidFill>
              <a:latin typeface="Tahoma" panose="020B0604030504040204"/>
              <a:cs typeface="Tahoma" panose="020B0604030504040204"/>
            </a:endParaRPr>
          </a:p>
        </p:txBody>
      </p:sp>
      <p:sp>
        <p:nvSpPr>
          <p:cNvPr id="35" name="object 35"/>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674" name="object 2"/>
          <p:cNvGrpSpPr/>
          <p:nvPr/>
        </p:nvGrpSpPr>
        <p:grpSpPr>
          <a:xfrm>
            <a:off x="1249363" y="773113"/>
            <a:ext cx="9693275" cy="877887"/>
            <a:chOff x="1250073" y="772604"/>
            <a:chExt cx="9692005" cy="878205"/>
          </a:xfrm>
        </p:grpSpPr>
        <p:sp>
          <p:nvSpPr>
            <p:cNvPr id="28703" name="object 3"/>
            <p:cNvSpPr/>
            <p:nvPr/>
          </p:nvSpPr>
          <p:spPr>
            <a:xfrm>
              <a:off x="1264361" y="786891"/>
              <a:ext cx="9663430" cy="849630"/>
            </a:xfrm>
            <a:custGeom>
              <a:avLst/>
              <a:gdLst/>
              <a:ahLst/>
              <a:cxnLst/>
              <a:pathLst>
                <a:path w="9663430" h="849630">
                  <a:moveTo>
                    <a:pt x="9609505" y="0"/>
                  </a:moveTo>
                  <a:lnTo>
                    <a:pt x="53771" y="0"/>
                  </a:lnTo>
                  <a:lnTo>
                    <a:pt x="32832" y="4234"/>
                  </a:lnTo>
                  <a:lnTo>
                    <a:pt x="15741" y="15779"/>
                  </a:lnTo>
                  <a:lnTo>
                    <a:pt x="4222" y="32896"/>
                  </a:lnTo>
                  <a:lnTo>
                    <a:pt x="0" y="53848"/>
                  </a:lnTo>
                  <a:lnTo>
                    <a:pt x="0" y="795528"/>
                  </a:lnTo>
                  <a:lnTo>
                    <a:pt x="4222" y="816459"/>
                  </a:lnTo>
                  <a:lnTo>
                    <a:pt x="15741" y="833532"/>
                  </a:lnTo>
                  <a:lnTo>
                    <a:pt x="32832" y="845034"/>
                  </a:lnTo>
                  <a:lnTo>
                    <a:pt x="53771" y="849249"/>
                  </a:lnTo>
                  <a:lnTo>
                    <a:pt x="9609505" y="849249"/>
                  </a:lnTo>
                  <a:lnTo>
                    <a:pt x="9630436" y="845034"/>
                  </a:lnTo>
                  <a:lnTo>
                    <a:pt x="9647510" y="833532"/>
                  </a:lnTo>
                  <a:lnTo>
                    <a:pt x="9659011" y="816459"/>
                  </a:lnTo>
                  <a:lnTo>
                    <a:pt x="9663226" y="795528"/>
                  </a:lnTo>
                  <a:lnTo>
                    <a:pt x="9663226" y="53848"/>
                  </a:lnTo>
                  <a:lnTo>
                    <a:pt x="9659011" y="32896"/>
                  </a:lnTo>
                  <a:lnTo>
                    <a:pt x="9647510" y="15779"/>
                  </a:lnTo>
                  <a:lnTo>
                    <a:pt x="9630436" y="4234"/>
                  </a:lnTo>
                  <a:lnTo>
                    <a:pt x="9609505" y="0"/>
                  </a:lnTo>
                  <a:close/>
                </a:path>
              </a:pathLst>
            </a:custGeom>
            <a:solidFill>
              <a:srgbClr val="00A757">
                <a:alpha val="100000"/>
              </a:srgbClr>
            </a:solidFill>
            <a:ln w="9525">
              <a:noFill/>
            </a:ln>
          </p:spPr>
          <p:txBody>
            <a:bodyPr/>
            <a:p>
              <a:endParaRPr lang="en-US"/>
            </a:p>
          </p:txBody>
        </p:sp>
        <p:sp>
          <p:nvSpPr>
            <p:cNvPr id="28704" name="object 4"/>
            <p:cNvSpPr/>
            <p:nvPr/>
          </p:nvSpPr>
          <p:spPr>
            <a:xfrm>
              <a:off x="1264361" y="786891"/>
              <a:ext cx="9663430" cy="849630"/>
            </a:xfrm>
            <a:custGeom>
              <a:avLst/>
              <a:gdLst/>
              <a:ahLst/>
              <a:cxnLst/>
              <a:pathLst>
                <a:path w="9663430" h="849630">
                  <a:moveTo>
                    <a:pt x="0" y="53848"/>
                  </a:moveTo>
                  <a:lnTo>
                    <a:pt x="4222" y="32896"/>
                  </a:lnTo>
                  <a:lnTo>
                    <a:pt x="15741" y="15779"/>
                  </a:lnTo>
                  <a:lnTo>
                    <a:pt x="32832" y="4234"/>
                  </a:lnTo>
                  <a:lnTo>
                    <a:pt x="53771" y="0"/>
                  </a:lnTo>
                  <a:lnTo>
                    <a:pt x="9609505" y="0"/>
                  </a:lnTo>
                  <a:lnTo>
                    <a:pt x="9630436" y="4234"/>
                  </a:lnTo>
                  <a:lnTo>
                    <a:pt x="9647510" y="15779"/>
                  </a:lnTo>
                  <a:lnTo>
                    <a:pt x="9659011" y="32896"/>
                  </a:lnTo>
                  <a:lnTo>
                    <a:pt x="9663226" y="53848"/>
                  </a:lnTo>
                  <a:lnTo>
                    <a:pt x="9663226" y="795528"/>
                  </a:lnTo>
                  <a:lnTo>
                    <a:pt x="9659011" y="816459"/>
                  </a:lnTo>
                  <a:lnTo>
                    <a:pt x="9647510" y="833532"/>
                  </a:lnTo>
                  <a:lnTo>
                    <a:pt x="9630436" y="845034"/>
                  </a:lnTo>
                  <a:lnTo>
                    <a:pt x="9609505" y="849249"/>
                  </a:lnTo>
                  <a:lnTo>
                    <a:pt x="53771" y="849249"/>
                  </a:lnTo>
                  <a:lnTo>
                    <a:pt x="32832" y="845034"/>
                  </a:lnTo>
                  <a:lnTo>
                    <a:pt x="15741" y="833532"/>
                  </a:lnTo>
                  <a:lnTo>
                    <a:pt x="4222" y="816459"/>
                  </a:lnTo>
                  <a:lnTo>
                    <a:pt x="0" y="795528"/>
                  </a:lnTo>
                  <a:lnTo>
                    <a:pt x="0" y="5384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498271" rIns="0" bIns="0" rtlCol="0">
            <a:spAutoFit/>
          </a:bodyPr>
          <a:lstStyle/>
          <a:p>
            <a:pPr marL="43815" marR="0" lvl="0" indent="0" defTabSz="914400" eaLnBrk="1" fontAlgn="auto" latinLnBrk="0" hangingPunct="1">
              <a:lnSpc>
                <a:spcPct val="100000"/>
              </a:lnSpc>
              <a:spcBef>
                <a:spcPts val="95"/>
              </a:spcBef>
              <a:spcAft>
                <a:spcPts val="0"/>
              </a:spcAft>
              <a:buClrTx/>
              <a:buSzTx/>
              <a:buFontTx/>
              <a:buNone/>
              <a:defRPr/>
            </a:pP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ADD&amp;D BENEFIT</a:t>
            </a:r>
            <a:r>
              <a:rPr kumimoji="0" sz="2500" b="1" i="0" u="none" strike="noStrike" kern="0" cap="none" spc="5"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CLAIMS </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REQUIREMENTS</a:t>
            </a:r>
            <a:endPar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endParaRPr>
          </a:p>
          <a:p>
            <a:pPr marL="43815" marR="0" lvl="0" indent="0" defTabSz="914400" eaLnBrk="1" fontAlgn="auto" latinLnBrk="0" hangingPunct="1">
              <a:lnSpc>
                <a:spcPct val="100000"/>
              </a:lnSpc>
              <a:spcBef>
                <a:spcPts val="4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35"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grpSp>
        <p:nvGrpSpPr>
          <p:cNvPr id="28676" name="object 6"/>
          <p:cNvGrpSpPr/>
          <p:nvPr/>
        </p:nvGrpSpPr>
        <p:grpSpPr>
          <a:xfrm>
            <a:off x="1952625" y="1890713"/>
            <a:ext cx="7886700" cy="476250"/>
            <a:chOff x="1953323" y="1890204"/>
            <a:chExt cx="7886065" cy="476884"/>
          </a:xfrm>
        </p:grpSpPr>
        <p:sp>
          <p:nvSpPr>
            <p:cNvPr id="28701" name="object 7"/>
            <p:cNvSpPr/>
            <p:nvPr/>
          </p:nvSpPr>
          <p:spPr>
            <a:xfrm>
              <a:off x="1954910" y="1891792"/>
              <a:ext cx="7882890" cy="473709"/>
            </a:xfrm>
            <a:custGeom>
              <a:avLst/>
              <a:gdLst/>
              <a:ahLst/>
              <a:cxnLst/>
              <a:pathLst>
                <a:path w="7882890" h="473710">
                  <a:moveTo>
                    <a:pt x="7852790" y="0"/>
                  </a:moveTo>
                  <a:lnTo>
                    <a:pt x="29971" y="0"/>
                  </a:lnTo>
                  <a:lnTo>
                    <a:pt x="18323" y="2361"/>
                  </a:lnTo>
                  <a:lnTo>
                    <a:pt x="8794" y="8794"/>
                  </a:lnTo>
                  <a:lnTo>
                    <a:pt x="2361" y="18323"/>
                  </a:lnTo>
                  <a:lnTo>
                    <a:pt x="0" y="29972"/>
                  </a:lnTo>
                  <a:lnTo>
                    <a:pt x="0" y="443484"/>
                  </a:lnTo>
                  <a:lnTo>
                    <a:pt x="2361" y="455185"/>
                  </a:lnTo>
                  <a:lnTo>
                    <a:pt x="8794" y="464708"/>
                  </a:lnTo>
                  <a:lnTo>
                    <a:pt x="18323" y="471112"/>
                  </a:lnTo>
                  <a:lnTo>
                    <a:pt x="29971" y="473456"/>
                  </a:lnTo>
                  <a:lnTo>
                    <a:pt x="7852790" y="473456"/>
                  </a:lnTo>
                  <a:lnTo>
                    <a:pt x="7864439" y="471112"/>
                  </a:lnTo>
                  <a:lnTo>
                    <a:pt x="7873968" y="464708"/>
                  </a:lnTo>
                  <a:lnTo>
                    <a:pt x="7880401" y="455185"/>
                  </a:lnTo>
                  <a:lnTo>
                    <a:pt x="7882763" y="443484"/>
                  </a:lnTo>
                  <a:lnTo>
                    <a:pt x="7882763" y="29972"/>
                  </a:lnTo>
                  <a:lnTo>
                    <a:pt x="7880401" y="18323"/>
                  </a:lnTo>
                  <a:lnTo>
                    <a:pt x="7873968" y="8794"/>
                  </a:lnTo>
                  <a:lnTo>
                    <a:pt x="7864439" y="2361"/>
                  </a:lnTo>
                  <a:lnTo>
                    <a:pt x="7852790" y="0"/>
                  </a:lnTo>
                  <a:close/>
                </a:path>
              </a:pathLst>
            </a:custGeom>
            <a:solidFill>
              <a:srgbClr val="F1F1F1">
                <a:alpha val="100000"/>
              </a:srgbClr>
            </a:solidFill>
            <a:ln w="9525">
              <a:noFill/>
            </a:ln>
          </p:spPr>
          <p:txBody>
            <a:bodyPr/>
            <a:p>
              <a:endParaRPr lang="en-US"/>
            </a:p>
          </p:txBody>
        </p:sp>
        <p:sp>
          <p:nvSpPr>
            <p:cNvPr id="28702" name="object 8"/>
            <p:cNvSpPr/>
            <p:nvPr/>
          </p:nvSpPr>
          <p:spPr>
            <a:xfrm>
              <a:off x="1954910" y="1891792"/>
              <a:ext cx="7882890" cy="473709"/>
            </a:xfrm>
            <a:custGeom>
              <a:avLst/>
              <a:gdLst/>
              <a:ahLst/>
              <a:cxnLst/>
              <a:pathLst>
                <a:path w="7882890" h="473710">
                  <a:moveTo>
                    <a:pt x="0" y="29972"/>
                  </a:moveTo>
                  <a:lnTo>
                    <a:pt x="2361" y="18323"/>
                  </a:lnTo>
                  <a:lnTo>
                    <a:pt x="8794" y="8794"/>
                  </a:lnTo>
                  <a:lnTo>
                    <a:pt x="18323" y="2361"/>
                  </a:lnTo>
                  <a:lnTo>
                    <a:pt x="29971" y="0"/>
                  </a:lnTo>
                  <a:lnTo>
                    <a:pt x="7852790" y="0"/>
                  </a:lnTo>
                  <a:lnTo>
                    <a:pt x="7864439" y="2361"/>
                  </a:lnTo>
                  <a:lnTo>
                    <a:pt x="7873968" y="8794"/>
                  </a:lnTo>
                  <a:lnTo>
                    <a:pt x="7880401" y="18323"/>
                  </a:lnTo>
                  <a:lnTo>
                    <a:pt x="7882763" y="29972"/>
                  </a:lnTo>
                  <a:lnTo>
                    <a:pt x="7882763" y="443484"/>
                  </a:lnTo>
                  <a:lnTo>
                    <a:pt x="7880401" y="455185"/>
                  </a:lnTo>
                  <a:lnTo>
                    <a:pt x="7873968" y="464708"/>
                  </a:lnTo>
                  <a:lnTo>
                    <a:pt x="7864439" y="471112"/>
                  </a:lnTo>
                  <a:lnTo>
                    <a:pt x="7852790" y="473456"/>
                  </a:lnTo>
                  <a:lnTo>
                    <a:pt x="29971" y="473456"/>
                  </a:lnTo>
                  <a:lnTo>
                    <a:pt x="18323" y="471112"/>
                  </a:lnTo>
                  <a:lnTo>
                    <a:pt x="8794" y="464708"/>
                  </a:lnTo>
                  <a:lnTo>
                    <a:pt x="2361" y="455185"/>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8677" name="object 9"/>
          <p:cNvGrpSpPr/>
          <p:nvPr/>
        </p:nvGrpSpPr>
        <p:grpSpPr>
          <a:xfrm>
            <a:off x="1952625" y="2416175"/>
            <a:ext cx="7886700" cy="477838"/>
            <a:chOff x="1953323" y="2416746"/>
            <a:chExt cx="7886065" cy="476884"/>
          </a:xfrm>
        </p:grpSpPr>
        <p:sp>
          <p:nvSpPr>
            <p:cNvPr id="28699" name="object 10"/>
            <p:cNvSpPr/>
            <p:nvPr/>
          </p:nvSpPr>
          <p:spPr>
            <a:xfrm>
              <a:off x="1954910" y="2418333"/>
              <a:ext cx="7882890" cy="473709"/>
            </a:xfrm>
            <a:custGeom>
              <a:avLst/>
              <a:gdLst/>
              <a:ahLst/>
              <a:cxnLst/>
              <a:pathLst>
                <a:path w="7882890" h="473710">
                  <a:moveTo>
                    <a:pt x="7852790" y="0"/>
                  </a:moveTo>
                  <a:lnTo>
                    <a:pt x="29971" y="0"/>
                  </a:lnTo>
                  <a:lnTo>
                    <a:pt x="18323" y="2361"/>
                  </a:lnTo>
                  <a:lnTo>
                    <a:pt x="8794" y="8794"/>
                  </a:lnTo>
                  <a:lnTo>
                    <a:pt x="2361" y="18323"/>
                  </a:lnTo>
                  <a:lnTo>
                    <a:pt x="0" y="29971"/>
                  </a:lnTo>
                  <a:lnTo>
                    <a:pt x="0" y="443483"/>
                  </a:lnTo>
                  <a:lnTo>
                    <a:pt x="2361" y="455132"/>
                  </a:lnTo>
                  <a:lnTo>
                    <a:pt x="8794" y="464661"/>
                  </a:lnTo>
                  <a:lnTo>
                    <a:pt x="18323" y="471094"/>
                  </a:lnTo>
                  <a:lnTo>
                    <a:pt x="29971" y="473455"/>
                  </a:lnTo>
                  <a:lnTo>
                    <a:pt x="7852790" y="473455"/>
                  </a:lnTo>
                  <a:lnTo>
                    <a:pt x="7864439" y="471094"/>
                  </a:lnTo>
                  <a:lnTo>
                    <a:pt x="7873968" y="464661"/>
                  </a:lnTo>
                  <a:lnTo>
                    <a:pt x="7880401" y="455132"/>
                  </a:lnTo>
                  <a:lnTo>
                    <a:pt x="7882763" y="443483"/>
                  </a:lnTo>
                  <a:lnTo>
                    <a:pt x="7882763" y="29971"/>
                  </a:lnTo>
                  <a:lnTo>
                    <a:pt x="7880401" y="18323"/>
                  </a:lnTo>
                  <a:lnTo>
                    <a:pt x="7873968" y="8794"/>
                  </a:lnTo>
                  <a:lnTo>
                    <a:pt x="7864439" y="2361"/>
                  </a:lnTo>
                  <a:lnTo>
                    <a:pt x="7852790" y="0"/>
                  </a:lnTo>
                  <a:close/>
                </a:path>
              </a:pathLst>
            </a:custGeom>
            <a:solidFill>
              <a:srgbClr val="F1F1F1">
                <a:alpha val="100000"/>
              </a:srgbClr>
            </a:solidFill>
            <a:ln w="9525">
              <a:noFill/>
            </a:ln>
          </p:spPr>
          <p:txBody>
            <a:bodyPr/>
            <a:p>
              <a:endParaRPr lang="en-US"/>
            </a:p>
          </p:txBody>
        </p:sp>
        <p:sp>
          <p:nvSpPr>
            <p:cNvPr id="28700" name="object 11"/>
            <p:cNvSpPr/>
            <p:nvPr/>
          </p:nvSpPr>
          <p:spPr>
            <a:xfrm>
              <a:off x="1954910" y="2418333"/>
              <a:ext cx="7882890" cy="473709"/>
            </a:xfrm>
            <a:custGeom>
              <a:avLst/>
              <a:gdLst/>
              <a:ahLst/>
              <a:cxnLst/>
              <a:pathLst>
                <a:path w="7882890" h="473710">
                  <a:moveTo>
                    <a:pt x="0" y="29971"/>
                  </a:moveTo>
                  <a:lnTo>
                    <a:pt x="2361" y="18323"/>
                  </a:lnTo>
                  <a:lnTo>
                    <a:pt x="8794" y="8794"/>
                  </a:lnTo>
                  <a:lnTo>
                    <a:pt x="18323" y="2361"/>
                  </a:lnTo>
                  <a:lnTo>
                    <a:pt x="29971" y="0"/>
                  </a:lnTo>
                  <a:lnTo>
                    <a:pt x="7852790" y="0"/>
                  </a:lnTo>
                  <a:lnTo>
                    <a:pt x="7864439" y="2361"/>
                  </a:lnTo>
                  <a:lnTo>
                    <a:pt x="7873968" y="8794"/>
                  </a:lnTo>
                  <a:lnTo>
                    <a:pt x="7880401" y="18323"/>
                  </a:lnTo>
                  <a:lnTo>
                    <a:pt x="7882763" y="29971"/>
                  </a:lnTo>
                  <a:lnTo>
                    <a:pt x="7882763" y="443483"/>
                  </a:lnTo>
                  <a:lnTo>
                    <a:pt x="7880401" y="455132"/>
                  </a:lnTo>
                  <a:lnTo>
                    <a:pt x="7873968" y="464661"/>
                  </a:lnTo>
                  <a:lnTo>
                    <a:pt x="7864439" y="471094"/>
                  </a:lnTo>
                  <a:lnTo>
                    <a:pt x="7852790" y="473455"/>
                  </a:lnTo>
                  <a:lnTo>
                    <a:pt x="29971" y="473455"/>
                  </a:lnTo>
                  <a:lnTo>
                    <a:pt x="18323" y="471094"/>
                  </a:lnTo>
                  <a:lnTo>
                    <a:pt x="8794" y="464661"/>
                  </a:lnTo>
                  <a:lnTo>
                    <a:pt x="2361" y="455132"/>
                  </a:lnTo>
                  <a:lnTo>
                    <a:pt x="0" y="443483"/>
                  </a:lnTo>
                  <a:lnTo>
                    <a:pt x="0" y="29971"/>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8678" name="object 12"/>
          <p:cNvGrpSpPr/>
          <p:nvPr/>
        </p:nvGrpSpPr>
        <p:grpSpPr>
          <a:xfrm>
            <a:off x="1952625" y="2943225"/>
            <a:ext cx="7886700" cy="476250"/>
            <a:chOff x="1953323" y="2943288"/>
            <a:chExt cx="7886065" cy="476884"/>
          </a:xfrm>
        </p:grpSpPr>
        <p:sp>
          <p:nvSpPr>
            <p:cNvPr id="28697" name="object 13"/>
            <p:cNvSpPr/>
            <p:nvPr/>
          </p:nvSpPr>
          <p:spPr>
            <a:xfrm>
              <a:off x="1954910" y="2944876"/>
              <a:ext cx="7882890" cy="473709"/>
            </a:xfrm>
            <a:custGeom>
              <a:avLst/>
              <a:gdLst/>
              <a:ahLst/>
              <a:cxnLst/>
              <a:pathLst>
                <a:path w="7882890" h="473710">
                  <a:moveTo>
                    <a:pt x="7852790" y="0"/>
                  </a:moveTo>
                  <a:lnTo>
                    <a:pt x="29971" y="0"/>
                  </a:lnTo>
                  <a:lnTo>
                    <a:pt x="18323" y="2343"/>
                  </a:lnTo>
                  <a:lnTo>
                    <a:pt x="8794" y="8747"/>
                  </a:lnTo>
                  <a:lnTo>
                    <a:pt x="2361" y="18270"/>
                  </a:lnTo>
                  <a:lnTo>
                    <a:pt x="0" y="29972"/>
                  </a:lnTo>
                  <a:lnTo>
                    <a:pt x="0" y="443484"/>
                  </a:lnTo>
                  <a:lnTo>
                    <a:pt x="2361" y="455132"/>
                  </a:lnTo>
                  <a:lnTo>
                    <a:pt x="8794" y="464661"/>
                  </a:lnTo>
                  <a:lnTo>
                    <a:pt x="18323" y="471094"/>
                  </a:lnTo>
                  <a:lnTo>
                    <a:pt x="29971" y="473456"/>
                  </a:lnTo>
                  <a:lnTo>
                    <a:pt x="7852790" y="473456"/>
                  </a:lnTo>
                  <a:lnTo>
                    <a:pt x="7864439" y="471094"/>
                  </a:lnTo>
                  <a:lnTo>
                    <a:pt x="7873968" y="464661"/>
                  </a:lnTo>
                  <a:lnTo>
                    <a:pt x="7880401" y="455132"/>
                  </a:lnTo>
                  <a:lnTo>
                    <a:pt x="7882763" y="443484"/>
                  </a:lnTo>
                  <a:lnTo>
                    <a:pt x="7882763" y="29972"/>
                  </a:lnTo>
                  <a:lnTo>
                    <a:pt x="7880401" y="18270"/>
                  </a:lnTo>
                  <a:lnTo>
                    <a:pt x="7873968" y="8747"/>
                  </a:lnTo>
                  <a:lnTo>
                    <a:pt x="7864439" y="2343"/>
                  </a:lnTo>
                  <a:lnTo>
                    <a:pt x="7852790" y="0"/>
                  </a:lnTo>
                  <a:close/>
                </a:path>
              </a:pathLst>
            </a:custGeom>
            <a:solidFill>
              <a:srgbClr val="F1F1F1">
                <a:alpha val="100000"/>
              </a:srgbClr>
            </a:solidFill>
            <a:ln w="9525">
              <a:noFill/>
            </a:ln>
          </p:spPr>
          <p:txBody>
            <a:bodyPr/>
            <a:p>
              <a:endParaRPr lang="en-US"/>
            </a:p>
          </p:txBody>
        </p:sp>
        <p:sp>
          <p:nvSpPr>
            <p:cNvPr id="28698" name="object 14"/>
            <p:cNvSpPr/>
            <p:nvPr/>
          </p:nvSpPr>
          <p:spPr>
            <a:xfrm>
              <a:off x="1954910" y="2944876"/>
              <a:ext cx="7882890" cy="473709"/>
            </a:xfrm>
            <a:custGeom>
              <a:avLst/>
              <a:gdLst/>
              <a:ahLst/>
              <a:cxnLst/>
              <a:pathLst>
                <a:path w="7882890" h="473710">
                  <a:moveTo>
                    <a:pt x="0" y="29972"/>
                  </a:moveTo>
                  <a:lnTo>
                    <a:pt x="2361" y="18270"/>
                  </a:lnTo>
                  <a:lnTo>
                    <a:pt x="8794" y="8747"/>
                  </a:lnTo>
                  <a:lnTo>
                    <a:pt x="18323" y="2343"/>
                  </a:lnTo>
                  <a:lnTo>
                    <a:pt x="29971" y="0"/>
                  </a:lnTo>
                  <a:lnTo>
                    <a:pt x="7852790" y="0"/>
                  </a:lnTo>
                  <a:lnTo>
                    <a:pt x="7864439" y="2343"/>
                  </a:lnTo>
                  <a:lnTo>
                    <a:pt x="7873968" y="8747"/>
                  </a:lnTo>
                  <a:lnTo>
                    <a:pt x="7880401" y="18270"/>
                  </a:lnTo>
                  <a:lnTo>
                    <a:pt x="7882763" y="29972"/>
                  </a:lnTo>
                  <a:lnTo>
                    <a:pt x="7882763" y="443484"/>
                  </a:lnTo>
                  <a:lnTo>
                    <a:pt x="7880401" y="455132"/>
                  </a:lnTo>
                  <a:lnTo>
                    <a:pt x="7873968" y="464661"/>
                  </a:lnTo>
                  <a:lnTo>
                    <a:pt x="7864439" y="471094"/>
                  </a:lnTo>
                  <a:lnTo>
                    <a:pt x="7852790" y="473456"/>
                  </a:lnTo>
                  <a:lnTo>
                    <a:pt x="29971" y="473456"/>
                  </a:lnTo>
                  <a:lnTo>
                    <a:pt x="18323" y="471094"/>
                  </a:lnTo>
                  <a:lnTo>
                    <a:pt x="8794" y="464661"/>
                  </a:lnTo>
                  <a:lnTo>
                    <a:pt x="236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5" name="object 15"/>
          <p:cNvSpPr txBox="1"/>
          <p:nvPr/>
        </p:nvSpPr>
        <p:spPr>
          <a:xfrm>
            <a:off x="1674813" y="1973263"/>
            <a:ext cx="5300663" cy="1352550"/>
          </a:xfrm>
          <a:prstGeom prst="rect">
            <a:avLst/>
          </a:prstGeom>
        </p:spPr>
        <p:txBody>
          <a:bodyPr vert="horz" wrap="square" lIns="0" tIns="12700" rIns="0" bIns="0" rtlCol="0">
            <a:spAutoFit/>
          </a:bodyPr>
          <a:lstStyle/>
          <a:p>
            <a:pPr marL="379730" marR="0" indent="-351155" defTabSz="914400" eaLnBrk="1" fontAlgn="auto" hangingPunct="1">
              <a:spcBef>
                <a:spcPts val="100"/>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Accident</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Claim</a:t>
            </a:r>
            <a:r>
              <a:rPr kumimoji="0" kern="0" cap="none" spc="65" normalizeH="0" baseline="0" noProof="0" dirty="0">
                <a:solidFill>
                  <a:sysClr val="windowText" lastClr="000000"/>
                </a:solidFill>
                <a:latin typeface="Tahoma" panose="020B0604030504040204"/>
                <a:cs typeface="Tahoma" panose="020B0604030504040204"/>
              </a:rPr>
              <a:t> </a:t>
            </a:r>
            <a:r>
              <a:rPr kumimoji="0" kern="0" cap="none" spc="-20" normalizeH="0" baseline="0" noProof="0" dirty="0">
                <a:solidFill>
                  <a:sysClr val="windowText" lastClr="000000"/>
                </a:solidFill>
                <a:latin typeface="Tahoma" panose="020B0604030504040204"/>
                <a:cs typeface="Tahoma" panose="020B0604030504040204"/>
              </a:rPr>
              <a:t>Form</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35"/>
              </a:spcBef>
              <a:spcAft>
                <a:spcPts val="0"/>
              </a:spcAft>
              <a:buClrTx/>
              <a:buSzTx/>
              <a:buFont typeface="Arial" panose="020B0604020202020204"/>
              <a:buAutoNum type="arabicPlain"/>
              <a:defRPr/>
            </a:pPr>
            <a:endParaRPr kumimoji="0" sz="1600" kern="0" cap="none" spc="0" normalizeH="0" baseline="0" noProof="0">
              <a:solidFill>
                <a:sysClr val="windowText" lastClr="000000"/>
              </a:solidFill>
              <a:latin typeface="Tahoma" panose="020B0604030504040204"/>
              <a:cs typeface="Tahoma" panose="020B0604030504040204"/>
            </a:endParaRPr>
          </a:p>
          <a:p>
            <a:pPr marL="379730" marR="0" indent="-367665" defTabSz="914400" eaLnBrk="1" fontAlgn="auto" hangingPunct="1">
              <a:spcBef>
                <a:spcPts val="0"/>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Attending Physician’s</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5"/>
              </a:spcBef>
              <a:spcAft>
                <a:spcPts val="0"/>
              </a:spcAft>
              <a:buClrTx/>
              <a:buSzTx/>
              <a:buFont typeface="Arial" panose="020B0604020202020204"/>
              <a:buAutoNum type="arabicPlain"/>
              <a:defRPr/>
            </a:pPr>
            <a:endParaRPr kumimoji="0" sz="1650" kern="0" cap="none" spc="0" normalizeH="0" baseline="0" noProof="0">
              <a:solidFill>
                <a:sysClr val="windowText" lastClr="000000"/>
              </a:solidFill>
              <a:latin typeface="Tahoma" panose="020B0604030504040204"/>
              <a:cs typeface="Tahoma" panose="020B0604030504040204"/>
            </a:endParaRPr>
          </a:p>
          <a:p>
            <a:pPr marL="379730" marR="0" indent="-367665" defTabSz="914400" eaLnBrk="1" fontAlgn="auto" hangingPunct="1">
              <a:spcBef>
                <a:spcPts val="5"/>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Statement</a:t>
            </a:r>
            <a:r>
              <a:rPr kumimoji="0" kern="0" cap="none" spc="-7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from</a:t>
            </a:r>
            <a:r>
              <a:rPr kumimoji="0" kern="0" cap="none" spc="-55" normalizeH="0" baseline="0" noProof="0" dirty="0">
                <a:solidFill>
                  <a:sysClr val="windowText" lastClr="000000"/>
                </a:solidFill>
                <a:latin typeface="Tahoma" panose="020B0604030504040204"/>
                <a:cs typeface="Tahoma" panose="020B0604030504040204"/>
              </a:rPr>
              <a:t> </a:t>
            </a:r>
            <a:r>
              <a:rPr kumimoji="0" kern="0" cap="none" spc="-20" normalizeH="0" baseline="0" noProof="0" dirty="0">
                <a:solidFill>
                  <a:sysClr val="windowText" lastClr="000000"/>
                </a:solidFill>
                <a:latin typeface="Tahoma" panose="020B0604030504040204"/>
                <a:cs typeface="Tahoma" panose="020B0604030504040204"/>
              </a:rPr>
              <a:t>Identifying</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Witness,</a:t>
            </a:r>
            <a:r>
              <a:rPr kumimoji="0" kern="0" cap="none" spc="-7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if</a:t>
            </a:r>
            <a:r>
              <a:rPr kumimoji="0" kern="0" cap="none" spc="-5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applicable</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8680" name="object 16"/>
          <p:cNvGrpSpPr/>
          <p:nvPr/>
        </p:nvGrpSpPr>
        <p:grpSpPr>
          <a:xfrm>
            <a:off x="1952625" y="3470275"/>
            <a:ext cx="7886700" cy="476250"/>
            <a:chOff x="1953323" y="3469703"/>
            <a:chExt cx="7886065" cy="476884"/>
          </a:xfrm>
        </p:grpSpPr>
        <p:sp>
          <p:nvSpPr>
            <p:cNvPr id="28695" name="object 17"/>
            <p:cNvSpPr/>
            <p:nvPr/>
          </p:nvSpPr>
          <p:spPr>
            <a:xfrm>
              <a:off x="1954910" y="3471290"/>
              <a:ext cx="7882890" cy="473709"/>
            </a:xfrm>
            <a:custGeom>
              <a:avLst/>
              <a:gdLst/>
              <a:ahLst/>
              <a:cxnLst/>
              <a:pathLst>
                <a:path w="7882890" h="473710">
                  <a:moveTo>
                    <a:pt x="7852790" y="0"/>
                  </a:moveTo>
                  <a:lnTo>
                    <a:pt x="29971" y="0"/>
                  </a:lnTo>
                  <a:lnTo>
                    <a:pt x="18323" y="2361"/>
                  </a:lnTo>
                  <a:lnTo>
                    <a:pt x="8794" y="8794"/>
                  </a:lnTo>
                  <a:lnTo>
                    <a:pt x="2361" y="18323"/>
                  </a:lnTo>
                  <a:lnTo>
                    <a:pt x="0" y="29972"/>
                  </a:lnTo>
                  <a:lnTo>
                    <a:pt x="0" y="443484"/>
                  </a:lnTo>
                  <a:lnTo>
                    <a:pt x="2361" y="455185"/>
                  </a:lnTo>
                  <a:lnTo>
                    <a:pt x="8794" y="464708"/>
                  </a:lnTo>
                  <a:lnTo>
                    <a:pt x="18323" y="471112"/>
                  </a:lnTo>
                  <a:lnTo>
                    <a:pt x="29971" y="473456"/>
                  </a:lnTo>
                  <a:lnTo>
                    <a:pt x="7852790" y="473456"/>
                  </a:lnTo>
                  <a:lnTo>
                    <a:pt x="7864439" y="471112"/>
                  </a:lnTo>
                  <a:lnTo>
                    <a:pt x="7873968" y="464708"/>
                  </a:lnTo>
                  <a:lnTo>
                    <a:pt x="7880401" y="455185"/>
                  </a:lnTo>
                  <a:lnTo>
                    <a:pt x="7882763" y="443484"/>
                  </a:lnTo>
                  <a:lnTo>
                    <a:pt x="7882763" y="29972"/>
                  </a:lnTo>
                  <a:lnTo>
                    <a:pt x="7880401" y="18323"/>
                  </a:lnTo>
                  <a:lnTo>
                    <a:pt x="7873968" y="8794"/>
                  </a:lnTo>
                  <a:lnTo>
                    <a:pt x="7864439" y="2361"/>
                  </a:lnTo>
                  <a:lnTo>
                    <a:pt x="7852790" y="0"/>
                  </a:lnTo>
                  <a:close/>
                </a:path>
              </a:pathLst>
            </a:custGeom>
            <a:solidFill>
              <a:srgbClr val="F1F1F1">
                <a:alpha val="100000"/>
              </a:srgbClr>
            </a:solidFill>
            <a:ln w="9525">
              <a:noFill/>
            </a:ln>
          </p:spPr>
          <p:txBody>
            <a:bodyPr/>
            <a:p>
              <a:endParaRPr lang="en-US"/>
            </a:p>
          </p:txBody>
        </p:sp>
        <p:sp>
          <p:nvSpPr>
            <p:cNvPr id="28696" name="object 18"/>
            <p:cNvSpPr/>
            <p:nvPr/>
          </p:nvSpPr>
          <p:spPr>
            <a:xfrm>
              <a:off x="1954910" y="3471290"/>
              <a:ext cx="7882890" cy="473709"/>
            </a:xfrm>
            <a:custGeom>
              <a:avLst/>
              <a:gdLst/>
              <a:ahLst/>
              <a:cxnLst/>
              <a:pathLst>
                <a:path w="7882890" h="473710">
                  <a:moveTo>
                    <a:pt x="0" y="29972"/>
                  </a:moveTo>
                  <a:lnTo>
                    <a:pt x="2361" y="18323"/>
                  </a:lnTo>
                  <a:lnTo>
                    <a:pt x="8794" y="8794"/>
                  </a:lnTo>
                  <a:lnTo>
                    <a:pt x="18323" y="2361"/>
                  </a:lnTo>
                  <a:lnTo>
                    <a:pt x="29971" y="0"/>
                  </a:lnTo>
                  <a:lnTo>
                    <a:pt x="7852790" y="0"/>
                  </a:lnTo>
                  <a:lnTo>
                    <a:pt x="7864439" y="2361"/>
                  </a:lnTo>
                  <a:lnTo>
                    <a:pt x="7873968" y="8794"/>
                  </a:lnTo>
                  <a:lnTo>
                    <a:pt x="7880401" y="18323"/>
                  </a:lnTo>
                  <a:lnTo>
                    <a:pt x="7882763" y="29972"/>
                  </a:lnTo>
                  <a:lnTo>
                    <a:pt x="7882763" y="443484"/>
                  </a:lnTo>
                  <a:lnTo>
                    <a:pt x="7880401" y="455185"/>
                  </a:lnTo>
                  <a:lnTo>
                    <a:pt x="7873968" y="464708"/>
                  </a:lnTo>
                  <a:lnTo>
                    <a:pt x="7864439" y="471112"/>
                  </a:lnTo>
                  <a:lnTo>
                    <a:pt x="7852790" y="473456"/>
                  </a:lnTo>
                  <a:lnTo>
                    <a:pt x="29971" y="473456"/>
                  </a:lnTo>
                  <a:lnTo>
                    <a:pt x="18323" y="471112"/>
                  </a:lnTo>
                  <a:lnTo>
                    <a:pt x="8794" y="464708"/>
                  </a:lnTo>
                  <a:lnTo>
                    <a:pt x="2361" y="455185"/>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9" name="object 19"/>
          <p:cNvSpPr txBox="1"/>
          <p:nvPr/>
        </p:nvSpPr>
        <p:spPr>
          <a:xfrm>
            <a:off x="2043113" y="3551238"/>
            <a:ext cx="343693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Police or NBI</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Report,</a:t>
            </a:r>
            <a:r>
              <a:rPr kumimoji="0" kern="0" cap="none" spc="-2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if </a:t>
            </a:r>
            <a:r>
              <a:rPr kumimoji="0" kern="0" cap="none" spc="-10" normalizeH="0" baseline="0" noProof="0" dirty="0">
                <a:solidFill>
                  <a:sysClr val="windowText" lastClr="000000"/>
                </a:solidFill>
                <a:latin typeface="Tahoma" panose="020B0604030504040204"/>
                <a:cs typeface="Tahoma" panose="020B0604030504040204"/>
              </a:rPr>
              <a:t>applicable</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8682" name="object 20"/>
          <p:cNvGrpSpPr/>
          <p:nvPr/>
        </p:nvGrpSpPr>
        <p:grpSpPr>
          <a:xfrm>
            <a:off x="1952625" y="3995738"/>
            <a:ext cx="7886700" cy="477837"/>
            <a:chOff x="1953323" y="3996245"/>
            <a:chExt cx="7886065" cy="476884"/>
          </a:xfrm>
        </p:grpSpPr>
        <p:sp>
          <p:nvSpPr>
            <p:cNvPr id="28693" name="object 21"/>
            <p:cNvSpPr/>
            <p:nvPr/>
          </p:nvSpPr>
          <p:spPr>
            <a:xfrm>
              <a:off x="1954910" y="3997833"/>
              <a:ext cx="7882890" cy="473709"/>
            </a:xfrm>
            <a:custGeom>
              <a:avLst/>
              <a:gdLst/>
              <a:ahLst/>
              <a:cxnLst/>
              <a:pathLst>
                <a:path w="7882890" h="473710">
                  <a:moveTo>
                    <a:pt x="7852790" y="0"/>
                  </a:moveTo>
                  <a:lnTo>
                    <a:pt x="29971" y="0"/>
                  </a:lnTo>
                  <a:lnTo>
                    <a:pt x="18323" y="2343"/>
                  </a:lnTo>
                  <a:lnTo>
                    <a:pt x="8794" y="8747"/>
                  </a:lnTo>
                  <a:lnTo>
                    <a:pt x="2361" y="18270"/>
                  </a:lnTo>
                  <a:lnTo>
                    <a:pt x="0" y="29972"/>
                  </a:lnTo>
                  <a:lnTo>
                    <a:pt x="0" y="443484"/>
                  </a:lnTo>
                  <a:lnTo>
                    <a:pt x="2361" y="455132"/>
                  </a:lnTo>
                  <a:lnTo>
                    <a:pt x="8794" y="464661"/>
                  </a:lnTo>
                  <a:lnTo>
                    <a:pt x="18323" y="471094"/>
                  </a:lnTo>
                  <a:lnTo>
                    <a:pt x="29971" y="473456"/>
                  </a:lnTo>
                  <a:lnTo>
                    <a:pt x="7852790" y="473456"/>
                  </a:lnTo>
                  <a:lnTo>
                    <a:pt x="7864439" y="471094"/>
                  </a:lnTo>
                  <a:lnTo>
                    <a:pt x="7873968" y="464661"/>
                  </a:lnTo>
                  <a:lnTo>
                    <a:pt x="7880401" y="455132"/>
                  </a:lnTo>
                  <a:lnTo>
                    <a:pt x="7882763" y="443484"/>
                  </a:lnTo>
                  <a:lnTo>
                    <a:pt x="7882763" y="29972"/>
                  </a:lnTo>
                  <a:lnTo>
                    <a:pt x="7880401" y="18270"/>
                  </a:lnTo>
                  <a:lnTo>
                    <a:pt x="7873968" y="8747"/>
                  </a:lnTo>
                  <a:lnTo>
                    <a:pt x="7864439" y="2343"/>
                  </a:lnTo>
                  <a:lnTo>
                    <a:pt x="7852790" y="0"/>
                  </a:lnTo>
                  <a:close/>
                </a:path>
              </a:pathLst>
            </a:custGeom>
            <a:solidFill>
              <a:srgbClr val="F1F1F1">
                <a:alpha val="100000"/>
              </a:srgbClr>
            </a:solidFill>
            <a:ln w="9525">
              <a:noFill/>
            </a:ln>
          </p:spPr>
          <p:txBody>
            <a:bodyPr/>
            <a:p>
              <a:endParaRPr lang="en-US"/>
            </a:p>
          </p:txBody>
        </p:sp>
        <p:sp>
          <p:nvSpPr>
            <p:cNvPr id="28694" name="object 22"/>
            <p:cNvSpPr/>
            <p:nvPr/>
          </p:nvSpPr>
          <p:spPr>
            <a:xfrm>
              <a:off x="1954910" y="3997833"/>
              <a:ext cx="7882890" cy="473709"/>
            </a:xfrm>
            <a:custGeom>
              <a:avLst/>
              <a:gdLst/>
              <a:ahLst/>
              <a:cxnLst/>
              <a:pathLst>
                <a:path w="7882890" h="473710">
                  <a:moveTo>
                    <a:pt x="0" y="29972"/>
                  </a:moveTo>
                  <a:lnTo>
                    <a:pt x="2361" y="18270"/>
                  </a:lnTo>
                  <a:lnTo>
                    <a:pt x="8794" y="8747"/>
                  </a:lnTo>
                  <a:lnTo>
                    <a:pt x="18323" y="2343"/>
                  </a:lnTo>
                  <a:lnTo>
                    <a:pt x="29971" y="0"/>
                  </a:lnTo>
                  <a:lnTo>
                    <a:pt x="7852790" y="0"/>
                  </a:lnTo>
                  <a:lnTo>
                    <a:pt x="7864439" y="2343"/>
                  </a:lnTo>
                  <a:lnTo>
                    <a:pt x="7873968" y="8747"/>
                  </a:lnTo>
                  <a:lnTo>
                    <a:pt x="7880401" y="18270"/>
                  </a:lnTo>
                  <a:lnTo>
                    <a:pt x="7882763" y="29972"/>
                  </a:lnTo>
                  <a:lnTo>
                    <a:pt x="7882763" y="443484"/>
                  </a:lnTo>
                  <a:lnTo>
                    <a:pt x="7880401" y="455132"/>
                  </a:lnTo>
                  <a:lnTo>
                    <a:pt x="7873968" y="464661"/>
                  </a:lnTo>
                  <a:lnTo>
                    <a:pt x="7864439" y="471094"/>
                  </a:lnTo>
                  <a:lnTo>
                    <a:pt x="7852790" y="473456"/>
                  </a:lnTo>
                  <a:lnTo>
                    <a:pt x="29971" y="473456"/>
                  </a:lnTo>
                  <a:lnTo>
                    <a:pt x="18323" y="471094"/>
                  </a:lnTo>
                  <a:lnTo>
                    <a:pt x="8794" y="464661"/>
                  </a:lnTo>
                  <a:lnTo>
                    <a:pt x="236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3" name="object 23"/>
          <p:cNvSpPr txBox="1"/>
          <p:nvPr/>
        </p:nvSpPr>
        <p:spPr>
          <a:xfrm>
            <a:off x="2043113" y="4078288"/>
            <a:ext cx="5067300"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Medical</a:t>
            </a:r>
            <a:r>
              <a:rPr kumimoji="0" kern="0" cap="none" spc="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Abstract</a:t>
            </a:r>
            <a:r>
              <a:rPr kumimoji="0" kern="0" cap="none" spc="5" normalizeH="0" baseline="0" noProof="0" dirty="0">
                <a:solidFill>
                  <a:sysClr val="windowText" lastClr="000000"/>
                </a:solidFill>
                <a:latin typeface="Tahoma" panose="020B0604030504040204"/>
                <a:cs typeface="Tahoma" panose="020B0604030504040204"/>
              </a:rPr>
              <a:t> </a:t>
            </a:r>
            <a:r>
              <a:rPr kumimoji="0" kern="0" cap="none" spc="95" normalizeH="0" baseline="0" noProof="0" dirty="0">
                <a:solidFill>
                  <a:sysClr val="windowText" lastClr="000000"/>
                </a:solidFill>
                <a:latin typeface="Tahoma" panose="020B0604030504040204"/>
                <a:cs typeface="Tahoma" panose="020B0604030504040204"/>
              </a:rPr>
              <a:t>/</a:t>
            </a:r>
            <a:r>
              <a:rPr kumimoji="0" kern="0" cap="none" spc="2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Admitting</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History,</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if</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applicable</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8684" name="object 24"/>
          <p:cNvGrpSpPr/>
          <p:nvPr/>
        </p:nvGrpSpPr>
        <p:grpSpPr>
          <a:xfrm>
            <a:off x="1952625" y="4522788"/>
            <a:ext cx="7886700" cy="476250"/>
            <a:chOff x="1953323" y="4522660"/>
            <a:chExt cx="7886065" cy="476884"/>
          </a:xfrm>
        </p:grpSpPr>
        <p:sp>
          <p:nvSpPr>
            <p:cNvPr id="28691" name="object 25"/>
            <p:cNvSpPr/>
            <p:nvPr/>
          </p:nvSpPr>
          <p:spPr>
            <a:xfrm>
              <a:off x="1954910" y="4524247"/>
              <a:ext cx="7882890" cy="473709"/>
            </a:xfrm>
            <a:custGeom>
              <a:avLst/>
              <a:gdLst/>
              <a:ahLst/>
              <a:cxnLst/>
              <a:pathLst>
                <a:path w="7882890" h="473710">
                  <a:moveTo>
                    <a:pt x="7852790" y="0"/>
                  </a:moveTo>
                  <a:lnTo>
                    <a:pt x="29971" y="0"/>
                  </a:lnTo>
                  <a:lnTo>
                    <a:pt x="18323" y="2361"/>
                  </a:lnTo>
                  <a:lnTo>
                    <a:pt x="8794" y="8794"/>
                  </a:lnTo>
                  <a:lnTo>
                    <a:pt x="2361" y="18323"/>
                  </a:lnTo>
                  <a:lnTo>
                    <a:pt x="0" y="29971"/>
                  </a:lnTo>
                  <a:lnTo>
                    <a:pt x="0" y="443610"/>
                  </a:lnTo>
                  <a:lnTo>
                    <a:pt x="2361" y="455259"/>
                  </a:lnTo>
                  <a:lnTo>
                    <a:pt x="8794" y="464788"/>
                  </a:lnTo>
                  <a:lnTo>
                    <a:pt x="18323" y="471221"/>
                  </a:lnTo>
                  <a:lnTo>
                    <a:pt x="29971" y="473582"/>
                  </a:lnTo>
                  <a:lnTo>
                    <a:pt x="7852790" y="473582"/>
                  </a:lnTo>
                  <a:lnTo>
                    <a:pt x="7864439" y="471221"/>
                  </a:lnTo>
                  <a:lnTo>
                    <a:pt x="7873968" y="464788"/>
                  </a:lnTo>
                  <a:lnTo>
                    <a:pt x="7880401" y="455259"/>
                  </a:lnTo>
                  <a:lnTo>
                    <a:pt x="7882763" y="443610"/>
                  </a:lnTo>
                  <a:lnTo>
                    <a:pt x="7882763" y="29971"/>
                  </a:lnTo>
                  <a:lnTo>
                    <a:pt x="7880401" y="18323"/>
                  </a:lnTo>
                  <a:lnTo>
                    <a:pt x="7873968" y="8794"/>
                  </a:lnTo>
                  <a:lnTo>
                    <a:pt x="7864439" y="2361"/>
                  </a:lnTo>
                  <a:lnTo>
                    <a:pt x="7852790" y="0"/>
                  </a:lnTo>
                  <a:close/>
                </a:path>
              </a:pathLst>
            </a:custGeom>
            <a:solidFill>
              <a:srgbClr val="F1F1F1">
                <a:alpha val="100000"/>
              </a:srgbClr>
            </a:solidFill>
            <a:ln w="9525">
              <a:noFill/>
            </a:ln>
          </p:spPr>
          <p:txBody>
            <a:bodyPr/>
            <a:p>
              <a:endParaRPr lang="en-US"/>
            </a:p>
          </p:txBody>
        </p:sp>
        <p:sp>
          <p:nvSpPr>
            <p:cNvPr id="28692" name="object 26"/>
            <p:cNvSpPr/>
            <p:nvPr/>
          </p:nvSpPr>
          <p:spPr>
            <a:xfrm>
              <a:off x="1954910" y="4524247"/>
              <a:ext cx="7882890" cy="473709"/>
            </a:xfrm>
            <a:custGeom>
              <a:avLst/>
              <a:gdLst/>
              <a:ahLst/>
              <a:cxnLst/>
              <a:pathLst>
                <a:path w="7882890" h="473710">
                  <a:moveTo>
                    <a:pt x="0" y="29971"/>
                  </a:moveTo>
                  <a:lnTo>
                    <a:pt x="2361" y="18323"/>
                  </a:lnTo>
                  <a:lnTo>
                    <a:pt x="8794" y="8794"/>
                  </a:lnTo>
                  <a:lnTo>
                    <a:pt x="18323" y="2361"/>
                  </a:lnTo>
                  <a:lnTo>
                    <a:pt x="29971" y="0"/>
                  </a:lnTo>
                  <a:lnTo>
                    <a:pt x="7852790" y="0"/>
                  </a:lnTo>
                  <a:lnTo>
                    <a:pt x="7864439" y="2361"/>
                  </a:lnTo>
                  <a:lnTo>
                    <a:pt x="7873968" y="8794"/>
                  </a:lnTo>
                  <a:lnTo>
                    <a:pt x="7880401" y="18323"/>
                  </a:lnTo>
                  <a:lnTo>
                    <a:pt x="7882763" y="29971"/>
                  </a:lnTo>
                  <a:lnTo>
                    <a:pt x="7882763" y="443610"/>
                  </a:lnTo>
                  <a:lnTo>
                    <a:pt x="7880401" y="455259"/>
                  </a:lnTo>
                  <a:lnTo>
                    <a:pt x="7873968" y="464788"/>
                  </a:lnTo>
                  <a:lnTo>
                    <a:pt x="7864439" y="471221"/>
                  </a:lnTo>
                  <a:lnTo>
                    <a:pt x="7852790" y="473582"/>
                  </a:lnTo>
                  <a:lnTo>
                    <a:pt x="29971" y="473582"/>
                  </a:lnTo>
                  <a:lnTo>
                    <a:pt x="18323" y="471221"/>
                  </a:lnTo>
                  <a:lnTo>
                    <a:pt x="8794" y="464788"/>
                  </a:lnTo>
                  <a:lnTo>
                    <a:pt x="2361" y="455259"/>
                  </a:lnTo>
                  <a:lnTo>
                    <a:pt x="0" y="443610"/>
                  </a:lnTo>
                  <a:lnTo>
                    <a:pt x="0" y="29971"/>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7" name="object 27"/>
          <p:cNvSpPr txBox="1"/>
          <p:nvPr/>
        </p:nvSpPr>
        <p:spPr>
          <a:xfrm>
            <a:off x="2043113" y="4603750"/>
            <a:ext cx="377983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Operation</a:t>
            </a:r>
            <a:r>
              <a:rPr kumimoji="0" kern="0" cap="none" spc="-10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Room</a:t>
            </a:r>
            <a:r>
              <a:rPr kumimoji="0" kern="0" cap="none" spc="-9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Record,</a:t>
            </a:r>
            <a:r>
              <a:rPr kumimoji="0" kern="0" cap="none" spc="-10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if</a:t>
            </a:r>
            <a:r>
              <a:rPr kumimoji="0" kern="0" cap="none" spc="-8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applicable</a:t>
            </a:r>
            <a:endParaRPr kumimoji="0" kern="0" cap="none" spc="0" normalizeH="0" baseline="0" noProof="0">
              <a:solidFill>
                <a:sysClr val="windowText" lastClr="000000"/>
              </a:solidFill>
              <a:latin typeface="Tahoma" panose="020B0604030504040204"/>
              <a:cs typeface="Tahoma" panose="020B0604030504040204"/>
            </a:endParaRPr>
          </a:p>
        </p:txBody>
      </p:sp>
      <p:sp>
        <p:nvSpPr>
          <p:cNvPr id="32" name="object 32"/>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28" name="object 28"/>
          <p:cNvSpPr txBox="1"/>
          <p:nvPr/>
        </p:nvSpPr>
        <p:spPr>
          <a:xfrm>
            <a:off x="1674813" y="3578225"/>
            <a:ext cx="168275"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4</a:t>
            </a:r>
            <a:endParaRPr kumimoji="0" kern="0" cap="none" spc="0" normalizeH="0" baseline="0" noProof="0">
              <a:solidFill>
                <a:sysClr val="windowText" lastClr="000000"/>
              </a:solidFill>
              <a:latin typeface="Arial" panose="020B0604020202020204"/>
              <a:cs typeface="Arial" panose="020B0604020202020204"/>
            </a:endParaRPr>
          </a:p>
        </p:txBody>
      </p:sp>
      <p:sp>
        <p:nvSpPr>
          <p:cNvPr id="29" name="object 29"/>
          <p:cNvSpPr txBox="1"/>
          <p:nvPr/>
        </p:nvSpPr>
        <p:spPr>
          <a:xfrm>
            <a:off x="1674813" y="4100513"/>
            <a:ext cx="168275"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5</a:t>
            </a:r>
            <a:endParaRPr kumimoji="0" kern="0" cap="none" spc="0" normalizeH="0" baseline="0" noProof="0">
              <a:solidFill>
                <a:sysClr val="windowText" lastClr="000000"/>
              </a:solidFill>
              <a:latin typeface="Arial" panose="020B0604020202020204"/>
              <a:cs typeface="Arial" panose="020B0604020202020204"/>
            </a:endParaRPr>
          </a:p>
        </p:txBody>
      </p:sp>
      <p:sp>
        <p:nvSpPr>
          <p:cNvPr id="30" name="object 30"/>
          <p:cNvSpPr txBox="1"/>
          <p:nvPr/>
        </p:nvSpPr>
        <p:spPr>
          <a:xfrm>
            <a:off x="1674813" y="4630738"/>
            <a:ext cx="168275"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6</a:t>
            </a:r>
            <a:endParaRPr kumimoji="0" kern="0" cap="none" spc="0" normalizeH="0" baseline="0" noProof="0">
              <a:solidFill>
                <a:sysClr val="windowText" lastClr="000000"/>
              </a:solidFill>
              <a:latin typeface="Arial" panose="020B0604020202020204"/>
              <a:cs typeface="Arial" panose="020B0604020202020204"/>
            </a:endParaRPr>
          </a:p>
        </p:txBody>
      </p:sp>
      <p:sp>
        <p:nvSpPr>
          <p:cNvPr id="31" name="object 31"/>
          <p:cNvSpPr txBox="1"/>
          <p:nvPr/>
        </p:nvSpPr>
        <p:spPr>
          <a:xfrm>
            <a:off x="1927225" y="5127625"/>
            <a:ext cx="8504238" cy="766763"/>
          </a:xfrm>
          <a:prstGeom prst="rect">
            <a:avLst/>
          </a:prstGeom>
        </p:spPr>
        <p:txBody>
          <a:bodyPr vert="horz" wrap="square" lIns="0" tIns="14604" rIns="0" bIns="0" rtlCol="0">
            <a:spAutoFit/>
          </a:bodyPr>
          <a:p>
            <a:pPr marL="12700" eaLnBrk="1" hangingPunct="1">
              <a:lnSpc>
                <a:spcPts val="1475"/>
              </a:lnSpc>
              <a:spcBef>
                <a:spcPts val="115"/>
              </a:spcBef>
              <a:buNone/>
            </a:pPr>
            <a:r>
              <a:rPr lang="en-US" altLang="zh-CN" sz="1200" b="1" i="1">
                <a:solidFill>
                  <a:srgbClr val="FF0000"/>
                </a:solidFill>
                <a:cs typeface="Arial" panose="020B0604020202020204" pitchFamily="34" charset="0"/>
              </a:rPr>
              <a:t>Note:</a:t>
            </a:r>
            <a:endParaRPr lang="en-US" altLang="zh-CN" sz="1200">
              <a:solidFill>
                <a:srgbClr val="000000"/>
              </a:solidFill>
              <a:cs typeface="Arial" panose="020B0604020202020204" pitchFamily="34" charset="0"/>
            </a:endParaRPr>
          </a:p>
          <a:p>
            <a:pPr marL="12700" eaLnBrk="1" hangingPunct="1">
              <a:lnSpc>
                <a:spcPts val="1440"/>
              </a:lnSpc>
              <a:spcBef>
                <a:spcPts val="75"/>
              </a:spcBef>
              <a:buNone/>
            </a:pPr>
            <a:r>
              <a:rPr lang="en-US" altLang="zh-CN" sz="1200" i="1">
                <a:solidFill>
                  <a:srgbClr val="FF0000"/>
                </a:solidFill>
                <a:cs typeface="Arial" panose="020B0604020202020204" pitchFamily="34" charset="0"/>
              </a:rPr>
              <a:t>Additional documents will be required in view of certain information revealed during the review of the claim. The release of the forms does not mean that the insurance coverage is in force with respect to the employee and that there is a valid claim under the group policy.</a:t>
            </a:r>
            <a:endParaRPr lang="en-US" altLang="zh-CN" sz="1200">
              <a:solidFill>
                <a:srgbClr val="000000"/>
              </a:solidFill>
              <a:ea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698" name="object 2"/>
          <p:cNvGrpSpPr/>
          <p:nvPr/>
        </p:nvGrpSpPr>
        <p:grpSpPr>
          <a:xfrm>
            <a:off x="1249363" y="773113"/>
            <a:ext cx="9693275" cy="877887"/>
            <a:chOff x="1250073" y="772604"/>
            <a:chExt cx="9692005" cy="878205"/>
          </a:xfrm>
        </p:grpSpPr>
        <p:sp>
          <p:nvSpPr>
            <p:cNvPr id="29729" name="object 3"/>
            <p:cNvSpPr/>
            <p:nvPr/>
          </p:nvSpPr>
          <p:spPr>
            <a:xfrm>
              <a:off x="1264361" y="786891"/>
              <a:ext cx="9663430" cy="849630"/>
            </a:xfrm>
            <a:custGeom>
              <a:avLst/>
              <a:gdLst/>
              <a:ahLst/>
              <a:cxnLst/>
              <a:pathLst>
                <a:path w="9663430" h="849630">
                  <a:moveTo>
                    <a:pt x="9609505" y="0"/>
                  </a:moveTo>
                  <a:lnTo>
                    <a:pt x="53771" y="0"/>
                  </a:lnTo>
                  <a:lnTo>
                    <a:pt x="32832" y="4234"/>
                  </a:lnTo>
                  <a:lnTo>
                    <a:pt x="15741" y="15779"/>
                  </a:lnTo>
                  <a:lnTo>
                    <a:pt x="4222" y="32896"/>
                  </a:lnTo>
                  <a:lnTo>
                    <a:pt x="0" y="53848"/>
                  </a:lnTo>
                  <a:lnTo>
                    <a:pt x="0" y="795528"/>
                  </a:lnTo>
                  <a:lnTo>
                    <a:pt x="4222" y="816459"/>
                  </a:lnTo>
                  <a:lnTo>
                    <a:pt x="15741" y="833532"/>
                  </a:lnTo>
                  <a:lnTo>
                    <a:pt x="32832" y="845034"/>
                  </a:lnTo>
                  <a:lnTo>
                    <a:pt x="53771" y="849249"/>
                  </a:lnTo>
                  <a:lnTo>
                    <a:pt x="9609505" y="849249"/>
                  </a:lnTo>
                  <a:lnTo>
                    <a:pt x="9630436" y="845034"/>
                  </a:lnTo>
                  <a:lnTo>
                    <a:pt x="9647510" y="833532"/>
                  </a:lnTo>
                  <a:lnTo>
                    <a:pt x="9659011" y="816459"/>
                  </a:lnTo>
                  <a:lnTo>
                    <a:pt x="9663226" y="795528"/>
                  </a:lnTo>
                  <a:lnTo>
                    <a:pt x="9663226" y="53848"/>
                  </a:lnTo>
                  <a:lnTo>
                    <a:pt x="9659011" y="32896"/>
                  </a:lnTo>
                  <a:lnTo>
                    <a:pt x="9647510" y="15779"/>
                  </a:lnTo>
                  <a:lnTo>
                    <a:pt x="9630436" y="4234"/>
                  </a:lnTo>
                  <a:lnTo>
                    <a:pt x="9609505" y="0"/>
                  </a:lnTo>
                  <a:close/>
                </a:path>
              </a:pathLst>
            </a:custGeom>
            <a:solidFill>
              <a:srgbClr val="00A757">
                <a:alpha val="100000"/>
              </a:srgbClr>
            </a:solidFill>
            <a:ln w="9525">
              <a:noFill/>
            </a:ln>
          </p:spPr>
          <p:txBody>
            <a:bodyPr/>
            <a:p>
              <a:endParaRPr lang="en-US"/>
            </a:p>
          </p:txBody>
        </p:sp>
        <p:sp>
          <p:nvSpPr>
            <p:cNvPr id="29730" name="object 4"/>
            <p:cNvSpPr/>
            <p:nvPr/>
          </p:nvSpPr>
          <p:spPr>
            <a:xfrm>
              <a:off x="1264361" y="786891"/>
              <a:ext cx="9663430" cy="849630"/>
            </a:xfrm>
            <a:custGeom>
              <a:avLst/>
              <a:gdLst/>
              <a:ahLst/>
              <a:cxnLst/>
              <a:pathLst>
                <a:path w="9663430" h="849630">
                  <a:moveTo>
                    <a:pt x="0" y="53848"/>
                  </a:moveTo>
                  <a:lnTo>
                    <a:pt x="4222" y="32896"/>
                  </a:lnTo>
                  <a:lnTo>
                    <a:pt x="15741" y="15779"/>
                  </a:lnTo>
                  <a:lnTo>
                    <a:pt x="32832" y="4234"/>
                  </a:lnTo>
                  <a:lnTo>
                    <a:pt x="53771" y="0"/>
                  </a:lnTo>
                  <a:lnTo>
                    <a:pt x="9609505" y="0"/>
                  </a:lnTo>
                  <a:lnTo>
                    <a:pt x="9630436" y="4234"/>
                  </a:lnTo>
                  <a:lnTo>
                    <a:pt x="9647510" y="15779"/>
                  </a:lnTo>
                  <a:lnTo>
                    <a:pt x="9659011" y="32896"/>
                  </a:lnTo>
                  <a:lnTo>
                    <a:pt x="9663226" y="53848"/>
                  </a:lnTo>
                  <a:lnTo>
                    <a:pt x="9663226" y="795528"/>
                  </a:lnTo>
                  <a:lnTo>
                    <a:pt x="9659011" y="816459"/>
                  </a:lnTo>
                  <a:lnTo>
                    <a:pt x="9647510" y="833532"/>
                  </a:lnTo>
                  <a:lnTo>
                    <a:pt x="9630436" y="845034"/>
                  </a:lnTo>
                  <a:lnTo>
                    <a:pt x="9609505" y="849249"/>
                  </a:lnTo>
                  <a:lnTo>
                    <a:pt x="53771" y="849249"/>
                  </a:lnTo>
                  <a:lnTo>
                    <a:pt x="32832" y="845034"/>
                  </a:lnTo>
                  <a:lnTo>
                    <a:pt x="15741" y="833532"/>
                  </a:lnTo>
                  <a:lnTo>
                    <a:pt x="4222" y="816459"/>
                  </a:lnTo>
                  <a:lnTo>
                    <a:pt x="0" y="795528"/>
                  </a:lnTo>
                  <a:lnTo>
                    <a:pt x="0" y="5384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498271" rIns="0" bIns="0" rtlCol="0">
            <a:spAutoFit/>
          </a:bodyPr>
          <a:lstStyle/>
          <a:p>
            <a:pPr marL="43815" marR="0" lvl="0" indent="0" defTabSz="914400" eaLnBrk="1" fontAlgn="auto" latinLnBrk="0" hangingPunct="1">
              <a:lnSpc>
                <a:spcPct val="100000"/>
              </a:lnSpc>
              <a:spcBef>
                <a:spcPts val="95"/>
              </a:spcBef>
              <a:spcAft>
                <a:spcPts val="0"/>
              </a:spcAft>
              <a:buClrTx/>
              <a:buSzTx/>
              <a:buFontTx/>
              <a:buNone/>
              <a:defRPr/>
            </a:pP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TPD</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500" b="1" i="0" u="none" strike="noStrike" kern="0" cap="none" spc="45"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CLAIMS</a:t>
            </a:r>
            <a:r>
              <a:rPr kumimoji="0" sz="2500" b="1" i="0" u="none" strike="noStrike" kern="0" cap="none" spc="3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REQUIREMENTS</a:t>
            </a:r>
            <a:endPar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endParaRPr>
          </a:p>
          <a:p>
            <a:pPr marL="43815" marR="0" lvl="0" indent="0" defTabSz="914400" eaLnBrk="1" fontAlgn="auto" latinLnBrk="0" hangingPunct="1">
              <a:lnSpc>
                <a:spcPct val="100000"/>
              </a:lnSpc>
              <a:spcBef>
                <a:spcPts val="4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35"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grpSp>
        <p:nvGrpSpPr>
          <p:cNvPr id="29700" name="object 6"/>
          <p:cNvGrpSpPr/>
          <p:nvPr/>
        </p:nvGrpSpPr>
        <p:grpSpPr>
          <a:xfrm>
            <a:off x="2152650" y="1952625"/>
            <a:ext cx="7886700" cy="477838"/>
            <a:chOff x="2153094" y="1953323"/>
            <a:chExt cx="7886065" cy="476884"/>
          </a:xfrm>
        </p:grpSpPr>
        <p:sp>
          <p:nvSpPr>
            <p:cNvPr id="29727" name="object 7"/>
            <p:cNvSpPr/>
            <p:nvPr/>
          </p:nvSpPr>
          <p:spPr>
            <a:xfrm>
              <a:off x="2154682" y="1954910"/>
              <a:ext cx="7882890" cy="473709"/>
            </a:xfrm>
            <a:custGeom>
              <a:avLst/>
              <a:gdLst/>
              <a:ahLst/>
              <a:cxnLst/>
              <a:pathLst>
                <a:path w="7882890" h="473710">
                  <a:moveTo>
                    <a:pt x="7852791" y="0"/>
                  </a:moveTo>
                  <a:lnTo>
                    <a:pt x="29844" y="0"/>
                  </a:lnTo>
                  <a:lnTo>
                    <a:pt x="18216" y="2361"/>
                  </a:lnTo>
                  <a:lnTo>
                    <a:pt x="8731" y="8794"/>
                  </a:lnTo>
                  <a:lnTo>
                    <a:pt x="2341" y="18323"/>
                  </a:lnTo>
                  <a:lnTo>
                    <a:pt x="0" y="29972"/>
                  </a:lnTo>
                  <a:lnTo>
                    <a:pt x="0" y="443484"/>
                  </a:lnTo>
                  <a:lnTo>
                    <a:pt x="2341" y="455132"/>
                  </a:lnTo>
                  <a:lnTo>
                    <a:pt x="8731" y="464661"/>
                  </a:lnTo>
                  <a:lnTo>
                    <a:pt x="18216" y="471094"/>
                  </a:lnTo>
                  <a:lnTo>
                    <a:pt x="29844" y="473455"/>
                  </a:lnTo>
                  <a:lnTo>
                    <a:pt x="7852791" y="473455"/>
                  </a:lnTo>
                  <a:lnTo>
                    <a:pt x="7864419" y="471094"/>
                  </a:lnTo>
                  <a:lnTo>
                    <a:pt x="7873904" y="464661"/>
                  </a:lnTo>
                  <a:lnTo>
                    <a:pt x="7880294" y="455132"/>
                  </a:lnTo>
                  <a:lnTo>
                    <a:pt x="7882636" y="443484"/>
                  </a:lnTo>
                  <a:lnTo>
                    <a:pt x="7882636" y="29972"/>
                  </a:lnTo>
                  <a:lnTo>
                    <a:pt x="7880294" y="18323"/>
                  </a:lnTo>
                  <a:lnTo>
                    <a:pt x="7873904" y="8794"/>
                  </a:lnTo>
                  <a:lnTo>
                    <a:pt x="7864419" y="2361"/>
                  </a:lnTo>
                  <a:lnTo>
                    <a:pt x="7852791" y="0"/>
                  </a:lnTo>
                  <a:close/>
                </a:path>
              </a:pathLst>
            </a:custGeom>
            <a:solidFill>
              <a:srgbClr val="F1F1F1">
                <a:alpha val="100000"/>
              </a:srgbClr>
            </a:solidFill>
            <a:ln w="9525">
              <a:noFill/>
            </a:ln>
          </p:spPr>
          <p:txBody>
            <a:bodyPr/>
            <a:p>
              <a:endParaRPr lang="en-US"/>
            </a:p>
          </p:txBody>
        </p:sp>
        <p:sp>
          <p:nvSpPr>
            <p:cNvPr id="29728" name="object 8"/>
            <p:cNvSpPr/>
            <p:nvPr/>
          </p:nvSpPr>
          <p:spPr>
            <a:xfrm>
              <a:off x="2154682" y="1954910"/>
              <a:ext cx="7882890" cy="473709"/>
            </a:xfrm>
            <a:custGeom>
              <a:avLst/>
              <a:gdLst/>
              <a:ahLst/>
              <a:cxnLst/>
              <a:pathLst>
                <a:path w="7882890" h="473710">
                  <a:moveTo>
                    <a:pt x="0" y="29972"/>
                  </a:moveTo>
                  <a:lnTo>
                    <a:pt x="2341" y="18323"/>
                  </a:lnTo>
                  <a:lnTo>
                    <a:pt x="8731" y="8794"/>
                  </a:lnTo>
                  <a:lnTo>
                    <a:pt x="18216" y="2361"/>
                  </a:lnTo>
                  <a:lnTo>
                    <a:pt x="29844" y="0"/>
                  </a:lnTo>
                  <a:lnTo>
                    <a:pt x="7852791" y="0"/>
                  </a:lnTo>
                  <a:lnTo>
                    <a:pt x="7864419" y="2361"/>
                  </a:lnTo>
                  <a:lnTo>
                    <a:pt x="7873904" y="8794"/>
                  </a:lnTo>
                  <a:lnTo>
                    <a:pt x="7880294" y="18323"/>
                  </a:lnTo>
                  <a:lnTo>
                    <a:pt x="7882636" y="29972"/>
                  </a:lnTo>
                  <a:lnTo>
                    <a:pt x="7882636" y="443484"/>
                  </a:lnTo>
                  <a:lnTo>
                    <a:pt x="7880294" y="455132"/>
                  </a:lnTo>
                  <a:lnTo>
                    <a:pt x="7873904" y="464661"/>
                  </a:lnTo>
                  <a:lnTo>
                    <a:pt x="7864419" y="471094"/>
                  </a:lnTo>
                  <a:lnTo>
                    <a:pt x="7852791" y="473455"/>
                  </a:lnTo>
                  <a:lnTo>
                    <a:pt x="29844" y="473455"/>
                  </a:lnTo>
                  <a:lnTo>
                    <a:pt x="18216" y="471094"/>
                  </a:lnTo>
                  <a:lnTo>
                    <a:pt x="8731" y="464661"/>
                  </a:lnTo>
                  <a:lnTo>
                    <a:pt x="234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29701" name="object 9"/>
          <p:cNvGrpSpPr/>
          <p:nvPr/>
        </p:nvGrpSpPr>
        <p:grpSpPr>
          <a:xfrm>
            <a:off x="2152650" y="2479675"/>
            <a:ext cx="7886700" cy="477838"/>
            <a:chOff x="2153094" y="2479865"/>
            <a:chExt cx="7886065" cy="476884"/>
          </a:xfrm>
        </p:grpSpPr>
        <p:sp>
          <p:nvSpPr>
            <p:cNvPr id="29725" name="object 10"/>
            <p:cNvSpPr/>
            <p:nvPr/>
          </p:nvSpPr>
          <p:spPr>
            <a:xfrm>
              <a:off x="2154682" y="2481452"/>
              <a:ext cx="7882890" cy="473709"/>
            </a:xfrm>
            <a:custGeom>
              <a:avLst/>
              <a:gdLst/>
              <a:ahLst/>
              <a:cxnLst/>
              <a:pathLst>
                <a:path w="7882890" h="473710">
                  <a:moveTo>
                    <a:pt x="7852791" y="0"/>
                  </a:moveTo>
                  <a:lnTo>
                    <a:pt x="29844" y="0"/>
                  </a:lnTo>
                  <a:lnTo>
                    <a:pt x="18216" y="2343"/>
                  </a:lnTo>
                  <a:lnTo>
                    <a:pt x="8731" y="8747"/>
                  </a:lnTo>
                  <a:lnTo>
                    <a:pt x="2341" y="18270"/>
                  </a:lnTo>
                  <a:lnTo>
                    <a:pt x="0" y="29972"/>
                  </a:lnTo>
                  <a:lnTo>
                    <a:pt x="0" y="443484"/>
                  </a:lnTo>
                  <a:lnTo>
                    <a:pt x="2341" y="455132"/>
                  </a:lnTo>
                  <a:lnTo>
                    <a:pt x="8731" y="464661"/>
                  </a:lnTo>
                  <a:lnTo>
                    <a:pt x="18216" y="471094"/>
                  </a:lnTo>
                  <a:lnTo>
                    <a:pt x="29844" y="473456"/>
                  </a:lnTo>
                  <a:lnTo>
                    <a:pt x="7852791" y="473456"/>
                  </a:lnTo>
                  <a:lnTo>
                    <a:pt x="7864419" y="471094"/>
                  </a:lnTo>
                  <a:lnTo>
                    <a:pt x="7873904" y="464661"/>
                  </a:lnTo>
                  <a:lnTo>
                    <a:pt x="7880294" y="455132"/>
                  </a:lnTo>
                  <a:lnTo>
                    <a:pt x="7882636" y="443484"/>
                  </a:lnTo>
                  <a:lnTo>
                    <a:pt x="7882636" y="29972"/>
                  </a:lnTo>
                  <a:lnTo>
                    <a:pt x="7880294" y="18270"/>
                  </a:lnTo>
                  <a:lnTo>
                    <a:pt x="7873904" y="8747"/>
                  </a:lnTo>
                  <a:lnTo>
                    <a:pt x="7864419" y="2343"/>
                  </a:lnTo>
                  <a:lnTo>
                    <a:pt x="7852791" y="0"/>
                  </a:lnTo>
                  <a:close/>
                </a:path>
              </a:pathLst>
            </a:custGeom>
            <a:solidFill>
              <a:srgbClr val="F1F1F1">
                <a:alpha val="100000"/>
              </a:srgbClr>
            </a:solidFill>
            <a:ln w="9525">
              <a:noFill/>
            </a:ln>
          </p:spPr>
          <p:txBody>
            <a:bodyPr/>
            <a:p>
              <a:endParaRPr lang="en-US"/>
            </a:p>
          </p:txBody>
        </p:sp>
        <p:sp>
          <p:nvSpPr>
            <p:cNvPr id="29726" name="object 11"/>
            <p:cNvSpPr/>
            <p:nvPr/>
          </p:nvSpPr>
          <p:spPr>
            <a:xfrm>
              <a:off x="2154682" y="2481452"/>
              <a:ext cx="7882890" cy="473709"/>
            </a:xfrm>
            <a:custGeom>
              <a:avLst/>
              <a:gdLst/>
              <a:ahLst/>
              <a:cxnLst/>
              <a:pathLst>
                <a:path w="7882890" h="473710">
                  <a:moveTo>
                    <a:pt x="0" y="29972"/>
                  </a:moveTo>
                  <a:lnTo>
                    <a:pt x="2341" y="18270"/>
                  </a:lnTo>
                  <a:lnTo>
                    <a:pt x="8731" y="8747"/>
                  </a:lnTo>
                  <a:lnTo>
                    <a:pt x="18216" y="2343"/>
                  </a:lnTo>
                  <a:lnTo>
                    <a:pt x="29844" y="0"/>
                  </a:lnTo>
                  <a:lnTo>
                    <a:pt x="7852791" y="0"/>
                  </a:lnTo>
                  <a:lnTo>
                    <a:pt x="7864419" y="2343"/>
                  </a:lnTo>
                  <a:lnTo>
                    <a:pt x="7873904" y="8747"/>
                  </a:lnTo>
                  <a:lnTo>
                    <a:pt x="7880294" y="18270"/>
                  </a:lnTo>
                  <a:lnTo>
                    <a:pt x="7882636" y="29972"/>
                  </a:lnTo>
                  <a:lnTo>
                    <a:pt x="7882636" y="443484"/>
                  </a:lnTo>
                  <a:lnTo>
                    <a:pt x="7880294" y="455132"/>
                  </a:lnTo>
                  <a:lnTo>
                    <a:pt x="7873904" y="464661"/>
                  </a:lnTo>
                  <a:lnTo>
                    <a:pt x="7864419" y="471094"/>
                  </a:lnTo>
                  <a:lnTo>
                    <a:pt x="7852791" y="473456"/>
                  </a:lnTo>
                  <a:lnTo>
                    <a:pt x="29844" y="473456"/>
                  </a:lnTo>
                  <a:lnTo>
                    <a:pt x="18216" y="471094"/>
                  </a:lnTo>
                  <a:lnTo>
                    <a:pt x="8731" y="464661"/>
                  </a:lnTo>
                  <a:lnTo>
                    <a:pt x="234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2" name="object 12"/>
          <p:cNvSpPr txBox="1"/>
          <p:nvPr/>
        </p:nvSpPr>
        <p:spPr>
          <a:xfrm>
            <a:off x="1874838" y="2036763"/>
            <a:ext cx="5643563" cy="823913"/>
          </a:xfrm>
          <a:prstGeom prst="rect">
            <a:avLst/>
          </a:prstGeom>
        </p:spPr>
        <p:txBody>
          <a:bodyPr vert="horz" wrap="square" lIns="0" tIns="12700" rIns="0" bIns="0" rtlCol="0">
            <a:spAutoFit/>
          </a:bodyPr>
          <a:lstStyle/>
          <a:p>
            <a:pPr marL="380365" marR="0" indent="-351790" defTabSz="914400" eaLnBrk="1" fontAlgn="auto" hangingPunct="1">
              <a:spcBef>
                <a:spcPts val="100"/>
              </a:spcBef>
              <a:spcAft>
                <a:spcPts val="0"/>
              </a:spcAft>
              <a:buClrTx/>
              <a:buSzTx/>
              <a:buFont typeface="Arial" panose="020B0604020202020204"/>
              <a:buAutoNum type="arabicPlain"/>
              <a:tabLst>
                <a:tab pos="380365" algn="l"/>
                <a:tab pos="381000" algn="l"/>
              </a:tabLst>
              <a:defRPr/>
            </a:pPr>
            <a:r>
              <a:rPr kumimoji="0" kern="0" cap="none" spc="0" normalizeH="0" baseline="0" noProof="0" dirty="0">
                <a:solidFill>
                  <a:sysClr val="windowText" lastClr="000000"/>
                </a:solidFill>
                <a:latin typeface="Tahoma" panose="020B0604030504040204"/>
                <a:cs typeface="Tahoma" panose="020B0604030504040204"/>
              </a:rPr>
              <a:t>Proof</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Disability</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(Claimant’s</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35"/>
              </a:spcBef>
              <a:spcAft>
                <a:spcPts val="0"/>
              </a:spcAft>
              <a:buClrTx/>
              <a:buSzTx/>
              <a:buFont typeface="Arial" panose="020B0604020202020204"/>
              <a:buAutoNum type="arabicPlain"/>
              <a:defRPr/>
            </a:pPr>
            <a:endParaRPr kumimoji="0" sz="1600" kern="0" cap="none" spc="0" normalizeH="0" baseline="0" noProof="0">
              <a:solidFill>
                <a:sysClr val="windowText" lastClr="000000"/>
              </a:solidFill>
              <a:latin typeface="Tahoma" panose="020B0604030504040204"/>
              <a:cs typeface="Tahoma" panose="020B0604030504040204"/>
            </a:endParaRPr>
          </a:p>
          <a:p>
            <a:pPr marL="380365" marR="0" indent="-368300" defTabSz="914400" eaLnBrk="1" fontAlgn="auto" hangingPunct="1">
              <a:spcBef>
                <a:spcPts val="0"/>
              </a:spcBef>
              <a:spcAft>
                <a:spcPts val="0"/>
              </a:spcAft>
              <a:buClrTx/>
              <a:buSzTx/>
              <a:buFont typeface="Arial" panose="020B0604020202020204"/>
              <a:buAutoNum type="arabicPlain"/>
              <a:tabLst>
                <a:tab pos="380365" algn="l"/>
                <a:tab pos="381000" algn="l"/>
              </a:tabLst>
              <a:defRPr/>
            </a:pPr>
            <a:r>
              <a:rPr kumimoji="0" kern="0" cap="none" spc="0" normalizeH="0" baseline="0" noProof="0" dirty="0">
                <a:solidFill>
                  <a:sysClr val="windowText" lastClr="000000"/>
                </a:solidFill>
                <a:latin typeface="Tahoma" panose="020B0604030504040204"/>
                <a:cs typeface="Tahoma" panose="020B0604030504040204"/>
              </a:rPr>
              <a:t>Proof</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Disability</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(Attending</a:t>
            </a:r>
            <a:r>
              <a:rPr kumimoji="0" kern="0" cap="none" spc="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Physician’s</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Statement)</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9703" name="object 13"/>
          <p:cNvGrpSpPr/>
          <p:nvPr/>
        </p:nvGrpSpPr>
        <p:grpSpPr>
          <a:xfrm>
            <a:off x="2152650" y="3006725"/>
            <a:ext cx="7886700" cy="476250"/>
            <a:chOff x="2152967" y="3006280"/>
            <a:chExt cx="7886065" cy="476884"/>
          </a:xfrm>
        </p:grpSpPr>
        <p:sp>
          <p:nvSpPr>
            <p:cNvPr id="29723" name="object 14"/>
            <p:cNvSpPr/>
            <p:nvPr/>
          </p:nvSpPr>
          <p:spPr>
            <a:xfrm>
              <a:off x="2154554" y="3007867"/>
              <a:ext cx="7882890" cy="473709"/>
            </a:xfrm>
            <a:custGeom>
              <a:avLst/>
              <a:gdLst/>
              <a:ahLst/>
              <a:cxnLst/>
              <a:pathLst>
                <a:path w="7882890" h="473710">
                  <a:moveTo>
                    <a:pt x="7852918" y="0"/>
                  </a:moveTo>
                  <a:lnTo>
                    <a:pt x="29971" y="0"/>
                  </a:lnTo>
                  <a:lnTo>
                    <a:pt x="18323" y="2361"/>
                  </a:lnTo>
                  <a:lnTo>
                    <a:pt x="8794" y="8794"/>
                  </a:lnTo>
                  <a:lnTo>
                    <a:pt x="2361" y="18323"/>
                  </a:lnTo>
                  <a:lnTo>
                    <a:pt x="0" y="29972"/>
                  </a:lnTo>
                  <a:lnTo>
                    <a:pt x="0" y="443484"/>
                  </a:lnTo>
                  <a:lnTo>
                    <a:pt x="2361" y="455185"/>
                  </a:lnTo>
                  <a:lnTo>
                    <a:pt x="8794" y="464708"/>
                  </a:lnTo>
                  <a:lnTo>
                    <a:pt x="18323" y="471112"/>
                  </a:lnTo>
                  <a:lnTo>
                    <a:pt x="29971" y="473456"/>
                  </a:lnTo>
                  <a:lnTo>
                    <a:pt x="7852918" y="473456"/>
                  </a:lnTo>
                  <a:lnTo>
                    <a:pt x="7864546" y="471112"/>
                  </a:lnTo>
                  <a:lnTo>
                    <a:pt x="7874031" y="464708"/>
                  </a:lnTo>
                  <a:lnTo>
                    <a:pt x="7880421" y="455185"/>
                  </a:lnTo>
                  <a:lnTo>
                    <a:pt x="7882763" y="443484"/>
                  </a:lnTo>
                  <a:lnTo>
                    <a:pt x="7882763" y="29972"/>
                  </a:lnTo>
                  <a:lnTo>
                    <a:pt x="7880421" y="18323"/>
                  </a:lnTo>
                  <a:lnTo>
                    <a:pt x="7874031" y="8794"/>
                  </a:lnTo>
                  <a:lnTo>
                    <a:pt x="7864546" y="2361"/>
                  </a:lnTo>
                  <a:lnTo>
                    <a:pt x="7852918" y="0"/>
                  </a:lnTo>
                  <a:close/>
                </a:path>
              </a:pathLst>
            </a:custGeom>
            <a:solidFill>
              <a:srgbClr val="F1F1F1">
                <a:alpha val="100000"/>
              </a:srgbClr>
            </a:solidFill>
            <a:ln w="9525">
              <a:noFill/>
            </a:ln>
          </p:spPr>
          <p:txBody>
            <a:bodyPr/>
            <a:p>
              <a:endParaRPr lang="en-US"/>
            </a:p>
          </p:txBody>
        </p:sp>
        <p:sp>
          <p:nvSpPr>
            <p:cNvPr id="29724" name="object 15"/>
            <p:cNvSpPr/>
            <p:nvPr/>
          </p:nvSpPr>
          <p:spPr>
            <a:xfrm>
              <a:off x="2154554" y="3007867"/>
              <a:ext cx="7882890" cy="473709"/>
            </a:xfrm>
            <a:custGeom>
              <a:avLst/>
              <a:gdLst/>
              <a:ahLst/>
              <a:cxnLst/>
              <a:pathLst>
                <a:path w="7882890" h="473710">
                  <a:moveTo>
                    <a:pt x="0" y="29972"/>
                  </a:moveTo>
                  <a:lnTo>
                    <a:pt x="2361" y="18323"/>
                  </a:lnTo>
                  <a:lnTo>
                    <a:pt x="8794" y="8794"/>
                  </a:lnTo>
                  <a:lnTo>
                    <a:pt x="18323" y="2361"/>
                  </a:lnTo>
                  <a:lnTo>
                    <a:pt x="29971" y="0"/>
                  </a:lnTo>
                  <a:lnTo>
                    <a:pt x="7852918" y="0"/>
                  </a:lnTo>
                  <a:lnTo>
                    <a:pt x="7864546" y="2361"/>
                  </a:lnTo>
                  <a:lnTo>
                    <a:pt x="7874031" y="8794"/>
                  </a:lnTo>
                  <a:lnTo>
                    <a:pt x="7880421" y="18323"/>
                  </a:lnTo>
                  <a:lnTo>
                    <a:pt x="7882763" y="29972"/>
                  </a:lnTo>
                  <a:lnTo>
                    <a:pt x="7882763" y="443484"/>
                  </a:lnTo>
                  <a:lnTo>
                    <a:pt x="7880421" y="455185"/>
                  </a:lnTo>
                  <a:lnTo>
                    <a:pt x="7874031" y="464708"/>
                  </a:lnTo>
                  <a:lnTo>
                    <a:pt x="7864546" y="471112"/>
                  </a:lnTo>
                  <a:lnTo>
                    <a:pt x="7852918" y="473456"/>
                  </a:lnTo>
                  <a:lnTo>
                    <a:pt x="29971" y="473456"/>
                  </a:lnTo>
                  <a:lnTo>
                    <a:pt x="18323" y="471112"/>
                  </a:lnTo>
                  <a:lnTo>
                    <a:pt x="8794" y="464708"/>
                  </a:lnTo>
                  <a:lnTo>
                    <a:pt x="2361" y="455185"/>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6" name="object 16"/>
          <p:cNvSpPr txBox="1"/>
          <p:nvPr/>
        </p:nvSpPr>
        <p:spPr>
          <a:xfrm>
            <a:off x="2243138" y="2982913"/>
            <a:ext cx="7431088" cy="512763"/>
          </a:xfrm>
          <a:prstGeom prst="rect">
            <a:avLst/>
          </a:prstGeom>
        </p:spPr>
        <p:txBody>
          <a:bodyPr vert="horz" wrap="square" lIns="0" tIns="12065" rIns="0" bIns="0" rtlCol="0">
            <a:spAutoFit/>
          </a:bodyPr>
          <a:p>
            <a:pPr marL="12700" eaLnBrk="1" hangingPunct="1">
              <a:spcBef>
                <a:spcPts val="100"/>
              </a:spcBef>
              <a:buNone/>
            </a:pPr>
            <a:r>
              <a:rPr lang="en-US" altLang="zh-CN" sz="1600">
                <a:solidFill>
                  <a:srgbClr val="000000"/>
                </a:solidFill>
                <a:latin typeface="Tahoma" panose="020B0604030504040204" pitchFamily="34" charset="0"/>
                <a:cs typeface="Tahoma" panose="020B0604030504040204" pitchFamily="34" charset="0"/>
              </a:rPr>
              <a:t>Birth Certificate (Certified True Copy ) or Any Proof of Age (Baptismal Certificate or Marriage Contract)</a:t>
            </a:r>
            <a:endParaRPr lang="en-US" altLang="zh-CN" sz="1600">
              <a:solidFill>
                <a:srgbClr val="000000"/>
              </a:solidFill>
              <a:latin typeface="Tahoma" panose="020B0604030504040204" pitchFamily="34" charset="0"/>
              <a:ea typeface="Tahoma" panose="020B0604030504040204" pitchFamily="34" charset="0"/>
            </a:endParaRPr>
          </a:p>
        </p:txBody>
      </p:sp>
      <p:grpSp>
        <p:nvGrpSpPr>
          <p:cNvPr id="29705" name="object 17"/>
          <p:cNvGrpSpPr/>
          <p:nvPr/>
        </p:nvGrpSpPr>
        <p:grpSpPr>
          <a:xfrm>
            <a:off x="2152650" y="3532188"/>
            <a:ext cx="7886700" cy="477837"/>
            <a:chOff x="2152967" y="3532822"/>
            <a:chExt cx="7886065" cy="476884"/>
          </a:xfrm>
        </p:grpSpPr>
        <p:sp>
          <p:nvSpPr>
            <p:cNvPr id="29721" name="object 18"/>
            <p:cNvSpPr/>
            <p:nvPr/>
          </p:nvSpPr>
          <p:spPr>
            <a:xfrm>
              <a:off x="2154554" y="3534409"/>
              <a:ext cx="7882890" cy="473709"/>
            </a:xfrm>
            <a:custGeom>
              <a:avLst/>
              <a:gdLst/>
              <a:ahLst/>
              <a:cxnLst/>
              <a:pathLst>
                <a:path w="7882890" h="473710">
                  <a:moveTo>
                    <a:pt x="7852918" y="0"/>
                  </a:moveTo>
                  <a:lnTo>
                    <a:pt x="29971" y="0"/>
                  </a:lnTo>
                  <a:lnTo>
                    <a:pt x="18323" y="2343"/>
                  </a:lnTo>
                  <a:lnTo>
                    <a:pt x="8794" y="8747"/>
                  </a:lnTo>
                  <a:lnTo>
                    <a:pt x="2361" y="18270"/>
                  </a:lnTo>
                  <a:lnTo>
                    <a:pt x="0" y="29972"/>
                  </a:lnTo>
                  <a:lnTo>
                    <a:pt x="0" y="443483"/>
                  </a:lnTo>
                  <a:lnTo>
                    <a:pt x="2361" y="455132"/>
                  </a:lnTo>
                  <a:lnTo>
                    <a:pt x="8794" y="464661"/>
                  </a:lnTo>
                  <a:lnTo>
                    <a:pt x="18323" y="471094"/>
                  </a:lnTo>
                  <a:lnTo>
                    <a:pt x="29971" y="473456"/>
                  </a:lnTo>
                  <a:lnTo>
                    <a:pt x="7852918" y="473456"/>
                  </a:lnTo>
                  <a:lnTo>
                    <a:pt x="7864546" y="471094"/>
                  </a:lnTo>
                  <a:lnTo>
                    <a:pt x="7874031" y="464661"/>
                  </a:lnTo>
                  <a:lnTo>
                    <a:pt x="7880421" y="455132"/>
                  </a:lnTo>
                  <a:lnTo>
                    <a:pt x="7882763" y="443483"/>
                  </a:lnTo>
                  <a:lnTo>
                    <a:pt x="7882763" y="29972"/>
                  </a:lnTo>
                  <a:lnTo>
                    <a:pt x="7880421" y="18270"/>
                  </a:lnTo>
                  <a:lnTo>
                    <a:pt x="7874031" y="8747"/>
                  </a:lnTo>
                  <a:lnTo>
                    <a:pt x="7864546" y="2343"/>
                  </a:lnTo>
                  <a:lnTo>
                    <a:pt x="7852918" y="0"/>
                  </a:lnTo>
                  <a:close/>
                </a:path>
              </a:pathLst>
            </a:custGeom>
            <a:solidFill>
              <a:srgbClr val="F1F1F1">
                <a:alpha val="100000"/>
              </a:srgbClr>
            </a:solidFill>
            <a:ln w="9525">
              <a:noFill/>
            </a:ln>
          </p:spPr>
          <p:txBody>
            <a:bodyPr/>
            <a:p>
              <a:endParaRPr lang="en-US"/>
            </a:p>
          </p:txBody>
        </p:sp>
        <p:sp>
          <p:nvSpPr>
            <p:cNvPr id="29722" name="object 19"/>
            <p:cNvSpPr/>
            <p:nvPr/>
          </p:nvSpPr>
          <p:spPr>
            <a:xfrm>
              <a:off x="2154554" y="3534409"/>
              <a:ext cx="7882890" cy="473709"/>
            </a:xfrm>
            <a:custGeom>
              <a:avLst/>
              <a:gdLst/>
              <a:ahLst/>
              <a:cxnLst/>
              <a:pathLst>
                <a:path w="7882890" h="473710">
                  <a:moveTo>
                    <a:pt x="0" y="29972"/>
                  </a:moveTo>
                  <a:lnTo>
                    <a:pt x="2361" y="18270"/>
                  </a:lnTo>
                  <a:lnTo>
                    <a:pt x="8794" y="8747"/>
                  </a:lnTo>
                  <a:lnTo>
                    <a:pt x="18323" y="2343"/>
                  </a:lnTo>
                  <a:lnTo>
                    <a:pt x="29971" y="0"/>
                  </a:lnTo>
                  <a:lnTo>
                    <a:pt x="7852918" y="0"/>
                  </a:lnTo>
                  <a:lnTo>
                    <a:pt x="7864546" y="2343"/>
                  </a:lnTo>
                  <a:lnTo>
                    <a:pt x="7874031" y="8747"/>
                  </a:lnTo>
                  <a:lnTo>
                    <a:pt x="7880421" y="18270"/>
                  </a:lnTo>
                  <a:lnTo>
                    <a:pt x="7882763" y="29972"/>
                  </a:lnTo>
                  <a:lnTo>
                    <a:pt x="7882763" y="443483"/>
                  </a:lnTo>
                  <a:lnTo>
                    <a:pt x="7880421" y="455132"/>
                  </a:lnTo>
                  <a:lnTo>
                    <a:pt x="7874031" y="464661"/>
                  </a:lnTo>
                  <a:lnTo>
                    <a:pt x="7864546" y="471094"/>
                  </a:lnTo>
                  <a:lnTo>
                    <a:pt x="7852918" y="473456"/>
                  </a:lnTo>
                  <a:lnTo>
                    <a:pt x="29971" y="473456"/>
                  </a:lnTo>
                  <a:lnTo>
                    <a:pt x="18323" y="471094"/>
                  </a:lnTo>
                  <a:lnTo>
                    <a:pt x="8794" y="464661"/>
                  </a:lnTo>
                  <a:lnTo>
                    <a:pt x="2361" y="455132"/>
                  </a:lnTo>
                  <a:lnTo>
                    <a:pt x="0" y="443483"/>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0" name="object 20"/>
          <p:cNvSpPr txBox="1"/>
          <p:nvPr/>
        </p:nvSpPr>
        <p:spPr>
          <a:xfrm>
            <a:off x="2243138" y="3614738"/>
            <a:ext cx="6907213"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20" normalizeH="0" baseline="0" noProof="0" dirty="0">
                <a:solidFill>
                  <a:sysClr val="windowText" lastClr="000000"/>
                </a:solidFill>
                <a:latin typeface="Tahoma" panose="020B0604030504040204"/>
                <a:cs typeface="Tahoma" panose="020B0604030504040204"/>
              </a:rPr>
              <a:t>Insurance</a:t>
            </a:r>
            <a:r>
              <a:rPr kumimoji="0" kern="0" cap="none" spc="-8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Claim</a:t>
            </a:r>
            <a:r>
              <a:rPr kumimoji="0" kern="0" cap="none" spc="-3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Verification</a:t>
            </a:r>
            <a:r>
              <a:rPr kumimoji="0" kern="0" cap="none" spc="-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Form</a:t>
            </a:r>
            <a:r>
              <a:rPr kumimoji="0" kern="0" cap="none" spc="-30" normalizeH="0" baseline="0" noProof="0" dirty="0">
                <a:solidFill>
                  <a:sysClr val="windowText" lastClr="000000"/>
                </a:solidFill>
                <a:latin typeface="Tahoma" panose="020B0604030504040204"/>
                <a:cs typeface="Tahoma" panose="020B0604030504040204"/>
              </a:rPr>
              <a:t> (to</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be</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completed</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by</a:t>
            </a:r>
            <a:r>
              <a:rPr kumimoji="0" kern="0" cap="none" spc="-3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Claims</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Dept.)</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9707" name="object 21"/>
          <p:cNvGrpSpPr/>
          <p:nvPr/>
        </p:nvGrpSpPr>
        <p:grpSpPr>
          <a:xfrm>
            <a:off x="2152650" y="4059238"/>
            <a:ext cx="7886700" cy="476250"/>
            <a:chOff x="2152967" y="4059237"/>
            <a:chExt cx="7886065" cy="476884"/>
          </a:xfrm>
        </p:grpSpPr>
        <p:sp>
          <p:nvSpPr>
            <p:cNvPr id="29719" name="object 22"/>
            <p:cNvSpPr/>
            <p:nvPr/>
          </p:nvSpPr>
          <p:spPr>
            <a:xfrm>
              <a:off x="2154554" y="4060825"/>
              <a:ext cx="7882890" cy="473709"/>
            </a:xfrm>
            <a:custGeom>
              <a:avLst/>
              <a:gdLst/>
              <a:ahLst/>
              <a:cxnLst/>
              <a:pathLst>
                <a:path w="7882890" h="473710">
                  <a:moveTo>
                    <a:pt x="7852918" y="0"/>
                  </a:moveTo>
                  <a:lnTo>
                    <a:pt x="29971" y="0"/>
                  </a:lnTo>
                  <a:lnTo>
                    <a:pt x="18323" y="2361"/>
                  </a:lnTo>
                  <a:lnTo>
                    <a:pt x="8794" y="8794"/>
                  </a:lnTo>
                  <a:lnTo>
                    <a:pt x="2361" y="18323"/>
                  </a:lnTo>
                  <a:lnTo>
                    <a:pt x="0" y="29972"/>
                  </a:lnTo>
                  <a:lnTo>
                    <a:pt x="0" y="443483"/>
                  </a:lnTo>
                  <a:lnTo>
                    <a:pt x="2361" y="455185"/>
                  </a:lnTo>
                  <a:lnTo>
                    <a:pt x="8794" y="464708"/>
                  </a:lnTo>
                  <a:lnTo>
                    <a:pt x="18323" y="471112"/>
                  </a:lnTo>
                  <a:lnTo>
                    <a:pt x="29971" y="473456"/>
                  </a:lnTo>
                  <a:lnTo>
                    <a:pt x="7852918" y="473456"/>
                  </a:lnTo>
                  <a:lnTo>
                    <a:pt x="7864546" y="471112"/>
                  </a:lnTo>
                  <a:lnTo>
                    <a:pt x="7874031" y="464708"/>
                  </a:lnTo>
                  <a:lnTo>
                    <a:pt x="7880421" y="455185"/>
                  </a:lnTo>
                  <a:lnTo>
                    <a:pt x="7882763" y="443483"/>
                  </a:lnTo>
                  <a:lnTo>
                    <a:pt x="7882763" y="29972"/>
                  </a:lnTo>
                  <a:lnTo>
                    <a:pt x="7880421" y="18323"/>
                  </a:lnTo>
                  <a:lnTo>
                    <a:pt x="7874031" y="8794"/>
                  </a:lnTo>
                  <a:lnTo>
                    <a:pt x="7864546" y="2361"/>
                  </a:lnTo>
                  <a:lnTo>
                    <a:pt x="7852918" y="0"/>
                  </a:lnTo>
                  <a:close/>
                </a:path>
              </a:pathLst>
            </a:custGeom>
            <a:solidFill>
              <a:srgbClr val="F1F1F1">
                <a:alpha val="100000"/>
              </a:srgbClr>
            </a:solidFill>
            <a:ln w="9525">
              <a:noFill/>
            </a:ln>
          </p:spPr>
          <p:txBody>
            <a:bodyPr/>
            <a:p>
              <a:endParaRPr lang="en-US"/>
            </a:p>
          </p:txBody>
        </p:sp>
        <p:sp>
          <p:nvSpPr>
            <p:cNvPr id="29720" name="object 23"/>
            <p:cNvSpPr/>
            <p:nvPr/>
          </p:nvSpPr>
          <p:spPr>
            <a:xfrm>
              <a:off x="2154554" y="4060825"/>
              <a:ext cx="7882890" cy="473709"/>
            </a:xfrm>
            <a:custGeom>
              <a:avLst/>
              <a:gdLst/>
              <a:ahLst/>
              <a:cxnLst/>
              <a:pathLst>
                <a:path w="7882890" h="473710">
                  <a:moveTo>
                    <a:pt x="0" y="29972"/>
                  </a:moveTo>
                  <a:lnTo>
                    <a:pt x="2361" y="18323"/>
                  </a:lnTo>
                  <a:lnTo>
                    <a:pt x="8794" y="8794"/>
                  </a:lnTo>
                  <a:lnTo>
                    <a:pt x="18323" y="2361"/>
                  </a:lnTo>
                  <a:lnTo>
                    <a:pt x="29971" y="0"/>
                  </a:lnTo>
                  <a:lnTo>
                    <a:pt x="7852918" y="0"/>
                  </a:lnTo>
                  <a:lnTo>
                    <a:pt x="7864546" y="2361"/>
                  </a:lnTo>
                  <a:lnTo>
                    <a:pt x="7874031" y="8794"/>
                  </a:lnTo>
                  <a:lnTo>
                    <a:pt x="7880421" y="18323"/>
                  </a:lnTo>
                  <a:lnTo>
                    <a:pt x="7882763" y="29972"/>
                  </a:lnTo>
                  <a:lnTo>
                    <a:pt x="7882763" y="443483"/>
                  </a:lnTo>
                  <a:lnTo>
                    <a:pt x="7880421" y="455185"/>
                  </a:lnTo>
                  <a:lnTo>
                    <a:pt x="7874031" y="464708"/>
                  </a:lnTo>
                  <a:lnTo>
                    <a:pt x="7864546" y="471112"/>
                  </a:lnTo>
                  <a:lnTo>
                    <a:pt x="7852918" y="473456"/>
                  </a:lnTo>
                  <a:lnTo>
                    <a:pt x="29971" y="473456"/>
                  </a:lnTo>
                  <a:lnTo>
                    <a:pt x="18323" y="471112"/>
                  </a:lnTo>
                  <a:lnTo>
                    <a:pt x="8794" y="464708"/>
                  </a:lnTo>
                  <a:lnTo>
                    <a:pt x="2361" y="455185"/>
                  </a:lnTo>
                  <a:lnTo>
                    <a:pt x="0" y="443483"/>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4" name="object 24"/>
          <p:cNvSpPr txBox="1"/>
          <p:nvPr/>
        </p:nvSpPr>
        <p:spPr>
          <a:xfrm>
            <a:off x="2243138" y="4141788"/>
            <a:ext cx="3990975" cy="2984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Certified</a:t>
            </a:r>
            <a:r>
              <a:rPr kumimoji="0" kern="0" cap="none" spc="-6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true</a:t>
            </a:r>
            <a:r>
              <a:rPr kumimoji="0" kern="0" cap="none" spc="-8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Copy</a:t>
            </a:r>
            <a:r>
              <a:rPr kumimoji="0" kern="0" cap="none" spc="-7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Daily</a:t>
            </a:r>
            <a:r>
              <a:rPr kumimoji="0" kern="0" cap="none" spc="-60" normalizeH="0" baseline="0" noProof="0" dirty="0">
                <a:solidFill>
                  <a:sysClr val="windowText" lastClr="000000"/>
                </a:solidFill>
                <a:latin typeface="Tahoma" panose="020B0604030504040204"/>
                <a:cs typeface="Tahoma" panose="020B0604030504040204"/>
              </a:rPr>
              <a:t> </a:t>
            </a:r>
            <a:r>
              <a:rPr kumimoji="0" kern="0" cap="none" spc="-20" normalizeH="0" baseline="0" noProof="0" dirty="0">
                <a:solidFill>
                  <a:sysClr val="windowText" lastClr="000000"/>
                </a:solidFill>
                <a:latin typeface="Tahoma" panose="020B0604030504040204"/>
                <a:cs typeface="Tahoma" panose="020B0604030504040204"/>
              </a:rPr>
              <a:t>Time</a:t>
            </a:r>
            <a:r>
              <a:rPr kumimoji="0" kern="0" cap="none" spc="-7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record</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29709" name="object 25"/>
          <p:cNvGrpSpPr/>
          <p:nvPr/>
        </p:nvGrpSpPr>
        <p:grpSpPr>
          <a:xfrm>
            <a:off x="2152650" y="4586288"/>
            <a:ext cx="7886700" cy="476250"/>
            <a:chOff x="2152967" y="4585779"/>
            <a:chExt cx="7886065" cy="476884"/>
          </a:xfrm>
        </p:grpSpPr>
        <p:sp>
          <p:nvSpPr>
            <p:cNvPr id="29717" name="object 26"/>
            <p:cNvSpPr/>
            <p:nvPr/>
          </p:nvSpPr>
          <p:spPr>
            <a:xfrm>
              <a:off x="2154554" y="4587366"/>
              <a:ext cx="7882890" cy="473709"/>
            </a:xfrm>
            <a:custGeom>
              <a:avLst/>
              <a:gdLst/>
              <a:ahLst/>
              <a:cxnLst/>
              <a:pathLst>
                <a:path w="7882890" h="473710">
                  <a:moveTo>
                    <a:pt x="7852791" y="0"/>
                  </a:moveTo>
                  <a:lnTo>
                    <a:pt x="29971" y="0"/>
                  </a:lnTo>
                  <a:lnTo>
                    <a:pt x="18323" y="2361"/>
                  </a:lnTo>
                  <a:lnTo>
                    <a:pt x="8794" y="8794"/>
                  </a:lnTo>
                  <a:lnTo>
                    <a:pt x="2361" y="18323"/>
                  </a:lnTo>
                  <a:lnTo>
                    <a:pt x="0" y="29971"/>
                  </a:lnTo>
                  <a:lnTo>
                    <a:pt x="0" y="443483"/>
                  </a:lnTo>
                  <a:lnTo>
                    <a:pt x="2361" y="455132"/>
                  </a:lnTo>
                  <a:lnTo>
                    <a:pt x="8794" y="464661"/>
                  </a:lnTo>
                  <a:lnTo>
                    <a:pt x="18323" y="471094"/>
                  </a:lnTo>
                  <a:lnTo>
                    <a:pt x="29971" y="473455"/>
                  </a:lnTo>
                  <a:lnTo>
                    <a:pt x="7852791" y="473455"/>
                  </a:lnTo>
                  <a:lnTo>
                    <a:pt x="7864492" y="471094"/>
                  </a:lnTo>
                  <a:lnTo>
                    <a:pt x="7874015" y="464661"/>
                  </a:lnTo>
                  <a:lnTo>
                    <a:pt x="7880419" y="455132"/>
                  </a:lnTo>
                  <a:lnTo>
                    <a:pt x="7882763" y="443483"/>
                  </a:lnTo>
                  <a:lnTo>
                    <a:pt x="7882763" y="29971"/>
                  </a:lnTo>
                  <a:lnTo>
                    <a:pt x="7880419" y="18323"/>
                  </a:lnTo>
                  <a:lnTo>
                    <a:pt x="7874015" y="8794"/>
                  </a:lnTo>
                  <a:lnTo>
                    <a:pt x="7864492" y="2361"/>
                  </a:lnTo>
                  <a:lnTo>
                    <a:pt x="7852791" y="0"/>
                  </a:lnTo>
                  <a:close/>
                </a:path>
              </a:pathLst>
            </a:custGeom>
            <a:solidFill>
              <a:srgbClr val="F1F1F1">
                <a:alpha val="100000"/>
              </a:srgbClr>
            </a:solidFill>
            <a:ln w="9525">
              <a:noFill/>
            </a:ln>
          </p:spPr>
          <p:txBody>
            <a:bodyPr/>
            <a:p>
              <a:endParaRPr lang="en-US"/>
            </a:p>
          </p:txBody>
        </p:sp>
        <p:sp>
          <p:nvSpPr>
            <p:cNvPr id="29718" name="object 27"/>
            <p:cNvSpPr/>
            <p:nvPr/>
          </p:nvSpPr>
          <p:spPr>
            <a:xfrm>
              <a:off x="2154554" y="4587366"/>
              <a:ext cx="7882890" cy="473709"/>
            </a:xfrm>
            <a:custGeom>
              <a:avLst/>
              <a:gdLst/>
              <a:ahLst/>
              <a:cxnLst/>
              <a:pathLst>
                <a:path w="7882890" h="473710">
                  <a:moveTo>
                    <a:pt x="0" y="29971"/>
                  </a:moveTo>
                  <a:lnTo>
                    <a:pt x="2361" y="18323"/>
                  </a:lnTo>
                  <a:lnTo>
                    <a:pt x="8794" y="8794"/>
                  </a:lnTo>
                  <a:lnTo>
                    <a:pt x="18323" y="2361"/>
                  </a:lnTo>
                  <a:lnTo>
                    <a:pt x="29971" y="0"/>
                  </a:lnTo>
                  <a:lnTo>
                    <a:pt x="7852791" y="0"/>
                  </a:lnTo>
                  <a:lnTo>
                    <a:pt x="7864492" y="2361"/>
                  </a:lnTo>
                  <a:lnTo>
                    <a:pt x="7874015" y="8794"/>
                  </a:lnTo>
                  <a:lnTo>
                    <a:pt x="7880419" y="18323"/>
                  </a:lnTo>
                  <a:lnTo>
                    <a:pt x="7882763" y="29971"/>
                  </a:lnTo>
                  <a:lnTo>
                    <a:pt x="7882763" y="443483"/>
                  </a:lnTo>
                  <a:lnTo>
                    <a:pt x="7880419" y="455132"/>
                  </a:lnTo>
                  <a:lnTo>
                    <a:pt x="7874015" y="464661"/>
                  </a:lnTo>
                  <a:lnTo>
                    <a:pt x="7864492" y="471094"/>
                  </a:lnTo>
                  <a:lnTo>
                    <a:pt x="7852791" y="473455"/>
                  </a:lnTo>
                  <a:lnTo>
                    <a:pt x="29971" y="473455"/>
                  </a:lnTo>
                  <a:lnTo>
                    <a:pt x="18323" y="471094"/>
                  </a:lnTo>
                  <a:lnTo>
                    <a:pt x="8794" y="464661"/>
                  </a:lnTo>
                  <a:lnTo>
                    <a:pt x="2361" y="455132"/>
                  </a:lnTo>
                  <a:lnTo>
                    <a:pt x="0" y="443483"/>
                  </a:lnTo>
                  <a:lnTo>
                    <a:pt x="0" y="29971"/>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28" name="object 28"/>
          <p:cNvSpPr txBox="1"/>
          <p:nvPr/>
        </p:nvSpPr>
        <p:spPr>
          <a:xfrm>
            <a:off x="2243138" y="4684713"/>
            <a:ext cx="7385050" cy="268288"/>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1600" kern="0" cap="none" spc="0" normalizeH="0" baseline="0" noProof="0" dirty="0">
                <a:solidFill>
                  <a:sysClr val="windowText" lastClr="000000"/>
                </a:solidFill>
                <a:latin typeface="Tahoma" panose="020B0604030504040204"/>
                <a:cs typeface="Tahoma" panose="020B0604030504040204"/>
              </a:rPr>
              <a:t>Claimant</a:t>
            </a:r>
            <a:r>
              <a:rPr kumimoji="0" sz="1600" kern="0" cap="none" spc="-5"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may</a:t>
            </a:r>
            <a:r>
              <a:rPr kumimoji="0" sz="1600" kern="0" cap="none" spc="-5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be</a:t>
            </a:r>
            <a:r>
              <a:rPr kumimoji="0" sz="1600" kern="0" cap="none" spc="-6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requested</a:t>
            </a:r>
            <a:r>
              <a:rPr kumimoji="0" sz="1600" kern="0" cap="none" spc="-6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to</a:t>
            </a:r>
            <a:r>
              <a:rPr kumimoji="0" sz="1600" kern="0" cap="none" spc="-6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be</a:t>
            </a:r>
            <a:r>
              <a:rPr kumimoji="0" sz="1600" kern="0" cap="none" spc="-65" normalizeH="0" baseline="0" noProof="0" dirty="0">
                <a:solidFill>
                  <a:sysClr val="windowText" lastClr="000000"/>
                </a:solidFill>
                <a:latin typeface="Tahoma" panose="020B0604030504040204"/>
                <a:cs typeface="Tahoma" panose="020B0604030504040204"/>
              </a:rPr>
              <a:t> </a:t>
            </a:r>
            <a:r>
              <a:rPr kumimoji="0" sz="1600" kern="0" cap="none" spc="-10" normalizeH="0" baseline="0" noProof="0" dirty="0">
                <a:solidFill>
                  <a:sysClr val="windowText" lastClr="000000"/>
                </a:solidFill>
                <a:latin typeface="Tahoma" panose="020B0604030504040204"/>
                <a:cs typeface="Tahoma" panose="020B0604030504040204"/>
              </a:rPr>
              <a:t>examined</a:t>
            </a:r>
            <a:r>
              <a:rPr kumimoji="0" sz="1600" kern="0" cap="none" spc="-3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by</a:t>
            </a:r>
            <a:r>
              <a:rPr kumimoji="0" sz="1600" kern="0" cap="none" spc="-6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an</a:t>
            </a:r>
            <a:r>
              <a:rPr kumimoji="0" sz="1600" kern="0" cap="none" spc="-35"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accredited</a:t>
            </a:r>
            <a:r>
              <a:rPr kumimoji="0" sz="1600" kern="0" cap="none" spc="-40"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physician</a:t>
            </a:r>
            <a:r>
              <a:rPr kumimoji="0" sz="1600" kern="0" cap="none" spc="-45" normalizeH="0" baseline="0" noProof="0" dirty="0">
                <a:solidFill>
                  <a:sysClr val="windowText" lastClr="000000"/>
                </a:solidFill>
                <a:latin typeface="Tahoma" panose="020B0604030504040204"/>
                <a:cs typeface="Tahoma" panose="020B0604030504040204"/>
              </a:rPr>
              <a:t> </a:t>
            </a:r>
            <a:r>
              <a:rPr kumimoji="0" sz="1600" kern="0" cap="none" spc="0" normalizeH="0" baseline="0" noProof="0" dirty="0">
                <a:solidFill>
                  <a:sysClr val="windowText" lastClr="000000"/>
                </a:solidFill>
                <a:latin typeface="Tahoma" panose="020B0604030504040204"/>
                <a:cs typeface="Tahoma" panose="020B0604030504040204"/>
              </a:rPr>
              <a:t>of</a:t>
            </a:r>
            <a:r>
              <a:rPr kumimoji="0" sz="1600" kern="0" cap="none" spc="-60" normalizeH="0" baseline="0" noProof="0" dirty="0">
                <a:solidFill>
                  <a:sysClr val="windowText" lastClr="000000"/>
                </a:solidFill>
                <a:latin typeface="Tahoma" panose="020B0604030504040204"/>
                <a:cs typeface="Tahoma" panose="020B0604030504040204"/>
              </a:rPr>
              <a:t> </a:t>
            </a:r>
            <a:r>
              <a:rPr kumimoji="0" sz="1600" kern="0" cap="none" spc="-10" normalizeH="0" baseline="0" noProof="0" dirty="0">
                <a:solidFill>
                  <a:sysClr val="windowText" lastClr="000000"/>
                </a:solidFill>
                <a:latin typeface="Tahoma" panose="020B0604030504040204"/>
                <a:cs typeface="Tahoma" panose="020B0604030504040204"/>
              </a:rPr>
              <a:t>Manulife</a:t>
            </a:r>
            <a:endParaRPr kumimoji="0" sz="1600" kern="0" cap="none" spc="0" normalizeH="0" baseline="0" noProof="0">
              <a:solidFill>
                <a:sysClr val="windowText" lastClr="000000"/>
              </a:solidFill>
              <a:latin typeface="Tahoma" panose="020B0604030504040204"/>
              <a:cs typeface="Tahoma" panose="020B0604030504040204"/>
            </a:endParaRPr>
          </a:p>
        </p:txBody>
      </p:sp>
      <p:sp>
        <p:nvSpPr>
          <p:cNvPr id="34" name="object 34"/>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29" name="object 29"/>
          <p:cNvSpPr txBox="1"/>
          <p:nvPr/>
        </p:nvSpPr>
        <p:spPr>
          <a:xfrm>
            <a:off x="1874838" y="3089275"/>
            <a:ext cx="16668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3</a:t>
            </a:r>
            <a:endParaRPr kumimoji="0" kern="0" cap="none" spc="0" normalizeH="0" baseline="0" noProof="0">
              <a:solidFill>
                <a:sysClr val="windowText" lastClr="000000"/>
              </a:solidFill>
              <a:latin typeface="Arial" panose="020B0604020202020204"/>
              <a:cs typeface="Arial" panose="020B0604020202020204"/>
            </a:endParaRPr>
          </a:p>
        </p:txBody>
      </p:sp>
      <p:sp>
        <p:nvSpPr>
          <p:cNvPr id="30" name="object 30"/>
          <p:cNvSpPr txBox="1"/>
          <p:nvPr/>
        </p:nvSpPr>
        <p:spPr>
          <a:xfrm>
            <a:off x="1874838" y="3641725"/>
            <a:ext cx="166688" cy="2984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4</a:t>
            </a:r>
            <a:endParaRPr kumimoji="0" kern="0" cap="none" spc="0" normalizeH="0" baseline="0" noProof="0">
              <a:solidFill>
                <a:sysClr val="windowText" lastClr="000000"/>
              </a:solidFill>
              <a:latin typeface="Arial" panose="020B0604020202020204"/>
              <a:cs typeface="Arial" panose="020B0604020202020204"/>
            </a:endParaRPr>
          </a:p>
        </p:txBody>
      </p:sp>
      <p:sp>
        <p:nvSpPr>
          <p:cNvPr id="31" name="object 31"/>
          <p:cNvSpPr txBox="1"/>
          <p:nvPr/>
        </p:nvSpPr>
        <p:spPr>
          <a:xfrm>
            <a:off x="1874838" y="4164013"/>
            <a:ext cx="166688"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5</a:t>
            </a:r>
            <a:endParaRPr kumimoji="0" kern="0" cap="none" spc="0" normalizeH="0" baseline="0" noProof="0">
              <a:solidFill>
                <a:sysClr val="windowText" lastClr="000000"/>
              </a:solidFill>
              <a:latin typeface="Arial" panose="020B0604020202020204"/>
              <a:cs typeface="Arial" panose="020B0604020202020204"/>
            </a:endParaRPr>
          </a:p>
        </p:txBody>
      </p:sp>
      <p:sp>
        <p:nvSpPr>
          <p:cNvPr id="32" name="object 32"/>
          <p:cNvSpPr txBox="1"/>
          <p:nvPr/>
        </p:nvSpPr>
        <p:spPr>
          <a:xfrm>
            <a:off x="1874838" y="4694238"/>
            <a:ext cx="166688" cy="2984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6</a:t>
            </a:r>
            <a:endParaRPr kumimoji="0" kern="0" cap="none" spc="0" normalizeH="0" baseline="0" noProof="0">
              <a:solidFill>
                <a:sysClr val="windowText" lastClr="000000"/>
              </a:solidFill>
              <a:latin typeface="Arial" panose="020B0604020202020204"/>
              <a:cs typeface="Arial" panose="020B0604020202020204"/>
            </a:endParaRPr>
          </a:p>
        </p:txBody>
      </p:sp>
      <p:sp>
        <p:nvSpPr>
          <p:cNvPr id="33" name="object 33"/>
          <p:cNvSpPr txBox="1"/>
          <p:nvPr/>
        </p:nvSpPr>
        <p:spPr>
          <a:xfrm>
            <a:off x="2138363" y="5189538"/>
            <a:ext cx="7366000" cy="585788"/>
          </a:xfrm>
          <a:prstGeom prst="rect">
            <a:avLst/>
          </a:prstGeom>
        </p:spPr>
        <p:txBody>
          <a:bodyPr vert="horz" wrap="square" lIns="0" tIns="14604" rIns="0" bIns="0" rtlCol="0">
            <a:spAutoFit/>
          </a:bodyPr>
          <a:lstStyle/>
          <a:p>
            <a:pPr marL="12700" marR="0" defTabSz="914400" eaLnBrk="1" fontAlgn="auto" hangingPunct="1">
              <a:lnSpc>
                <a:spcPts val="1470"/>
              </a:lnSpc>
              <a:spcBef>
                <a:spcPts val="115"/>
              </a:spcBef>
              <a:spcAft>
                <a:spcPts val="0"/>
              </a:spcAft>
              <a:buClrTx/>
              <a:buSzTx/>
              <a:buFontTx/>
              <a:buNone/>
              <a:defRPr/>
            </a:pPr>
            <a:r>
              <a:rPr kumimoji="0" sz="1250" b="1" i="1" kern="0" cap="none" spc="-10" normalizeH="0" baseline="0" noProof="0" dirty="0">
                <a:solidFill>
                  <a:srgbClr val="FF0000"/>
                </a:solidFill>
                <a:latin typeface="Arial" panose="020B0604020202020204"/>
                <a:cs typeface="Arial" panose="020B0604020202020204"/>
              </a:rPr>
              <a:t>Note:</a:t>
            </a:r>
            <a:endParaRPr kumimoji="0" sz="1250" kern="0" cap="none" spc="0" normalizeH="0" baseline="0" noProof="0">
              <a:solidFill>
                <a:sysClr val="windowText" lastClr="000000"/>
              </a:solidFill>
              <a:latin typeface="Arial" panose="020B0604020202020204"/>
              <a:cs typeface="Arial" panose="020B0604020202020204"/>
            </a:endParaRPr>
          </a:p>
          <a:p>
            <a:pPr marL="163195" marR="0" indent="-151130" defTabSz="914400" eaLnBrk="1" fontAlgn="auto" hangingPunct="1">
              <a:lnSpc>
                <a:spcPts val="1440"/>
              </a:lnSpc>
              <a:spcBef>
                <a:spcPts val="0"/>
              </a:spcBef>
              <a:spcAft>
                <a:spcPts val="0"/>
              </a:spcAft>
              <a:buClrTx/>
              <a:buSzTx/>
              <a:buFontTx/>
              <a:buAutoNum type="arabicParenR"/>
              <a:tabLst>
                <a:tab pos="163830" algn="l"/>
              </a:tabLst>
              <a:defRPr/>
            </a:pPr>
            <a:r>
              <a:rPr kumimoji="0" sz="1250" i="1" kern="0" cap="none" spc="-10" normalizeH="0" baseline="0" noProof="0" dirty="0">
                <a:solidFill>
                  <a:srgbClr val="FF0000"/>
                </a:solidFill>
                <a:latin typeface="Arial" panose="020B0604020202020204"/>
                <a:cs typeface="Arial" panose="020B0604020202020204"/>
              </a:rPr>
              <a:t>additional</a:t>
            </a:r>
            <a:r>
              <a:rPr kumimoji="0" sz="1250" i="1" kern="0" cap="none" spc="-65" normalizeH="0" baseline="0" noProof="0" dirty="0">
                <a:solidFill>
                  <a:srgbClr val="FF0000"/>
                </a:solidFill>
                <a:latin typeface="Arial" panose="020B0604020202020204"/>
                <a:cs typeface="Arial" panose="020B0604020202020204"/>
              </a:rPr>
              <a:t> </a:t>
            </a:r>
            <a:r>
              <a:rPr kumimoji="0" sz="1250" i="1" kern="0" cap="none" spc="-40" normalizeH="0" baseline="0" noProof="0" dirty="0">
                <a:solidFill>
                  <a:srgbClr val="FF0000"/>
                </a:solidFill>
                <a:latin typeface="Arial" panose="020B0604020202020204"/>
                <a:cs typeface="Arial" panose="020B0604020202020204"/>
              </a:rPr>
              <a:t>documents</a:t>
            </a:r>
            <a:r>
              <a:rPr kumimoji="0" sz="1250" i="1" kern="0" cap="none" spc="-45" normalizeH="0" baseline="0" noProof="0" dirty="0">
                <a:solidFill>
                  <a:srgbClr val="FF0000"/>
                </a:solidFill>
                <a:latin typeface="Arial" panose="020B0604020202020204"/>
                <a:cs typeface="Arial" panose="020B0604020202020204"/>
              </a:rPr>
              <a:t> may</a:t>
            </a:r>
            <a:r>
              <a:rPr kumimoji="0" sz="1250" i="1" kern="0" cap="none" spc="-20" normalizeH="0" baseline="0" noProof="0" dirty="0">
                <a:solidFill>
                  <a:srgbClr val="FF0000"/>
                </a:solidFill>
                <a:latin typeface="Arial" panose="020B0604020202020204"/>
                <a:cs typeface="Arial" panose="020B0604020202020204"/>
              </a:rPr>
              <a:t> </a:t>
            </a:r>
            <a:r>
              <a:rPr kumimoji="0" sz="1250" i="1" kern="0" cap="none" spc="-55" normalizeH="0" baseline="0" noProof="0" dirty="0">
                <a:solidFill>
                  <a:srgbClr val="FF0000"/>
                </a:solidFill>
                <a:latin typeface="Arial" panose="020B0604020202020204"/>
                <a:cs typeface="Arial" panose="020B0604020202020204"/>
              </a:rPr>
              <a:t>be</a:t>
            </a:r>
            <a:r>
              <a:rPr kumimoji="0" sz="1250" i="1" kern="0" cap="none" spc="-30" normalizeH="0" baseline="0" noProof="0" dirty="0">
                <a:solidFill>
                  <a:srgbClr val="FF0000"/>
                </a:solidFill>
                <a:latin typeface="Arial" panose="020B0604020202020204"/>
                <a:cs typeface="Arial" panose="020B0604020202020204"/>
              </a:rPr>
              <a:t> required</a:t>
            </a:r>
            <a:r>
              <a:rPr kumimoji="0" sz="1250" i="1" kern="0" cap="none" spc="-55" normalizeH="0" baseline="0" noProof="0" dirty="0">
                <a:solidFill>
                  <a:srgbClr val="FF0000"/>
                </a:solidFill>
                <a:latin typeface="Arial" panose="020B0604020202020204"/>
                <a:cs typeface="Arial" panose="020B0604020202020204"/>
              </a:rPr>
              <a:t> </a:t>
            </a:r>
            <a:r>
              <a:rPr kumimoji="0" sz="1250" i="1" kern="0" cap="none" spc="0" normalizeH="0" baseline="0" noProof="0" dirty="0">
                <a:solidFill>
                  <a:srgbClr val="FF0000"/>
                </a:solidFill>
                <a:latin typeface="Arial" panose="020B0604020202020204"/>
                <a:cs typeface="Arial" panose="020B0604020202020204"/>
              </a:rPr>
              <a:t>in</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70" normalizeH="0" baseline="0" noProof="0" dirty="0">
                <a:solidFill>
                  <a:srgbClr val="FF0000"/>
                </a:solidFill>
                <a:latin typeface="Arial" panose="020B0604020202020204"/>
                <a:cs typeface="Arial" panose="020B0604020202020204"/>
              </a:rPr>
              <a:t>view</a:t>
            </a:r>
            <a:r>
              <a:rPr kumimoji="0" sz="1250" i="1" kern="0" cap="none" spc="-20" normalizeH="0" baseline="0" noProof="0" dirty="0">
                <a:solidFill>
                  <a:srgbClr val="FF0000"/>
                </a:solidFill>
                <a:latin typeface="Arial" panose="020B0604020202020204"/>
                <a:cs typeface="Arial" panose="020B0604020202020204"/>
              </a:rPr>
              <a:t> </a:t>
            </a:r>
            <a:r>
              <a:rPr kumimoji="0" sz="1250" i="1" kern="0" cap="none" spc="0" normalizeH="0" baseline="0" noProof="0" dirty="0">
                <a:solidFill>
                  <a:srgbClr val="FF0000"/>
                </a:solidFill>
                <a:latin typeface="Arial" panose="020B0604020202020204"/>
                <a:cs typeface="Arial" panose="020B0604020202020204"/>
              </a:rPr>
              <a:t>of</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certain</a:t>
            </a:r>
            <a:r>
              <a:rPr kumimoji="0" sz="1250" i="1" kern="0" cap="none" spc="-20"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information</a:t>
            </a:r>
            <a:r>
              <a:rPr kumimoji="0" sz="1250" i="1" kern="0" cap="none" spc="-40" normalizeH="0" baseline="0" noProof="0" dirty="0">
                <a:solidFill>
                  <a:srgbClr val="FF0000"/>
                </a:solidFill>
                <a:latin typeface="Arial" panose="020B0604020202020204"/>
                <a:cs typeface="Arial" panose="020B0604020202020204"/>
              </a:rPr>
              <a:t> </a:t>
            </a:r>
            <a:r>
              <a:rPr kumimoji="0" sz="1250" i="1" kern="0" cap="none" spc="-60" normalizeH="0" baseline="0" noProof="0" dirty="0">
                <a:solidFill>
                  <a:srgbClr val="FF0000"/>
                </a:solidFill>
                <a:latin typeface="Arial" panose="020B0604020202020204"/>
                <a:cs typeface="Arial" panose="020B0604020202020204"/>
              </a:rPr>
              <a:t>revealed</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during</a:t>
            </a:r>
            <a:r>
              <a:rPr kumimoji="0" sz="1250" i="1" kern="0" cap="none" spc="-60" normalizeH="0" baseline="0" noProof="0" dirty="0">
                <a:solidFill>
                  <a:srgbClr val="FF0000"/>
                </a:solidFill>
                <a:latin typeface="Arial" panose="020B0604020202020204"/>
                <a:cs typeface="Arial" panose="020B0604020202020204"/>
              </a:rPr>
              <a:t> </a:t>
            </a:r>
            <a:r>
              <a:rPr kumimoji="0" sz="1250" i="1" kern="0" cap="none" spc="0" normalizeH="0" baseline="0" noProof="0" dirty="0">
                <a:solidFill>
                  <a:srgbClr val="FF0000"/>
                </a:solidFill>
                <a:latin typeface="Arial" panose="020B0604020202020204"/>
                <a:cs typeface="Arial" panose="020B0604020202020204"/>
              </a:rPr>
              <a:t>the</a:t>
            </a:r>
            <a:r>
              <a:rPr kumimoji="0" sz="1250" i="1" kern="0" cap="none" spc="-15" normalizeH="0" baseline="0" noProof="0" dirty="0">
                <a:solidFill>
                  <a:srgbClr val="FF0000"/>
                </a:solidFill>
                <a:latin typeface="Arial" panose="020B0604020202020204"/>
                <a:cs typeface="Arial" panose="020B0604020202020204"/>
              </a:rPr>
              <a:t> </a:t>
            </a:r>
            <a:r>
              <a:rPr kumimoji="0" sz="1250" i="1" kern="0" cap="none" spc="-65" normalizeH="0" baseline="0" noProof="0" dirty="0">
                <a:solidFill>
                  <a:srgbClr val="FF0000"/>
                </a:solidFill>
                <a:latin typeface="Arial" panose="020B0604020202020204"/>
                <a:cs typeface="Arial" panose="020B0604020202020204"/>
              </a:rPr>
              <a:t>review</a:t>
            </a:r>
            <a:r>
              <a:rPr kumimoji="0" sz="1250" i="1" kern="0" cap="none" spc="-20" normalizeH="0" baseline="0" noProof="0" dirty="0">
                <a:solidFill>
                  <a:srgbClr val="FF0000"/>
                </a:solidFill>
                <a:latin typeface="Arial" panose="020B0604020202020204"/>
                <a:cs typeface="Arial" panose="020B0604020202020204"/>
              </a:rPr>
              <a:t> </a:t>
            </a:r>
            <a:r>
              <a:rPr kumimoji="0" sz="1250" i="1" kern="0" cap="none" spc="0" normalizeH="0" baseline="0" noProof="0" dirty="0">
                <a:solidFill>
                  <a:srgbClr val="FF0000"/>
                </a:solidFill>
                <a:latin typeface="Arial" panose="020B0604020202020204"/>
                <a:cs typeface="Arial" panose="020B0604020202020204"/>
              </a:rPr>
              <a:t>of</a:t>
            </a:r>
            <a:r>
              <a:rPr kumimoji="0" sz="1250" i="1" kern="0" cap="none" spc="-15"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the</a:t>
            </a:r>
            <a:r>
              <a:rPr kumimoji="0" sz="1250" i="1" kern="0" cap="none" spc="-30"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claim</a:t>
            </a:r>
            <a:endParaRPr kumimoji="0" sz="1250" kern="0" cap="none" spc="0" normalizeH="0" baseline="0" noProof="0">
              <a:solidFill>
                <a:sysClr val="windowText" lastClr="000000"/>
              </a:solidFill>
              <a:latin typeface="Arial" panose="020B0604020202020204"/>
              <a:cs typeface="Arial" panose="020B0604020202020204"/>
            </a:endParaRPr>
          </a:p>
          <a:p>
            <a:pPr marL="199390" marR="0" indent="-187325" defTabSz="914400" eaLnBrk="1" fontAlgn="auto" hangingPunct="1">
              <a:lnSpc>
                <a:spcPts val="1470"/>
              </a:lnSpc>
              <a:spcBef>
                <a:spcPts val="0"/>
              </a:spcBef>
              <a:spcAft>
                <a:spcPts val="0"/>
              </a:spcAft>
              <a:buClrTx/>
              <a:buSzTx/>
              <a:buFontTx/>
              <a:buAutoNum type="arabicParenR"/>
              <a:tabLst>
                <a:tab pos="200025" algn="l"/>
              </a:tabLst>
              <a:defRPr/>
            </a:pPr>
            <a:r>
              <a:rPr kumimoji="0" sz="1250" i="1" kern="0" cap="none" spc="-25" normalizeH="0" baseline="0" noProof="0" dirty="0">
                <a:solidFill>
                  <a:srgbClr val="FF0000"/>
                </a:solidFill>
                <a:latin typeface="Arial" panose="020B0604020202020204"/>
                <a:cs typeface="Arial" panose="020B0604020202020204"/>
              </a:rPr>
              <a:t>Certified</a:t>
            </a:r>
            <a:r>
              <a:rPr kumimoji="0" sz="1250" i="1" kern="0" cap="none" spc="-15" normalizeH="0" baseline="0" noProof="0" dirty="0">
                <a:solidFill>
                  <a:srgbClr val="FF0000"/>
                </a:solidFill>
                <a:latin typeface="Arial" panose="020B0604020202020204"/>
                <a:cs typeface="Arial" panose="020B0604020202020204"/>
              </a:rPr>
              <a:t> </a:t>
            </a:r>
            <a:r>
              <a:rPr kumimoji="0" sz="1250" i="1" kern="0" cap="none" spc="-60" normalizeH="0" baseline="0" noProof="0" dirty="0">
                <a:solidFill>
                  <a:srgbClr val="FF0000"/>
                </a:solidFill>
                <a:latin typeface="Arial" panose="020B0604020202020204"/>
                <a:cs typeface="Arial" panose="020B0604020202020204"/>
              </a:rPr>
              <a:t>True</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70" normalizeH="0" baseline="0" noProof="0" dirty="0">
                <a:solidFill>
                  <a:srgbClr val="FF0000"/>
                </a:solidFill>
                <a:latin typeface="Arial" panose="020B0604020202020204"/>
                <a:cs typeface="Arial" panose="020B0604020202020204"/>
              </a:rPr>
              <a:t>Copies</a:t>
            </a:r>
            <a:r>
              <a:rPr kumimoji="0" sz="1250" i="1" kern="0" cap="none" spc="-15" normalizeH="0" baseline="0" noProof="0" dirty="0">
                <a:solidFill>
                  <a:srgbClr val="FF0000"/>
                </a:solidFill>
                <a:latin typeface="Arial" panose="020B0604020202020204"/>
                <a:cs typeface="Arial" panose="020B0604020202020204"/>
              </a:rPr>
              <a:t> </a:t>
            </a:r>
            <a:r>
              <a:rPr kumimoji="0" sz="1250" i="1" kern="0" cap="none" spc="0" normalizeH="0" baseline="0" noProof="0" dirty="0">
                <a:solidFill>
                  <a:srgbClr val="FF0000"/>
                </a:solidFill>
                <a:latin typeface="Arial" panose="020B0604020202020204"/>
                <a:cs typeface="Arial" panose="020B0604020202020204"/>
              </a:rPr>
              <a:t>of</a:t>
            </a:r>
            <a:r>
              <a:rPr kumimoji="0" sz="1250" i="1" kern="0" cap="none" spc="-20" normalizeH="0" baseline="0" noProof="0" dirty="0">
                <a:solidFill>
                  <a:srgbClr val="FF0000"/>
                </a:solidFill>
                <a:latin typeface="Arial" panose="020B0604020202020204"/>
                <a:cs typeface="Arial" panose="020B0604020202020204"/>
              </a:rPr>
              <a:t> </a:t>
            </a:r>
            <a:r>
              <a:rPr kumimoji="0" sz="1250" i="1" kern="0" cap="none" spc="-35" normalizeH="0" baseline="0" noProof="0" dirty="0">
                <a:solidFill>
                  <a:srgbClr val="FF0000"/>
                </a:solidFill>
                <a:latin typeface="Arial" panose="020B0604020202020204"/>
                <a:cs typeface="Arial" panose="020B0604020202020204"/>
              </a:rPr>
              <a:t>documents </a:t>
            </a:r>
            <a:r>
              <a:rPr kumimoji="0" sz="1250" i="1" kern="0" cap="none" spc="-30" normalizeH="0" baseline="0" noProof="0" dirty="0">
                <a:solidFill>
                  <a:srgbClr val="FF0000"/>
                </a:solidFill>
                <a:latin typeface="Arial" panose="020B0604020202020204"/>
                <a:cs typeface="Arial" panose="020B0604020202020204"/>
              </a:rPr>
              <a:t>should</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55" normalizeH="0" baseline="0" noProof="0" dirty="0">
                <a:solidFill>
                  <a:srgbClr val="FF0000"/>
                </a:solidFill>
                <a:latin typeface="Arial" panose="020B0604020202020204"/>
                <a:cs typeface="Arial" panose="020B0604020202020204"/>
              </a:rPr>
              <a:t>be</a:t>
            </a:r>
            <a:r>
              <a:rPr kumimoji="0" sz="1250" i="1" kern="0" cap="none" spc="-25" normalizeH="0" baseline="0" noProof="0" dirty="0">
                <a:solidFill>
                  <a:srgbClr val="FF0000"/>
                </a:solidFill>
                <a:latin typeface="Arial" panose="020B0604020202020204"/>
                <a:cs typeface="Arial" panose="020B0604020202020204"/>
              </a:rPr>
              <a:t> </a:t>
            </a:r>
            <a:r>
              <a:rPr kumimoji="0" sz="1250" i="1" kern="0" cap="none" spc="-10" normalizeH="0" baseline="0" noProof="0" dirty="0">
                <a:solidFill>
                  <a:srgbClr val="FF0000"/>
                </a:solidFill>
                <a:latin typeface="Arial" panose="020B0604020202020204"/>
                <a:cs typeface="Arial" panose="020B0604020202020204"/>
              </a:rPr>
              <a:t>submitted</a:t>
            </a:r>
            <a:endParaRPr kumimoji="0" sz="1250" kern="0" cap="none" spc="0" normalizeH="0" baseline="0" noProof="0">
              <a:solidFill>
                <a:sysClr val="windowText" lastClr="000000"/>
              </a:solidFill>
              <a:latin typeface="Arial" panose="020B0604020202020204"/>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22" name="object 2"/>
          <p:cNvGrpSpPr/>
          <p:nvPr/>
        </p:nvGrpSpPr>
        <p:grpSpPr>
          <a:xfrm>
            <a:off x="1249363" y="773113"/>
            <a:ext cx="9693275" cy="877887"/>
            <a:chOff x="1250073" y="772604"/>
            <a:chExt cx="9692005" cy="878205"/>
          </a:xfrm>
        </p:grpSpPr>
        <p:sp>
          <p:nvSpPr>
            <p:cNvPr id="30741" name="object 3"/>
            <p:cNvSpPr/>
            <p:nvPr/>
          </p:nvSpPr>
          <p:spPr>
            <a:xfrm>
              <a:off x="1264361" y="786891"/>
              <a:ext cx="9663430" cy="849630"/>
            </a:xfrm>
            <a:custGeom>
              <a:avLst/>
              <a:gdLst/>
              <a:ahLst/>
              <a:cxnLst/>
              <a:pathLst>
                <a:path w="9663430" h="849630">
                  <a:moveTo>
                    <a:pt x="9609505" y="0"/>
                  </a:moveTo>
                  <a:lnTo>
                    <a:pt x="53771" y="0"/>
                  </a:lnTo>
                  <a:lnTo>
                    <a:pt x="32832" y="4234"/>
                  </a:lnTo>
                  <a:lnTo>
                    <a:pt x="15741" y="15779"/>
                  </a:lnTo>
                  <a:lnTo>
                    <a:pt x="4222" y="32896"/>
                  </a:lnTo>
                  <a:lnTo>
                    <a:pt x="0" y="53848"/>
                  </a:lnTo>
                  <a:lnTo>
                    <a:pt x="0" y="795528"/>
                  </a:lnTo>
                  <a:lnTo>
                    <a:pt x="4222" y="816459"/>
                  </a:lnTo>
                  <a:lnTo>
                    <a:pt x="15741" y="833532"/>
                  </a:lnTo>
                  <a:lnTo>
                    <a:pt x="32832" y="845034"/>
                  </a:lnTo>
                  <a:lnTo>
                    <a:pt x="53771" y="849249"/>
                  </a:lnTo>
                  <a:lnTo>
                    <a:pt x="9609505" y="849249"/>
                  </a:lnTo>
                  <a:lnTo>
                    <a:pt x="9630436" y="845034"/>
                  </a:lnTo>
                  <a:lnTo>
                    <a:pt x="9647510" y="833532"/>
                  </a:lnTo>
                  <a:lnTo>
                    <a:pt x="9659011" y="816459"/>
                  </a:lnTo>
                  <a:lnTo>
                    <a:pt x="9663226" y="795528"/>
                  </a:lnTo>
                  <a:lnTo>
                    <a:pt x="9663226" y="53848"/>
                  </a:lnTo>
                  <a:lnTo>
                    <a:pt x="9659011" y="32896"/>
                  </a:lnTo>
                  <a:lnTo>
                    <a:pt x="9647510" y="15779"/>
                  </a:lnTo>
                  <a:lnTo>
                    <a:pt x="9630436" y="4234"/>
                  </a:lnTo>
                  <a:lnTo>
                    <a:pt x="9609505" y="0"/>
                  </a:lnTo>
                  <a:close/>
                </a:path>
              </a:pathLst>
            </a:custGeom>
            <a:solidFill>
              <a:srgbClr val="00A757">
                <a:alpha val="100000"/>
              </a:srgbClr>
            </a:solidFill>
            <a:ln w="9525">
              <a:noFill/>
            </a:ln>
          </p:spPr>
          <p:txBody>
            <a:bodyPr/>
            <a:p>
              <a:endParaRPr lang="en-US"/>
            </a:p>
          </p:txBody>
        </p:sp>
        <p:sp>
          <p:nvSpPr>
            <p:cNvPr id="30742" name="object 4"/>
            <p:cNvSpPr/>
            <p:nvPr/>
          </p:nvSpPr>
          <p:spPr>
            <a:xfrm>
              <a:off x="1264361" y="786891"/>
              <a:ext cx="9663430" cy="849630"/>
            </a:xfrm>
            <a:custGeom>
              <a:avLst/>
              <a:gdLst/>
              <a:ahLst/>
              <a:cxnLst/>
              <a:pathLst>
                <a:path w="9663430" h="849630">
                  <a:moveTo>
                    <a:pt x="0" y="53848"/>
                  </a:moveTo>
                  <a:lnTo>
                    <a:pt x="4222" y="32896"/>
                  </a:lnTo>
                  <a:lnTo>
                    <a:pt x="15741" y="15779"/>
                  </a:lnTo>
                  <a:lnTo>
                    <a:pt x="32832" y="4234"/>
                  </a:lnTo>
                  <a:lnTo>
                    <a:pt x="53771" y="0"/>
                  </a:lnTo>
                  <a:lnTo>
                    <a:pt x="9609505" y="0"/>
                  </a:lnTo>
                  <a:lnTo>
                    <a:pt x="9630436" y="4234"/>
                  </a:lnTo>
                  <a:lnTo>
                    <a:pt x="9647510" y="15779"/>
                  </a:lnTo>
                  <a:lnTo>
                    <a:pt x="9659011" y="32896"/>
                  </a:lnTo>
                  <a:lnTo>
                    <a:pt x="9663226" y="53848"/>
                  </a:lnTo>
                  <a:lnTo>
                    <a:pt x="9663226" y="795528"/>
                  </a:lnTo>
                  <a:lnTo>
                    <a:pt x="9659011" y="816459"/>
                  </a:lnTo>
                  <a:lnTo>
                    <a:pt x="9647510" y="833532"/>
                  </a:lnTo>
                  <a:lnTo>
                    <a:pt x="9630436" y="845034"/>
                  </a:lnTo>
                  <a:lnTo>
                    <a:pt x="9609505" y="849249"/>
                  </a:lnTo>
                  <a:lnTo>
                    <a:pt x="53771" y="849249"/>
                  </a:lnTo>
                  <a:lnTo>
                    <a:pt x="32832" y="845034"/>
                  </a:lnTo>
                  <a:lnTo>
                    <a:pt x="15741" y="833532"/>
                  </a:lnTo>
                  <a:lnTo>
                    <a:pt x="4222" y="816459"/>
                  </a:lnTo>
                  <a:lnTo>
                    <a:pt x="0" y="795528"/>
                  </a:lnTo>
                  <a:lnTo>
                    <a:pt x="0" y="53848"/>
                  </a:lnTo>
                  <a:close/>
                </a:path>
              </a:pathLst>
            </a:custGeom>
            <a:noFill/>
            <a:ln w="28575" cap="flat" cmpd="sng">
              <a:solidFill>
                <a:srgbClr val="282B3D">
                  <a:alpha val="100000"/>
                </a:srgbClr>
              </a:solidFill>
              <a:prstDash val="solid"/>
              <a:headEnd type="none" w="med" len="med"/>
              <a:tailEnd type="none" w="med" len="med"/>
            </a:ln>
          </p:spPr>
          <p:txBody>
            <a:bodyPr/>
            <a:p>
              <a:endParaRPr lang="en-US"/>
            </a:p>
          </p:txBody>
        </p:sp>
      </p:grpSp>
      <p:sp>
        <p:nvSpPr>
          <p:cNvPr id="5" name="object 5"/>
          <p:cNvSpPr txBox="1">
            <a:spLocks noGrp="1"/>
          </p:cNvSpPr>
          <p:nvPr>
            <p:ph type="title"/>
          </p:nvPr>
        </p:nvSpPr>
        <p:spPr/>
        <p:txBody>
          <a:bodyPr vert="horz" wrap="square" lIns="0" tIns="498271" rIns="0" bIns="0" rtlCol="0">
            <a:spAutoFit/>
          </a:bodyPr>
          <a:lstStyle/>
          <a:p>
            <a:pPr marL="43815" marR="0" lvl="0" indent="0" defTabSz="914400" eaLnBrk="1" fontAlgn="auto" latinLnBrk="0" hangingPunct="1">
              <a:lnSpc>
                <a:spcPct val="100000"/>
              </a:lnSpc>
              <a:spcBef>
                <a:spcPts val="95"/>
              </a:spcBef>
              <a:spcAft>
                <a:spcPts val="0"/>
              </a:spcAft>
              <a:buClrTx/>
              <a:buSzTx/>
              <a:buFontTx/>
              <a:buNone/>
              <a:defRPr/>
            </a:pP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TERMINAL</a:t>
            </a:r>
            <a:r>
              <a:rPr kumimoji="0" sz="2500" b="1" i="0" u="none" strike="noStrike" kern="0" cap="none" spc="16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ILLNESS</a:t>
            </a:r>
            <a:r>
              <a:rPr kumimoji="0" sz="2500" b="1" i="0" u="none" strike="noStrike" kern="0" cap="none" spc="16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BENEFIT</a:t>
            </a:r>
            <a:r>
              <a:rPr kumimoji="0" sz="2500" b="1" i="0" u="none" strike="noStrike" kern="0" cap="none" spc="130"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0" normalizeH="0" baseline="0" noProof="0" dirty="0">
                <a:ln>
                  <a:noFill/>
                </a:ln>
                <a:solidFill>
                  <a:schemeClr val="bg1"/>
                </a:solidFill>
                <a:effectLst/>
                <a:uLnTx/>
                <a:uFillTx/>
                <a:latin typeface="Arial" panose="020B0604020202020204"/>
                <a:ea typeface="+mj-ea"/>
                <a:cs typeface="Arial" panose="020B0604020202020204"/>
              </a:rPr>
              <a:t>CLAIMS</a:t>
            </a:r>
            <a:r>
              <a:rPr kumimoji="0" sz="2500" b="1" i="0" u="none" strike="noStrike" kern="0" cap="none" spc="145" normalizeH="0" baseline="0" noProof="0" dirty="0">
                <a:ln>
                  <a:noFill/>
                </a:ln>
                <a:solidFill>
                  <a:schemeClr val="bg1"/>
                </a:solidFill>
                <a:effectLst/>
                <a:uLnTx/>
                <a:uFillTx/>
                <a:latin typeface="Arial" panose="020B0604020202020204"/>
                <a:ea typeface="+mj-ea"/>
                <a:cs typeface="Arial" panose="020B0604020202020204"/>
              </a:rPr>
              <a:t> </a:t>
            </a:r>
            <a:r>
              <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rPr>
              <a:t>REQUIREMENTS</a:t>
            </a:r>
            <a:endParaRPr kumimoji="0" sz="2500" b="1" i="0" u="none" strike="noStrike" kern="0" cap="none" spc="-10" normalizeH="0" baseline="0" noProof="0" dirty="0">
              <a:ln>
                <a:noFill/>
              </a:ln>
              <a:solidFill>
                <a:schemeClr val="bg1"/>
              </a:solidFill>
              <a:effectLst/>
              <a:uLnTx/>
              <a:uFillTx/>
              <a:latin typeface="Arial" panose="020B0604020202020204"/>
              <a:ea typeface="+mj-ea"/>
              <a:cs typeface="Arial" panose="020B0604020202020204"/>
            </a:endParaRPr>
          </a:p>
          <a:p>
            <a:pPr marL="43815" marR="0" lvl="0" indent="0" defTabSz="914400" eaLnBrk="1" fontAlgn="auto" latinLnBrk="0" hangingPunct="1">
              <a:lnSpc>
                <a:spcPct val="100000"/>
              </a:lnSpc>
              <a:spcBef>
                <a:spcPts val="40"/>
              </a:spcBef>
              <a:spcAft>
                <a:spcPts val="0"/>
              </a:spcAft>
              <a:buClrTx/>
              <a:buSzTx/>
              <a:buFontTx/>
              <a:buNone/>
              <a:defRPr/>
            </a:pPr>
            <a:r>
              <a:rPr kumimoji="0" sz="1200" b="0" i="0" u="none" strike="noStrike" kern="0" cap="none" spc="0" normalizeH="0" baseline="0" noProof="0" dirty="0">
                <a:ln>
                  <a:noFill/>
                </a:ln>
                <a:solidFill>
                  <a:schemeClr val="bg1"/>
                </a:solidFill>
                <a:effectLst/>
                <a:uLnTx/>
                <a:uFillTx/>
                <a:latin typeface="Tahoma" panose="020B0604030504040204"/>
                <a:ea typeface="+mj-ea"/>
                <a:cs typeface="Tahoma" panose="020B0604030504040204"/>
              </a:rPr>
              <a:t>GROUP</a:t>
            </a:r>
            <a:r>
              <a:rPr kumimoji="0" sz="1200" b="0" i="0" u="none" strike="noStrike" kern="0" cap="none" spc="-35"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LIFE</a:t>
            </a:r>
            <a:r>
              <a:rPr kumimoji="0" sz="1200" b="0" i="0" u="none" strike="noStrike" kern="0" cap="none" spc="-50" normalizeH="0" baseline="0" noProof="0" dirty="0">
                <a:ln>
                  <a:noFill/>
                </a:ln>
                <a:solidFill>
                  <a:schemeClr val="bg1"/>
                </a:solidFill>
                <a:effectLst/>
                <a:uLnTx/>
                <a:uFillTx/>
                <a:latin typeface="Tahoma" panose="020B0604030504040204"/>
                <a:ea typeface="+mj-ea"/>
                <a:cs typeface="Tahoma" panose="020B0604030504040204"/>
              </a:rPr>
              <a:t> </a:t>
            </a:r>
            <a:r>
              <a:rPr kumimoji="0" sz="1200" b="0" i="0" u="none" strike="noStrike" kern="0" cap="none" spc="-10" normalizeH="0" baseline="0" noProof="0" dirty="0">
                <a:ln>
                  <a:noFill/>
                </a:ln>
                <a:solidFill>
                  <a:schemeClr val="bg1"/>
                </a:solidFill>
                <a:effectLst/>
                <a:uLnTx/>
                <a:uFillTx/>
                <a:latin typeface="Tahoma" panose="020B0604030504040204"/>
                <a:ea typeface="+mj-ea"/>
                <a:cs typeface="Tahoma" panose="020B0604030504040204"/>
              </a:rPr>
              <a:t>INSURANCE</a:t>
            </a:r>
            <a:endParaRPr kumimoji="0" sz="12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p:txBody>
      </p:sp>
      <p:grpSp>
        <p:nvGrpSpPr>
          <p:cNvPr id="30724" name="object 6"/>
          <p:cNvGrpSpPr/>
          <p:nvPr/>
        </p:nvGrpSpPr>
        <p:grpSpPr>
          <a:xfrm>
            <a:off x="2033588" y="1952625"/>
            <a:ext cx="7885112" cy="477838"/>
            <a:chOff x="2033079" y="1953323"/>
            <a:chExt cx="7886065" cy="476884"/>
          </a:xfrm>
        </p:grpSpPr>
        <p:sp>
          <p:nvSpPr>
            <p:cNvPr id="30739" name="object 7"/>
            <p:cNvSpPr/>
            <p:nvPr/>
          </p:nvSpPr>
          <p:spPr>
            <a:xfrm>
              <a:off x="2034667" y="1954910"/>
              <a:ext cx="7882890" cy="473709"/>
            </a:xfrm>
            <a:custGeom>
              <a:avLst/>
              <a:gdLst/>
              <a:ahLst/>
              <a:cxnLst/>
              <a:pathLst>
                <a:path w="7882890" h="473710">
                  <a:moveTo>
                    <a:pt x="7852917" y="0"/>
                  </a:moveTo>
                  <a:lnTo>
                    <a:pt x="29971" y="0"/>
                  </a:lnTo>
                  <a:lnTo>
                    <a:pt x="18323" y="2361"/>
                  </a:lnTo>
                  <a:lnTo>
                    <a:pt x="8794" y="8794"/>
                  </a:lnTo>
                  <a:lnTo>
                    <a:pt x="2361" y="18323"/>
                  </a:lnTo>
                  <a:lnTo>
                    <a:pt x="0" y="29972"/>
                  </a:lnTo>
                  <a:lnTo>
                    <a:pt x="0" y="443484"/>
                  </a:lnTo>
                  <a:lnTo>
                    <a:pt x="2361" y="455132"/>
                  </a:lnTo>
                  <a:lnTo>
                    <a:pt x="8794" y="464661"/>
                  </a:lnTo>
                  <a:lnTo>
                    <a:pt x="18323" y="471094"/>
                  </a:lnTo>
                  <a:lnTo>
                    <a:pt x="29971" y="473455"/>
                  </a:lnTo>
                  <a:lnTo>
                    <a:pt x="7852917" y="473455"/>
                  </a:lnTo>
                  <a:lnTo>
                    <a:pt x="7864546" y="471094"/>
                  </a:lnTo>
                  <a:lnTo>
                    <a:pt x="7874031" y="464661"/>
                  </a:lnTo>
                  <a:lnTo>
                    <a:pt x="7880421" y="455132"/>
                  </a:lnTo>
                  <a:lnTo>
                    <a:pt x="7882762" y="443484"/>
                  </a:lnTo>
                  <a:lnTo>
                    <a:pt x="7882762" y="29972"/>
                  </a:lnTo>
                  <a:lnTo>
                    <a:pt x="7880421" y="18323"/>
                  </a:lnTo>
                  <a:lnTo>
                    <a:pt x="7874031" y="8794"/>
                  </a:lnTo>
                  <a:lnTo>
                    <a:pt x="7864546" y="2361"/>
                  </a:lnTo>
                  <a:lnTo>
                    <a:pt x="7852917" y="0"/>
                  </a:lnTo>
                  <a:close/>
                </a:path>
              </a:pathLst>
            </a:custGeom>
            <a:solidFill>
              <a:srgbClr val="F1F1F1">
                <a:alpha val="100000"/>
              </a:srgbClr>
            </a:solidFill>
            <a:ln w="9525">
              <a:noFill/>
            </a:ln>
          </p:spPr>
          <p:txBody>
            <a:bodyPr/>
            <a:p>
              <a:endParaRPr lang="en-US"/>
            </a:p>
          </p:txBody>
        </p:sp>
        <p:sp>
          <p:nvSpPr>
            <p:cNvPr id="30740" name="object 8"/>
            <p:cNvSpPr/>
            <p:nvPr/>
          </p:nvSpPr>
          <p:spPr>
            <a:xfrm>
              <a:off x="2034667" y="1954910"/>
              <a:ext cx="7882890" cy="473709"/>
            </a:xfrm>
            <a:custGeom>
              <a:avLst/>
              <a:gdLst/>
              <a:ahLst/>
              <a:cxnLst/>
              <a:pathLst>
                <a:path w="7882890" h="473710">
                  <a:moveTo>
                    <a:pt x="0" y="29972"/>
                  </a:moveTo>
                  <a:lnTo>
                    <a:pt x="2361" y="18323"/>
                  </a:lnTo>
                  <a:lnTo>
                    <a:pt x="8794" y="8794"/>
                  </a:lnTo>
                  <a:lnTo>
                    <a:pt x="18323" y="2361"/>
                  </a:lnTo>
                  <a:lnTo>
                    <a:pt x="29971" y="0"/>
                  </a:lnTo>
                  <a:lnTo>
                    <a:pt x="7852917" y="0"/>
                  </a:lnTo>
                  <a:lnTo>
                    <a:pt x="7864546" y="2361"/>
                  </a:lnTo>
                  <a:lnTo>
                    <a:pt x="7874031" y="8794"/>
                  </a:lnTo>
                  <a:lnTo>
                    <a:pt x="7880421" y="18323"/>
                  </a:lnTo>
                  <a:lnTo>
                    <a:pt x="7882762" y="29972"/>
                  </a:lnTo>
                  <a:lnTo>
                    <a:pt x="7882762" y="443484"/>
                  </a:lnTo>
                  <a:lnTo>
                    <a:pt x="7880421" y="455132"/>
                  </a:lnTo>
                  <a:lnTo>
                    <a:pt x="7874031" y="464661"/>
                  </a:lnTo>
                  <a:lnTo>
                    <a:pt x="7864546" y="471094"/>
                  </a:lnTo>
                  <a:lnTo>
                    <a:pt x="7852917" y="473455"/>
                  </a:lnTo>
                  <a:lnTo>
                    <a:pt x="29971" y="473455"/>
                  </a:lnTo>
                  <a:lnTo>
                    <a:pt x="18323" y="471094"/>
                  </a:lnTo>
                  <a:lnTo>
                    <a:pt x="8794" y="464661"/>
                  </a:lnTo>
                  <a:lnTo>
                    <a:pt x="236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30725" name="object 9"/>
          <p:cNvGrpSpPr/>
          <p:nvPr/>
        </p:nvGrpSpPr>
        <p:grpSpPr>
          <a:xfrm>
            <a:off x="2033588" y="2479675"/>
            <a:ext cx="7885112" cy="477838"/>
            <a:chOff x="2033079" y="2479865"/>
            <a:chExt cx="7886065" cy="476884"/>
          </a:xfrm>
        </p:grpSpPr>
        <p:sp>
          <p:nvSpPr>
            <p:cNvPr id="30737" name="object 10"/>
            <p:cNvSpPr/>
            <p:nvPr/>
          </p:nvSpPr>
          <p:spPr>
            <a:xfrm>
              <a:off x="2034667" y="2481452"/>
              <a:ext cx="7882890" cy="473709"/>
            </a:xfrm>
            <a:custGeom>
              <a:avLst/>
              <a:gdLst/>
              <a:ahLst/>
              <a:cxnLst/>
              <a:pathLst>
                <a:path w="7882890" h="473710">
                  <a:moveTo>
                    <a:pt x="7852917" y="0"/>
                  </a:moveTo>
                  <a:lnTo>
                    <a:pt x="29971" y="0"/>
                  </a:lnTo>
                  <a:lnTo>
                    <a:pt x="18323" y="2343"/>
                  </a:lnTo>
                  <a:lnTo>
                    <a:pt x="8794" y="8747"/>
                  </a:lnTo>
                  <a:lnTo>
                    <a:pt x="2361" y="18270"/>
                  </a:lnTo>
                  <a:lnTo>
                    <a:pt x="0" y="29972"/>
                  </a:lnTo>
                  <a:lnTo>
                    <a:pt x="0" y="443484"/>
                  </a:lnTo>
                  <a:lnTo>
                    <a:pt x="2361" y="455132"/>
                  </a:lnTo>
                  <a:lnTo>
                    <a:pt x="8794" y="464661"/>
                  </a:lnTo>
                  <a:lnTo>
                    <a:pt x="18323" y="471094"/>
                  </a:lnTo>
                  <a:lnTo>
                    <a:pt x="29971" y="473456"/>
                  </a:lnTo>
                  <a:lnTo>
                    <a:pt x="7852917" y="473456"/>
                  </a:lnTo>
                  <a:lnTo>
                    <a:pt x="7864546" y="471094"/>
                  </a:lnTo>
                  <a:lnTo>
                    <a:pt x="7874031" y="464661"/>
                  </a:lnTo>
                  <a:lnTo>
                    <a:pt x="7880421" y="455132"/>
                  </a:lnTo>
                  <a:lnTo>
                    <a:pt x="7882762" y="443484"/>
                  </a:lnTo>
                  <a:lnTo>
                    <a:pt x="7882762" y="29972"/>
                  </a:lnTo>
                  <a:lnTo>
                    <a:pt x="7880421" y="18270"/>
                  </a:lnTo>
                  <a:lnTo>
                    <a:pt x="7874031" y="8747"/>
                  </a:lnTo>
                  <a:lnTo>
                    <a:pt x="7864546" y="2343"/>
                  </a:lnTo>
                  <a:lnTo>
                    <a:pt x="7852917" y="0"/>
                  </a:lnTo>
                  <a:close/>
                </a:path>
              </a:pathLst>
            </a:custGeom>
            <a:solidFill>
              <a:srgbClr val="F1F1F1">
                <a:alpha val="100000"/>
              </a:srgbClr>
            </a:solidFill>
            <a:ln w="9525">
              <a:noFill/>
            </a:ln>
          </p:spPr>
          <p:txBody>
            <a:bodyPr/>
            <a:p>
              <a:endParaRPr lang="en-US"/>
            </a:p>
          </p:txBody>
        </p:sp>
        <p:sp>
          <p:nvSpPr>
            <p:cNvPr id="30738" name="object 11"/>
            <p:cNvSpPr/>
            <p:nvPr/>
          </p:nvSpPr>
          <p:spPr>
            <a:xfrm>
              <a:off x="2034667" y="2481452"/>
              <a:ext cx="7882890" cy="473709"/>
            </a:xfrm>
            <a:custGeom>
              <a:avLst/>
              <a:gdLst/>
              <a:ahLst/>
              <a:cxnLst/>
              <a:pathLst>
                <a:path w="7882890" h="473710">
                  <a:moveTo>
                    <a:pt x="0" y="29972"/>
                  </a:moveTo>
                  <a:lnTo>
                    <a:pt x="2361" y="18270"/>
                  </a:lnTo>
                  <a:lnTo>
                    <a:pt x="8794" y="8747"/>
                  </a:lnTo>
                  <a:lnTo>
                    <a:pt x="18323" y="2343"/>
                  </a:lnTo>
                  <a:lnTo>
                    <a:pt x="29971" y="0"/>
                  </a:lnTo>
                  <a:lnTo>
                    <a:pt x="7852917" y="0"/>
                  </a:lnTo>
                  <a:lnTo>
                    <a:pt x="7864546" y="2343"/>
                  </a:lnTo>
                  <a:lnTo>
                    <a:pt x="7874031" y="8747"/>
                  </a:lnTo>
                  <a:lnTo>
                    <a:pt x="7880421" y="18270"/>
                  </a:lnTo>
                  <a:lnTo>
                    <a:pt x="7882762" y="29972"/>
                  </a:lnTo>
                  <a:lnTo>
                    <a:pt x="7882762" y="443484"/>
                  </a:lnTo>
                  <a:lnTo>
                    <a:pt x="7880421" y="455132"/>
                  </a:lnTo>
                  <a:lnTo>
                    <a:pt x="7874031" y="464661"/>
                  </a:lnTo>
                  <a:lnTo>
                    <a:pt x="7864546" y="471094"/>
                  </a:lnTo>
                  <a:lnTo>
                    <a:pt x="7852917" y="473456"/>
                  </a:lnTo>
                  <a:lnTo>
                    <a:pt x="29971" y="473456"/>
                  </a:lnTo>
                  <a:lnTo>
                    <a:pt x="18323" y="471094"/>
                  </a:lnTo>
                  <a:lnTo>
                    <a:pt x="8794" y="464661"/>
                  </a:lnTo>
                  <a:lnTo>
                    <a:pt x="2361" y="455132"/>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grpSp>
        <p:nvGrpSpPr>
          <p:cNvPr id="30726" name="object 12"/>
          <p:cNvGrpSpPr/>
          <p:nvPr/>
        </p:nvGrpSpPr>
        <p:grpSpPr>
          <a:xfrm>
            <a:off x="2033588" y="3006725"/>
            <a:ext cx="7885112" cy="476250"/>
            <a:chOff x="2033079" y="3006280"/>
            <a:chExt cx="7886065" cy="476884"/>
          </a:xfrm>
        </p:grpSpPr>
        <p:sp>
          <p:nvSpPr>
            <p:cNvPr id="30735" name="object 13"/>
            <p:cNvSpPr/>
            <p:nvPr/>
          </p:nvSpPr>
          <p:spPr>
            <a:xfrm>
              <a:off x="2034667" y="3007867"/>
              <a:ext cx="7882890" cy="473709"/>
            </a:xfrm>
            <a:custGeom>
              <a:avLst/>
              <a:gdLst/>
              <a:ahLst/>
              <a:cxnLst/>
              <a:pathLst>
                <a:path w="7882890" h="473710">
                  <a:moveTo>
                    <a:pt x="7852790" y="0"/>
                  </a:moveTo>
                  <a:lnTo>
                    <a:pt x="29971" y="0"/>
                  </a:lnTo>
                  <a:lnTo>
                    <a:pt x="18323" y="2361"/>
                  </a:lnTo>
                  <a:lnTo>
                    <a:pt x="8794" y="8794"/>
                  </a:lnTo>
                  <a:lnTo>
                    <a:pt x="2361" y="18323"/>
                  </a:lnTo>
                  <a:lnTo>
                    <a:pt x="0" y="29972"/>
                  </a:lnTo>
                  <a:lnTo>
                    <a:pt x="0" y="443484"/>
                  </a:lnTo>
                  <a:lnTo>
                    <a:pt x="2361" y="455185"/>
                  </a:lnTo>
                  <a:lnTo>
                    <a:pt x="8794" y="464708"/>
                  </a:lnTo>
                  <a:lnTo>
                    <a:pt x="18323" y="471112"/>
                  </a:lnTo>
                  <a:lnTo>
                    <a:pt x="29971" y="473456"/>
                  </a:lnTo>
                  <a:lnTo>
                    <a:pt x="7852790" y="473456"/>
                  </a:lnTo>
                  <a:lnTo>
                    <a:pt x="7864492" y="471112"/>
                  </a:lnTo>
                  <a:lnTo>
                    <a:pt x="7874015" y="464708"/>
                  </a:lnTo>
                  <a:lnTo>
                    <a:pt x="7880419" y="455185"/>
                  </a:lnTo>
                  <a:lnTo>
                    <a:pt x="7882762" y="443484"/>
                  </a:lnTo>
                  <a:lnTo>
                    <a:pt x="7882762" y="29972"/>
                  </a:lnTo>
                  <a:lnTo>
                    <a:pt x="7880419" y="18323"/>
                  </a:lnTo>
                  <a:lnTo>
                    <a:pt x="7874015" y="8794"/>
                  </a:lnTo>
                  <a:lnTo>
                    <a:pt x="7864492" y="2361"/>
                  </a:lnTo>
                  <a:lnTo>
                    <a:pt x="7852790" y="0"/>
                  </a:lnTo>
                  <a:close/>
                </a:path>
              </a:pathLst>
            </a:custGeom>
            <a:solidFill>
              <a:srgbClr val="F1F1F1">
                <a:alpha val="100000"/>
              </a:srgbClr>
            </a:solidFill>
            <a:ln w="9525">
              <a:noFill/>
            </a:ln>
          </p:spPr>
          <p:txBody>
            <a:bodyPr/>
            <a:p>
              <a:endParaRPr lang="en-US"/>
            </a:p>
          </p:txBody>
        </p:sp>
        <p:sp>
          <p:nvSpPr>
            <p:cNvPr id="30736" name="object 14"/>
            <p:cNvSpPr/>
            <p:nvPr/>
          </p:nvSpPr>
          <p:spPr>
            <a:xfrm>
              <a:off x="2034667" y="3007867"/>
              <a:ext cx="7882890" cy="473709"/>
            </a:xfrm>
            <a:custGeom>
              <a:avLst/>
              <a:gdLst/>
              <a:ahLst/>
              <a:cxnLst/>
              <a:pathLst>
                <a:path w="7882890" h="473710">
                  <a:moveTo>
                    <a:pt x="0" y="29972"/>
                  </a:moveTo>
                  <a:lnTo>
                    <a:pt x="2361" y="18323"/>
                  </a:lnTo>
                  <a:lnTo>
                    <a:pt x="8794" y="8794"/>
                  </a:lnTo>
                  <a:lnTo>
                    <a:pt x="18323" y="2361"/>
                  </a:lnTo>
                  <a:lnTo>
                    <a:pt x="29971" y="0"/>
                  </a:lnTo>
                  <a:lnTo>
                    <a:pt x="7852790" y="0"/>
                  </a:lnTo>
                  <a:lnTo>
                    <a:pt x="7864492" y="2361"/>
                  </a:lnTo>
                  <a:lnTo>
                    <a:pt x="7874015" y="8794"/>
                  </a:lnTo>
                  <a:lnTo>
                    <a:pt x="7880419" y="18323"/>
                  </a:lnTo>
                  <a:lnTo>
                    <a:pt x="7882762" y="29972"/>
                  </a:lnTo>
                  <a:lnTo>
                    <a:pt x="7882762" y="443484"/>
                  </a:lnTo>
                  <a:lnTo>
                    <a:pt x="7880419" y="455185"/>
                  </a:lnTo>
                  <a:lnTo>
                    <a:pt x="7874015" y="464708"/>
                  </a:lnTo>
                  <a:lnTo>
                    <a:pt x="7864492" y="471112"/>
                  </a:lnTo>
                  <a:lnTo>
                    <a:pt x="7852790" y="473456"/>
                  </a:lnTo>
                  <a:lnTo>
                    <a:pt x="29971" y="473456"/>
                  </a:lnTo>
                  <a:lnTo>
                    <a:pt x="18323" y="471112"/>
                  </a:lnTo>
                  <a:lnTo>
                    <a:pt x="8794" y="464708"/>
                  </a:lnTo>
                  <a:lnTo>
                    <a:pt x="2361" y="455185"/>
                  </a:lnTo>
                  <a:lnTo>
                    <a:pt x="0" y="443484"/>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5" name="object 15"/>
          <p:cNvSpPr txBox="1"/>
          <p:nvPr/>
        </p:nvSpPr>
        <p:spPr>
          <a:xfrm>
            <a:off x="1754188" y="2036763"/>
            <a:ext cx="3021013" cy="1352550"/>
          </a:xfrm>
          <a:prstGeom prst="rect">
            <a:avLst/>
          </a:prstGeom>
        </p:spPr>
        <p:txBody>
          <a:bodyPr vert="horz" wrap="square" lIns="0" tIns="12700" rIns="0" bIns="0" rtlCol="0">
            <a:spAutoFit/>
          </a:bodyPr>
          <a:lstStyle/>
          <a:p>
            <a:pPr marL="379730" marR="0" indent="-351155" defTabSz="914400" eaLnBrk="1" fontAlgn="auto" hangingPunct="1">
              <a:spcBef>
                <a:spcPts val="100"/>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Terminal</a:t>
            </a:r>
            <a:r>
              <a:rPr kumimoji="0" kern="0" cap="none" spc="-11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Illness</a:t>
            </a:r>
            <a:r>
              <a:rPr kumimoji="0" kern="0" cap="none" spc="-114" normalizeH="0" baseline="0" noProof="0" dirty="0">
                <a:solidFill>
                  <a:sysClr val="windowText" lastClr="000000"/>
                </a:solidFill>
                <a:latin typeface="Tahoma" panose="020B0604030504040204"/>
                <a:cs typeface="Tahoma" panose="020B0604030504040204"/>
              </a:rPr>
              <a:t> </a:t>
            </a:r>
            <a:r>
              <a:rPr kumimoji="0" kern="0" cap="none" spc="-20" normalizeH="0" baseline="0" noProof="0" dirty="0">
                <a:solidFill>
                  <a:sysClr val="windowText" lastClr="000000"/>
                </a:solidFill>
                <a:latin typeface="Tahoma" panose="020B0604030504040204"/>
                <a:cs typeface="Tahoma" panose="020B0604030504040204"/>
              </a:rPr>
              <a:t>Form</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35"/>
              </a:spcBef>
              <a:spcAft>
                <a:spcPts val="0"/>
              </a:spcAft>
              <a:buClrTx/>
              <a:buSzTx/>
              <a:buFont typeface="Arial" panose="020B0604020202020204"/>
              <a:buAutoNum type="arabicPlain"/>
              <a:defRPr/>
            </a:pPr>
            <a:endParaRPr kumimoji="0" sz="1600" kern="0" cap="none" spc="0" normalizeH="0" baseline="0" noProof="0">
              <a:solidFill>
                <a:sysClr val="windowText" lastClr="000000"/>
              </a:solidFill>
              <a:latin typeface="Tahoma" panose="020B0604030504040204"/>
              <a:cs typeface="Tahoma" panose="020B0604030504040204"/>
            </a:endParaRPr>
          </a:p>
          <a:p>
            <a:pPr marL="379730" marR="0" indent="-367665" defTabSz="914400" eaLnBrk="1" fontAlgn="auto" hangingPunct="1">
              <a:spcBef>
                <a:spcPts val="0"/>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Employer</a:t>
            </a:r>
            <a:r>
              <a:rPr kumimoji="0" kern="0" cap="none" spc="-9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Statement</a:t>
            </a:r>
            <a:r>
              <a:rPr kumimoji="0" kern="0" cap="none" spc="-110" normalizeH="0" baseline="0" noProof="0" dirty="0">
                <a:solidFill>
                  <a:sysClr val="windowText" lastClr="000000"/>
                </a:solidFill>
                <a:latin typeface="Tahoma" panose="020B0604030504040204"/>
                <a:cs typeface="Tahoma" panose="020B0604030504040204"/>
              </a:rPr>
              <a:t> </a:t>
            </a:r>
            <a:r>
              <a:rPr kumimoji="0" kern="0" cap="none" spc="-20" normalizeH="0" baseline="0" noProof="0" dirty="0">
                <a:solidFill>
                  <a:sysClr val="windowText" lastClr="000000"/>
                </a:solidFill>
                <a:latin typeface="Tahoma" panose="020B0604030504040204"/>
                <a:cs typeface="Tahoma" panose="020B0604030504040204"/>
              </a:rPr>
              <a:t>Form</a:t>
            </a:r>
            <a:endParaRPr kumimoji="0" kern="0" cap="none" spc="0" normalizeH="0" baseline="0" noProof="0">
              <a:solidFill>
                <a:sysClr val="windowText" lastClr="000000"/>
              </a:solidFill>
              <a:latin typeface="Tahoma" panose="020B0604030504040204"/>
              <a:cs typeface="Tahoma" panose="020B0604030504040204"/>
            </a:endParaRPr>
          </a:p>
          <a:p>
            <a:pPr marR="0" defTabSz="914400" eaLnBrk="1" fontAlgn="auto" hangingPunct="1">
              <a:spcBef>
                <a:spcPts val="5"/>
              </a:spcBef>
              <a:spcAft>
                <a:spcPts val="0"/>
              </a:spcAft>
              <a:buClrTx/>
              <a:buSzTx/>
              <a:buFont typeface="Arial" panose="020B0604020202020204"/>
              <a:buAutoNum type="arabicPlain"/>
              <a:defRPr/>
            </a:pPr>
            <a:endParaRPr kumimoji="0" sz="1650" kern="0" cap="none" spc="0" normalizeH="0" baseline="0" noProof="0">
              <a:solidFill>
                <a:sysClr val="windowText" lastClr="000000"/>
              </a:solidFill>
              <a:latin typeface="Tahoma" panose="020B0604030504040204"/>
              <a:cs typeface="Tahoma" panose="020B0604030504040204"/>
            </a:endParaRPr>
          </a:p>
          <a:p>
            <a:pPr marL="379730" marR="0" indent="-367665" defTabSz="914400" eaLnBrk="1" fontAlgn="auto" hangingPunct="1">
              <a:spcBef>
                <a:spcPts val="5"/>
              </a:spcBef>
              <a:spcAft>
                <a:spcPts val="0"/>
              </a:spcAft>
              <a:buClrTx/>
              <a:buSzTx/>
              <a:buFont typeface="Arial" panose="020B0604020202020204"/>
              <a:buAutoNum type="arabicPlain"/>
              <a:tabLst>
                <a:tab pos="379730" algn="l"/>
                <a:tab pos="380365" algn="l"/>
              </a:tabLst>
              <a:defRPr/>
            </a:pPr>
            <a:r>
              <a:rPr kumimoji="0" kern="0" cap="none" spc="0" normalizeH="0" baseline="0" noProof="0" dirty="0">
                <a:solidFill>
                  <a:sysClr val="windowText" lastClr="000000"/>
                </a:solidFill>
                <a:latin typeface="Tahoma" panose="020B0604030504040204"/>
                <a:cs typeface="Tahoma" panose="020B0604030504040204"/>
              </a:rPr>
              <a:t>Medical</a:t>
            </a:r>
            <a:r>
              <a:rPr kumimoji="0" kern="0" cap="none" spc="105" normalizeH="0" baseline="0" noProof="0" dirty="0">
                <a:solidFill>
                  <a:sysClr val="windowText" lastClr="000000"/>
                </a:solidFill>
                <a:latin typeface="Tahoma" panose="020B0604030504040204"/>
                <a:cs typeface="Tahoma" panose="020B0604030504040204"/>
              </a:rPr>
              <a:t> </a:t>
            </a:r>
            <a:r>
              <a:rPr kumimoji="0" kern="0" cap="none" spc="-10" normalizeH="0" baseline="0" noProof="0" dirty="0">
                <a:solidFill>
                  <a:sysClr val="windowText" lastClr="000000"/>
                </a:solidFill>
                <a:latin typeface="Tahoma" panose="020B0604030504040204"/>
                <a:cs typeface="Tahoma" panose="020B0604030504040204"/>
              </a:rPr>
              <a:t>Records</a:t>
            </a:r>
            <a:endParaRPr kumimoji="0" kern="0" cap="none" spc="0" normalizeH="0" baseline="0" noProof="0">
              <a:solidFill>
                <a:sysClr val="windowText" lastClr="000000"/>
              </a:solidFill>
              <a:latin typeface="Tahoma" panose="020B0604030504040204"/>
              <a:cs typeface="Tahoma" panose="020B0604030504040204"/>
            </a:endParaRPr>
          </a:p>
        </p:txBody>
      </p:sp>
      <p:grpSp>
        <p:nvGrpSpPr>
          <p:cNvPr id="30728" name="object 16"/>
          <p:cNvGrpSpPr/>
          <p:nvPr/>
        </p:nvGrpSpPr>
        <p:grpSpPr>
          <a:xfrm>
            <a:off x="2033588" y="3532188"/>
            <a:ext cx="7885112" cy="477837"/>
            <a:chOff x="2033079" y="3532822"/>
            <a:chExt cx="7886065" cy="476884"/>
          </a:xfrm>
        </p:grpSpPr>
        <p:sp>
          <p:nvSpPr>
            <p:cNvPr id="30733" name="object 17"/>
            <p:cNvSpPr/>
            <p:nvPr/>
          </p:nvSpPr>
          <p:spPr>
            <a:xfrm>
              <a:off x="2034667" y="3534409"/>
              <a:ext cx="7882890" cy="473709"/>
            </a:xfrm>
            <a:custGeom>
              <a:avLst/>
              <a:gdLst/>
              <a:ahLst/>
              <a:cxnLst/>
              <a:pathLst>
                <a:path w="7882890" h="473710">
                  <a:moveTo>
                    <a:pt x="7852790" y="0"/>
                  </a:moveTo>
                  <a:lnTo>
                    <a:pt x="29971" y="0"/>
                  </a:lnTo>
                  <a:lnTo>
                    <a:pt x="18323" y="2343"/>
                  </a:lnTo>
                  <a:lnTo>
                    <a:pt x="8794" y="8747"/>
                  </a:lnTo>
                  <a:lnTo>
                    <a:pt x="2361" y="18270"/>
                  </a:lnTo>
                  <a:lnTo>
                    <a:pt x="0" y="29972"/>
                  </a:lnTo>
                  <a:lnTo>
                    <a:pt x="0" y="443483"/>
                  </a:lnTo>
                  <a:lnTo>
                    <a:pt x="2361" y="455132"/>
                  </a:lnTo>
                  <a:lnTo>
                    <a:pt x="8794" y="464661"/>
                  </a:lnTo>
                  <a:lnTo>
                    <a:pt x="18323" y="471094"/>
                  </a:lnTo>
                  <a:lnTo>
                    <a:pt x="29971" y="473456"/>
                  </a:lnTo>
                  <a:lnTo>
                    <a:pt x="7852790" y="473456"/>
                  </a:lnTo>
                  <a:lnTo>
                    <a:pt x="7864492" y="471094"/>
                  </a:lnTo>
                  <a:lnTo>
                    <a:pt x="7874015" y="464661"/>
                  </a:lnTo>
                  <a:lnTo>
                    <a:pt x="7880419" y="455132"/>
                  </a:lnTo>
                  <a:lnTo>
                    <a:pt x="7882762" y="443483"/>
                  </a:lnTo>
                  <a:lnTo>
                    <a:pt x="7882762" y="29972"/>
                  </a:lnTo>
                  <a:lnTo>
                    <a:pt x="7880419" y="18270"/>
                  </a:lnTo>
                  <a:lnTo>
                    <a:pt x="7874015" y="8747"/>
                  </a:lnTo>
                  <a:lnTo>
                    <a:pt x="7864492" y="2343"/>
                  </a:lnTo>
                  <a:lnTo>
                    <a:pt x="7852790" y="0"/>
                  </a:lnTo>
                  <a:close/>
                </a:path>
              </a:pathLst>
            </a:custGeom>
            <a:solidFill>
              <a:srgbClr val="F1F1F1">
                <a:alpha val="100000"/>
              </a:srgbClr>
            </a:solidFill>
            <a:ln w="9525">
              <a:noFill/>
            </a:ln>
          </p:spPr>
          <p:txBody>
            <a:bodyPr/>
            <a:p>
              <a:endParaRPr lang="en-US"/>
            </a:p>
          </p:txBody>
        </p:sp>
        <p:sp>
          <p:nvSpPr>
            <p:cNvPr id="30734" name="object 18"/>
            <p:cNvSpPr/>
            <p:nvPr/>
          </p:nvSpPr>
          <p:spPr>
            <a:xfrm>
              <a:off x="2034667" y="3534409"/>
              <a:ext cx="7882890" cy="473709"/>
            </a:xfrm>
            <a:custGeom>
              <a:avLst/>
              <a:gdLst/>
              <a:ahLst/>
              <a:cxnLst/>
              <a:pathLst>
                <a:path w="7882890" h="473710">
                  <a:moveTo>
                    <a:pt x="0" y="29972"/>
                  </a:moveTo>
                  <a:lnTo>
                    <a:pt x="2361" y="18270"/>
                  </a:lnTo>
                  <a:lnTo>
                    <a:pt x="8794" y="8747"/>
                  </a:lnTo>
                  <a:lnTo>
                    <a:pt x="18323" y="2343"/>
                  </a:lnTo>
                  <a:lnTo>
                    <a:pt x="29971" y="0"/>
                  </a:lnTo>
                  <a:lnTo>
                    <a:pt x="7852790" y="0"/>
                  </a:lnTo>
                  <a:lnTo>
                    <a:pt x="7864492" y="2343"/>
                  </a:lnTo>
                  <a:lnTo>
                    <a:pt x="7874015" y="8747"/>
                  </a:lnTo>
                  <a:lnTo>
                    <a:pt x="7880419" y="18270"/>
                  </a:lnTo>
                  <a:lnTo>
                    <a:pt x="7882762" y="29972"/>
                  </a:lnTo>
                  <a:lnTo>
                    <a:pt x="7882762" y="443483"/>
                  </a:lnTo>
                  <a:lnTo>
                    <a:pt x="7880419" y="455132"/>
                  </a:lnTo>
                  <a:lnTo>
                    <a:pt x="7874015" y="464661"/>
                  </a:lnTo>
                  <a:lnTo>
                    <a:pt x="7864492" y="471094"/>
                  </a:lnTo>
                  <a:lnTo>
                    <a:pt x="7852790" y="473456"/>
                  </a:lnTo>
                  <a:lnTo>
                    <a:pt x="29971" y="473456"/>
                  </a:lnTo>
                  <a:lnTo>
                    <a:pt x="18323" y="471094"/>
                  </a:lnTo>
                  <a:lnTo>
                    <a:pt x="8794" y="464661"/>
                  </a:lnTo>
                  <a:lnTo>
                    <a:pt x="2361" y="455132"/>
                  </a:lnTo>
                  <a:lnTo>
                    <a:pt x="0" y="443483"/>
                  </a:lnTo>
                  <a:lnTo>
                    <a:pt x="0" y="29972"/>
                  </a:lnTo>
                  <a:close/>
                </a:path>
              </a:pathLst>
            </a:custGeom>
            <a:noFill/>
            <a:ln w="3175" cap="flat" cmpd="sng">
              <a:solidFill>
                <a:srgbClr val="D9D9D9">
                  <a:alpha val="100000"/>
                </a:srgbClr>
              </a:solidFill>
              <a:prstDash val="solid"/>
              <a:headEnd type="none" w="med" len="med"/>
              <a:tailEnd type="none" w="med" len="med"/>
            </a:ln>
          </p:spPr>
          <p:txBody>
            <a:bodyPr/>
            <a:p>
              <a:endParaRPr lang="en-US"/>
            </a:p>
          </p:txBody>
        </p:sp>
      </p:grpSp>
      <p:sp>
        <p:nvSpPr>
          <p:cNvPr id="19" name="object 19"/>
          <p:cNvSpPr txBox="1"/>
          <p:nvPr/>
        </p:nvSpPr>
        <p:spPr>
          <a:xfrm>
            <a:off x="2122488" y="3614738"/>
            <a:ext cx="4537075" cy="30003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kern="0" cap="none" spc="0" normalizeH="0" baseline="0" noProof="0" dirty="0">
                <a:solidFill>
                  <a:sysClr val="windowText" lastClr="000000"/>
                </a:solidFill>
                <a:latin typeface="Tahoma" panose="020B0604030504040204"/>
                <a:cs typeface="Tahoma" panose="020B0604030504040204"/>
              </a:rPr>
              <a:t>Photocopy</a:t>
            </a:r>
            <a:r>
              <a:rPr kumimoji="0" kern="0" cap="none" spc="-20"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of</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35" normalizeH="0" baseline="0" noProof="0" dirty="0">
                <a:solidFill>
                  <a:sysClr val="windowText" lastClr="000000"/>
                </a:solidFill>
                <a:latin typeface="Tahoma" panose="020B0604030504040204"/>
                <a:cs typeface="Tahoma" panose="020B0604030504040204"/>
              </a:rPr>
              <a:t>two</a:t>
            </a:r>
            <a:r>
              <a:rPr kumimoji="0" kern="0" cap="none" spc="-15" normalizeH="0" baseline="0" noProof="0" dirty="0">
                <a:solidFill>
                  <a:sysClr val="windowText" lastClr="000000"/>
                </a:solidFill>
                <a:latin typeface="Tahoma" panose="020B0604030504040204"/>
                <a:cs typeface="Tahoma" panose="020B0604030504040204"/>
              </a:rPr>
              <a:t> </a:t>
            </a:r>
            <a:r>
              <a:rPr kumimoji="0" kern="0" cap="none" spc="0" normalizeH="0" baseline="0" noProof="0" dirty="0">
                <a:solidFill>
                  <a:sysClr val="windowText" lastClr="000000"/>
                </a:solidFill>
                <a:latin typeface="Tahoma" panose="020B0604030504040204"/>
                <a:cs typeface="Tahoma" panose="020B0604030504040204"/>
              </a:rPr>
              <a:t>valid</a:t>
            </a:r>
            <a:r>
              <a:rPr kumimoji="0" kern="0" cap="none" spc="-25" normalizeH="0" baseline="0" noProof="0" dirty="0">
                <a:solidFill>
                  <a:sysClr val="windowText" lastClr="000000"/>
                </a:solidFill>
                <a:latin typeface="Tahoma" panose="020B0604030504040204"/>
                <a:cs typeface="Tahoma" panose="020B0604030504040204"/>
              </a:rPr>
              <a:t> </a:t>
            </a:r>
            <a:r>
              <a:rPr kumimoji="0" kern="0" cap="none" spc="-40" normalizeH="0" baseline="0" noProof="0" dirty="0">
                <a:solidFill>
                  <a:sysClr val="windowText" lastClr="000000"/>
                </a:solidFill>
                <a:latin typeface="Tahoma" panose="020B0604030504040204"/>
                <a:cs typeface="Tahoma" panose="020B0604030504040204"/>
              </a:rPr>
              <a:t>government-</a:t>
            </a:r>
            <a:r>
              <a:rPr kumimoji="0" kern="0" cap="none" spc="0" normalizeH="0" baseline="0" noProof="0" dirty="0">
                <a:solidFill>
                  <a:sysClr val="windowText" lastClr="000000"/>
                </a:solidFill>
                <a:latin typeface="Tahoma" panose="020B0604030504040204"/>
                <a:cs typeface="Tahoma" panose="020B0604030504040204"/>
              </a:rPr>
              <a:t>issued</a:t>
            </a:r>
            <a:r>
              <a:rPr kumimoji="0" kern="0" cap="none" spc="-40" normalizeH="0" baseline="0" noProof="0" dirty="0">
                <a:solidFill>
                  <a:sysClr val="windowText" lastClr="000000"/>
                </a:solidFill>
                <a:latin typeface="Tahoma" panose="020B0604030504040204"/>
                <a:cs typeface="Tahoma" panose="020B0604030504040204"/>
              </a:rPr>
              <a:t> </a:t>
            </a:r>
            <a:r>
              <a:rPr kumimoji="0" kern="0" cap="none" spc="-25" normalizeH="0" baseline="0" noProof="0" dirty="0">
                <a:solidFill>
                  <a:sysClr val="windowText" lastClr="000000"/>
                </a:solidFill>
                <a:latin typeface="Tahoma" panose="020B0604030504040204"/>
                <a:cs typeface="Tahoma" panose="020B0604030504040204"/>
              </a:rPr>
              <a:t>ID</a:t>
            </a:r>
            <a:endParaRPr kumimoji="0" kern="0" cap="none" spc="0" normalizeH="0" baseline="0" noProof="0">
              <a:solidFill>
                <a:sysClr val="windowText" lastClr="000000"/>
              </a:solidFill>
              <a:latin typeface="Tahoma" panose="020B0604030504040204"/>
              <a:cs typeface="Tahoma" panose="020B0604030504040204"/>
            </a:endParaRPr>
          </a:p>
        </p:txBody>
      </p:sp>
      <p:sp>
        <p:nvSpPr>
          <p:cNvPr id="22" name="object 22"/>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
        <p:nvSpPr>
          <p:cNvPr id="20" name="object 20"/>
          <p:cNvSpPr txBox="1"/>
          <p:nvPr/>
        </p:nvSpPr>
        <p:spPr>
          <a:xfrm>
            <a:off x="1754188" y="3641725"/>
            <a:ext cx="168275" cy="298450"/>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b="1" kern="0" cap="none" spc="114" normalizeH="0" baseline="0" noProof="0" dirty="0">
                <a:solidFill>
                  <a:sysClr val="windowText" lastClr="000000"/>
                </a:solidFill>
                <a:latin typeface="Arial" panose="020B0604020202020204"/>
                <a:cs typeface="Arial" panose="020B0604020202020204"/>
              </a:rPr>
              <a:t>4</a:t>
            </a:r>
            <a:endParaRPr kumimoji="0" kern="0" cap="none" spc="0" normalizeH="0" baseline="0" noProof="0">
              <a:solidFill>
                <a:sysClr val="windowText" lastClr="000000"/>
              </a:solidFill>
              <a:latin typeface="Arial" panose="020B0604020202020204"/>
              <a:cs typeface="Arial" panose="020B0604020202020204"/>
            </a:endParaRPr>
          </a:p>
        </p:txBody>
      </p:sp>
      <p:sp>
        <p:nvSpPr>
          <p:cNvPr id="21" name="object 21"/>
          <p:cNvSpPr txBox="1"/>
          <p:nvPr/>
        </p:nvSpPr>
        <p:spPr>
          <a:xfrm>
            <a:off x="2114550" y="4160838"/>
            <a:ext cx="8467725" cy="465138"/>
          </a:xfrm>
          <a:prstGeom prst="rect">
            <a:avLst/>
          </a:prstGeom>
        </p:spPr>
        <p:txBody>
          <a:bodyPr vert="horz" wrap="square" lIns="0" tIns="16510" rIns="0" bIns="0" rtlCol="0">
            <a:spAutoFit/>
          </a:bodyPr>
          <a:lstStyle/>
          <a:p>
            <a:pPr marL="12700" marR="0" defTabSz="914400" eaLnBrk="1" fontAlgn="auto" hangingPunct="1">
              <a:lnSpc>
                <a:spcPts val="1710"/>
              </a:lnSpc>
              <a:spcBef>
                <a:spcPts val="130"/>
              </a:spcBef>
              <a:spcAft>
                <a:spcPts val="0"/>
              </a:spcAft>
              <a:buClrTx/>
              <a:buSzTx/>
              <a:buFontTx/>
              <a:buNone/>
              <a:defRPr/>
            </a:pPr>
            <a:r>
              <a:rPr kumimoji="0" sz="1450" b="1" i="1" kern="0" cap="none" spc="-10" normalizeH="0" baseline="0" noProof="0" dirty="0">
                <a:solidFill>
                  <a:srgbClr val="FF0000"/>
                </a:solidFill>
                <a:latin typeface="Arial" panose="020B0604020202020204"/>
                <a:cs typeface="Arial" panose="020B0604020202020204"/>
              </a:rPr>
              <a:t>Note:</a:t>
            </a:r>
            <a:endParaRPr kumimoji="0" sz="1450" kern="0" cap="none" spc="0" normalizeH="0" baseline="0" noProof="0">
              <a:solidFill>
                <a:sysClr val="windowText" lastClr="000000"/>
              </a:solidFill>
              <a:latin typeface="Arial" panose="020B0604020202020204"/>
              <a:cs typeface="Arial" panose="020B0604020202020204"/>
            </a:endParaRPr>
          </a:p>
          <a:p>
            <a:pPr marL="12700" marR="0" defTabSz="914400" eaLnBrk="1" fontAlgn="auto" hangingPunct="1">
              <a:lnSpc>
                <a:spcPts val="1710"/>
              </a:lnSpc>
              <a:spcBef>
                <a:spcPts val="0"/>
              </a:spcBef>
              <a:spcAft>
                <a:spcPts val="0"/>
              </a:spcAft>
              <a:buClrTx/>
              <a:buSzTx/>
              <a:buFontTx/>
              <a:buNone/>
              <a:defRPr/>
            </a:pPr>
            <a:r>
              <a:rPr kumimoji="0" sz="1450" i="1" kern="0" cap="none" spc="-25" normalizeH="0" baseline="0" noProof="0" dirty="0">
                <a:solidFill>
                  <a:srgbClr val="FF0000"/>
                </a:solidFill>
                <a:latin typeface="Arial" panose="020B0604020202020204"/>
                <a:cs typeface="Arial" panose="020B0604020202020204"/>
              </a:rPr>
              <a:t>Additional</a:t>
            </a:r>
            <a:r>
              <a:rPr kumimoji="0" sz="1450" i="1" kern="0" cap="none" spc="-80" normalizeH="0" baseline="0" noProof="0" dirty="0">
                <a:solidFill>
                  <a:srgbClr val="FF0000"/>
                </a:solidFill>
                <a:latin typeface="Arial" panose="020B0604020202020204"/>
                <a:cs typeface="Arial" panose="020B0604020202020204"/>
              </a:rPr>
              <a:t> </a:t>
            </a:r>
            <a:r>
              <a:rPr kumimoji="0" sz="1450" i="1" kern="0" cap="none" spc="-35" normalizeH="0" baseline="0" noProof="0" dirty="0">
                <a:solidFill>
                  <a:srgbClr val="FF0000"/>
                </a:solidFill>
                <a:latin typeface="Arial" panose="020B0604020202020204"/>
                <a:cs typeface="Arial" panose="020B0604020202020204"/>
              </a:rPr>
              <a:t>documents</a:t>
            </a:r>
            <a:r>
              <a:rPr kumimoji="0" sz="1450" i="1" kern="0" cap="none" spc="-60" normalizeH="0" baseline="0" noProof="0" dirty="0">
                <a:solidFill>
                  <a:srgbClr val="FF0000"/>
                </a:solidFill>
                <a:latin typeface="Arial" panose="020B0604020202020204"/>
                <a:cs typeface="Arial" panose="020B0604020202020204"/>
              </a:rPr>
              <a:t> </a:t>
            </a:r>
            <a:r>
              <a:rPr kumimoji="0" sz="1450" i="1" kern="0" cap="none" spc="-45" normalizeH="0" baseline="0" noProof="0" dirty="0">
                <a:solidFill>
                  <a:srgbClr val="FF0000"/>
                </a:solidFill>
                <a:latin typeface="Arial" panose="020B0604020202020204"/>
                <a:cs typeface="Arial" panose="020B0604020202020204"/>
              </a:rPr>
              <a:t>may</a:t>
            </a:r>
            <a:r>
              <a:rPr kumimoji="0" sz="1450" i="1" kern="0" cap="none" spc="-30" normalizeH="0" baseline="0" noProof="0" dirty="0">
                <a:solidFill>
                  <a:srgbClr val="FF0000"/>
                </a:solidFill>
                <a:latin typeface="Arial" panose="020B0604020202020204"/>
                <a:cs typeface="Arial" panose="020B0604020202020204"/>
              </a:rPr>
              <a:t> </a:t>
            </a:r>
            <a:r>
              <a:rPr kumimoji="0" sz="1450" i="1" kern="0" cap="none" spc="-55" normalizeH="0" baseline="0" noProof="0" dirty="0">
                <a:solidFill>
                  <a:srgbClr val="FF0000"/>
                </a:solidFill>
                <a:latin typeface="Arial" panose="020B0604020202020204"/>
                <a:cs typeface="Arial" panose="020B0604020202020204"/>
              </a:rPr>
              <a:t>be</a:t>
            </a:r>
            <a:r>
              <a:rPr kumimoji="0" sz="1450" i="1" kern="0" cap="none" spc="-45" normalizeH="0" baseline="0" noProof="0" dirty="0">
                <a:solidFill>
                  <a:srgbClr val="FF0000"/>
                </a:solidFill>
                <a:latin typeface="Arial" panose="020B0604020202020204"/>
                <a:cs typeface="Arial" panose="020B0604020202020204"/>
              </a:rPr>
              <a:t> </a:t>
            </a:r>
            <a:r>
              <a:rPr kumimoji="0" sz="1450" i="1" kern="0" cap="none" spc="-25" normalizeH="0" baseline="0" noProof="0" dirty="0">
                <a:solidFill>
                  <a:srgbClr val="FF0000"/>
                </a:solidFill>
                <a:latin typeface="Arial" panose="020B0604020202020204"/>
                <a:cs typeface="Arial" panose="020B0604020202020204"/>
              </a:rPr>
              <a:t>required</a:t>
            </a:r>
            <a:r>
              <a:rPr kumimoji="0" sz="1450" i="1" kern="0" cap="none" spc="-6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in</a:t>
            </a:r>
            <a:r>
              <a:rPr kumimoji="0" sz="1450" i="1" kern="0" cap="none" spc="-40" normalizeH="0" baseline="0" noProof="0" dirty="0">
                <a:solidFill>
                  <a:srgbClr val="FF0000"/>
                </a:solidFill>
                <a:latin typeface="Arial" panose="020B0604020202020204"/>
                <a:cs typeface="Arial" panose="020B0604020202020204"/>
              </a:rPr>
              <a:t> </a:t>
            </a:r>
            <a:r>
              <a:rPr kumimoji="0" sz="1450" i="1" kern="0" cap="none" spc="-75" normalizeH="0" baseline="0" noProof="0" dirty="0">
                <a:solidFill>
                  <a:srgbClr val="FF0000"/>
                </a:solidFill>
                <a:latin typeface="Arial" panose="020B0604020202020204"/>
                <a:cs typeface="Arial" panose="020B0604020202020204"/>
              </a:rPr>
              <a:t>view</a:t>
            </a:r>
            <a:r>
              <a:rPr kumimoji="0" sz="1450" i="1" kern="0" cap="none" spc="-3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of</a:t>
            </a:r>
            <a:r>
              <a:rPr kumimoji="0" sz="1450" i="1" kern="0" cap="none" spc="-15"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certain</a:t>
            </a:r>
            <a:r>
              <a:rPr kumimoji="0" sz="1450" i="1" kern="0" cap="none" spc="-50"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information</a:t>
            </a:r>
            <a:r>
              <a:rPr kumimoji="0" sz="1450" i="1" kern="0" cap="none" spc="-45" normalizeH="0" baseline="0" noProof="0" dirty="0">
                <a:solidFill>
                  <a:srgbClr val="FF0000"/>
                </a:solidFill>
                <a:latin typeface="Arial" panose="020B0604020202020204"/>
                <a:cs typeface="Arial" panose="020B0604020202020204"/>
              </a:rPr>
              <a:t> </a:t>
            </a:r>
            <a:r>
              <a:rPr kumimoji="0" sz="1450" i="1" kern="0" cap="none" spc="-50" normalizeH="0" baseline="0" noProof="0" dirty="0">
                <a:solidFill>
                  <a:srgbClr val="FF0000"/>
                </a:solidFill>
                <a:latin typeface="Arial" panose="020B0604020202020204"/>
                <a:cs typeface="Arial" panose="020B0604020202020204"/>
              </a:rPr>
              <a:t>revealed </a:t>
            </a:r>
            <a:r>
              <a:rPr kumimoji="0" sz="1450" i="1" kern="0" cap="none" spc="-10" normalizeH="0" baseline="0" noProof="0" dirty="0">
                <a:solidFill>
                  <a:srgbClr val="FF0000"/>
                </a:solidFill>
                <a:latin typeface="Arial" panose="020B0604020202020204"/>
                <a:cs typeface="Arial" panose="020B0604020202020204"/>
              </a:rPr>
              <a:t>during</a:t>
            </a:r>
            <a:r>
              <a:rPr kumimoji="0" sz="1450" i="1" kern="0" cap="none" spc="-60"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the</a:t>
            </a:r>
            <a:r>
              <a:rPr kumimoji="0" sz="1450" i="1" kern="0" cap="none" spc="-25" normalizeH="0" baseline="0" noProof="0" dirty="0">
                <a:solidFill>
                  <a:srgbClr val="FF0000"/>
                </a:solidFill>
                <a:latin typeface="Arial" panose="020B0604020202020204"/>
                <a:cs typeface="Arial" panose="020B0604020202020204"/>
              </a:rPr>
              <a:t> </a:t>
            </a:r>
            <a:r>
              <a:rPr kumimoji="0" sz="1450" i="1" kern="0" cap="none" spc="-65" normalizeH="0" baseline="0" noProof="0" dirty="0">
                <a:solidFill>
                  <a:srgbClr val="FF0000"/>
                </a:solidFill>
                <a:latin typeface="Arial" panose="020B0604020202020204"/>
                <a:cs typeface="Arial" panose="020B0604020202020204"/>
              </a:rPr>
              <a:t>review</a:t>
            </a:r>
            <a:r>
              <a:rPr kumimoji="0" sz="1450" i="1" kern="0" cap="none" spc="-4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of</a:t>
            </a:r>
            <a:r>
              <a:rPr kumimoji="0" sz="1450" i="1" kern="0" cap="none" spc="-25" normalizeH="0" baseline="0" noProof="0" dirty="0">
                <a:solidFill>
                  <a:srgbClr val="FF0000"/>
                </a:solidFill>
                <a:latin typeface="Arial" panose="020B0604020202020204"/>
                <a:cs typeface="Arial" panose="020B0604020202020204"/>
              </a:rPr>
              <a:t> </a:t>
            </a:r>
            <a:r>
              <a:rPr kumimoji="0" sz="1450" i="1" kern="0" cap="none" spc="0" normalizeH="0" baseline="0" noProof="0" dirty="0">
                <a:solidFill>
                  <a:srgbClr val="FF0000"/>
                </a:solidFill>
                <a:latin typeface="Arial" panose="020B0604020202020204"/>
                <a:cs typeface="Arial" panose="020B0604020202020204"/>
              </a:rPr>
              <a:t>the</a:t>
            </a:r>
            <a:r>
              <a:rPr kumimoji="0" sz="1450" i="1" kern="0" cap="none" spc="-30" normalizeH="0" baseline="0" noProof="0" dirty="0">
                <a:solidFill>
                  <a:srgbClr val="FF0000"/>
                </a:solidFill>
                <a:latin typeface="Arial" panose="020B0604020202020204"/>
                <a:cs typeface="Arial" panose="020B0604020202020204"/>
              </a:rPr>
              <a:t> </a:t>
            </a:r>
            <a:r>
              <a:rPr kumimoji="0" sz="1450" i="1" kern="0" cap="none" spc="-10" normalizeH="0" baseline="0" noProof="0" dirty="0">
                <a:solidFill>
                  <a:srgbClr val="FF0000"/>
                </a:solidFill>
                <a:latin typeface="Arial" panose="020B0604020202020204"/>
                <a:cs typeface="Arial" panose="020B0604020202020204"/>
              </a:rPr>
              <a:t>claim.</a:t>
            </a:r>
            <a:endParaRPr kumimoji="0" sz="1450" kern="0" cap="none" spc="0" normalizeH="0" baseline="0" noProof="0">
              <a:solidFill>
                <a:sysClr val="windowText" lastClr="000000"/>
              </a:solidFill>
              <a:latin typeface="Arial" panose="020B0604020202020204"/>
              <a:cs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p:nvPr/>
        </p:nvSpPr>
        <p:spPr>
          <a:xfrm>
            <a:off x="4633913" y="2679700"/>
            <a:ext cx="3459163" cy="787400"/>
          </a:xfrm>
          <a:prstGeom prst="rect">
            <a:avLst/>
          </a:prstGeom>
        </p:spPr>
        <p:txBody>
          <a:bodyPr vert="horz" wrap="square" lIns="0" tIns="12065" rIns="0" bIns="0" rtlCol="0">
            <a:spAutoFit/>
          </a:bodyPr>
          <a:lstStyle/>
          <a:p>
            <a:pPr marL="12700" marR="0" defTabSz="914400" eaLnBrk="1" fontAlgn="auto" hangingPunct="1">
              <a:spcBef>
                <a:spcPts val="95"/>
              </a:spcBef>
              <a:spcAft>
                <a:spcPts val="0"/>
              </a:spcAft>
              <a:buClrTx/>
              <a:buSzTx/>
              <a:buFontTx/>
              <a:buNone/>
              <a:defRPr/>
            </a:pPr>
            <a:r>
              <a:rPr kumimoji="0" sz="2500" kern="0" cap="none" spc="0" normalizeH="0" baseline="0" noProof="0" dirty="0">
                <a:solidFill>
                  <a:sysClr val="windowText" lastClr="000000"/>
                </a:solidFill>
                <a:latin typeface="Tahoma" panose="020B0604030504040204"/>
                <a:cs typeface="Tahoma" panose="020B0604030504040204"/>
              </a:rPr>
              <a:t>Manulife</a:t>
            </a:r>
            <a:r>
              <a:rPr kumimoji="0" sz="2500" kern="0" cap="none" spc="25" normalizeH="0" baseline="0" noProof="0" dirty="0">
                <a:solidFill>
                  <a:sysClr val="windowText" lastClr="000000"/>
                </a:solidFill>
                <a:latin typeface="Tahoma" panose="020B0604030504040204"/>
                <a:cs typeface="Tahoma" panose="020B0604030504040204"/>
              </a:rPr>
              <a:t> </a:t>
            </a:r>
            <a:r>
              <a:rPr kumimoji="0" sz="2500" kern="0" cap="none" spc="-10" normalizeH="0" baseline="0" noProof="0" dirty="0">
                <a:solidFill>
                  <a:sysClr val="windowText" lastClr="000000"/>
                </a:solidFill>
                <a:latin typeface="Tahoma" panose="020B0604030504040204"/>
                <a:cs typeface="Tahoma" panose="020B0604030504040204"/>
              </a:rPr>
              <a:t>website</a:t>
            </a:r>
            <a:endParaRPr kumimoji="0" sz="2500" kern="0" cap="none" spc="0" normalizeH="0" baseline="0" noProof="0">
              <a:solidFill>
                <a:sysClr val="windowText" lastClr="000000"/>
              </a:solidFill>
              <a:latin typeface="Tahoma" panose="020B0604030504040204"/>
              <a:cs typeface="Tahoma" panose="020B0604030504040204"/>
            </a:endParaRPr>
          </a:p>
          <a:p>
            <a:pPr marL="12700" marR="0" defTabSz="914400" eaLnBrk="1" fontAlgn="auto" hangingPunct="1">
              <a:spcBef>
                <a:spcPts val="0"/>
              </a:spcBef>
              <a:spcAft>
                <a:spcPts val="0"/>
              </a:spcAft>
              <a:buClrTx/>
              <a:buSzTx/>
              <a:buFontTx/>
              <a:buNone/>
              <a:defRPr/>
            </a:pPr>
            <a:r>
              <a:rPr kumimoji="0" sz="2500" b="1" kern="0" cap="none" spc="-10" normalizeH="0" baseline="0" noProof="0" dirty="0">
                <a:solidFill>
                  <a:srgbClr val="00A757"/>
                </a:solidFill>
                <a:latin typeface="Arial" panose="020B0604020202020204"/>
                <a:cs typeface="Arial" panose="020B0604020202020204"/>
                <a:hlinkClick r:id="rId1"/>
              </a:rPr>
              <a:t>www.manulife.com.ph</a:t>
            </a:r>
            <a:endParaRPr kumimoji="0" sz="2500" kern="0" cap="none" spc="0" normalizeH="0" baseline="0" noProof="0">
              <a:solidFill>
                <a:sysClr val="windowText" lastClr="000000"/>
              </a:solidFill>
              <a:latin typeface="Arial" panose="020B0604020202020204"/>
              <a:cs typeface="Arial" panose="020B0604020202020204"/>
            </a:endParaRPr>
          </a:p>
        </p:txBody>
      </p:sp>
      <p:sp>
        <p:nvSpPr>
          <p:cNvPr id="3" name="object 3"/>
          <p:cNvSpPr txBox="1">
            <a:spLocks noGrp="1"/>
          </p:cNvSpPr>
          <p:nvPr>
            <p:ph type="ctrTitle"/>
          </p:nvPr>
        </p:nvSpPr>
        <p:spPr>
          <a:xfrm>
            <a:off x="314325" y="96838"/>
            <a:ext cx="3697288" cy="573088"/>
          </a:xfrm>
        </p:spPr>
        <p:txBody>
          <a:bodyPr vert="horz" wrap="square" lIns="0" tIns="255346" rIns="0" bIns="0" rtlCol="0">
            <a:spAutoFit/>
          </a:bodyPr>
          <a:lstStyle/>
          <a:p>
            <a:pPr marL="53340" marR="0" lvl="0" indent="0" defTabSz="914400" eaLnBrk="1" fontAlgn="auto" latinLnBrk="0" hangingPunct="1">
              <a:lnSpc>
                <a:spcPct val="100000"/>
              </a:lnSpc>
              <a:spcBef>
                <a:spcPts val="105"/>
              </a:spcBef>
              <a:spcAft>
                <a:spcPts val="0"/>
              </a:spcAft>
              <a:buClrTx/>
              <a:buSzTx/>
              <a:buFontTx/>
              <a:buNone/>
              <a:defRPr/>
            </a:pPr>
            <a:r>
              <a:rPr kumimoji="0" sz="2000" b="1" i="0" u="none" strike="noStrike" kern="0" cap="none" spc="0" normalizeH="0" baseline="0" noProof="0" dirty="0">
                <a:ln>
                  <a:noFill/>
                </a:ln>
                <a:solidFill>
                  <a:srgbClr val="7E7E7E"/>
                </a:solidFill>
                <a:effectLst/>
                <a:uLnTx/>
                <a:uFillTx/>
                <a:latin typeface="Arial" panose="020B0604020202020204"/>
                <a:ea typeface="+mj-ea"/>
                <a:cs typeface="Arial" panose="020B0604020202020204"/>
              </a:rPr>
              <a:t>Group </a:t>
            </a:r>
            <a:r>
              <a:rPr kumimoji="0" sz="2000" b="1" i="0" u="none" strike="noStrike" kern="0" cap="none" spc="50" normalizeH="0" baseline="0" noProof="0" dirty="0">
                <a:ln>
                  <a:noFill/>
                </a:ln>
                <a:solidFill>
                  <a:srgbClr val="7E7E7E"/>
                </a:solidFill>
                <a:effectLst/>
                <a:uLnTx/>
                <a:uFillTx/>
                <a:latin typeface="Arial" panose="020B0604020202020204"/>
                <a:ea typeface="+mj-ea"/>
                <a:cs typeface="Arial" panose="020B0604020202020204"/>
              </a:rPr>
              <a:t>Life</a:t>
            </a:r>
            <a:r>
              <a:rPr kumimoji="0" sz="2000" b="1" i="0" u="none" strike="noStrike" kern="0" cap="none" spc="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45" normalizeH="0" baseline="0" noProof="0" dirty="0">
                <a:ln>
                  <a:noFill/>
                </a:ln>
                <a:solidFill>
                  <a:srgbClr val="7E7E7E"/>
                </a:solidFill>
                <a:effectLst/>
                <a:uLnTx/>
                <a:uFillTx/>
                <a:latin typeface="Arial" panose="020B0604020202020204"/>
                <a:ea typeface="+mj-ea"/>
                <a:cs typeface="Arial" panose="020B0604020202020204"/>
              </a:rPr>
              <a:t>Insurance</a:t>
            </a:r>
            <a:r>
              <a:rPr kumimoji="0" sz="2000" b="1" i="0" u="none" strike="noStrike" kern="0" cap="none" spc="35" normalizeH="0" baseline="0" noProof="0" dirty="0">
                <a:ln>
                  <a:noFill/>
                </a:ln>
                <a:solidFill>
                  <a:srgbClr val="7E7E7E"/>
                </a:solidFill>
                <a:effectLst/>
                <a:uLnTx/>
                <a:uFillTx/>
                <a:latin typeface="Arial" panose="020B0604020202020204"/>
                <a:ea typeface="+mj-ea"/>
                <a:cs typeface="Arial" panose="020B0604020202020204"/>
              </a:rPr>
              <a:t> </a:t>
            </a:r>
            <a:r>
              <a:rPr kumimoji="0" sz="2000" b="1" i="0" u="none" strike="noStrike" kern="0" cap="none" spc="45" normalizeH="0" baseline="0" noProof="0" dirty="0">
                <a:ln>
                  <a:noFill/>
                </a:ln>
                <a:solidFill>
                  <a:srgbClr val="7E7E7E"/>
                </a:solidFill>
                <a:effectLst/>
                <a:uLnTx/>
                <a:uFillTx/>
                <a:latin typeface="Arial" panose="020B0604020202020204"/>
                <a:ea typeface="+mj-ea"/>
                <a:cs typeface="Arial" panose="020B0604020202020204"/>
              </a:rPr>
              <a:t>Benefit</a:t>
            </a:r>
            <a:endParaRPr kumimoji="0" sz="2000" b="1" i="0" u="none" strike="noStrike" kern="0" cap="none" spc="45" normalizeH="0" baseline="0" noProof="0" dirty="0">
              <a:ln>
                <a:noFill/>
              </a:ln>
              <a:solidFill>
                <a:srgbClr val="7E7E7E"/>
              </a:solidFill>
              <a:effectLst/>
              <a:uLnTx/>
              <a:uFillTx/>
              <a:latin typeface="Arial" panose="020B0604020202020204"/>
              <a:ea typeface="+mj-ea"/>
              <a:cs typeface="Arial" panose="020B0604020202020204"/>
            </a:endParaRPr>
          </a:p>
        </p:txBody>
      </p:sp>
      <p:sp>
        <p:nvSpPr>
          <p:cNvPr id="31748" name="object 4"/>
          <p:cNvSpPr/>
          <p:nvPr/>
        </p:nvSpPr>
        <p:spPr>
          <a:xfrm>
            <a:off x="2339975" y="2541588"/>
            <a:ext cx="1328738" cy="898525"/>
          </a:xfrm>
          <a:custGeom>
            <a:avLst/>
            <a:gdLst/>
            <a:ahLst/>
            <a:cxnLst/>
            <a:pathLst>
              <a:path w="1327785" h="899160">
                <a:moveTo>
                  <a:pt x="937209" y="449326"/>
                </a:moveTo>
                <a:lnTo>
                  <a:pt x="935456" y="429793"/>
                </a:lnTo>
                <a:lnTo>
                  <a:pt x="932802" y="400164"/>
                </a:lnTo>
                <a:lnTo>
                  <a:pt x="920102" y="353898"/>
                </a:lnTo>
                <a:lnTo>
                  <a:pt x="899883" y="311289"/>
                </a:lnTo>
                <a:lnTo>
                  <a:pt x="892886" y="301383"/>
                </a:lnTo>
                <a:lnTo>
                  <a:pt x="892886" y="429793"/>
                </a:lnTo>
                <a:lnTo>
                  <a:pt x="892886" y="468858"/>
                </a:lnTo>
                <a:lnTo>
                  <a:pt x="883348" y="517766"/>
                </a:lnTo>
                <a:lnTo>
                  <a:pt x="864031" y="562483"/>
                </a:lnTo>
                <a:lnTo>
                  <a:pt x="836041" y="601764"/>
                </a:lnTo>
                <a:lnTo>
                  <a:pt x="800481" y="634339"/>
                </a:lnTo>
                <a:lnTo>
                  <a:pt x="758469" y="658964"/>
                </a:lnTo>
                <a:lnTo>
                  <a:pt x="711111" y="674382"/>
                </a:lnTo>
                <a:lnTo>
                  <a:pt x="735342" y="646836"/>
                </a:lnTo>
                <a:lnTo>
                  <a:pt x="742035" y="639229"/>
                </a:lnTo>
                <a:lnTo>
                  <a:pt x="767892" y="600557"/>
                </a:lnTo>
                <a:lnTo>
                  <a:pt x="788390" y="558914"/>
                </a:lnTo>
                <a:lnTo>
                  <a:pt x="803262" y="514832"/>
                </a:lnTo>
                <a:lnTo>
                  <a:pt x="812241" y="468858"/>
                </a:lnTo>
                <a:lnTo>
                  <a:pt x="892886" y="468858"/>
                </a:lnTo>
                <a:lnTo>
                  <a:pt x="892886" y="429793"/>
                </a:lnTo>
                <a:lnTo>
                  <a:pt x="812241" y="429793"/>
                </a:lnTo>
                <a:lnTo>
                  <a:pt x="803249" y="383946"/>
                </a:lnTo>
                <a:lnTo>
                  <a:pt x="788441" y="339953"/>
                </a:lnTo>
                <a:lnTo>
                  <a:pt x="772998" y="308432"/>
                </a:lnTo>
                <a:lnTo>
                  <a:pt x="772998" y="429793"/>
                </a:lnTo>
                <a:lnTo>
                  <a:pt x="772998" y="468858"/>
                </a:lnTo>
                <a:lnTo>
                  <a:pt x="761415" y="518363"/>
                </a:lnTo>
                <a:lnTo>
                  <a:pt x="742365" y="564997"/>
                </a:lnTo>
                <a:lnTo>
                  <a:pt x="716203" y="608126"/>
                </a:lnTo>
                <a:lnTo>
                  <a:pt x="683387" y="646836"/>
                </a:lnTo>
                <a:lnTo>
                  <a:pt x="683387" y="644690"/>
                </a:lnTo>
                <a:lnTo>
                  <a:pt x="683387" y="468858"/>
                </a:lnTo>
                <a:lnTo>
                  <a:pt x="772998" y="468858"/>
                </a:lnTo>
                <a:lnTo>
                  <a:pt x="772998" y="429793"/>
                </a:lnTo>
                <a:lnTo>
                  <a:pt x="683387" y="429793"/>
                </a:lnTo>
                <a:lnTo>
                  <a:pt x="683387" y="253974"/>
                </a:lnTo>
                <a:lnTo>
                  <a:pt x="683387" y="251625"/>
                </a:lnTo>
                <a:lnTo>
                  <a:pt x="716229" y="290372"/>
                </a:lnTo>
                <a:lnTo>
                  <a:pt x="742403" y="333552"/>
                </a:lnTo>
                <a:lnTo>
                  <a:pt x="761479" y="380352"/>
                </a:lnTo>
                <a:lnTo>
                  <a:pt x="772998" y="429793"/>
                </a:lnTo>
                <a:lnTo>
                  <a:pt x="772998" y="308432"/>
                </a:lnTo>
                <a:lnTo>
                  <a:pt x="768057" y="298348"/>
                </a:lnTo>
                <a:lnTo>
                  <a:pt x="742391" y="259676"/>
                </a:lnTo>
                <a:lnTo>
                  <a:pt x="735368" y="251625"/>
                </a:lnTo>
                <a:lnTo>
                  <a:pt x="711695" y="224472"/>
                </a:lnTo>
                <a:lnTo>
                  <a:pt x="758901" y="239966"/>
                </a:lnTo>
                <a:lnTo>
                  <a:pt x="800773" y="264604"/>
                </a:lnTo>
                <a:lnTo>
                  <a:pt x="836218" y="297167"/>
                </a:lnTo>
                <a:lnTo>
                  <a:pt x="864108" y="336372"/>
                </a:lnTo>
                <a:lnTo>
                  <a:pt x="883373" y="381000"/>
                </a:lnTo>
                <a:lnTo>
                  <a:pt x="892886" y="429793"/>
                </a:lnTo>
                <a:lnTo>
                  <a:pt x="892886" y="301383"/>
                </a:lnTo>
                <a:lnTo>
                  <a:pt x="872921" y="273113"/>
                </a:lnTo>
                <a:lnTo>
                  <a:pt x="839965" y="240157"/>
                </a:lnTo>
                <a:lnTo>
                  <a:pt x="817803" y="224472"/>
                </a:lnTo>
                <a:lnTo>
                  <a:pt x="816698" y="223685"/>
                </a:lnTo>
                <a:lnTo>
                  <a:pt x="801814" y="213169"/>
                </a:lnTo>
                <a:lnTo>
                  <a:pt x="759231" y="192938"/>
                </a:lnTo>
                <a:lnTo>
                  <a:pt x="712990" y="180238"/>
                </a:lnTo>
                <a:lnTo>
                  <a:pt x="663854" y="175831"/>
                </a:lnTo>
                <a:lnTo>
                  <a:pt x="644334" y="177584"/>
                </a:lnTo>
                <a:lnTo>
                  <a:pt x="644334" y="253974"/>
                </a:lnTo>
                <a:lnTo>
                  <a:pt x="644334" y="429793"/>
                </a:lnTo>
                <a:lnTo>
                  <a:pt x="644334" y="468858"/>
                </a:lnTo>
                <a:lnTo>
                  <a:pt x="644334" y="644690"/>
                </a:lnTo>
                <a:lnTo>
                  <a:pt x="620115" y="615429"/>
                </a:lnTo>
                <a:lnTo>
                  <a:pt x="620115" y="675157"/>
                </a:lnTo>
                <a:lnTo>
                  <a:pt x="571969" y="660184"/>
                </a:lnTo>
                <a:lnTo>
                  <a:pt x="529183" y="635723"/>
                </a:lnTo>
                <a:lnTo>
                  <a:pt x="492925" y="603084"/>
                </a:lnTo>
                <a:lnTo>
                  <a:pt x="464337" y="563524"/>
                </a:lnTo>
                <a:lnTo>
                  <a:pt x="444588" y="518363"/>
                </a:lnTo>
                <a:lnTo>
                  <a:pt x="434822" y="468858"/>
                </a:lnTo>
                <a:lnTo>
                  <a:pt x="518388" y="468858"/>
                </a:lnTo>
                <a:lnTo>
                  <a:pt x="527469" y="515010"/>
                </a:lnTo>
                <a:lnTo>
                  <a:pt x="542442" y="559257"/>
                </a:lnTo>
                <a:lnTo>
                  <a:pt x="563054" y="601065"/>
                </a:lnTo>
                <a:lnTo>
                  <a:pt x="589038" y="639889"/>
                </a:lnTo>
                <a:lnTo>
                  <a:pt x="620115" y="675157"/>
                </a:lnTo>
                <a:lnTo>
                  <a:pt x="620115" y="615429"/>
                </a:lnTo>
                <a:lnTo>
                  <a:pt x="612521" y="606247"/>
                </a:lnTo>
                <a:lnTo>
                  <a:pt x="587184" y="563524"/>
                </a:lnTo>
                <a:lnTo>
                  <a:pt x="568782" y="517525"/>
                </a:lnTo>
                <a:lnTo>
                  <a:pt x="557644" y="468858"/>
                </a:lnTo>
                <a:lnTo>
                  <a:pt x="644334" y="468858"/>
                </a:lnTo>
                <a:lnTo>
                  <a:pt x="644334" y="429793"/>
                </a:lnTo>
                <a:lnTo>
                  <a:pt x="557644" y="429793"/>
                </a:lnTo>
                <a:lnTo>
                  <a:pt x="568718" y="381127"/>
                </a:lnTo>
                <a:lnTo>
                  <a:pt x="587133" y="335051"/>
                </a:lnTo>
                <a:lnTo>
                  <a:pt x="612470" y="292392"/>
                </a:lnTo>
                <a:lnTo>
                  <a:pt x="644334" y="253974"/>
                </a:lnTo>
                <a:lnTo>
                  <a:pt x="644334" y="177584"/>
                </a:lnTo>
                <a:lnTo>
                  <a:pt x="619734" y="179793"/>
                </a:lnTo>
                <a:lnTo>
                  <a:pt x="619734" y="223685"/>
                </a:lnTo>
                <a:lnTo>
                  <a:pt x="588784" y="258978"/>
                </a:lnTo>
                <a:lnTo>
                  <a:pt x="562902" y="297776"/>
                </a:lnTo>
                <a:lnTo>
                  <a:pt x="542366" y="339547"/>
                </a:lnTo>
                <a:lnTo>
                  <a:pt x="527443" y="383730"/>
                </a:lnTo>
                <a:lnTo>
                  <a:pt x="518388" y="429793"/>
                </a:lnTo>
                <a:lnTo>
                  <a:pt x="434822" y="429793"/>
                </a:lnTo>
                <a:lnTo>
                  <a:pt x="444563" y="380314"/>
                </a:lnTo>
                <a:lnTo>
                  <a:pt x="464235" y="335241"/>
                </a:lnTo>
                <a:lnTo>
                  <a:pt x="492747" y="295732"/>
                </a:lnTo>
                <a:lnTo>
                  <a:pt x="528942" y="263105"/>
                </a:lnTo>
                <a:lnTo>
                  <a:pt x="571652" y="238671"/>
                </a:lnTo>
                <a:lnTo>
                  <a:pt x="619734" y="223685"/>
                </a:lnTo>
                <a:lnTo>
                  <a:pt x="619734" y="179793"/>
                </a:lnTo>
                <a:lnTo>
                  <a:pt x="568477" y="192938"/>
                </a:lnTo>
                <a:lnTo>
                  <a:pt x="525894" y="213169"/>
                </a:lnTo>
                <a:lnTo>
                  <a:pt x="487743" y="240157"/>
                </a:lnTo>
                <a:lnTo>
                  <a:pt x="454799" y="273113"/>
                </a:lnTo>
                <a:lnTo>
                  <a:pt x="427824" y="311289"/>
                </a:lnTo>
                <a:lnTo>
                  <a:pt x="407606" y="353898"/>
                </a:lnTo>
                <a:lnTo>
                  <a:pt x="394906" y="400164"/>
                </a:lnTo>
                <a:lnTo>
                  <a:pt x="390499" y="449326"/>
                </a:lnTo>
                <a:lnTo>
                  <a:pt x="394906" y="498487"/>
                </a:lnTo>
                <a:lnTo>
                  <a:pt x="407606" y="544753"/>
                </a:lnTo>
                <a:lnTo>
                  <a:pt x="427824" y="587362"/>
                </a:lnTo>
                <a:lnTo>
                  <a:pt x="454799" y="625538"/>
                </a:lnTo>
                <a:lnTo>
                  <a:pt x="487743" y="658507"/>
                </a:lnTo>
                <a:lnTo>
                  <a:pt x="525894" y="685482"/>
                </a:lnTo>
                <a:lnTo>
                  <a:pt x="568477" y="705713"/>
                </a:lnTo>
                <a:lnTo>
                  <a:pt x="614718" y="718426"/>
                </a:lnTo>
                <a:lnTo>
                  <a:pt x="663854" y="722833"/>
                </a:lnTo>
                <a:lnTo>
                  <a:pt x="712990" y="718426"/>
                </a:lnTo>
                <a:lnTo>
                  <a:pt x="759231" y="705713"/>
                </a:lnTo>
                <a:lnTo>
                  <a:pt x="801814" y="685482"/>
                </a:lnTo>
                <a:lnTo>
                  <a:pt x="816419" y="675157"/>
                </a:lnTo>
                <a:lnTo>
                  <a:pt x="817524" y="674382"/>
                </a:lnTo>
                <a:lnTo>
                  <a:pt x="872921" y="625538"/>
                </a:lnTo>
                <a:lnTo>
                  <a:pt x="899883" y="587362"/>
                </a:lnTo>
                <a:lnTo>
                  <a:pt x="920102" y="544753"/>
                </a:lnTo>
                <a:lnTo>
                  <a:pt x="932802" y="498487"/>
                </a:lnTo>
                <a:lnTo>
                  <a:pt x="935456" y="468858"/>
                </a:lnTo>
                <a:lnTo>
                  <a:pt x="937209" y="449326"/>
                </a:lnTo>
                <a:close/>
              </a:path>
              <a:path w="1327785" h="899160">
                <a:moveTo>
                  <a:pt x="1327708" y="78143"/>
                </a:moveTo>
                <a:lnTo>
                  <a:pt x="1321574" y="47726"/>
                </a:lnTo>
                <a:lnTo>
                  <a:pt x="1304836" y="22885"/>
                </a:lnTo>
                <a:lnTo>
                  <a:pt x="1280007" y="6146"/>
                </a:lnTo>
                <a:lnTo>
                  <a:pt x="1249603" y="0"/>
                </a:lnTo>
                <a:lnTo>
                  <a:pt x="1210564" y="0"/>
                </a:lnTo>
                <a:lnTo>
                  <a:pt x="1210564" y="117221"/>
                </a:lnTo>
                <a:lnTo>
                  <a:pt x="1210564" y="781443"/>
                </a:lnTo>
                <a:lnTo>
                  <a:pt x="117157" y="781443"/>
                </a:lnTo>
                <a:lnTo>
                  <a:pt x="117157" y="117221"/>
                </a:lnTo>
                <a:lnTo>
                  <a:pt x="1210564" y="117221"/>
                </a:lnTo>
                <a:lnTo>
                  <a:pt x="1210564" y="0"/>
                </a:lnTo>
                <a:lnTo>
                  <a:pt x="78105" y="0"/>
                </a:lnTo>
                <a:lnTo>
                  <a:pt x="47701" y="6146"/>
                </a:lnTo>
                <a:lnTo>
                  <a:pt x="22872" y="22885"/>
                </a:lnTo>
                <a:lnTo>
                  <a:pt x="6134" y="47726"/>
                </a:lnTo>
                <a:lnTo>
                  <a:pt x="0" y="78143"/>
                </a:lnTo>
                <a:lnTo>
                  <a:pt x="0" y="898652"/>
                </a:lnTo>
                <a:lnTo>
                  <a:pt x="1327708" y="898652"/>
                </a:lnTo>
                <a:lnTo>
                  <a:pt x="1327708" y="781443"/>
                </a:lnTo>
                <a:lnTo>
                  <a:pt x="1327708" y="117221"/>
                </a:lnTo>
                <a:lnTo>
                  <a:pt x="1327708" y="78143"/>
                </a:lnTo>
                <a:close/>
              </a:path>
            </a:pathLst>
          </a:custGeom>
          <a:solidFill>
            <a:srgbClr val="000000">
              <a:alpha val="100000"/>
            </a:srgbClr>
          </a:solidFill>
          <a:ln w="9525">
            <a:noFill/>
          </a:ln>
        </p:spPr>
        <p:txBody>
          <a:bodyPr/>
          <a:p>
            <a:endParaRPr lang="en-US"/>
          </a:p>
        </p:txBody>
      </p:sp>
      <p:sp>
        <p:nvSpPr>
          <p:cNvPr id="31749" name="object 5"/>
          <p:cNvSpPr/>
          <p:nvPr/>
        </p:nvSpPr>
        <p:spPr>
          <a:xfrm>
            <a:off x="2106613" y="3517900"/>
            <a:ext cx="1797050" cy="117475"/>
          </a:xfrm>
          <a:custGeom>
            <a:avLst/>
            <a:gdLst/>
            <a:ahLst/>
            <a:cxnLst/>
            <a:pathLst>
              <a:path w="1796414" h="117475">
                <a:moveTo>
                  <a:pt x="1796309" y="0"/>
                </a:moveTo>
                <a:lnTo>
                  <a:pt x="1015305" y="0"/>
                </a:lnTo>
                <a:lnTo>
                  <a:pt x="1014338" y="26766"/>
                </a:lnTo>
                <a:lnTo>
                  <a:pt x="1005240" y="37161"/>
                </a:lnTo>
                <a:lnTo>
                  <a:pt x="995780" y="39071"/>
                </a:lnTo>
                <a:lnTo>
                  <a:pt x="793302" y="38103"/>
                </a:lnTo>
                <a:lnTo>
                  <a:pt x="782913" y="29000"/>
                </a:lnTo>
                <a:lnTo>
                  <a:pt x="781004" y="0"/>
                </a:lnTo>
                <a:lnTo>
                  <a:pt x="0" y="0"/>
                </a:lnTo>
                <a:lnTo>
                  <a:pt x="0" y="39071"/>
                </a:lnTo>
                <a:lnTo>
                  <a:pt x="22874" y="94327"/>
                </a:lnTo>
                <a:lnTo>
                  <a:pt x="78100" y="117215"/>
                </a:lnTo>
                <a:lnTo>
                  <a:pt x="1718209" y="117215"/>
                </a:lnTo>
                <a:lnTo>
                  <a:pt x="1748603" y="111074"/>
                </a:lnTo>
                <a:lnTo>
                  <a:pt x="1773428" y="94327"/>
                </a:lnTo>
                <a:lnTo>
                  <a:pt x="1790170" y="69489"/>
                </a:lnTo>
                <a:lnTo>
                  <a:pt x="1796309" y="39071"/>
                </a:lnTo>
                <a:lnTo>
                  <a:pt x="1796309" y="0"/>
                </a:lnTo>
                <a:close/>
              </a:path>
            </a:pathLst>
          </a:custGeom>
          <a:solidFill>
            <a:srgbClr val="000000">
              <a:alpha val="100000"/>
            </a:srgbClr>
          </a:solidFill>
          <a:ln w="9525">
            <a:noFill/>
          </a:ln>
        </p:spPr>
        <p:txBody>
          <a:bodyPr/>
          <a:p>
            <a:endParaRPr lang="en-US"/>
          </a:p>
        </p:txBody>
      </p:sp>
      <p:sp>
        <p:nvSpPr>
          <p:cNvPr id="6" name="object 6"/>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2865438" y="1895475"/>
            <a:ext cx="6459538" cy="877888"/>
          </a:xfrm>
        </p:spPr>
        <p:txBody>
          <a:bodyPr vert="horz" wrap="square" lIns="0" tIns="12065" rIns="0" bIns="0" rtlCol="0">
            <a:spAutoFit/>
          </a:bodyPr>
          <a:lstStyle/>
          <a:p>
            <a:pPr marL="2540" marR="0" lvl="0" indent="0" algn="ctr" defTabSz="914400" eaLnBrk="1" fontAlgn="auto" latinLnBrk="0" hangingPunct="1">
              <a:lnSpc>
                <a:spcPct val="100000"/>
              </a:lnSpc>
              <a:spcBef>
                <a:spcPts val="95"/>
              </a:spcBef>
              <a:spcAft>
                <a:spcPts val="0"/>
              </a:spcAft>
              <a:buClrTx/>
              <a:buSzTx/>
              <a:buFontTx/>
              <a:buNone/>
              <a:defRPr/>
            </a:pPr>
            <a:r>
              <a:rPr kumimoji="0" sz="2800" b="1" i="0" u="none" strike="noStrike" kern="0" cap="none" spc="-10" normalizeH="0" baseline="0" noProof="0" dirty="0">
                <a:ln>
                  <a:noFill/>
                </a:ln>
                <a:solidFill>
                  <a:srgbClr val="000000"/>
                </a:solidFill>
                <a:effectLst/>
                <a:uLnTx/>
                <a:uFillTx/>
                <a:latin typeface="Arial" panose="020B0604020202020204"/>
                <a:ea typeface="+mj-ea"/>
                <a:cs typeface="Arial" panose="020B0604020202020204"/>
              </a:rPr>
              <a:t>QUESTIONS</a:t>
            </a:r>
            <a:r>
              <a:rPr kumimoji="0" sz="2800" b="1" i="0" u="none" strike="noStrike" kern="0" cap="none" spc="-180" normalizeH="0" baseline="0" noProof="0" dirty="0">
                <a:ln>
                  <a:noFill/>
                </a:ln>
                <a:solidFill>
                  <a:srgbClr val="000000"/>
                </a:solidFill>
                <a:effectLst/>
                <a:uLnTx/>
                <a:uFillTx/>
                <a:latin typeface="Arial" panose="020B0604020202020204"/>
                <a:ea typeface="+mj-ea"/>
                <a:cs typeface="Arial" panose="020B0604020202020204"/>
              </a:rPr>
              <a:t> </a:t>
            </a:r>
            <a:r>
              <a:rPr kumimoji="0" sz="2800" b="0" i="0" u="none" strike="noStrike" kern="0" cap="none" spc="-10" normalizeH="0" baseline="0" noProof="0" dirty="0">
                <a:ln>
                  <a:noFill/>
                </a:ln>
                <a:solidFill>
                  <a:srgbClr val="000000"/>
                </a:solidFill>
                <a:effectLst/>
                <a:uLnTx/>
                <a:uFillTx/>
                <a:latin typeface="Tahoma" panose="020B0604030504040204"/>
                <a:ea typeface="+mj-ea"/>
                <a:cs typeface="Tahoma" panose="020B0604030504040204"/>
              </a:rPr>
              <a:t>about</a:t>
            </a:r>
            <a:endParaRPr kumimoji="0" sz="2800" b="1" i="0" u="none" strike="noStrike" kern="0" cap="none" spc="0" normalizeH="0" baseline="0" noProof="0">
              <a:ln>
                <a:noFill/>
              </a:ln>
              <a:solidFill>
                <a:schemeClr val="bg1"/>
              </a:solidFill>
              <a:effectLst/>
              <a:uLnTx/>
              <a:uFillTx/>
              <a:latin typeface="Tahoma" panose="020B0604030504040204"/>
              <a:ea typeface="+mj-ea"/>
              <a:cs typeface="Tahoma" panose="020B060403050404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sz="2800" b="1" i="0" u="none" strike="noStrike" kern="0" cap="none" spc="-55" normalizeH="0" baseline="0" noProof="0" dirty="0">
                <a:ln>
                  <a:noFill/>
                </a:ln>
                <a:solidFill>
                  <a:srgbClr val="00A757"/>
                </a:solidFill>
                <a:effectLst/>
                <a:uLnTx/>
                <a:uFillTx/>
                <a:latin typeface="Arial" panose="020B0604020202020204"/>
                <a:ea typeface="+mj-ea"/>
                <a:cs typeface="Arial" panose="020B0604020202020204"/>
              </a:rPr>
              <a:t>GROUP</a:t>
            </a:r>
            <a:r>
              <a:rPr kumimoji="0" sz="2800" b="1" i="0" u="none" strike="noStrike" kern="0" cap="none" spc="65" normalizeH="0" baseline="0" noProof="0" dirty="0">
                <a:ln>
                  <a:noFill/>
                </a:ln>
                <a:solidFill>
                  <a:srgbClr val="00A757"/>
                </a:solidFill>
                <a:effectLst/>
                <a:uLnTx/>
                <a:uFillTx/>
                <a:latin typeface="Arial" panose="020B0604020202020204"/>
                <a:ea typeface="+mj-ea"/>
                <a:cs typeface="Arial" panose="020B0604020202020204"/>
              </a:rPr>
              <a:t> </a:t>
            </a:r>
            <a:r>
              <a:rPr kumimoji="0" sz="2800" b="1" i="0" u="none" strike="noStrike" kern="0" cap="none" spc="0" normalizeH="0" baseline="0" noProof="0" dirty="0">
                <a:ln>
                  <a:noFill/>
                </a:ln>
                <a:solidFill>
                  <a:srgbClr val="00A757"/>
                </a:solidFill>
                <a:effectLst/>
                <a:uLnTx/>
                <a:uFillTx/>
                <a:latin typeface="Arial" panose="020B0604020202020204"/>
                <a:ea typeface="+mj-ea"/>
                <a:cs typeface="Arial" panose="020B0604020202020204"/>
              </a:rPr>
              <a:t>LIFE</a:t>
            </a:r>
            <a:r>
              <a:rPr kumimoji="0" sz="2800" b="1" i="0" u="none" strike="noStrike" kern="0" cap="none" spc="65" normalizeH="0" baseline="0" noProof="0" dirty="0">
                <a:ln>
                  <a:noFill/>
                </a:ln>
                <a:solidFill>
                  <a:srgbClr val="00A757"/>
                </a:solidFill>
                <a:effectLst/>
                <a:uLnTx/>
                <a:uFillTx/>
                <a:latin typeface="Arial" panose="020B0604020202020204"/>
                <a:ea typeface="+mj-ea"/>
                <a:cs typeface="Arial" panose="020B0604020202020204"/>
              </a:rPr>
              <a:t> </a:t>
            </a:r>
            <a:r>
              <a:rPr kumimoji="0" sz="2800" b="1" i="0" u="none" strike="noStrike" kern="0" cap="none" spc="0" normalizeH="0" baseline="0" noProof="0" dirty="0">
                <a:ln>
                  <a:noFill/>
                </a:ln>
                <a:solidFill>
                  <a:srgbClr val="00A757"/>
                </a:solidFill>
                <a:effectLst/>
                <a:uLnTx/>
                <a:uFillTx/>
                <a:latin typeface="Arial" panose="020B0604020202020204"/>
                <a:ea typeface="+mj-ea"/>
                <a:cs typeface="Arial" panose="020B0604020202020204"/>
              </a:rPr>
              <a:t>INSURANCE</a:t>
            </a:r>
            <a:r>
              <a:rPr kumimoji="0" sz="2800" b="1" i="0" u="none" strike="noStrike" kern="0" cap="none" spc="75" normalizeH="0" baseline="0" noProof="0" dirty="0">
                <a:ln>
                  <a:noFill/>
                </a:ln>
                <a:solidFill>
                  <a:srgbClr val="00A757"/>
                </a:solidFill>
                <a:effectLst/>
                <a:uLnTx/>
                <a:uFillTx/>
                <a:latin typeface="Arial" panose="020B0604020202020204"/>
                <a:ea typeface="+mj-ea"/>
                <a:cs typeface="Arial" panose="020B0604020202020204"/>
              </a:rPr>
              <a:t> </a:t>
            </a:r>
            <a:r>
              <a:rPr kumimoji="0" sz="2800" b="1" i="0" u="none" strike="noStrike" kern="0" cap="none" spc="-10" normalizeH="0" baseline="0" noProof="0" dirty="0">
                <a:ln>
                  <a:noFill/>
                </a:ln>
                <a:solidFill>
                  <a:srgbClr val="00A757"/>
                </a:solidFill>
                <a:effectLst/>
                <a:uLnTx/>
                <a:uFillTx/>
                <a:latin typeface="Arial" panose="020B0604020202020204"/>
                <a:ea typeface="+mj-ea"/>
                <a:cs typeface="Arial" panose="020B0604020202020204"/>
              </a:rPr>
              <a:t>BENEFITS?</a:t>
            </a:r>
            <a:endParaRPr kumimoji="0" sz="2800" b="1" i="0" u="none" strike="noStrike" kern="0" cap="none" spc="0" normalizeH="0" baseline="0" noProof="0">
              <a:ln>
                <a:noFill/>
              </a:ln>
              <a:solidFill>
                <a:schemeClr val="bg1"/>
              </a:solidFill>
              <a:effectLst/>
              <a:uLnTx/>
              <a:uFillTx/>
              <a:latin typeface="Arial" panose="020B0604020202020204"/>
              <a:ea typeface="+mj-ea"/>
              <a:cs typeface="Arial" panose="020B0604020202020204"/>
            </a:endParaRPr>
          </a:p>
        </p:txBody>
      </p:sp>
      <p:pic>
        <p:nvPicPr>
          <p:cNvPr id="32771" name="object 3"/>
          <p:cNvPicPr>
            <a:picLocks noChangeAspect="1"/>
          </p:cNvPicPr>
          <p:nvPr/>
        </p:nvPicPr>
        <p:blipFill>
          <a:blip r:embed="rId1"/>
          <a:stretch>
            <a:fillRect/>
          </a:stretch>
        </p:blipFill>
        <p:spPr>
          <a:xfrm>
            <a:off x="5156200" y="2994025"/>
            <a:ext cx="1879600" cy="1879600"/>
          </a:xfrm>
          <a:prstGeom prst="rect">
            <a:avLst/>
          </a:prstGeom>
          <a:noFill/>
          <a:ln w="9525">
            <a:noFill/>
          </a:ln>
        </p:spPr>
      </p:pic>
      <p:sp>
        <p:nvSpPr>
          <p:cNvPr id="4" name="object 4"/>
          <p:cNvSpPr txBox="1"/>
          <p:nvPr/>
        </p:nvSpPr>
        <p:spPr>
          <a:xfrm>
            <a:off x="376238" y="109538"/>
            <a:ext cx="3656013" cy="331788"/>
          </a:xfrm>
          <a:prstGeom prst="rect">
            <a:avLst/>
          </a:prstGeom>
        </p:spPr>
        <p:txBody>
          <a:bodyPr vert="horz" wrap="square" lIns="0" tIns="12700" rIns="0" bIns="0" rtlCol="0">
            <a:spAutoFit/>
          </a:bodyPr>
          <a:lstStyle/>
          <a:p>
            <a:pPr marL="12700" marR="0" defTabSz="914400" eaLnBrk="1" fontAlgn="auto" hangingPunct="1">
              <a:spcBef>
                <a:spcPts val="100"/>
              </a:spcBef>
              <a:spcAft>
                <a:spcPts val="0"/>
              </a:spcAft>
              <a:buClrTx/>
              <a:buSzTx/>
              <a:buFontTx/>
              <a:buNone/>
              <a:defRPr/>
            </a:pPr>
            <a:r>
              <a:rPr kumimoji="0" sz="2000" b="1" kern="0" cap="none" spc="0" normalizeH="0" baseline="0" noProof="0" dirty="0">
                <a:solidFill>
                  <a:srgbClr val="7E7E7E"/>
                </a:solidFill>
                <a:latin typeface="Arial" panose="020B0604020202020204"/>
                <a:cs typeface="Arial" panose="020B0604020202020204"/>
              </a:rPr>
              <a:t>Group</a:t>
            </a:r>
            <a:r>
              <a:rPr kumimoji="0" sz="2000" b="1" kern="0" cap="none" spc="135" normalizeH="0" baseline="0" noProof="0" dirty="0">
                <a:solidFill>
                  <a:srgbClr val="7E7E7E"/>
                </a:solidFill>
                <a:latin typeface="Arial" panose="020B0604020202020204"/>
                <a:cs typeface="Arial" panose="020B0604020202020204"/>
              </a:rPr>
              <a:t> </a:t>
            </a:r>
            <a:r>
              <a:rPr kumimoji="0" sz="2000" b="1" kern="0" cap="none" spc="50" normalizeH="0" baseline="0" noProof="0" dirty="0">
                <a:solidFill>
                  <a:srgbClr val="7E7E7E"/>
                </a:solidFill>
                <a:latin typeface="Arial" panose="020B0604020202020204"/>
                <a:cs typeface="Arial" panose="020B0604020202020204"/>
              </a:rPr>
              <a:t>Life</a:t>
            </a:r>
            <a:r>
              <a:rPr kumimoji="0" sz="2000" b="1" kern="0" cap="none" spc="140" normalizeH="0" baseline="0" noProof="0" dirty="0">
                <a:solidFill>
                  <a:srgbClr val="7E7E7E"/>
                </a:solidFill>
                <a:latin typeface="Arial" panose="020B0604020202020204"/>
                <a:cs typeface="Arial" panose="020B0604020202020204"/>
              </a:rPr>
              <a:t> </a:t>
            </a:r>
            <a:r>
              <a:rPr kumimoji="0" sz="2000" b="1" kern="0" cap="none" spc="0" normalizeH="0" baseline="0" noProof="0" dirty="0">
                <a:solidFill>
                  <a:srgbClr val="7E7E7E"/>
                </a:solidFill>
                <a:latin typeface="Arial" panose="020B0604020202020204"/>
                <a:cs typeface="Arial" panose="020B0604020202020204"/>
              </a:rPr>
              <a:t>Insurance</a:t>
            </a:r>
            <a:r>
              <a:rPr kumimoji="0" sz="2000" b="1" kern="0" cap="none" spc="175" normalizeH="0" baseline="0" noProof="0" dirty="0">
                <a:solidFill>
                  <a:srgbClr val="7E7E7E"/>
                </a:solidFill>
                <a:latin typeface="Arial" panose="020B0604020202020204"/>
                <a:cs typeface="Arial" panose="020B0604020202020204"/>
              </a:rPr>
              <a:t> </a:t>
            </a:r>
            <a:r>
              <a:rPr kumimoji="0" sz="2000" b="1" kern="0" cap="none" spc="40" normalizeH="0" baseline="0" noProof="0" dirty="0">
                <a:solidFill>
                  <a:srgbClr val="7E7E7E"/>
                </a:solidFill>
                <a:latin typeface="Arial" panose="020B0604020202020204"/>
                <a:cs typeface="Arial" panose="020B0604020202020204"/>
              </a:rPr>
              <a:t>Benefit</a:t>
            </a:r>
            <a:endParaRPr kumimoji="0" sz="2000" kern="0" cap="none" spc="0" normalizeH="0" baseline="0" noProof="0">
              <a:solidFill>
                <a:sysClr val="windowText" lastClr="000000"/>
              </a:solidFill>
              <a:latin typeface="Arial" panose="020B0604020202020204"/>
              <a:cs typeface="Arial" panose="020B0604020202020204"/>
            </a:endParaRPr>
          </a:p>
        </p:txBody>
      </p:sp>
      <p:sp>
        <p:nvSpPr>
          <p:cNvPr id="5" name="object 5"/>
          <p:cNvSpPr txBox="1">
            <a:spLocks noGrp="1"/>
          </p:cNvSpPr>
          <p:nvPr>
            <p:ph type="ftr" sz="quarter" idx="10"/>
          </p:nvPr>
        </p:nvSpPr>
        <p:spPr>
          <a:noFill/>
        </p:spPr>
        <p:txBody>
          <a:bodyPr vert="horz" wrap="square" lIns="0" tIns="0" rIns="0" bIns="0" rtlCol="0">
            <a:spAutoFit/>
          </a:bodyPr>
          <a:lstStyle/>
          <a:p>
            <a:pPr marL="12700" marR="0" lvl="0" indent="0" defTabSz="914400" eaLnBrk="1" fontAlgn="auto" latinLnBrk="0" hangingPunct="1">
              <a:lnSpc>
                <a:spcPts val="865"/>
              </a:lnSpc>
              <a:spcBef>
                <a:spcPts val="0"/>
              </a:spcBef>
              <a:spcAft>
                <a:spcPts val="0"/>
              </a:spcAft>
              <a:buClrTx/>
              <a:buSzTx/>
              <a:buFontTx/>
              <a:buNone/>
              <a:defRPr/>
            </a:pPr>
            <a:r>
              <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rPr>
              <a:t>INTERNAL</a:t>
            </a:r>
            <a:endParaRPr kumimoji="0" sz="800" b="0" i="0" u="none" strike="noStrike" kern="0" cap="none" spc="-10" normalizeH="0" baseline="0" noProof="0" dirty="0">
              <a:ln>
                <a:noFill/>
              </a:ln>
              <a:solidFill>
                <a:schemeClr val="tx1"/>
              </a:solidFill>
              <a:effectLst/>
              <a:uLnTx/>
              <a:uFillTx/>
              <a:latin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13204</Words>
  <Application>WPS Presentation</Application>
  <PresentationFormat>Widescreen</PresentationFormat>
  <Paragraphs>556</Paragraphs>
  <Slides>30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30</vt:i4>
      </vt:variant>
    </vt:vector>
  </HeadingPairs>
  <TitlesOfParts>
    <vt:vector size="47" baseType="lpstr">
      <vt:lpstr>Arial</vt:lpstr>
      <vt:lpstr>SimSun</vt:lpstr>
      <vt:lpstr>Wingdings</vt:lpstr>
      <vt:lpstr>Calibri</vt:lpstr>
      <vt:lpstr>Tahoma</vt:lpstr>
      <vt:lpstr>Verdana</vt:lpstr>
      <vt:lpstr>Times New Roman</vt:lpstr>
      <vt:lpstr>Gill Sans MT</vt:lpstr>
      <vt:lpstr>Calibri</vt:lpstr>
      <vt:lpstr>Arial</vt:lpstr>
      <vt:lpstr>Tahoma</vt:lpstr>
      <vt:lpstr>Verdana</vt:lpstr>
      <vt:lpstr>Microsoft YaHei</vt:lpstr>
      <vt:lpstr>Arial Unicode MS</vt:lpstr>
      <vt:lpstr>Times New Roman</vt:lpstr>
      <vt:lpstr>Gill Sans MT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Heidee Limcathson Taña</dc:creator>
  <cp:lastModifiedBy>Admin</cp:lastModifiedBy>
  <cp:revision>2</cp:revision>
  <dcterms:created xsi:type="dcterms:W3CDTF">2026-04-15T14:59:23Z</dcterms:created>
  <dcterms:modified xsi:type="dcterms:W3CDTF">2026-04-16T05:01:13Z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2026-03-24T08:00:00Z</vt:filetime>
  </property>
  <property fmtid="{D5CDD505-2E9C-101B-9397-08002B2CF9AE}" pid="3" name="Creator">
    <vt:lpwstr>Microsoft� PowerPoint� for Microsoft 365</vt:lpwstr>
  </property>
  <property fmtid="{D5CDD505-2E9C-101B-9397-08002B2CF9AE}" pid="4" name="LastSaved">
    <vt:filetime>2026-04-15T08:00:00Z</vt:filetime>
  </property>
  <property fmtid="{D5CDD505-2E9C-101B-9397-08002B2CF9AE}" pid="5" name="MSIP_Label_5a27cab5-59e6-424d-abbb-227cd06504a3_ActionId">
    <vt:lpwstr>c03acf19-644d-4fdf-9ef1-b296b060a68a</vt:lpwstr>
  </property>
  <property fmtid="{D5CDD505-2E9C-101B-9397-08002B2CF9AE}" pid="6" name="MSIP_Label_5a27cab5-59e6-424d-abbb-227cd06504a3_ContentBits">
    <vt:lpwstr>2</vt:lpwstr>
  </property>
  <property fmtid="{D5CDD505-2E9C-101B-9397-08002B2CF9AE}" pid="7" name="MSIP_Label_5a27cab5-59e6-424d-abbb-227cd06504a3_Enabled">
    <vt:lpwstr>true</vt:lpwstr>
  </property>
  <property fmtid="{D5CDD505-2E9C-101B-9397-08002B2CF9AE}" pid="8" name="MSIP_Label_5a27cab5-59e6-424d-abbb-227cd06504a3_Method">
    <vt:lpwstr>Privileged</vt:lpwstr>
  </property>
  <property fmtid="{D5CDD505-2E9C-101B-9397-08002B2CF9AE}" pid="9" name="MSIP_Label_5a27cab5-59e6-424d-abbb-227cd06504a3_Name">
    <vt:lpwstr>INTERNAL v2</vt:lpwstr>
  </property>
  <property fmtid="{D5CDD505-2E9C-101B-9397-08002B2CF9AE}" pid="10" name="MSIP_Label_5a27cab5-59e6-424d-abbb-227cd06504a3_SetDate">
    <vt:lpwstr>2023-06-19T08:33:46Z</vt:lpwstr>
  </property>
  <property fmtid="{D5CDD505-2E9C-101B-9397-08002B2CF9AE}" pid="11" name="MSIP_Label_5a27cab5-59e6-424d-abbb-227cd06504a3_SiteId">
    <vt:lpwstr>5d3e2773-e07f-4432-a630-1a0f68a28a05</vt:lpwstr>
  </property>
  <property fmtid="{D5CDD505-2E9C-101B-9397-08002B2CF9AE}" pid="12" name="Producer">
    <vt:lpwstr>Microsoft� PowerPoint� for Microsoft 365</vt:lpwstr>
  </property>
  <property fmtid="{D5CDD505-2E9C-101B-9397-08002B2CF9AE}" pid="13" name="ICV">
    <vt:lpwstr>D955D0617C3749CEAE3E78E40F15A2D0_13</vt:lpwstr>
  </property>
  <property fmtid="{D5CDD505-2E9C-101B-9397-08002B2CF9AE}" pid="14" name="KSOProductBuildVer">
    <vt:lpwstr>1033-12.1.0.25830</vt:lpwstr>
  </property>
</Properties>
</file>