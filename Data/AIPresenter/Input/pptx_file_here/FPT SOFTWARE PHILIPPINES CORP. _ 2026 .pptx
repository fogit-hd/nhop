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88" r:id="rId4"/>
    <p:sldId id="292" r:id="rId5"/>
    <p:sldId id="301" r:id="rId6"/>
    <p:sldId id="302" r:id="rId7"/>
  </p:sldIdLst>
  <p:sldSz cx="9144000" cy="5143500"/>
  <p:notesSz cx="9144000" cy="51435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94" d="100"/>
          <a:sy n="94" d="100"/>
        </p:scale>
        <p:origin x="47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eaLnBrk="1" hangingPunct="1">
              <a:buNone/>
            </a:p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 eaLnBrk="1" hangingPunct="1">
              <a:buNone/>
            </a:pPr>
            <a:fld id="{BB962C8B-B14F-4D97-AF65-F5344CB8AC3E}" type="datetimeFigureOut">
              <a:rPr lang="en-US" altLang="x-none"/>
            </a:fld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53CC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0C3879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eaLnBrk="1" hangingPunct="1">
              <a:buNone/>
            </a:p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 eaLnBrk="1" hangingPunct="1">
              <a:buNone/>
            </a:pPr>
            <a:fld id="{BB962C8B-B14F-4D97-AF65-F5344CB8AC3E}" type="datetimeFigureOut">
              <a:rPr lang="en-US" altLang="x-none"/>
            </a:fld>
            <a:endParaRPr lang="en-U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53CC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eaLnBrk="1" hangingPunct="1">
              <a:buNone/>
            </a:p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 eaLnBrk="1" hangingPunct="1">
              <a:buNone/>
            </a:pPr>
            <a:fld id="{BB962C8B-B14F-4D97-AF65-F5344CB8AC3E}" type="datetimeFigureOut">
              <a:rPr lang="en-US" altLang="x-none"/>
            </a:fld>
            <a:endParaRPr lang="en-U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53CC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eaLnBrk="1" hangingPunct="1">
              <a:buNone/>
            </a:p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 eaLnBrk="1" hangingPunct="1">
              <a:buNone/>
            </a:pPr>
            <a:fld id="{BB962C8B-B14F-4D97-AF65-F5344CB8AC3E}" type="datetimeFigureOut">
              <a:rPr lang="en-US" altLang="x-none"/>
            </a:fld>
            <a:endParaRPr lang="en-U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 eaLnBrk="1" hangingPunct="1">
              <a:buNone/>
            </a:p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 eaLnBrk="1" hangingPunct="1">
              <a:buNone/>
            </a:pPr>
            <a:fld id="{BB962C8B-B14F-4D97-AF65-F5344CB8AC3E}" type="datetimeFigureOut">
              <a:rPr lang="en-US" altLang="x-none"/>
            </a:fld>
            <a:endParaRPr lang="en-U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bg object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Holder 2"/>
          <p:cNvSpPr>
            <a:spLocks noGrp="1"/>
          </p:cNvSpPr>
          <p:nvPr>
            <p:ph type="title"/>
          </p:nvPr>
        </p:nvSpPr>
        <p:spPr>
          <a:xfrm>
            <a:off x="738188" y="808038"/>
            <a:ext cx="7667625" cy="565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028" name="Holder 3"/>
          <p:cNvSpPr>
            <a:spLocks noGrp="1"/>
          </p:cNvSpPr>
          <p:nvPr>
            <p:ph type="body" idx="1"/>
          </p:nvPr>
        </p:nvSpPr>
        <p:spPr>
          <a:xfrm>
            <a:off x="889000" y="1422400"/>
            <a:ext cx="7366000" cy="3013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lvl="0"/>
          </a:p>
        </p:txBody>
      </p:sp>
      <p:sp>
        <p:nvSpPr>
          <p:cNvPr id="1029" name="Holder 4"/>
          <p:cNvSpPr>
            <a:spLocks noGrp="1"/>
          </p:cNvSpPr>
          <p:nvPr>
            <p:ph type="ftr" sz="quarter" idx="5"/>
          </p:nvPr>
        </p:nvSpPr>
        <p:spPr>
          <a:xfrm>
            <a:off x="3108325" y="4783138"/>
            <a:ext cx="2927350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</a:p>
        </p:txBody>
      </p:sp>
      <p:sp>
        <p:nvSpPr>
          <p:cNvPr id="1030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138"/>
            <a:ext cx="2103438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BB962C8B-B14F-4D97-AF65-F5344CB8AC3E}" type="datetimeFigureOut">
              <a:rPr lang="en-US" altLang="x-none"/>
            </a:fld>
            <a:endParaRPr lang="en-US" altLang="x-none"/>
          </a:p>
        </p:txBody>
      </p:sp>
      <p:sp>
        <p:nvSpPr>
          <p:cNvPr id="1031" name="Holder 6"/>
          <p:cNvSpPr>
            <a:spLocks noGrp="1"/>
          </p:cNvSpPr>
          <p:nvPr>
            <p:ph type="sldNum" sz="quarter" idx="7"/>
          </p:nvPr>
        </p:nvSpPr>
        <p:spPr>
          <a:xfrm>
            <a:off x="6583363" y="4783138"/>
            <a:ext cx="2103437" cy="257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1.png"/><Relationship Id="rId3" Type="http://schemas.openxmlformats.org/officeDocument/2006/relationships/hyperlink" Target="mailto:customercare@maxicare.com.ph" TargetMode="Externa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698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9723" name="object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22759" y="1468716"/>
              <a:ext cx="2075005" cy="265370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24" name="object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4834" y="1510100"/>
              <a:ext cx="1950852" cy="252954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25" name="object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63918" y="1468716"/>
              <a:ext cx="2075005" cy="265370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26" name="object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25994" y="1510100"/>
              <a:ext cx="1950852" cy="252954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27" name="object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05077" y="1468716"/>
              <a:ext cx="2075005" cy="265370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28" name="object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7153" y="1510100"/>
              <a:ext cx="1950852" cy="252954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57608" rIns="0" bIns="0" rtlCol="0">
            <a:spAutoFit/>
          </a:bodyPr>
          <a:lstStyle/>
          <a:p>
            <a:pPr marL="1776095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700" b="1" i="0" u="none" strike="noStrike" kern="0" cap="none" spc="204" normalizeH="0" baseline="0" noProof="0" dirty="0">
                <a:ln>
                  <a:noFill/>
                </a:ln>
                <a:solidFill>
                  <a:srgbClr val="0053CC"/>
                </a:solidFill>
                <a:effectLst/>
                <a:uLnTx/>
                <a:uFillTx/>
                <a:latin typeface="Calibri" panose="020F0502020204030204"/>
                <a:ea typeface="+mj-ea"/>
                <a:cs typeface="Calibri" panose="020F0502020204030204"/>
              </a:rPr>
              <a:t>INPATIENT</a:t>
            </a:r>
            <a:r>
              <a:rPr kumimoji="0" sz="1700" b="1" i="0" u="none" strike="noStrike" kern="0" cap="none" spc="120" normalizeH="0" baseline="0" noProof="0" dirty="0">
                <a:ln>
                  <a:noFill/>
                </a:ln>
                <a:solidFill>
                  <a:srgbClr val="0053CC"/>
                </a:solidFill>
                <a:effectLst/>
                <a:uLnTx/>
                <a:uFillTx/>
                <a:latin typeface="Calibri" panose="020F0502020204030204"/>
                <a:ea typeface="+mj-ea"/>
                <a:cs typeface="Calibri" panose="020F0502020204030204"/>
              </a:rPr>
              <a:t> </a:t>
            </a:r>
            <a:r>
              <a:rPr kumimoji="0" sz="1700" b="1" i="0" u="none" strike="noStrike" kern="0" cap="none" spc="215" normalizeH="0" baseline="0" noProof="0" dirty="0">
                <a:ln>
                  <a:noFill/>
                </a:ln>
                <a:solidFill>
                  <a:srgbClr val="0053CC"/>
                </a:solidFill>
                <a:effectLst/>
                <a:uLnTx/>
                <a:uFillTx/>
                <a:latin typeface="Calibri" panose="020F0502020204030204"/>
                <a:ea typeface="+mj-ea"/>
                <a:cs typeface="Calibri" panose="020F0502020204030204"/>
              </a:rPr>
              <a:t>AVAILMENT</a:t>
            </a:r>
            <a:r>
              <a:rPr kumimoji="0" sz="1700" b="1" i="0" u="none" strike="noStrike" kern="0" cap="none" spc="125" normalizeH="0" baseline="0" noProof="0" dirty="0">
                <a:ln>
                  <a:noFill/>
                </a:ln>
                <a:solidFill>
                  <a:srgbClr val="0053CC"/>
                </a:solidFill>
                <a:effectLst/>
                <a:uLnTx/>
                <a:uFillTx/>
                <a:latin typeface="Calibri" panose="020F0502020204030204"/>
                <a:ea typeface="+mj-ea"/>
                <a:cs typeface="Calibri" panose="020F0502020204030204"/>
              </a:rPr>
              <a:t> </a:t>
            </a:r>
            <a:r>
              <a:rPr kumimoji="0" sz="1700" b="1" i="0" u="none" strike="noStrike" kern="0" cap="none" spc="285" normalizeH="0" baseline="0" noProof="0" dirty="0">
                <a:ln>
                  <a:noFill/>
                </a:ln>
                <a:solidFill>
                  <a:srgbClr val="0053CC"/>
                </a:solidFill>
                <a:effectLst/>
                <a:uLnTx/>
                <a:uFillTx/>
                <a:latin typeface="Calibri" panose="020F0502020204030204"/>
                <a:ea typeface="+mj-ea"/>
                <a:cs typeface="Calibri" panose="020F0502020204030204"/>
              </a:rPr>
              <a:t>PROCEDURE</a:t>
            </a:r>
            <a:endParaRPr kumimoji="0" sz="1700" b="1" i="0" u="none" strike="noStrike" kern="0" cap="none" spc="285" normalizeH="0" baseline="0" noProof="0" dirty="0">
              <a:ln>
                <a:noFill/>
              </a:ln>
              <a:solidFill>
                <a:srgbClr val="0053CC"/>
              </a:solidFill>
              <a:effectLst/>
              <a:uLnTx/>
              <a:uFillTx/>
              <a:latin typeface="Calibri" panose="020F0502020204030204"/>
              <a:ea typeface="+mj-ea"/>
              <a:cs typeface="Calibri" panose="020F0502020204030204"/>
            </a:endParaRPr>
          </a:p>
        </p:txBody>
      </p:sp>
      <p:grpSp>
        <p:nvGrpSpPr>
          <p:cNvPr id="29700" name="object 10"/>
          <p:cNvGrpSpPr/>
          <p:nvPr/>
        </p:nvGrpSpPr>
        <p:grpSpPr>
          <a:xfrm>
            <a:off x="146050" y="1468438"/>
            <a:ext cx="2074863" cy="2654300"/>
            <a:chOff x="146235" y="1468716"/>
            <a:chExt cx="2075180" cy="2654300"/>
          </a:xfrm>
        </p:grpSpPr>
        <p:pic>
          <p:nvPicPr>
            <p:cNvPr id="29721" name="object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6235" y="1468716"/>
              <a:ext cx="2075005" cy="265370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22" name="object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312" y="1510100"/>
              <a:ext cx="1950852" cy="252954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3" name="object 13"/>
          <p:cNvSpPr txBox="1"/>
          <p:nvPr/>
        </p:nvSpPr>
        <p:spPr>
          <a:xfrm>
            <a:off x="903288" y="2457450"/>
            <a:ext cx="530225" cy="2079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1" kern="0" cap="none" spc="18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kumimoji="0" sz="1200" b="1" kern="0" cap="none" spc="8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200" b="1" kern="0" cap="none" spc="-7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1</a:t>
            </a:r>
            <a:endParaRPr kumimoji="0" sz="12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113" y="2951163"/>
            <a:ext cx="1298575" cy="6207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1430" algn="ctr" eaLnBrk="1" hangingPunct="1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altLang="zh-CN" sz="900">
                <a:solidFill>
                  <a:srgbClr val="F9F9F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Secure an admitting order from a Maxicare-accredited doctor or specialist</a:t>
            </a:r>
            <a:endParaRPr lang="en-US" altLang="zh-CN" sz="9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29703" name="object 15"/>
          <p:cNvGrpSpPr/>
          <p:nvPr/>
        </p:nvGrpSpPr>
        <p:grpSpPr>
          <a:xfrm>
            <a:off x="955675" y="0"/>
            <a:ext cx="8188325" cy="3336925"/>
            <a:chOff x="955636" y="0"/>
            <a:chExt cx="8188959" cy="3336290"/>
          </a:xfrm>
        </p:grpSpPr>
        <p:pic>
          <p:nvPicPr>
            <p:cNvPr id="29710" name="object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7088" y="2991203"/>
              <a:ext cx="446052" cy="3446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1" name="object 17"/>
            <p:cNvSpPr/>
            <p:nvPr/>
          </p:nvSpPr>
          <p:spPr>
            <a:xfrm>
              <a:off x="2159164" y="3032586"/>
              <a:ext cx="321945" cy="220979"/>
            </a:xfrm>
            <a:custGeom>
              <a:avLst/>
              <a:gdLst/>
              <a:ahLst/>
              <a:cxnLst/>
              <a:pathLst>
                <a:path w="321944" h="220979">
                  <a:moveTo>
                    <a:pt x="211649" y="220499"/>
                  </a:moveTo>
                  <a:lnTo>
                    <a:pt x="211649" y="165374"/>
                  </a:lnTo>
                  <a:lnTo>
                    <a:pt x="0" y="165374"/>
                  </a:lnTo>
                  <a:lnTo>
                    <a:pt x="0" y="55124"/>
                  </a:lnTo>
                  <a:lnTo>
                    <a:pt x="211649" y="55124"/>
                  </a:lnTo>
                  <a:lnTo>
                    <a:pt x="211649" y="0"/>
                  </a:lnTo>
                  <a:lnTo>
                    <a:pt x="321899" y="110249"/>
                  </a:lnTo>
                  <a:lnTo>
                    <a:pt x="211649" y="220499"/>
                  </a:lnTo>
                  <a:close/>
                </a:path>
              </a:pathLst>
            </a:custGeom>
            <a:solidFill>
              <a:srgbClr val="0053CC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pic>
          <p:nvPicPr>
            <p:cNvPr id="29712" name="object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5929" y="2991203"/>
              <a:ext cx="446052" cy="3446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3" name="object 19"/>
            <p:cNvSpPr/>
            <p:nvPr/>
          </p:nvSpPr>
          <p:spPr>
            <a:xfrm>
              <a:off x="4418004" y="3032586"/>
              <a:ext cx="321945" cy="220979"/>
            </a:xfrm>
            <a:custGeom>
              <a:avLst/>
              <a:gdLst/>
              <a:ahLst/>
              <a:cxnLst/>
              <a:pathLst>
                <a:path w="321945" h="220979">
                  <a:moveTo>
                    <a:pt x="211649" y="220499"/>
                  </a:moveTo>
                  <a:lnTo>
                    <a:pt x="211649" y="165374"/>
                  </a:lnTo>
                  <a:lnTo>
                    <a:pt x="0" y="165374"/>
                  </a:lnTo>
                  <a:lnTo>
                    <a:pt x="0" y="55124"/>
                  </a:lnTo>
                  <a:lnTo>
                    <a:pt x="211649" y="55124"/>
                  </a:lnTo>
                  <a:lnTo>
                    <a:pt x="211649" y="0"/>
                  </a:lnTo>
                  <a:lnTo>
                    <a:pt x="321899" y="110249"/>
                  </a:lnTo>
                  <a:lnTo>
                    <a:pt x="211649" y="220499"/>
                  </a:lnTo>
                  <a:close/>
                </a:path>
              </a:pathLst>
            </a:custGeom>
            <a:solidFill>
              <a:srgbClr val="0053CC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pic>
          <p:nvPicPr>
            <p:cNvPr id="29714" name="object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14770" y="2991203"/>
              <a:ext cx="446052" cy="3446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5" name="object 21"/>
            <p:cNvSpPr/>
            <p:nvPr/>
          </p:nvSpPr>
          <p:spPr>
            <a:xfrm>
              <a:off x="6676846" y="3032586"/>
              <a:ext cx="321945" cy="220979"/>
            </a:xfrm>
            <a:custGeom>
              <a:avLst/>
              <a:gdLst/>
              <a:ahLst/>
              <a:cxnLst/>
              <a:pathLst>
                <a:path w="321945" h="220979">
                  <a:moveTo>
                    <a:pt x="211649" y="220499"/>
                  </a:moveTo>
                  <a:lnTo>
                    <a:pt x="211649" y="165374"/>
                  </a:lnTo>
                  <a:lnTo>
                    <a:pt x="0" y="165374"/>
                  </a:lnTo>
                  <a:lnTo>
                    <a:pt x="0" y="55124"/>
                  </a:lnTo>
                  <a:lnTo>
                    <a:pt x="211649" y="55124"/>
                  </a:lnTo>
                  <a:lnTo>
                    <a:pt x="211649" y="0"/>
                  </a:lnTo>
                  <a:lnTo>
                    <a:pt x="321899" y="110249"/>
                  </a:lnTo>
                  <a:lnTo>
                    <a:pt x="211649" y="220499"/>
                  </a:lnTo>
                  <a:close/>
                </a:path>
              </a:pathLst>
            </a:custGeom>
            <a:solidFill>
              <a:srgbClr val="0053CC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pic>
          <p:nvPicPr>
            <p:cNvPr id="29716" name="object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68005" y="1751099"/>
              <a:ext cx="384512" cy="38451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17" name="object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00140" y="1700916"/>
              <a:ext cx="484874" cy="4848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18" name="object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5636" y="1715227"/>
              <a:ext cx="456226" cy="45622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19" name="object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58982" y="1700917"/>
              <a:ext cx="484874" cy="48487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20" name="object 26"/>
            <p:cNvSpPr/>
            <p:nvPr/>
          </p:nvSpPr>
          <p:spPr>
            <a:xfrm>
              <a:off x="8158600" y="0"/>
              <a:ext cx="985519" cy="603885"/>
            </a:xfrm>
            <a:custGeom>
              <a:avLst/>
              <a:gdLst/>
              <a:ahLst/>
              <a:cxnLst/>
              <a:pathLst>
                <a:path w="985520" h="603885">
                  <a:moveTo>
                    <a:pt x="985499" y="603299"/>
                  </a:moveTo>
                  <a:lnTo>
                    <a:pt x="0" y="603299"/>
                  </a:lnTo>
                  <a:lnTo>
                    <a:pt x="0" y="0"/>
                  </a:lnTo>
                  <a:lnTo>
                    <a:pt x="985499" y="0"/>
                  </a:lnTo>
                  <a:lnTo>
                    <a:pt x="985499" y="6032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146425" y="2457450"/>
            <a:ext cx="560388" cy="2079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1" kern="0" cap="none" spc="18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kumimoji="0" sz="1200" b="1" kern="0" cap="none" spc="8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200" b="1" kern="0" cap="none" spc="4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2</a:t>
            </a:r>
            <a:endParaRPr kumimoji="0" sz="12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05438" y="2478088"/>
            <a:ext cx="560388" cy="2079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1" kern="0" cap="none" spc="18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kumimoji="0" sz="1200" b="1" kern="0" cap="none" spc="8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200" b="1" kern="0" cap="none" spc="4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3</a:t>
            </a:r>
            <a:endParaRPr kumimoji="0" sz="12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04138" y="2457450"/>
            <a:ext cx="574675" cy="2079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200" b="1" kern="0" cap="none" spc="18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kumimoji="0" sz="1200" b="1" kern="0" cap="none" spc="8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200" b="1" kern="0" cap="none" spc="16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4</a:t>
            </a:r>
            <a:endParaRPr kumimoji="0" sz="12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51138" y="2930525"/>
            <a:ext cx="1360488" cy="9191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1430" algn="ctr" eaLnBrk="1" hangingPunct="1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altLang="zh-CN" sz="900">
                <a:solidFill>
                  <a:srgbClr val="F9F9F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Acquire a Letter of Eligibility (LOE) at the admitting section by presenting your Maxicare card and valid ID</a:t>
            </a:r>
            <a:endParaRPr lang="en-US" altLang="zh-CN" sz="9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75225" y="2970213"/>
            <a:ext cx="1466850" cy="3222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55575" indent="-144145" eaLnBrk="1" hangingPunct="1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altLang="zh-CN" sz="900">
                <a:solidFill>
                  <a:srgbClr val="F9F9F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Avail inpatient services, treatment, or both</a:t>
            </a:r>
            <a:endParaRPr lang="en-US" altLang="zh-CN" sz="9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5825" y="2894013"/>
            <a:ext cx="1443038" cy="47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1430" algn="ctr" eaLnBrk="1" hangingPunct="1">
              <a:lnSpc>
                <a:spcPct val="103000"/>
              </a:lnSpc>
              <a:spcBef>
                <a:spcPts val="100"/>
              </a:spcBef>
              <a:buNone/>
            </a:pPr>
            <a:r>
              <a:rPr lang="en-US" altLang="zh-CN" sz="900">
                <a:solidFill>
                  <a:srgbClr val="F9F9F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PhilHealth upon discharge and settle non-coverable charges</a:t>
            </a:r>
            <a:endParaRPr lang="en-US" altLang="zh-CN" sz="9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6588" y="188913"/>
            <a:ext cx="5094288" cy="436563"/>
          </a:xfr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700" b="1" i="0" u="none" strike="noStrike" kern="0" cap="none" spc="114" normalizeH="0" baseline="0" noProof="0" dirty="0">
                <a:ln>
                  <a:noFill/>
                </a:ln>
                <a:solidFill>
                  <a:srgbClr val="0C3879"/>
                </a:solidFill>
                <a:effectLst/>
                <a:uLnTx/>
                <a:uFillTx/>
                <a:latin typeface="Century Gothic" panose="020B0502020202020204"/>
                <a:ea typeface="+mj-ea"/>
                <a:cs typeface="Century Gothic" panose="020B0502020202020204"/>
              </a:rPr>
              <a:t>Claims</a:t>
            </a:r>
            <a:r>
              <a:rPr kumimoji="0" sz="2700" b="1" i="0" u="none" strike="noStrike" kern="0" cap="none" spc="40" normalizeH="0" baseline="0" noProof="0" dirty="0">
                <a:ln>
                  <a:noFill/>
                </a:ln>
                <a:solidFill>
                  <a:srgbClr val="0C3879"/>
                </a:solidFill>
                <a:effectLst/>
                <a:uLnTx/>
                <a:uFillTx/>
                <a:latin typeface="Century Gothic" panose="020B0502020202020204"/>
                <a:ea typeface="+mj-ea"/>
                <a:cs typeface="Century Gothic" panose="020B0502020202020204"/>
              </a:rPr>
              <a:t> </a:t>
            </a:r>
            <a:r>
              <a:rPr kumimoji="0" sz="2700" b="1" i="0" u="none" strike="noStrike" kern="0" cap="none" spc="90" normalizeH="0" baseline="0" noProof="0" dirty="0">
                <a:ln>
                  <a:noFill/>
                </a:ln>
                <a:solidFill>
                  <a:srgbClr val="0C3879"/>
                </a:solidFill>
                <a:effectLst/>
                <a:uLnTx/>
                <a:uFillTx/>
                <a:latin typeface="Century Gothic" panose="020B0502020202020204"/>
                <a:ea typeface="+mj-ea"/>
                <a:cs typeface="Century Gothic" panose="020B0502020202020204"/>
              </a:rPr>
              <a:t>and</a:t>
            </a:r>
            <a:r>
              <a:rPr kumimoji="0" sz="2700" b="1" i="0" u="none" strike="noStrike" kern="0" cap="none" spc="45" normalizeH="0" baseline="0" noProof="0" dirty="0">
                <a:ln>
                  <a:noFill/>
                </a:ln>
                <a:solidFill>
                  <a:srgbClr val="0C3879"/>
                </a:solidFill>
                <a:effectLst/>
                <a:uLnTx/>
                <a:uFillTx/>
                <a:latin typeface="Century Gothic" panose="020B0502020202020204"/>
                <a:ea typeface="+mj-ea"/>
                <a:cs typeface="Century Gothic" panose="020B0502020202020204"/>
              </a:rPr>
              <a:t> </a:t>
            </a:r>
            <a:r>
              <a:rPr kumimoji="0" sz="2700" b="1" i="0" u="none" strike="noStrike" kern="0" cap="none" spc="200" normalizeH="0" baseline="0" noProof="0" dirty="0">
                <a:ln>
                  <a:noFill/>
                </a:ln>
                <a:solidFill>
                  <a:srgbClr val="0C3879"/>
                </a:solidFill>
                <a:effectLst/>
                <a:uLnTx/>
                <a:uFillTx/>
                <a:latin typeface="Century Gothic" panose="020B0502020202020204"/>
                <a:ea typeface="+mj-ea"/>
                <a:cs typeface="Century Gothic" panose="020B0502020202020204"/>
              </a:rPr>
              <a:t>Reimbursement</a:t>
            </a:r>
            <a:endParaRPr kumimoji="0" sz="2700" b="1" i="0" u="none" strike="noStrike" kern="0" cap="none" spc="0" normalizeH="0" baseline="0" noProof="0">
              <a:ln>
                <a:noFill/>
              </a:ln>
              <a:solidFill>
                <a:srgbClr val="0053CC"/>
              </a:solidFill>
              <a:effectLst/>
              <a:uLnTx/>
              <a:uFillTx/>
              <a:latin typeface="Century Gothic" panose="020B0502020202020204"/>
              <a:ea typeface="+mj-ea"/>
              <a:cs typeface="Century Gothic" panose="020B0502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2050" y="4765675"/>
            <a:ext cx="166688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00" kern="0" cap="none" spc="-25" normalizeH="0" baseline="0" noProof="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33</a:t>
            </a:r>
            <a:endParaRPr kumimoji="0" sz="1000" kern="0" cap="none" spc="0" normalizeH="0" baseline="0" noProof="0">
              <a:solidFill>
                <a:sysClr val="windowText" lastClr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6650" y="979488"/>
            <a:ext cx="5076825" cy="2020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eaLnBrk="1" hangingPunct="1">
              <a:spcBef>
                <a:spcPts val="100"/>
              </a:spcBef>
              <a:buNone/>
            </a:pP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claims must be submitted to </a:t>
            </a:r>
            <a:r>
              <a:rPr lang="en-US" altLang="zh-CN" sz="1200">
                <a:solidFill>
                  <a:srgbClr val="FF0000"/>
                </a:solidFill>
                <a:latin typeface="Garamond" panose="02020404030301010803" pitchFamily="18" charset="0"/>
                <a:cs typeface="Garamond" panose="02020404030301010803" pitchFamily="18" charset="0"/>
              </a:rPr>
              <a:t>New! </a:t>
            </a:r>
            <a:r>
              <a:rPr lang="en-US" altLang="zh-CN" sz="1200" b="1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Gateway within 30 days </a:t>
            </a: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date of discharge from the hospital. The following are the required documents for reimbursement: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eaLnBrk="1" hangingPunct="1">
              <a:buNone/>
            </a:pPr>
            <a:endParaRPr lang="en-US" altLang="zh-CN" sz="14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eaLnBrk="1" hangingPunct="1">
              <a:spcBef>
                <a:spcPts val="1050"/>
              </a:spcBef>
              <a:buFont typeface="Trebuchet MS" panose="020B0603020202020204" pitchFamily="34" charset="0"/>
              <a:buChar char="•"/>
            </a:pPr>
            <a:r>
              <a:rPr lang="en-US" altLang="zh-CN" sz="1200" b="1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 Invoice </a:t>
            </a: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all hospital bills &amp; professional fee of the Doctor;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eaLnBrk="1" hangingPunct="1">
              <a:buFont typeface="Trebuchet MS" panose="020B0603020202020204" pitchFamily="34" charset="0"/>
              <a:buChar char="•"/>
            </a:pPr>
            <a:r>
              <a:rPr lang="en-US" altLang="zh-CN" sz="1200" b="1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Charge slips </a:t>
            </a: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(with itemized breakdown of charges);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eaLnBrk="1" hangingPunct="1">
              <a:buFont typeface="Trebuchet MS" panose="020B0603020202020204" pitchFamily="34" charset="0"/>
              <a:buChar char="•"/>
            </a:pPr>
            <a:r>
              <a:rPr lang="en-US" altLang="zh-CN" sz="1200" b="1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abstract, admitting history and medical certiﬁcate</a:t>
            </a: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eaLnBrk="1" hangingPunct="1">
              <a:buFont typeface="Trebuchet MS" panose="020B0603020202020204" pitchFamily="34" charset="0"/>
              <a:buChar char="•"/>
            </a:pPr>
            <a:r>
              <a:rPr lang="en-US" altLang="zh-CN" sz="1200" b="1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Histopath/Surgical Report </a:t>
            </a: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(if surgical operation was done);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eaLnBrk="1" hangingPunct="1">
              <a:buFont typeface="Trebuchet MS" panose="020B0603020202020204" pitchFamily="34" charset="0"/>
              <a:buChar char="•"/>
            </a:pPr>
            <a:r>
              <a:rPr lang="en-US" altLang="zh-CN" sz="1200" b="1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Police Report </a:t>
            </a: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case of accident and medico legal cases: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4821" name="object 5"/>
          <p:cNvSpPr/>
          <p:nvPr/>
        </p:nvSpPr>
        <p:spPr>
          <a:xfrm>
            <a:off x="4043363" y="3486150"/>
            <a:ext cx="4410075" cy="1176338"/>
          </a:xfrm>
          <a:custGeom>
            <a:avLst/>
            <a:gdLst/>
            <a:ahLst/>
            <a:cxnLst/>
            <a:pathLst>
              <a:path w="4410709" h="1176020">
                <a:moveTo>
                  <a:pt x="195990" y="0"/>
                </a:moveTo>
                <a:lnTo>
                  <a:pt x="4410636" y="0"/>
                </a:lnTo>
                <a:lnTo>
                  <a:pt x="4410636" y="979745"/>
                </a:lnTo>
                <a:lnTo>
                  <a:pt x="4405461" y="1024676"/>
                </a:lnTo>
                <a:lnTo>
                  <a:pt x="4390719" y="1065921"/>
                </a:lnTo>
                <a:lnTo>
                  <a:pt x="4367587" y="1102305"/>
                </a:lnTo>
                <a:lnTo>
                  <a:pt x="4337242" y="1132651"/>
                </a:lnTo>
                <a:lnTo>
                  <a:pt x="4300858" y="1155782"/>
                </a:lnTo>
                <a:lnTo>
                  <a:pt x="4259613" y="1170524"/>
                </a:lnTo>
                <a:lnTo>
                  <a:pt x="4214682" y="1175699"/>
                </a:lnTo>
                <a:lnTo>
                  <a:pt x="36" y="1175699"/>
                </a:lnTo>
                <a:lnTo>
                  <a:pt x="36" y="195953"/>
                </a:lnTo>
                <a:lnTo>
                  <a:pt x="5212" y="151023"/>
                </a:lnTo>
                <a:lnTo>
                  <a:pt x="19953" y="109778"/>
                </a:lnTo>
                <a:lnTo>
                  <a:pt x="43085" y="73394"/>
                </a:lnTo>
                <a:lnTo>
                  <a:pt x="73431" y="43048"/>
                </a:lnTo>
                <a:lnTo>
                  <a:pt x="109815" y="19917"/>
                </a:lnTo>
                <a:lnTo>
                  <a:pt x="151060" y="5175"/>
                </a:lnTo>
                <a:lnTo>
                  <a:pt x="195990" y="0"/>
                </a:lnTo>
                <a:close/>
              </a:path>
            </a:pathLst>
          </a:custGeom>
          <a:noFill/>
          <a:ln w="19049" cap="flat" cmpd="sng">
            <a:solidFill>
              <a:srgbClr val="FFAB4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4318000" y="3713163"/>
            <a:ext cx="3921125" cy="5286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23850" indent="-312420" defTabSz="914400" eaLnBrk="1" hangingPunct="1">
              <a:spcBef>
                <a:spcPts val="100"/>
              </a:spcBef>
              <a:buClr>
                <a:srgbClr val="000000"/>
              </a:buClr>
              <a:buFont typeface="Arial" panose="020B0604020202020204" pitchFamily="34" charset="0"/>
              <a:buChar char="●"/>
              <a:tabLst>
                <a:tab pos="323850" algn="l"/>
                <a:tab pos="325755" algn="l"/>
              </a:tabLst>
            </a:pPr>
            <a:r>
              <a:rPr lang="en-US" altLang="zh-CN" sz="1100" i="1">
                <a:solidFill>
                  <a:srgbClr val="0C3879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The processing time for reimbursements is </a:t>
            </a:r>
            <a:r>
              <a:rPr lang="en-US" altLang="zh-CN" sz="1100" b="1" i="1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ﬁfteen</a:t>
            </a:r>
            <a:endParaRPr lang="en-US" altLang="zh-CN" sz="11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23850" indent="-312420" defTabSz="914400" eaLnBrk="1" hangingPunct="1">
              <a:buNone/>
              <a:tabLst>
                <a:tab pos="323850" algn="l"/>
                <a:tab pos="325755" algn="l"/>
              </a:tabLst>
            </a:pPr>
            <a:r>
              <a:rPr lang="en-US" altLang="zh-CN" sz="1100" b="1" i="1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(15) WORKING DAYS, </a:t>
            </a:r>
            <a:r>
              <a:rPr lang="en-US" altLang="zh-CN" sz="1100" i="1">
                <a:solidFill>
                  <a:srgbClr val="0C3879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starting from the submission date of </a:t>
            </a:r>
            <a:r>
              <a:rPr lang="en-US" altLang="zh-CN" sz="1100" b="1" i="1">
                <a:solidFill>
                  <a:srgbClr val="85200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DOCUMENTS TO CREDITING.</a:t>
            </a:r>
            <a:endParaRPr lang="en-US" altLang="zh-CN" sz="11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4823" name="object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728663"/>
            <a:ext cx="3217863" cy="380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4" name="object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600575"/>
            <a:ext cx="2198688" cy="474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8914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8930" name="object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20645" y="1920560"/>
              <a:ext cx="2796304" cy="20472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1" name="object 4"/>
            <p:cNvSpPr/>
            <p:nvPr/>
          </p:nvSpPr>
          <p:spPr>
            <a:xfrm>
              <a:off x="4487397" y="1965061"/>
              <a:ext cx="2663190" cy="1913889"/>
            </a:xfrm>
            <a:custGeom>
              <a:avLst/>
              <a:gdLst/>
              <a:ahLst/>
              <a:cxnLst/>
              <a:pathLst>
                <a:path w="2663190" h="1913889">
                  <a:moveTo>
                    <a:pt x="2662799" y="1913699"/>
                  </a:moveTo>
                  <a:lnTo>
                    <a:pt x="0" y="1913699"/>
                  </a:lnTo>
                  <a:lnTo>
                    <a:pt x="0" y="0"/>
                  </a:lnTo>
                  <a:lnTo>
                    <a:pt x="2662799" y="0"/>
                  </a:lnTo>
                  <a:lnTo>
                    <a:pt x="2662799" y="19136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103164" rIns="0" bIns="0" rtlCol="0">
            <a:spAutoFit/>
          </a:bodyPr>
          <a:lstStyle/>
          <a:p>
            <a:pPr marL="250571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i="0" u="none" strike="noStrike" kern="0" cap="none" spc="285" normalizeH="0" baseline="0" noProof="0" dirty="0">
                <a:ln>
                  <a:noFill/>
                </a:ln>
                <a:solidFill>
                  <a:srgbClr val="0053CC"/>
                </a:solidFill>
                <a:effectLst/>
                <a:uLnTx/>
                <a:uFillTx/>
                <a:latin typeface="Century Gothic" panose="020B0502020202020204"/>
                <a:ea typeface="+mj-ea"/>
                <a:cs typeface="Century Gothic" panose="020B0502020202020204"/>
              </a:rPr>
              <a:t>DENTAL</a:t>
            </a:r>
            <a:r>
              <a:rPr kumimoji="0" sz="2400" b="1" i="0" u="none" strike="noStrike" kern="0" cap="none" spc="50" normalizeH="0" baseline="0" noProof="0" dirty="0">
                <a:ln>
                  <a:noFill/>
                </a:ln>
                <a:solidFill>
                  <a:srgbClr val="0053CC"/>
                </a:solidFill>
                <a:effectLst/>
                <a:uLnTx/>
                <a:uFillTx/>
                <a:latin typeface="Century Gothic" panose="020B0502020202020204"/>
                <a:ea typeface="+mj-ea"/>
                <a:cs typeface="Century Gothic" panose="020B0502020202020204"/>
              </a:rPr>
              <a:t> </a:t>
            </a:r>
            <a:r>
              <a:rPr kumimoji="0" sz="2400" b="1" i="0" u="none" strike="noStrike" kern="0" cap="none" spc="145" normalizeH="0" baseline="0" noProof="0" dirty="0">
                <a:ln>
                  <a:noFill/>
                </a:ln>
                <a:solidFill>
                  <a:srgbClr val="0053CC"/>
                </a:solidFill>
                <a:effectLst/>
                <a:uLnTx/>
                <a:uFillTx/>
                <a:latin typeface="Century Gothic" panose="020B0502020202020204"/>
                <a:ea typeface="+mj-ea"/>
                <a:cs typeface="Century Gothic" panose="020B0502020202020204"/>
              </a:rPr>
              <a:t>CARE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0053CC"/>
              </a:solidFill>
              <a:effectLst/>
              <a:uLnTx/>
              <a:uFillTx/>
              <a:latin typeface="Century Gothic" panose="020B0502020202020204"/>
              <a:ea typeface="+mj-ea"/>
              <a:cs typeface="Century Gothic" panose="020B0502020202020204"/>
            </a:endParaRPr>
          </a:p>
        </p:txBody>
      </p:sp>
      <p:grpSp>
        <p:nvGrpSpPr>
          <p:cNvPr id="38916" name="object 6"/>
          <p:cNvGrpSpPr/>
          <p:nvPr/>
        </p:nvGrpSpPr>
        <p:grpSpPr>
          <a:xfrm>
            <a:off x="1609725" y="293688"/>
            <a:ext cx="3162300" cy="3675062"/>
            <a:chOff x="1609641" y="294450"/>
            <a:chExt cx="3162300" cy="3674110"/>
          </a:xfrm>
        </p:grpSpPr>
        <p:pic>
          <p:nvPicPr>
            <p:cNvPr id="38924" name="object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0463" y="294450"/>
              <a:ext cx="671275" cy="67127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8925" name="object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57613" y="332550"/>
              <a:ext cx="556974" cy="5569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8926" name="object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9641" y="1436649"/>
              <a:ext cx="2095167" cy="253144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8927" name="object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6393" y="1481150"/>
              <a:ext cx="1961662" cy="23979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8928" name="object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68901" y="2652558"/>
              <a:ext cx="479704" cy="3705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9" name="object 12"/>
            <p:cNvSpPr/>
            <p:nvPr/>
          </p:nvSpPr>
          <p:spPr>
            <a:xfrm>
              <a:off x="3935652" y="2697058"/>
              <a:ext cx="346710" cy="237490"/>
            </a:xfrm>
            <a:custGeom>
              <a:avLst/>
              <a:gdLst/>
              <a:ahLst/>
              <a:cxnLst/>
              <a:pathLst>
                <a:path w="346710" h="237489">
                  <a:moveTo>
                    <a:pt x="227699" y="236999"/>
                  </a:moveTo>
                  <a:lnTo>
                    <a:pt x="227699" y="177749"/>
                  </a:lnTo>
                  <a:lnTo>
                    <a:pt x="0" y="177749"/>
                  </a:lnTo>
                  <a:lnTo>
                    <a:pt x="0" y="59249"/>
                  </a:lnTo>
                  <a:lnTo>
                    <a:pt x="227699" y="59249"/>
                  </a:lnTo>
                  <a:lnTo>
                    <a:pt x="227699" y="0"/>
                  </a:lnTo>
                  <a:lnTo>
                    <a:pt x="346199" y="118499"/>
                  </a:lnTo>
                  <a:lnTo>
                    <a:pt x="227699" y="236999"/>
                  </a:lnTo>
                  <a:close/>
                </a:path>
              </a:pathLst>
            </a:custGeom>
            <a:solidFill>
              <a:srgbClr val="0053CC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90725" y="2654300"/>
            <a:ext cx="1343025" cy="8080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p>
            <a:pPr marL="12700" algn="ctr" eaLnBrk="1" hangingPunct="1">
              <a:lnSpc>
                <a:spcPct val="103000"/>
              </a:lnSpc>
              <a:spcBef>
                <a:spcPts val="90"/>
              </a:spcBef>
              <a:buNone/>
            </a:pPr>
            <a:r>
              <a:rPr lang="en-US" altLang="zh-CN" sz="12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 sets an appointment by calling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eaLnBrk="1" hangingPunct="1">
              <a:spcBef>
                <a:spcPts val="50"/>
              </a:spcBef>
              <a:buNone/>
            </a:pPr>
            <a:r>
              <a:rPr lang="en-US" altLang="zh-CN" sz="12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(02) 8582-1900*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8918" name="object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8838" y="2200275"/>
            <a:ext cx="2317750" cy="649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object 15"/>
          <p:cNvSpPr txBox="1"/>
          <p:nvPr/>
        </p:nvSpPr>
        <p:spPr>
          <a:xfrm>
            <a:off x="4487863" y="1965325"/>
            <a:ext cx="2662238" cy="1912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eaLnBrk="1" hangingPunct="1">
              <a:buNone/>
            </a:pP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875"/>
              </a:spcBef>
              <a:buNone/>
            </a:pP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DENTAL HUB NETWORK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03000"/>
              </a:lnSpc>
              <a:buNone/>
            </a:pPr>
            <a:r>
              <a:rPr lang="en-US" altLang="zh-CN" sz="1200">
                <a:solidFill>
                  <a:srgbClr val="0C38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access to accredited dental facilities nationwide</a:t>
            </a:r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7513" y="4195763"/>
            <a:ext cx="5108575" cy="185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*</a:t>
            </a:r>
            <a:r>
              <a:rPr kumimoji="0" sz="1050" i="1" kern="0" cap="none" spc="7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Members</a:t>
            </a:r>
            <a:r>
              <a:rPr kumimoji="0" sz="1050" i="1" kern="0" cap="none" spc="75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can</a:t>
            </a:r>
            <a:r>
              <a:rPr kumimoji="0" sz="1050" i="1" kern="0" cap="none" spc="75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also</a:t>
            </a:r>
            <a:r>
              <a:rPr kumimoji="0" sz="1050" i="1" kern="0" cap="none" spc="75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directly</a:t>
            </a:r>
            <a:r>
              <a:rPr kumimoji="0" sz="1050" i="1" kern="0" cap="none" spc="7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call</a:t>
            </a:r>
            <a:r>
              <a:rPr kumimoji="0" sz="1050" i="1" kern="0" cap="none" spc="75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5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their</a:t>
            </a:r>
            <a:r>
              <a:rPr kumimoji="0" sz="1050" i="1" kern="0" cap="none" spc="75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preferred</a:t>
            </a:r>
            <a:r>
              <a:rPr kumimoji="0" sz="1050" i="1" kern="0" cap="none" spc="75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dental</a:t>
            </a:r>
            <a:r>
              <a:rPr kumimoji="0" sz="1050" i="1" kern="0" cap="none" spc="75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clinics</a:t>
            </a:r>
            <a:r>
              <a:rPr kumimoji="0" sz="1050" i="1" kern="0" cap="none" spc="7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for</a:t>
            </a:r>
            <a:r>
              <a:rPr kumimoji="0" sz="1050" i="1" kern="0" cap="none" spc="75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 </a:t>
            </a:r>
            <a:r>
              <a:rPr kumimoji="0" sz="1050" i="1" kern="0" cap="none" spc="-10" normalizeH="0" baseline="0" noProof="0" dirty="0">
                <a:solidFill>
                  <a:srgbClr val="0C3879"/>
                </a:solidFill>
                <a:latin typeface="Century Gothic" panose="020B0502020202020204"/>
                <a:cs typeface="Century Gothic" panose="020B0502020202020204"/>
              </a:rPr>
              <a:t>scheduling.</a:t>
            </a:r>
            <a:endParaRPr kumimoji="0" sz="1050" kern="0" cap="none" spc="0" normalizeH="0" baseline="0" noProof="0">
              <a:solidFill>
                <a:sysClr val="windowText" lastClr="000000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grpSp>
        <p:nvGrpSpPr>
          <p:cNvPr id="38921" name="object 17"/>
          <p:cNvGrpSpPr/>
          <p:nvPr/>
        </p:nvGrpSpPr>
        <p:grpSpPr>
          <a:xfrm>
            <a:off x="2282825" y="0"/>
            <a:ext cx="6861175" cy="2397125"/>
            <a:chOff x="2282407" y="0"/>
            <a:chExt cx="6861809" cy="2397125"/>
          </a:xfrm>
        </p:grpSpPr>
        <p:pic>
          <p:nvPicPr>
            <p:cNvPr id="38922" name="object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82407" y="1646892"/>
              <a:ext cx="749605" cy="7496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3" name="object 19"/>
            <p:cNvSpPr/>
            <p:nvPr/>
          </p:nvSpPr>
          <p:spPr>
            <a:xfrm>
              <a:off x="8158599" y="0"/>
              <a:ext cx="985519" cy="603885"/>
            </a:xfrm>
            <a:custGeom>
              <a:avLst/>
              <a:gdLst/>
              <a:ahLst/>
              <a:cxnLst/>
              <a:pathLst>
                <a:path w="985520" h="603885">
                  <a:moveTo>
                    <a:pt x="985499" y="603299"/>
                  </a:moveTo>
                  <a:lnTo>
                    <a:pt x="0" y="603299"/>
                  </a:lnTo>
                  <a:lnTo>
                    <a:pt x="0" y="0"/>
                  </a:lnTo>
                  <a:lnTo>
                    <a:pt x="985499" y="0"/>
                  </a:lnTo>
                  <a:lnTo>
                    <a:pt x="985499" y="6032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130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48139" name="object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5650" y="928698"/>
              <a:ext cx="7032700" cy="31343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8140" name="object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2800" y="966799"/>
              <a:ext cx="6918399" cy="302004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object 5"/>
          <p:cNvSpPr txBox="1"/>
          <p:nvPr/>
        </p:nvSpPr>
        <p:spPr>
          <a:xfrm>
            <a:off x="2060575" y="1738313"/>
            <a:ext cx="1990725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b="1" kern="0" cap="none" spc="17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Customer</a:t>
            </a:r>
            <a:r>
              <a:rPr kumimoji="0" sz="1300" b="1" kern="0" cap="none" spc="8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6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Care</a:t>
            </a:r>
            <a:r>
              <a:rPr kumimoji="0" sz="1300" b="1" kern="0" cap="none" spc="85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3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Hotline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  <a:p>
            <a:pPr marL="12700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kern="0" cap="none" spc="7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(+632)</a:t>
            </a:r>
            <a:r>
              <a:rPr kumimoji="0" sz="1300" kern="0" cap="none" spc="4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12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7798</a:t>
            </a:r>
            <a:r>
              <a:rPr kumimoji="0" sz="1300" kern="0" cap="none" spc="5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8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7777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  <a:p>
            <a:pPr marL="12700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kern="0" cap="none" spc="7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(+632)</a:t>
            </a:r>
            <a:r>
              <a:rPr kumimoji="0" sz="1300" kern="0" cap="none" spc="5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114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8582</a:t>
            </a:r>
            <a:r>
              <a:rPr kumimoji="0" sz="1300" kern="0" cap="none" spc="5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6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1900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0575" y="2530475"/>
            <a:ext cx="1695450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b="1" kern="0" cap="none" spc="14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Teleconsult</a:t>
            </a:r>
            <a:r>
              <a:rPr kumimoji="0" sz="1300" b="1" kern="0" cap="none" spc="85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3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Hotline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  <a:p>
            <a:pPr marL="12700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kern="0" cap="none" spc="7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(+632)</a:t>
            </a:r>
            <a:r>
              <a:rPr kumimoji="0" sz="1300" kern="0" cap="none" spc="5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114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8582</a:t>
            </a:r>
            <a:r>
              <a:rPr kumimoji="0" sz="1300" kern="0" cap="none" spc="5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5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1980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  <a:p>
            <a:pPr marL="12700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kern="0" cap="none" spc="7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(+632)</a:t>
            </a:r>
            <a:r>
              <a:rPr kumimoji="0" sz="1300" kern="0" cap="none" spc="4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12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7798</a:t>
            </a:r>
            <a:r>
              <a:rPr kumimoji="0" sz="1300" kern="0" cap="none" spc="5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10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7798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0575" y="3322638"/>
            <a:ext cx="14859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b="1" kern="0" cap="none" spc="11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24/7</a:t>
            </a:r>
            <a:r>
              <a:rPr kumimoji="0" sz="1300" b="1" kern="0" cap="none" spc="8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7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SMS</a:t>
            </a:r>
            <a:r>
              <a:rPr kumimoji="0" sz="1300" b="1" kern="0" cap="none" spc="8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3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Inquiry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  <a:p>
            <a:pPr marL="12700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kern="0" cap="none" spc="7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(+63)</a:t>
            </a:r>
            <a:r>
              <a:rPr kumimoji="0" sz="1300" kern="0" cap="none" spc="3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9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922</a:t>
            </a:r>
            <a:r>
              <a:rPr kumimoji="0" sz="1300" kern="0" cap="none" spc="3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-3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110</a:t>
            </a:r>
            <a:r>
              <a:rPr kumimoji="0" sz="1300" kern="0" cap="none" spc="3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-2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1733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21200" y="1738313"/>
            <a:ext cx="2763838" cy="420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b="1" kern="0" cap="none" spc="17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Customer</a:t>
            </a:r>
            <a:r>
              <a:rPr kumimoji="0" sz="1300" b="1" kern="0" cap="none" spc="8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6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Care</a:t>
            </a:r>
            <a:r>
              <a:rPr kumimoji="0" sz="1300" b="1" kern="0" cap="none" spc="85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55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Email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  <a:p>
            <a:pPr marL="12700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kern="0" cap="none" spc="13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  <a:hlinkClick r:id="rId3"/>
              </a:rPr>
              <a:t>customercare@maxicare.com.ph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1200" y="2332038"/>
            <a:ext cx="2062163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defTabSz="914400" eaLnBrk="1" fontAlgn="auto" hangingPunct="1"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b="1" kern="0" cap="none" spc="17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Product</a:t>
            </a:r>
            <a:r>
              <a:rPr kumimoji="0" sz="1300" b="1" kern="0" cap="none" spc="9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4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Inquiry</a:t>
            </a:r>
            <a:r>
              <a:rPr kumimoji="0" sz="1300" b="1" kern="0" cap="none" spc="9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b="1" kern="0" cap="none" spc="130" normalizeH="0" baseline="0" noProof="0" dirty="0">
                <a:solidFill>
                  <a:srgbClr val="0053CC"/>
                </a:solidFill>
                <a:latin typeface="Calibri" panose="020F0502020204030204"/>
                <a:cs typeface="Calibri" panose="020F0502020204030204"/>
              </a:rPr>
              <a:t>Hotline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  <a:p>
            <a:pPr marL="12700"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00" kern="0" cap="none" spc="7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(+632)</a:t>
            </a:r>
            <a:r>
              <a:rPr kumimoji="0" sz="1300" kern="0" cap="none" spc="4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125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7798</a:t>
            </a:r>
            <a:r>
              <a:rPr kumimoji="0" sz="1300" kern="0" cap="none" spc="5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kumimoji="0" sz="1300" kern="0" cap="none" spc="100" normalizeH="0" baseline="0" noProof="0" dirty="0">
                <a:solidFill>
                  <a:srgbClr val="0C3879"/>
                </a:solidFill>
                <a:latin typeface="Calibri" panose="020F0502020204030204"/>
                <a:cs typeface="Calibri" panose="020F0502020204030204"/>
              </a:rPr>
              <a:t>7770</a:t>
            </a:r>
            <a:endParaRPr kumimoji="0" sz="1300" kern="0" cap="none" spc="0" normalizeH="0" baseline="0" noProof="0">
              <a:solidFill>
                <a:sysClr val="windowText" lastClr="000000"/>
              </a:solidFill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8136" name="object 10"/>
          <p:cNvGrpSpPr/>
          <p:nvPr/>
        </p:nvGrpSpPr>
        <p:grpSpPr>
          <a:xfrm>
            <a:off x="2133600" y="0"/>
            <a:ext cx="7010400" cy="1041400"/>
            <a:chOff x="2132998" y="0"/>
            <a:chExt cx="7011670" cy="1042035"/>
          </a:xfrm>
        </p:grpSpPr>
        <p:sp>
          <p:nvSpPr>
            <p:cNvPr id="48137" name="object 11"/>
            <p:cNvSpPr/>
            <p:nvPr/>
          </p:nvSpPr>
          <p:spPr>
            <a:xfrm>
              <a:off x="8158600" y="0"/>
              <a:ext cx="985519" cy="603885"/>
            </a:xfrm>
            <a:custGeom>
              <a:avLst/>
              <a:gdLst/>
              <a:ahLst/>
              <a:cxnLst/>
              <a:pathLst>
                <a:path w="985520" h="603885">
                  <a:moveTo>
                    <a:pt x="985499" y="603299"/>
                  </a:moveTo>
                  <a:lnTo>
                    <a:pt x="0" y="603299"/>
                  </a:lnTo>
                  <a:lnTo>
                    <a:pt x="0" y="0"/>
                  </a:lnTo>
                  <a:lnTo>
                    <a:pt x="985499" y="0"/>
                  </a:lnTo>
                  <a:lnTo>
                    <a:pt x="985499" y="6032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pic>
          <p:nvPicPr>
            <p:cNvPr id="48138" name="object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998" y="383561"/>
              <a:ext cx="4877990" cy="65841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49154" name="object 2"/>
          <p:cNvGrpSpPr/>
          <p:nvPr/>
        </p:nvGrpSpPr>
        <p:grpSpPr>
          <a:xfrm>
            <a:off x="0" y="34925"/>
            <a:ext cx="9143999" cy="5143499"/>
            <a:chOff x="0" y="0"/>
            <a:chExt cx="9143999" cy="5143499"/>
          </a:xfrm>
        </p:grpSpPr>
        <p:pic>
          <p:nvPicPr>
            <p:cNvPr id="49155" name="object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9156" name="object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879" y="424813"/>
              <a:ext cx="4282188" cy="371916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9157" name="object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2487" y="683250"/>
              <a:ext cx="3729240" cy="34260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9158" name="object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2155" y="4109265"/>
              <a:ext cx="643344" cy="39684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59" name="object 7"/>
            <p:cNvSpPr/>
            <p:nvPr/>
          </p:nvSpPr>
          <p:spPr>
            <a:xfrm>
              <a:off x="2704054" y="4071165"/>
              <a:ext cx="720090" cy="473075"/>
            </a:xfrm>
            <a:custGeom>
              <a:avLst/>
              <a:gdLst/>
              <a:ahLst/>
              <a:cxnLst/>
              <a:pathLst>
                <a:path w="720089" h="473075">
                  <a:moveTo>
                    <a:pt x="0" y="0"/>
                  </a:moveTo>
                  <a:lnTo>
                    <a:pt x="719544" y="0"/>
                  </a:lnTo>
                  <a:lnTo>
                    <a:pt x="719544" y="473043"/>
                  </a:lnTo>
                  <a:lnTo>
                    <a:pt x="0" y="47304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199" cap="flat" cmpd="sng">
              <a:solidFill>
                <a:srgbClr val="0B379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pic>
          <p:nvPicPr>
            <p:cNvPr id="49160" name="object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10017" y="3281796"/>
              <a:ext cx="1072390" cy="151859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1" name="object 9"/>
            <p:cNvSpPr/>
            <p:nvPr/>
          </p:nvSpPr>
          <p:spPr>
            <a:xfrm>
              <a:off x="3511737" y="4207002"/>
              <a:ext cx="333375" cy="201295"/>
            </a:xfrm>
            <a:custGeom>
              <a:avLst/>
              <a:gdLst/>
              <a:ahLst/>
              <a:cxnLst/>
              <a:pathLst>
                <a:path w="333375" h="201295">
                  <a:moveTo>
                    <a:pt x="232649" y="201299"/>
                  </a:moveTo>
                  <a:lnTo>
                    <a:pt x="232649" y="150974"/>
                  </a:lnTo>
                  <a:lnTo>
                    <a:pt x="0" y="150974"/>
                  </a:lnTo>
                  <a:lnTo>
                    <a:pt x="0" y="50324"/>
                  </a:lnTo>
                  <a:lnTo>
                    <a:pt x="232649" y="50324"/>
                  </a:lnTo>
                  <a:lnTo>
                    <a:pt x="232649" y="0"/>
                  </a:lnTo>
                  <a:lnTo>
                    <a:pt x="333299" y="100649"/>
                  </a:lnTo>
                  <a:lnTo>
                    <a:pt x="232649" y="201299"/>
                  </a:lnTo>
                  <a:close/>
                </a:path>
              </a:pathLst>
            </a:custGeom>
            <a:solidFill>
              <a:srgbClr val="EEEEEE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49162" name="object 10"/>
            <p:cNvSpPr/>
            <p:nvPr/>
          </p:nvSpPr>
          <p:spPr>
            <a:xfrm>
              <a:off x="3511737" y="4207002"/>
              <a:ext cx="333375" cy="201295"/>
            </a:xfrm>
            <a:custGeom>
              <a:avLst/>
              <a:gdLst/>
              <a:ahLst/>
              <a:cxnLst/>
              <a:pathLst>
                <a:path w="333375" h="201295">
                  <a:moveTo>
                    <a:pt x="0" y="50324"/>
                  </a:moveTo>
                  <a:lnTo>
                    <a:pt x="232649" y="50324"/>
                  </a:lnTo>
                  <a:lnTo>
                    <a:pt x="232649" y="0"/>
                  </a:lnTo>
                  <a:lnTo>
                    <a:pt x="333299" y="100649"/>
                  </a:lnTo>
                  <a:lnTo>
                    <a:pt x="232649" y="201299"/>
                  </a:lnTo>
                  <a:lnTo>
                    <a:pt x="232649" y="150974"/>
                  </a:lnTo>
                  <a:lnTo>
                    <a:pt x="0" y="150974"/>
                  </a:lnTo>
                  <a:lnTo>
                    <a:pt x="0" y="50324"/>
                  </a:lnTo>
                  <a:close/>
                </a:path>
              </a:pathLst>
            </a:custGeom>
            <a:noFill/>
            <a:ln w="9524" cap="flat" cmpd="sng">
              <a:solidFill>
                <a:srgbClr val="59595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1405</Words>
  <Application>WPS Presentation</Application>
  <PresentationFormat/>
  <Paragraphs>63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Century Gothic</vt:lpstr>
      <vt:lpstr>Century Gothic</vt:lpstr>
      <vt:lpstr>Calibri</vt:lpstr>
      <vt:lpstr>Arial</vt:lpstr>
      <vt:lpstr>Microsoft YaHei</vt:lpstr>
      <vt:lpstr>Arial Unicode MS</vt:lpstr>
      <vt:lpstr>Times New Roman</vt:lpstr>
      <vt:lpstr>Times New Roman</vt:lpstr>
      <vt:lpstr>MS PGothic</vt:lpstr>
      <vt:lpstr>Garamond</vt:lpstr>
      <vt:lpstr>Trebuchet MS</vt:lpstr>
      <vt:lpstr>Office Theme</vt:lpstr>
      <vt:lpstr>INPATIENT AVAILMENT PROCEDURE</vt:lpstr>
      <vt:lpstr>Claims and Reimbursement</vt:lpstr>
      <vt:lpstr>DENTAL CARE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FPT SOFTWARE PHILIPPINES CORP. | 2026.pptx</dc:title>
  <dc:creator/>
  <cp:lastModifiedBy>Admin</cp:lastModifiedBy>
  <cp:revision>3</cp:revision>
  <dcterms:created xsi:type="dcterms:W3CDTF">2026-04-15T15:00:00Z</dcterms:created>
  <dcterms:modified xsi:type="dcterms:W3CDTF">2026-04-20T02:56:44Z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2026-02-26T16:00:00Z</vt:filetime>
  </property>
  <property fmtid="{D5CDD505-2E9C-101B-9397-08002B2CF9AE}" pid="3" name="Creator">
    <vt:lpwstr>Google</vt:lpwstr>
  </property>
  <property fmtid="{D5CDD505-2E9C-101B-9397-08002B2CF9AE}" pid="4" name="LastSaved">
    <vt:filetime>2026-04-15T16:00:00Z</vt:filetime>
  </property>
  <property fmtid="{D5CDD505-2E9C-101B-9397-08002B2CF9AE}" pid="5" name="ICV">
    <vt:lpwstr>77122A54BD73494793AE205E8C497AA9_13</vt:lpwstr>
  </property>
  <property fmtid="{D5CDD505-2E9C-101B-9397-08002B2CF9AE}" pid="6" name="KSOProductBuildVer">
    <vt:lpwstr>1033-12.1.0.25830</vt:lpwstr>
  </property>
</Properties>
</file>