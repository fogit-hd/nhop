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</p:sldIdLst>
  <p:sldSz cx="9144000" cy="5143500"/>
  <p:notesSz cx="9144000" cy="5143500"/>
  <p:defaultTextStyle>
    <a:defPPr>
      <a:defRPr lang="en-US"/>
    </a:defPPr>
    <a:lvl1pPr marL="0" lvl="0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lvl="1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lvl="2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lvl="3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lvl="4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lvl="5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lvl="6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lvl="7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lvl="8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 varScale="1">
        <p:scale>
          <a:sx n="94" d="100"/>
          <a:sy n="94" d="100"/>
        </p:scale>
        <p:origin x="474" y="7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5" Type="http://schemas.openxmlformats.org/officeDocument/2006/relationships/tableStyles" Target="tableStyles.xml"/><Relationship Id="rId54" Type="http://schemas.openxmlformats.org/officeDocument/2006/relationships/viewProps" Target="viewProps.xml"/><Relationship Id="rId53" Type="http://schemas.openxmlformats.org/officeDocument/2006/relationships/presProps" Target="presProps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p>
            <a:pPr lvl="0" eaLnBrk="1" hangingPunct="1">
              <a:buNone/>
            </a:p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1"/>
          </p:nvPr>
        </p:nvSpPr>
        <p:spPr/>
        <p:txBody>
          <a:bodyPr/>
          <a:p>
            <a:pPr lvl="0" eaLnBrk="1" hangingPunct="1">
              <a:buNone/>
            </a:pPr>
            <a:fld id="{BB962C8B-B14F-4D97-AF65-F5344CB8AC3E}" type="datetimeFigureOut">
              <a:rPr lang="en-US" altLang="x-none"/>
            </a:fld>
            <a:endParaRPr lang="en-US" alt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hangingPunct="1">
              <a:buNone/>
            </a:pPr>
            <a:fld id="{9A0DB2DC-4C9A-4742-B13C-FB6460FD3503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1" i="0">
                <a:solidFill>
                  <a:srgbClr val="0053CC"/>
                </a:solidFill>
                <a:latin typeface="Calibri" panose="020F0502020204030204"/>
                <a:cs typeface="Calibri" panose="020F0502020204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300" b="0" i="0">
                <a:solidFill>
                  <a:srgbClr val="0C3879"/>
                </a:solidFill>
                <a:latin typeface="Calibri" panose="020F0502020204030204"/>
                <a:cs typeface="Calibri" panose="020F0502020204030204"/>
              </a:defRPr>
            </a:lvl1pPr>
          </a:lstStyle>
          <a:p/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p>
            <a:pPr lvl="0" eaLnBrk="1" hangingPunct="1">
              <a:buNone/>
            </a:p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1"/>
          </p:nvPr>
        </p:nvSpPr>
        <p:spPr/>
        <p:txBody>
          <a:bodyPr/>
          <a:p>
            <a:pPr lvl="0" eaLnBrk="1" hangingPunct="1">
              <a:buNone/>
            </a:pPr>
            <a:fld id="{BB962C8B-B14F-4D97-AF65-F5344CB8AC3E}" type="datetimeFigureOut">
              <a:rPr lang="en-US" altLang="x-none"/>
            </a:fld>
            <a:endParaRPr lang="en-US" altLang="x-non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hangingPunct="1">
              <a:buNone/>
            </a:pPr>
            <a:fld id="{9A0DB2DC-4C9A-4742-B13C-FB6460FD3503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1" i="0">
                <a:solidFill>
                  <a:srgbClr val="0053CC"/>
                </a:solidFill>
                <a:latin typeface="Calibri" panose="020F0502020204030204"/>
                <a:cs typeface="Calibri" panose="020F050202020403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p>
            <a:pPr lvl="0" eaLnBrk="1" hangingPunct="1">
              <a:buNone/>
            </a:pP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1"/>
          </p:nvPr>
        </p:nvSpPr>
        <p:spPr/>
        <p:txBody>
          <a:bodyPr/>
          <a:p>
            <a:pPr lvl="0" eaLnBrk="1" hangingPunct="1">
              <a:buNone/>
            </a:pPr>
            <a:fld id="{BB962C8B-B14F-4D97-AF65-F5344CB8AC3E}" type="datetimeFigureOut">
              <a:rPr lang="en-US" altLang="x-none"/>
            </a:fld>
            <a:endParaRPr lang="en-US" alt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hangingPunct="1">
              <a:buNone/>
            </a:pPr>
            <a:fld id="{9A0DB2DC-4C9A-4742-B13C-FB6460FD3503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1" i="0">
                <a:solidFill>
                  <a:srgbClr val="0053CC"/>
                </a:solidFill>
                <a:latin typeface="Calibri" panose="020F0502020204030204"/>
                <a:cs typeface="Calibri" panose="020F0502020204030204"/>
              </a:defRPr>
            </a:lvl1pPr>
          </a:lstStyle>
          <a:p/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p>
            <a:pPr lvl="0" eaLnBrk="1" hangingPunct="1">
              <a:buNone/>
            </a:p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1"/>
          </p:nvPr>
        </p:nvSpPr>
        <p:spPr/>
        <p:txBody>
          <a:bodyPr/>
          <a:p>
            <a:pPr lvl="0" eaLnBrk="1" hangingPunct="1">
              <a:buNone/>
            </a:pPr>
            <a:fld id="{BB962C8B-B14F-4D97-AF65-F5344CB8AC3E}" type="datetimeFigureOut">
              <a:rPr lang="en-US" altLang="x-none"/>
            </a:fld>
            <a:endParaRPr lang="en-US" altLang="x-non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hangingPunct="1">
              <a:buNone/>
            </a:pPr>
            <a:fld id="{9A0DB2DC-4C9A-4742-B13C-FB6460FD3503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p>
            <a:pPr lvl="0" eaLnBrk="1" hangingPunct="1">
              <a:buNone/>
            </a:p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1"/>
          </p:nvPr>
        </p:nvSpPr>
        <p:spPr/>
        <p:txBody>
          <a:bodyPr/>
          <a:p>
            <a:pPr lvl="0" eaLnBrk="1" hangingPunct="1">
              <a:buNone/>
            </a:pPr>
            <a:fld id="{BB962C8B-B14F-4D97-AF65-F5344CB8AC3E}" type="datetimeFigureOut">
              <a:rPr lang="en-US" altLang="x-none"/>
            </a:fld>
            <a:endParaRPr lang="en-US" alt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eaLnBrk="1" hangingPunct="1">
              <a:buNone/>
            </a:pPr>
            <a:fld id="{9A0DB2DC-4C9A-4742-B13C-FB6460FD3503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bg object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Holder 2"/>
          <p:cNvSpPr>
            <a:spLocks noGrp="1"/>
          </p:cNvSpPr>
          <p:nvPr>
            <p:ph type="title"/>
          </p:nvPr>
        </p:nvSpPr>
        <p:spPr>
          <a:xfrm>
            <a:off x="738188" y="808038"/>
            <a:ext cx="7667625" cy="56515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p>
            <a:pPr lvl="0"/>
          </a:p>
        </p:txBody>
      </p:sp>
      <p:sp>
        <p:nvSpPr>
          <p:cNvPr id="1028" name="Holder 3"/>
          <p:cNvSpPr>
            <a:spLocks noGrp="1"/>
          </p:cNvSpPr>
          <p:nvPr>
            <p:ph type="body" idx="1"/>
          </p:nvPr>
        </p:nvSpPr>
        <p:spPr>
          <a:xfrm>
            <a:off x="889000" y="1422400"/>
            <a:ext cx="7366000" cy="301307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p>
            <a:pPr lvl="0"/>
          </a:p>
        </p:txBody>
      </p:sp>
      <p:sp>
        <p:nvSpPr>
          <p:cNvPr id="1029" name="Holder 4"/>
          <p:cNvSpPr>
            <a:spLocks noGrp="1"/>
          </p:cNvSpPr>
          <p:nvPr>
            <p:ph type="ftr" sz="quarter" idx="5"/>
          </p:nvPr>
        </p:nvSpPr>
        <p:spPr>
          <a:xfrm>
            <a:off x="3108325" y="4783138"/>
            <a:ext cx="2927350" cy="25717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algn="ctr">
              <a:defRPr>
                <a:solidFill>
                  <a:srgbClr val="898989"/>
                </a:solidFill>
              </a:defRPr>
            </a:lvl1pPr>
          </a:lstStyle>
          <a:p>
            <a:pPr lvl="0" eaLnBrk="1" hangingPunct="1">
              <a:buNone/>
            </a:pPr>
          </a:p>
        </p:txBody>
      </p:sp>
      <p:sp>
        <p:nvSpPr>
          <p:cNvPr id="1030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138"/>
            <a:ext cx="2103438" cy="25717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rgbClr val="898989"/>
                </a:solidFill>
              </a:defRPr>
            </a:lvl1pPr>
          </a:lstStyle>
          <a:p>
            <a:pPr lvl="0" eaLnBrk="1" hangingPunct="1">
              <a:buNone/>
            </a:pPr>
            <a:fld id="{BB962C8B-B14F-4D97-AF65-F5344CB8AC3E}" type="datetimeFigureOut">
              <a:rPr lang="en-US" altLang="x-none"/>
            </a:fld>
            <a:endParaRPr lang="en-US" altLang="x-none"/>
          </a:p>
        </p:txBody>
      </p:sp>
      <p:sp>
        <p:nvSpPr>
          <p:cNvPr id="1031" name="Holder 6"/>
          <p:cNvSpPr>
            <a:spLocks noGrp="1"/>
          </p:cNvSpPr>
          <p:nvPr>
            <p:ph type="sldNum" sz="quarter" idx="7"/>
          </p:nvPr>
        </p:nvSpPr>
        <p:spPr>
          <a:xfrm>
            <a:off x="6583363" y="4783138"/>
            <a:ext cx="2103437" cy="25717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>
            <a:spAutoFit/>
          </a:bodyPr>
          <a:lstStyle>
            <a:lvl1pPr algn="r">
              <a:defRPr>
                <a:solidFill>
                  <a:srgbClr val="898989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.xml"/><Relationship Id="rId7" Type="http://schemas.openxmlformats.org/officeDocument/2006/relationships/image" Target="../media/image8.jpe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1.png"/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5.xml"/><Relationship Id="rId4" Type="http://schemas.openxmlformats.org/officeDocument/2006/relationships/image" Target="../media/image16.png"/><Relationship Id="rId3" Type="http://schemas.openxmlformats.org/officeDocument/2006/relationships/image" Target="../media/image23.png"/><Relationship Id="rId2" Type="http://schemas.openxmlformats.org/officeDocument/2006/relationships/image" Target="../media/image14.png"/><Relationship Id="rId1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34.jpeg"/><Relationship Id="rId4" Type="http://schemas.openxmlformats.org/officeDocument/2006/relationships/image" Target="../media/image33.jpeg"/><Relationship Id="rId3" Type="http://schemas.openxmlformats.org/officeDocument/2006/relationships/image" Target="../media/image32.png"/><Relationship Id="rId2" Type="http://schemas.openxmlformats.org/officeDocument/2006/relationships/hyperlink" Target="mailto:pcc.centris@maxicare.com.ph" TargetMode="External"/><Relationship Id="rId1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47.png"/><Relationship Id="rId7" Type="http://schemas.openxmlformats.org/officeDocument/2006/relationships/image" Target="../media/image46.png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60.png"/><Relationship Id="rId8" Type="http://schemas.openxmlformats.org/officeDocument/2006/relationships/image" Target="../media/image59.png"/><Relationship Id="rId7" Type="http://schemas.openxmlformats.org/officeDocument/2006/relationships/image" Target="../media/image58.png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61.png"/><Relationship Id="rId1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4.xml"/><Relationship Id="rId5" Type="http://schemas.openxmlformats.org/officeDocument/2006/relationships/image" Target="../media/image39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Relationship Id="rId3" Type="http://schemas.openxmlformats.org/officeDocument/2006/relationships/image" Target="../media/image63.png"/><Relationship Id="rId2" Type="http://schemas.openxmlformats.org/officeDocument/2006/relationships/image" Target="../media/image18.png"/><Relationship Id="rId1" Type="http://schemas.openxmlformats.org/officeDocument/2006/relationships/image" Target="../media/image62.png"/></Relationships>
</file>

<file path=ppt/slides/_rels/slide2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71.jpeg"/><Relationship Id="rId4" Type="http://schemas.openxmlformats.org/officeDocument/2006/relationships/image" Target="../media/image70.png"/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image" Target="../media/image6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1" Type="http://schemas.openxmlformats.org/officeDocument/2006/relationships/image" Target="../media/image73.png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5.png"/><Relationship Id="rId3" Type="http://schemas.openxmlformats.org/officeDocument/2006/relationships/image" Target="../media/image74.png"/><Relationship Id="rId2" Type="http://schemas.openxmlformats.org/officeDocument/2006/relationships/image" Target="../media/image64.png"/><Relationship Id="rId1" Type="http://schemas.openxmlformats.org/officeDocument/2006/relationships/image" Target="../media/image7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4.png"/><Relationship Id="rId1" Type="http://schemas.openxmlformats.org/officeDocument/2006/relationships/image" Target="../media/image76.pn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84.png"/><Relationship Id="rId7" Type="http://schemas.openxmlformats.org/officeDocument/2006/relationships/image" Target="../media/image83.png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image" Target="../media/image7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3.png"/><Relationship Id="rId1" Type="http://schemas.openxmlformats.org/officeDocument/2006/relationships/image" Target="../media/image7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89.png"/><Relationship Id="rId6" Type="http://schemas.openxmlformats.org/officeDocument/2006/relationships/image" Target="../media/image82.png"/><Relationship Id="rId5" Type="http://schemas.openxmlformats.org/officeDocument/2006/relationships/image" Target="../media/image84.png"/><Relationship Id="rId4" Type="http://schemas.openxmlformats.org/officeDocument/2006/relationships/image" Target="../media/image88.png"/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image" Target="../media/image8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1" Type="http://schemas.openxmlformats.org/officeDocument/2006/relationships/image" Target="../media/image73.png"/></Relationships>
</file>

<file path=ppt/slides/_rels/slide3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84.png"/><Relationship Id="rId4" Type="http://schemas.openxmlformats.org/officeDocument/2006/relationships/image" Target="../media/image93.png"/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image" Target="../media/image90.png"/></Relationships>
</file>

<file path=ppt/slides/_rels/slide3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89.png"/><Relationship Id="rId7" Type="http://schemas.openxmlformats.org/officeDocument/2006/relationships/image" Target="../media/image100.png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1.png"/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image" Target="../media/image9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1" Type="http://schemas.openxmlformats.org/officeDocument/2006/relationships/image" Target="../media/image7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2.png"/><Relationship Id="rId1" Type="http://schemas.openxmlformats.org/officeDocument/2006/relationships/image" Target="../media/image101.jpe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66.png"/><Relationship Id="rId1" Type="http://schemas.openxmlformats.org/officeDocument/2006/relationships/image" Target="../media/image73.png"/></Relationships>
</file>

<file path=ppt/slides/_rels/slide3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93.png"/><Relationship Id="rId7" Type="http://schemas.openxmlformats.org/officeDocument/2006/relationships/image" Target="../media/image107.png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Relationship Id="rId3" Type="http://schemas.openxmlformats.org/officeDocument/2006/relationships/image" Target="../media/image66.png"/><Relationship Id="rId2" Type="http://schemas.openxmlformats.org/officeDocument/2006/relationships/image" Target="../media/image73.png"/><Relationship Id="rId1" Type="http://schemas.openxmlformats.org/officeDocument/2006/relationships/image" Target="../media/image103.png"/></Relationships>
</file>

<file path=ppt/slides/_rels/slide3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5.xml"/><Relationship Id="rId5" Type="http://schemas.openxmlformats.org/officeDocument/2006/relationships/image" Target="../media/image112.png"/><Relationship Id="rId4" Type="http://schemas.openxmlformats.org/officeDocument/2006/relationships/image" Target="../media/image111.png"/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image" Target="../media/image108.png"/></Relationships>
</file>

<file path=ppt/slides/_rels/slide3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81.png"/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image" Target="../media/image113.png"/></Relationships>
</file>

<file path=ppt/slides/_rels/slide4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17.jpeg"/><Relationship Id="rId1" Type="http://schemas.openxmlformats.org/officeDocument/2006/relationships/hyperlink" Target="https://docs.google.com/file/d/1Ahjm4dFM6u_G47qpDy5EGj-G1kPds4zr/preview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8.png"/><Relationship Id="rId1" Type="http://schemas.openxmlformats.org/officeDocument/2006/relationships/image" Target="../media/image73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22.jpeg"/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image" Target="../media/image119.png"/></Relationships>
</file>

<file path=ppt/slides/_rels/slide4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5.xml"/><Relationship Id="rId4" Type="http://schemas.openxmlformats.org/officeDocument/2006/relationships/image" Target="../media/image125.png"/><Relationship Id="rId3" Type="http://schemas.openxmlformats.org/officeDocument/2006/relationships/hyperlink" Target="mailto:customercare@maxicare.com.ph" TargetMode="External"/><Relationship Id="rId2" Type="http://schemas.openxmlformats.org/officeDocument/2006/relationships/image" Target="../media/image124.png"/><Relationship Id="rId1" Type="http://schemas.openxmlformats.org/officeDocument/2006/relationships/image" Target="../media/image123.png"/></Relationships>
</file>

<file path=ppt/slides/_rels/slide4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5.xml"/><Relationship Id="rId5" Type="http://schemas.openxmlformats.org/officeDocument/2006/relationships/image" Target="../media/image130.jpeg"/><Relationship Id="rId4" Type="http://schemas.openxmlformats.org/officeDocument/2006/relationships/image" Target="../media/image129.jpeg"/><Relationship Id="rId3" Type="http://schemas.openxmlformats.org/officeDocument/2006/relationships/image" Target="../media/image128.jpeg"/><Relationship Id="rId2" Type="http://schemas.openxmlformats.org/officeDocument/2006/relationships/image" Target="../media/image127.jpeg"/><Relationship Id="rId1" Type="http://schemas.openxmlformats.org/officeDocument/2006/relationships/image" Target="../media/image126.jpe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hyperlink" Target="http://www.maxicare.com.ph/" TargetMode="External"/><Relationship Id="rId6" Type="http://schemas.openxmlformats.org/officeDocument/2006/relationships/image" Target="../media/image136.png"/><Relationship Id="rId5" Type="http://schemas.openxmlformats.org/officeDocument/2006/relationships/image" Target="../media/image135.png"/><Relationship Id="rId4" Type="http://schemas.openxmlformats.org/officeDocument/2006/relationships/image" Target="../media/image134.png"/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image" Target="../media/image131.jpeg"/></Relationships>
</file>

<file path=ppt/slides/_rels/slide4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5.xml"/><Relationship Id="rId5" Type="http://schemas.openxmlformats.org/officeDocument/2006/relationships/image" Target="../media/image8.jpeg"/><Relationship Id="rId4" Type="http://schemas.openxmlformats.org/officeDocument/2006/relationships/image" Target="../media/image7.png"/><Relationship Id="rId3" Type="http://schemas.openxmlformats.org/officeDocument/2006/relationships/image" Target="../media/image137.png"/><Relationship Id="rId2" Type="http://schemas.openxmlformats.org/officeDocument/2006/relationships/hyperlink" Target="https://docs.google.com/forms/d/e/1FAIpQLSe08CLfOHB2mkcD65oEYMjuIzSeooUCBh5AQG9ixz5A7Z3e9w/viewform" TargetMode="External"/><Relationship Id="rId1" Type="http://schemas.openxmlformats.org/officeDocument/2006/relationships/image" Target="../media/image4.png"/></Relationships>
</file>

<file path=ppt/slides/_rels/slide5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1.png"/><Relationship Id="rId2" Type="http://schemas.openxmlformats.org/officeDocument/2006/relationships/image" Target="../media/image138.png"/><Relationship Id="rId1" Type="http://schemas.openxmlformats.org/officeDocument/2006/relationships/image" Target="../media/image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/>
      <p:grpSp>
        <p:nvGrpSpPr>
          <p:cNvPr id="2050" name="object 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2057" name="object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0"/>
              <a:ext cx="9143999" cy="514349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058" name="object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05773"/>
              <a:ext cx="8286752" cy="4731953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059" name="object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5087100" cy="5143499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060" name="object 6"/>
            <p:cNvSpPr/>
            <p:nvPr/>
          </p:nvSpPr>
          <p:spPr>
            <a:xfrm>
              <a:off x="0" y="0"/>
              <a:ext cx="4668520" cy="5143500"/>
            </a:xfrm>
            <a:custGeom>
              <a:avLst/>
              <a:gdLst/>
              <a:ahLst/>
              <a:cxnLst/>
              <a:pathLst>
                <a:path w="4668520" h="5143500">
                  <a:moveTo>
                    <a:pt x="3447037" y="5143499"/>
                  </a:moveTo>
                  <a:lnTo>
                    <a:pt x="0" y="5143499"/>
                  </a:lnTo>
                  <a:lnTo>
                    <a:pt x="1220962" y="0"/>
                  </a:lnTo>
                  <a:lnTo>
                    <a:pt x="4667999" y="0"/>
                  </a:lnTo>
                  <a:lnTo>
                    <a:pt x="3447037" y="5143499"/>
                  </a:lnTo>
                  <a:close/>
                </a:path>
              </a:pathLst>
            </a:custGeom>
            <a:solidFill>
              <a:srgbClr val="0A53C9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784225" y="3257550"/>
            <a:ext cx="2619375" cy="10985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27305" algn="ctr" eaLnBrk="1" hangingPunct="1">
              <a:spcBef>
                <a:spcPts val="100"/>
              </a:spcBef>
              <a:buNone/>
            </a:pPr>
            <a:r>
              <a:rPr lang="en-US" altLang="zh-CN" sz="2700" b="1">
                <a:solidFill>
                  <a:srgbClr val="FFFFFF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James Raphael Gonzales</a:t>
            </a:r>
            <a:endParaRPr lang="en-US" altLang="zh-CN" sz="2700">
              <a:solidFill>
                <a:srgbClr val="000000"/>
              </a:solidFill>
              <a:latin typeface="Century Gothic" panose="020B0502020202020204" pitchFamily="34" charset="0"/>
              <a:cs typeface="Century Gothic" panose="020B0502020202020204" pitchFamily="34" charset="0"/>
            </a:endParaRPr>
          </a:p>
          <a:p>
            <a:pPr marL="27305" algn="ctr" eaLnBrk="1" hangingPunct="1">
              <a:spcBef>
                <a:spcPts val="40"/>
              </a:spcBef>
              <a:buNone/>
            </a:pPr>
            <a:r>
              <a:rPr lang="en-US" altLang="zh-CN" sz="1600">
                <a:solidFill>
                  <a:srgbClr val="FFFFFF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Maxicare Learning Partner</a:t>
            </a:r>
            <a:endParaRPr lang="en-US" altLang="zh-CN" sz="1600">
              <a:solidFill>
                <a:srgbClr val="000000"/>
              </a:solidFill>
              <a:latin typeface="Century Gothic" panose="020B0502020202020204" pitchFamily="34" charset="0"/>
              <a:ea typeface="Century Gothic" panose="020B0502020202020204" pitchFamily="34" charset="0"/>
            </a:endParaRPr>
          </a:p>
        </p:txBody>
      </p:sp>
      <p:grpSp>
        <p:nvGrpSpPr>
          <p:cNvPr id="2052" name="object 8"/>
          <p:cNvGrpSpPr/>
          <p:nvPr/>
        </p:nvGrpSpPr>
        <p:grpSpPr>
          <a:xfrm>
            <a:off x="0" y="212725"/>
            <a:ext cx="8537575" cy="2784475"/>
            <a:chOff x="0" y="212719"/>
            <a:chExt cx="8537575" cy="2783840"/>
          </a:xfrm>
        </p:grpSpPr>
        <p:pic>
          <p:nvPicPr>
            <p:cNvPr id="2053" name="object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38793" y="1940672"/>
              <a:ext cx="4098738" cy="94650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054" name="object 10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0" y="212719"/>
              <a:ext cx="285749" cy="28574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055" name="object 11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96709" y="363620"/>
              <a:ext cx="2570999" cy="263240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056" name="object 12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85899" y="597675"/>
              <a:ext cx="2228098" cy="2289499"/>
            </a:xfrm>
            <a:prstGeom prst="rect">
              <a:avLst/>
            </a:prstGeom>
            <a:noFill/>
            <a:ln w="9525">
              <a:noFill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/>
      <p:pic>
        <p:nvPicPr>
          <p:cNvPr id="3074" name="object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object 3"/>
          <p:cNvSpPr txBox="1"/>
          <p:nvPr/>
        </p:nvSpPr>
        <p:spPr>
          <a:xfrm>
            <a:off x="604838" y="2355850"/>
            <a:ext cx="4611688" cy="4524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800" b="1" kern="0" cap="none" spc="44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HEALTHCARE</a:t>
            </a:r>
            <a:r>
              <a:rPr kumimoji="0" sz="2800" b="1" kern="0" cap="none" spc="18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2800" b="1" kern="0" cap="none" spc="40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PROGRAM</a:t>
            </a:r>
            <a:endParaRPr kumimoji="0" sz="28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604838" y="857250"/>
            <a:ext cx="4202113" cy="390525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400" b="0" i="0" u="none" strike="noStrike" kern="0" cap="none" spc="15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LIVE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400" b="0" i="0" u="none" strike="noStrike" kern="0" cap="none" spc="12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YOUR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400" b="0" i="0" u="none" strike="noStrike" kern="0" cap="none" spc="32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BEST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400" b="0" i="0" u="none" strike="noStrike" kern="0" cap="none" spc="27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LIFE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400" b="0" i="0" u="none" strike="noStrike" kern="0" cap="none" spc="25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WITH</a:t>
            </a:r>
            <a:endParaRPr kumimoji="0" sz="24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entury Gothic" panose="020B0502020202020204"/>
              <a:ea typeface="+mj-ea"/>
              <a:cs typeface="Century Gothic" panose="020B0502020202020204"/>
            </a:endParaRPr>
          </a:p>
        </p:txBody>
      </p:sp>
      <p:grpSp>
        <p:nvGrpSpPr>
          <p:cNvPr id="3077" name="object 5"/>
          <p:cNvGrpSpPr/>
          <p:nvPr/>
        </p:nvGrpSpPr>
        <p:grpSpPr>
          <a:xfrm>
            <a:off x="0" y="0"/>
            <a:ext cx="5080000" cy="2208213"/>
            <a:chOff x="0" y="0"/>
            <a:chExt cx="5080000" cy="2207895"/>
          </a:xfrm>
        </p:grpSpPr>
        <p:pic>
          <p:nvPicPr>
            <p:cNvPr id="3080" name="object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0400" y="1364452"/>
              <a:ext cx="4439571" cy="84329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081" name="object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85749" cy="285743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8" name="object 8"/>
          <p:cNvSpPr txBox="1"/>
          <p:nvPr/>
        </p:nvSpPr>
        <p:spPr>
          <a:xfrm>
            <a:off x="604838" y="3173413"/>
            <a:ext cx="4311650" cy="701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b="1" kern="0" cap="none" spc="2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FPT</a:t>
            </a:r>
            <a:r>
              <a:rPr kumimoji="0" b="1" kern="0" cap="none" spc="114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b="1" kern="0" cap="none" spc="30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SOFTWARE</a:t>
            </a:r>
            <a:r>
              <a:rPr kumimoji="0" b="1" kern="0" cap="none" spc="12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b="1" kern="0" cap="none" spc="254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PHILIPPINES</a:t>
            </a:r>
            <a:r>
              <a:rPr kumimoji="0" b="1" kern="0" cap="none" spc="12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b="1" kern="0" cap="none" spc="22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CORP.</a:t>
            </a:r>
            <a:endParaRPr kumimoji="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124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600" kern="0" cap="none" spc="12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April</a:t>
            </a:r>
            <a:r>
              <a:rPr kumimoji="0" sz="1600" kern="0" cap="none" spc="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01,</a:t>
            </a:r>
            <a:r>
              <a:rPr kumimoji="0" sz="1600" kern="0" cap="none" spc="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14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2026</a:t>
            </a:r>
            <a:r>
              <a:rPr kumimoji="0" sz="1600" kern="0" cap="none" spc="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11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to</a:t>
            </a:r>
            <a:r>
              <a:rPr kumimoji="0" sz="1600" kern="0" cap="none" spc="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1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March</a:t>
            </a:r>
            <a:r>
              <a:rPr kumimoji="0" sz="1600" kern="0" cap="none" spc="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-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31,</a:t>
            </a:r>
            <a:r>
              <a:rPr kumimoji="0" sz="1600" kern="0" cap="none" spc="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114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2027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3079" name="object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4888" y="779463"/>
            <a:ext cx="4206875" cy="2354262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44525" y="749300"/>
            <a:ext cx="6205538" cy="869950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700" b="1" i="0" u="none" strike="noStrike" kern="0" cap="none" spc="39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GET</a:t>
            </a:r>
            <a:r>
              <a:rPr kumimoji="0" sz="2700" b="1" i="0" u="none" strike="noStrike" kern="0" cap="none" spc="16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700" b="1" i="0" u="none" strike="noStrike" kern="0" cap="none" spc="42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THE</a:t>
            </a:r>
            <a:r>
              <a:rPr kumimoji="0" sz="2700" b="1" i="0" u="none" strike="noStrike" kern="0" cap="none" spc="16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700" b="1" i="0" u="none" strike="noStrike" kern="0" cap="none" spc="44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BEST</a:t>
            </a:r>
            <a:r>
              <a:rPr kumimoji="0" sz="2700" b="1" i="0" u="none" strike="noStrike" kern="0" cap="none" spc="16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700" b="1" i="0" u="none" strike="noStrike" kern="0" cap="none" spc="409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SERVICE</a:t>
            </a:r>
            <a:r>
              <a:rPr kumimoji="0" sz="2700" b="1" i="0" u="none" strike="noStrike" kern="0" cap="none" spc="16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700" b="1" i="0" u="none" strike="noStrike" kern="0" cap="none" spc="39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FROM</a:t>
            </a:r>
            <a:r>
              <a:rPr kumimoji="0" sz="2700" b="1" i="0" u="none" strike="noStrike" kern="0" cap="none" spc="16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700" b="1" i="0" u="none" strike="noStrike" kern="0" cap="none" spc="39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THE</a:t>
            </a:r>
            <a:endParaRPr kumimoji="0" sz="27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700" b="1" i="0" u="none" strike="noStrike" kern="0" cap="none" spc="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#1</a:t>
            </a:r>
            <a:r>
              <a:rPr kumimoji="0" sz="2700" b="1" i="0" u="none" strike="noStrike" kern="0" cap="none" spc="1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700" b="1" i="0" u="none" strike="noStrike" kern="0" cap="none" spc="15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HMO</a:t>
            </a:r>
            <a:r>
              <a:rPr kumimoji="0" sz="2700" b="1" i="0" u="none" strike="noStrike" kern="0" cap="none" spc="1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700" b="1" i="0" u="none" strike="noStrike" kern="0" cap="none" spc="16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IN</a:t>
            </a:r>
            <a:r>
              <a:rPr kumimoji="0" sz="2700" b="1" i="0" u="none" strike="noStrike" kern="0" cap="none" spc="1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700" b="1" i="0" u="none" strike="noStrike" kern="0" cap="none" spc="434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THE</a:t>
            </a:r>
            <a:r>
              <a:rPr kumimoji="0" sz="2700" b="1" i="0" u="none" strike="noStrike" kern="0" cap="none" spc="1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700" b="1" i="0" u="none" strike="noStrike" kern="0" cap="none" spc="30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PHILIPPINES</a:t>
            </a:r>
            <a:endParaRPr kumimoji="0" sz="27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entury Gothic" panose="020B0502020202020204"/>
              <a:ea typeface="+mj-ea"/>
              <a:cs typeface="Century Gothic" panose="020B0502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44525" y="1933575"/>
            <a:ext cx="3851275" cy="177800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p>
            <a:pPr marL="12700" eaLnBrk="1" hangingPunct="1">
              <a:lnSpc>
                <a:spcPts val="2900"/>
              </a:lnSpc>
              <a:spcBef>
                <a:spcPts val="75"/>
              </a:spcBef>
              <a:buNone/>
            </a:pPr>
            <a:r>
              <a:rPr lang="en-US" altLang="zh-CN" sz="2300" b="1">
                <a:solidFill>
                  <a:srgbClr val="094A97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38 YEARS OF SOLID HEALTHCARE EXPERTISE</a:t>
            </a:r>
            <a:endParaRPr lang="en-US" altLang="zh-CN" sz="2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lnSpc>
                <a:spcPct val="105000"/>
              </a:lnSpc>
              <a:spcBef>
                <a:spcPts val="450"/>
              </a:spcBef>
              <a:buNone/>
            </a:pPr>
            <a:r>
              <a:rPr lang="en-US" altLang="zh-CN" sz="20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Since 1987, Maxicare has been the most trusted healthcare provider in the country.</a:t>
            </a:r>
            <a:endParaRPr lang="en-US" altLang="zh-CN" sz="2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pic>
        <p:nvPicPr>
          <p:cNvPr id="4100" name="object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1275" y="1468438"/>
            <a:ext cx="4022725" cy="367506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101" name="object 5"/>
          <p:cNvSpPr/>
          <p:nvPr/>
        </p:nvSpPr>
        <p:spPr>
          <a:xfrm>
            <a:off x="8158163" y="79375"/>
            <a:ext cx="882650" cy="523875"/>
          </a:xfrm>
          <a:custGeom>
            <a:avLst/>
            <a:gdLst/>
            <a:ahLst/>
            <a:cxnLst/>
            <a:pathLst>
              <a:path w="882015" h="523240">
                <a:moveTo>
                  <a:pt x="881999" y="523199"/>
                </a:moveTo>
                <a:lnTo>
                  <a:pt x="0" y="523199"/>
                </a:lnTo>
                <a:lnTo>
                  <a:pt x="0" y="0"/>
                </a:lnTo>
                <a:lnTo>
                  <a:pt x="881999" y="0"/>
                </a:lnTo>
                <a:lnTo>
                  <a:pt x="881999" y="52319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0" y="1679575"/>
            <a:ext cx="2757488" cy="1716088"/>
          </a:xfrm>
        </p:spPr>
        <p:txBody>
          <a:bodyPr vert="horz" wrap="square" lIns="0" tIns="12700" rIns="0" bIns="0" rtlCol="0">
            <a:spAutoFit/>
          </a:bodyPr>
          <a:p>
            <a:pPr marL="12700" indent="40005" algn="just" eaLnBrk="1" hangingPunct="1">
              <a:spcBef>
                <a:spcPts val="100"/>
              </a:spcBef>
              <a:buNone/>
            </a:pPr>
            <a:r>
              <a:rPr lang="en-US" altLang="zh-CN" sz="3700">
                <a:solidFill>
                  <a:srgbClr val="0053CC"/>
                </a:solidFill>
                <a:latin typeface="+mj-lt"/>
                <a:ea typeface="+mj-ea"/>
                <a:cs typeface="Calibri" panose="020F0502020204030204" pitchFamily="34" charset="0"/>
              </a:rPr>
              <a:t>MEMBERS’ EXCLUSIVE BENEFITS</a:t>
            </a:r>
            <a:endParaRPr lang="en-US" altLang="zh-CN" sz="3700">
              <a:solidFill>
                <a:srgbClr val="0053CC"/>
              </a:solidFill>
              <a:latin typeface="+mj-lt"/>
              <a:ea typeface="Calibri" panose="020F0502020204030204" pitchFamily="34" charset="0"/>
              <a:cs typeface="+mj-cs"/>
            </a:endParaRPr>
          </a:p>
        </p:txBody>
      </p:sp>
      <p:grpSp>
        <p:nvGrpSpPr>
          <p:cNvPr id="5123" name="object 3"/>
          <p:cNvGrpSpPr/>
          <p:nvPr/>
        </p:nvGrpSpPr>
        <p:grpSpPr>
          <a:xfrm>
            <a:off x="0" y="0"/>
            <a:ext cx="9040813" cy="5143500"/>
            <a:chOff x="0" y="0"/>
            <a:chExt cx="9041130" cy="5143500"/>
          </a:xfrm>
        </p:grpSpPr>
        <p:pic>
          <p:nvPicPr>
            <p:cNvPr id="5125" name="object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0"/>
              <a:ext cx="4388875" cy="380902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5126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4331724" cy="3646462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5127" name="object 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319325"/>
              <a:ext cx="3605375" cy="28241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5128" name="object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2362524"/>
              <a:ext cx="3548224" cy="2757191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5129" name="object 8"/>
            <p:cNvSpPr/>
            <p:nvPr/>
          </p:nvSpPr>
          <p:spPr>
            <a:xfrm>
              <a:off x="8158599" y="80074"/>
              <a:ext cx="882015" cy="523240"/>
            </a:xfrm>
            <a:custGeom>
              <a:avLst/>
              <a:gdLst/>
              <a:ahLst/>
              <a:cxnLst/>
              <a:pathLst>
                <a:path w="882015" h="523240">
                  <a:moveTo>
                    <a:pt x="881999" y="523199"/>
                  </a:moveTo>
                  <a:lnTo>
                    <a:pt x="0" y="523199"/>
                  </a:lnTo>
                  <a:lnTo>
                    <a:pt x="0" y="0"/>
                  </a:lnTo>
                  <a:lnTo>
                    <a:pt x="881999" y="0"/>
                  </a:lnTo>
                  <a:lnTo>
                    <a:pt x="881999" y="523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5124" name="object 9"/>
          <p:cNvSpPr txBox="1"/>
          <p:nvPr/>
        </p:nvSpPr>
        <p:spPr>
          <a:xfrm>
            <a:off x="8851900" y="4765675"/>
            <a:ext cx="96838" cy="177800"/>
          </a:xfrm>
          <a:prstGeom prst="rect">
            <a:avLst/>
          </a:prstGeom>
          <a:noFill/>
          <a:ln w="9525">
            <a:noFill/>
          </a:ln>
        </p:spPr>
        <p:txBody>
          <a:bodyPr lIns="0" tIns="12700" rIns="0" bIns="0">
            <a:spAutoFit/>
          </a:bodyPr>
          <a:p>
            <a:pPr marL="12700" eaLnBrk="1" hangingPunct="1">
              <a:spcBef>
                <a:spcPts val="100"/>
              </a:spcBef>
              <a:buNone/>
            </a:pPr>
            <a:r>
              <a:rPr lang="en-US" altLang="zh-CN" sz="1000">
                <a:solidFill>
                  <a:srgbClr val="595959"/>
                </a:solidFill>
                <a:cs typeface="Arial" panose="020B0604020202020204" pitchFamily="34" charset="0"/>
              </a:rPr>
              <a:t>4</a:t>
            </a:r>
            <a:endParaRPr lang="en-US" altLang="zh-CN" sz="1000">
              <a:solidFill>
                <a:srgbClr val="000000"/>
              </a:solidFill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641350" y="239713"/>
            <a:ext cx="1436688" cy="238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|</a:t>
            </a:r>
            <a:r>
              <a:rPr kumimoji="0" sz="1400" kern="0" cap="none" spc="2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Maxicare</a:t>
            </a:r>
            <a:r>
              <a:rPr kumimoji="0" sz="1400" kern="0" cap="none" spc="-1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Card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/>
        <p:txBody>
          <a:bodyPr vert="horz" wrap="square" lIns="0" tIns="67197" rIns="0" bIns="0" rtlCol="0">
            <a:spAutoFit/>
          </a:bodyPr>
          <a:lstStyle/>
          <a:p>
            <a:pPr marL="41402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300" b="1" i="0" u="none" strike="noStrike" kern="0" cap="none" spc="21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IT’S</a:t>
            </a:r>
            <a:r>
              <a:rPr kumimoji="0" sz="2300" b="1" i="0" u="none" strike="noStrike" kern="0" cap="none" spc="14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300" b="1" i="0" u="none" strike="noStrike" kern="0" cap="none" spc="34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MORE</a:t>
            </a:r>
            <a:r>
              <a:rPr kumimoji="0" sz="2300" b="1" i="0" u="none" strike="noStrike" kern="0" cap="none" spc="14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300" b="1" i="0" u="none" strike="noStrike" kern="0" cap="none" spc="34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THAN</a:t>
            </a:r>
            <a:r>
              <a:rPr kumimoji="0" sz="2300" b="1" i="0" u="none" strike="noStrike" kern="0" cap="none" spc="14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300" b="1" i="0" u="none" strike="noStrike" kern="0" cap="none" spc="35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JUST</a:t>
            </a:r>
            <a:r>
              <a:rPr kumimoji="0" sz="2300" b="1" i="0" u="none" strike="noStrike" kern="0" cap="none" spc="14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300" b="1" i="0" u="none" strike="noStrike" kern="0" cap="none" spc="36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</a:t>
            </a:r>
            <a:r>
              <a:rPr kumimoji="0" sz="2300" b="1" i="0" u="none" strike="noStrike" kern="0" cap="none" spc="14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300" b="1" i="0" u="none" strike="noStrike" kern="0" cap="none" spc="34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MEMBERSHIP</a:t>
            </a:r>
            <a:r>
              <a:rPr kumimoji="0" sz="2300" b="1" i="0" u="none" strike="noStrike" kern="0" cap="none" spc="14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300" b="1" i="0" u="none" strike="noStrike" kern="0" cap="none" spc="38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CARD</a:t>
            </a:r>
            <a:endParaRPr kumimoji="0" sz="23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35013" y="2133600"/>
            <a:ext cx="4416425" cy="13001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eaLnBrk="1" hangingPunct="1">
              <a:spcBef>
                <a:spcPts val="100"/>
              </a:spcBef>
              <a:buNone/>
            </a:pPr>
            <a:r>
              <a:rPr lang="en-US" altLang="zh-CN" sz="17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Health card </a:t>
            </a:r>
            <a:r>
              <a:rPr lang="en-US" altLang="zh-CN" sz="17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for needed medical services</a:t>
            </a: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spcBef>
                <a:spcPts val="65"/>
              </a:spcBef>
              <a:buNone/>
            </a:pPr>
            <a:endParaRPr lang="en-US" altLang="zh-CN" sz="26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lnSpc>
                <a:spcPct val="115000"/>
              </a:lnSpc>
              <a:buNone/>
            </a:pPr>
            <a:r>
              <a:rPr lang="en-US" altLang="zh-CN" sz="17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Privilege card </a:t>
            </a:r>
            <a:r>
              <a:rPr lang="en-US" altLang="zh-CN" sz="17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for special offers by Maxicare Lifestyle Partners</a:t>
            </a: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6149" name="object 5"/>
          <p:cNvGrpSpPr/>
          <p:nvPr/>
        </p:nvGrpSpPr>
        <p:grpSpPr>
          <a:xfrm>
            <a:off x="171450" y="0"/>
            <a:ext cx="8972550" cy="4019550"/>
            <a:chOff x="171516" y="0"/>
            <a:chExt cx="8973185" cy="4019550"/>
          </a:xfrm>
        </p:grpSpPr>
        <p:pic>
          <p:nvPicPr>
            <p:cNvPr id="6151" name="object 6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71516" y="2023863"/>
              <a:ext cx="546936" cy="51450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6152" name="object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8666" y="2061963"/>
              <a:ext cx="432635" cy="40019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6153" name="object 8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71516" y="2814538"/>
              <a:ext cx="546936" cy="51450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6154" name="object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8666" y="2852638"/>
              <a:ext cx="432635" cy="400199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6155" name="object 10"/>
            <p:cNvSpPr/>
            <p:nvPr/>
          </p:nvSpPr>
          <p:spPr>
            <a:xfrm>
              <a:off x="8158599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6156" name="object 1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84990" y="1538318"/>
              <a:ext cx="3826076" cy="248083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6157" name="object 1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74907" y="1598263"/>
              <a:ext cx="3646242" cy="2300999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6150" name="object 13"/>
          <p:cNvSpPr txBox="1"/>
          <p:nvPr/>
        </p:nvSpPr>
        <p:spPr>
          <a:xfrm>
            <a:off x="8851900" y="4765675"/>
            <a:ext cx="96838" cy="177800"/>
          </a:xfrm>
          <a:prstGeom prst="rect">
            <a:avLst/>
          </a:prstGeom>
          <a:noFill/>
          <a:ln w="9525">
            <a:noFill/>
          </a:ln>
        </p:spPr>
        <p:txBody>
          <a:bodyPr lIns="0" tIns="12700" rIns="0" bIns="0">
            <a:spAutoFit/>
          </a:bodyPr>
          <a:p>
            <a:pPr marL="12700" eaLnBrk="1" hangingPunct="1">
              <a:spcBef>
                <a:spcPts val="100"/>
              </a:spcBef>
              <a:buNone/>
            </a:pPr>
            <a:r>
              <a:rPr lang="en-US" altLang="zh-CN" sz="1000">
                <a:solidFill>
                  <a:srgbClr val="595959"/>
                </a:solidFill>
                <a:cs typeface="Arial" panose="020B0604020202020204" pitchFamily="34" charset="0"/>
              </a:rPr>
              <a:t>5</a:t>
            </a:r>
            <a:endParaRPr lang="en-US" altLang="zh-CN" sz="1000">
              <a:solidFill>
                <a:srgbClr val="000000"/>
              </a:solidFill>
              <a:ea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4437063" y="1550988"/>
            <a:ext cx="4510088" cy="1838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eaLnBrk="1" hangingPunct="1">
              <a:lnSpc>
                <a:spcPts val="3540"/>
              </a:lnSpc>
              <a:spcBef>
                <a:spcPts val="100"/>
              </a:spcBef>
              <a:buNone/>
            </a:pPr>
            <a:r>
              <a:rPr lang="en-US" altLang="zh-CN" sz="3000" b="1">
                <a:solidFill>
                  <a:srgbClr val="0053C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Get convenient access</a:t>
            </a:r>
            <a:endParaRPr lang="en-US" altLang="zh-CN" sz="3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algn="ctr" eaLnBrk="1" hangingPunct="1">
              <a:lnSpc>
                <a:spcPts val="3600"/>
              </a:lnSpc>
              <a:spcBef>
                <a:spcPts val="40"/>
              </a:spcBef>
              <a:buNone/>
            </a:pPr>
            <a:r>
              <a:rPr lang="en-US" altLang="zh-CN" sz="3000">
                <a:solidFill>
                  <a:srgbClr val="233C73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to superior healthcare facilities and services</a:t>
            </a:r>
            <a:endParaRPr lang="en-US" altLang="zh-CN" sz="3000">
              <a:solidFill>
                <a:srgbClr val="000000"/>
              </a:solidFill>
              <a:latin typeface="Century Gothic" panose="020B0502020202020204" pitchFamily="34" charset="0"/>
              <a:ea typeface="Century Gothic" panose="020B0502020202020204" pitchFamily="34" charset="0"/>
            </a:endParaRPr>
          </a:p>
        </p:txBody>
      </p:sp>
      <p:grpSp>
        <p:nvGrpSpPr>
          <p:cNvPr id="7171" name="object 3"/>
          <p:cNvGrpSpPr/>
          <p:nvPr/>
        </p:nvGrpSpPr>
        <p:grpSpPr>
          <a:xfrm>
            <a:off x="0" y="0"/>
            <a:ext cx="9040813" cy="5143500"/>
            <a:chOff x="0" y="0"/>
            <a:chExt cx="9041130" cy="5143500"/>
          </a:xfrm>
        </p:grpSpPr>
        <p:pic>
          <p:nvPicPr>
            <p:cNvPr id="7172" name="object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0"/>
              <a:ext cx="4388875" cy="380902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7173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4331724" cy="3646462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7174" name="object 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319325"/>
              <a:ext cx="3605375" cy="28241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7175" name="object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2362524"/>
              <a:ext cx="3548224" cy="2757191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7176" name="object 8"/>
            <p:cNvSpPr/>
            <p:nvPr/>
          </p:nvSpPr>
          <p:spPr>
            <a:xfrm>
              <a:off x="8158599" y="80074"/>
              <a:ext cx="882015" cy="523240"/>
            </a:xfrm>
            <a:custGeom>
              <a:avLst/>
              <a:gdLst/>
              <a:ahLst/>
              <a:cxnLst/>
              <a:pathLst>
                <a:path w="882015" h="523240">
                  <a:moveTo>
                    <a:pt x="881999" y="523199"/>
                  </a:moveTo>
                  <a:lnTo>
                    <a:pt x="0" y="523199"/>
                  </a:lnTo>
                  <a:lnTo>
                    <a:pt x="0" y="0"/>
                  </a:lnTo>
                  <a:lnTo>
                    <a:pt x="881999" y="0"/>
                  </a:lnTo>
                  <a:lnTo>
                    <a:pt x="881999" y="523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2430463" y="1982788"/>
            <a:ext cx="2265363" cy="2463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600" b="1" kern="0" cap="none" spc="1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Specialties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1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Internal</a:t>
            </a:r>
            <a:r>
              <a:rPr kumimoji="0" sz="1600" kern="0" cap="none" spc="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1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Medicine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14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Pediatrics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30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OB</a:t>
            </a:r>
            <a:r>
              <a:rPr kumimoji="0" sz="1600" kern="0" cap="none" spc="6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1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Gynecology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19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ENT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1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Dermatology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18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Ophthalmology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14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Psychiatry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1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Cardiology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22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and</a:t>
            </a:r>
            <a:r>
              <a:rPr kumimoji="0" sz="1600" kern="0" cap="none" spc="5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11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More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754563" y="1982788"/>
            <a:ext cx="2827338" cy="2219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600" b="1" kern="0" cap="none" spc="18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Services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2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ECG</a:t>
            </a:r>
            <a:r>
              <a:rPr kumimoji="0" sz="1600" kern="0" cap="none" spc="3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/</a:t>
            </a:r>
            <a:r>
              <a:rPr kumimoji="0" sz="1600" kern="0" cap="none" spc="3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21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2D</a:t>
            </a:r>
            <a:r>
              <a:rPr kumimoji="0" sz="1600" kern="0" cap="none" spc="3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19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Echo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14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Treadmill</a:t>
            </a:r>
            <a:r>
              <a:rPr kumimoji="0" sz="1600" kern="0" cap="none" spc="5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14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Stress</a:t>
            </a:r>
            <a:r>
              <a:rPr kumimoji="0" sz="160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9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Test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18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Diagnostics</a:t>
            </a:r>
            <a:r>
              <a:rPr kumimoji="0" sz="1600" kern="0" cap="none" spc="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1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Laboratory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18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Diagnostics</a:t>
            </a:r>
            <a:r>
              <a:rPr kumimoji="0" sz="1600" kern="0" cap="none" spc="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22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Imaging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14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Ultrasound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1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X-</a:t>
            </a:r>
            <a:r>
              <a:rPr kumimoji="0" sz="1600" kern="0" cap="none" spc="10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ray</a:t>
            </a:r>
            <a:r>
              <a:rPr kumimoji="0" sz="1600" kern="0" cap="none" spc="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12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(Plain)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1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Cardiology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469900" marR="0" indent="-35179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469265" algn="l"/>
                <a:tab pos="469900" algn="l"/>
              </a:tabLst>
              <a:defRPr/>
            </a:pPr>
            <a:r>
              <a:rPr kumimoji="0" sz="1600" kern="0" cap="none" spc="22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and</a:t>
            </a:r>
            <a:r>
              <a:rPr kumimoji="0" sz="1600" kern="0" cap="none" spc="5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00" kern="0" cap="none" spc="11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More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8196" name="object 4"/>
          <p:cNvGrpSpPr/>
          <p:nvPr/>
        </p:nvGrpSpPr>
        <p:grpSpPr>
          <a:xfrm>
            <a:off x="0" y="1389063"/>
            <a:ext cx="9144000" cy="3754437"/>
            <a:chOff x="0" y="1388325"/>
            <a:chExt cx="9144000" cy="3755390"/>
          </a:xfrm>
        </p:grpSpPr>
        <p:pic>
          <p:nvPicPr>
            <p:cNvPr id="8202" name="object 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1388325"/>
              <a:ext cx="2040650" cy="223830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8203" name="object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426425"/>
              <a:ext cx="1983499" cy="212399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8204" name="object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937625"/>
              <a:ext cx="2535975" cy="22058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8205" name="object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2975725"/>
              <a:ext cx="2478824" cy="21677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8206" name="object 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25540" y="2720725"/>
              <a:ext cx="2218459" cy="24227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8207" name="object 10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982690" y="2758825"/>
              <a:ext cx="2161309" cy="2384674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11" name="object 11"/>
          <p:cNvSpPr txBox="1"/>
          <p:nvPr/>
        </p:nvSpPr>
        <p:spPr>
          <a:xfrm>
            <a:off x="641350" y="239713"/>
            <a:ext cx="747713" cy="238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|</a:t>
            </a:r>
            <a:r>
              <a:rPr kumimoji="0" sz="1400" kern="0" cap="none" spc="1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Clinics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198" name="object 12"/>
          <p:cNvSpPr txBox="1"/>
          <p:nvPr/>
        </p:nvSpPr>
        <p:spPr>
          <a:xfrm>
            <a:off x="8851900" y="4765675"/>
            <a:ext cx="96838" cy="177800"/>
          </a:xfrm>
          <a:prstGeom prst="rect">
            <a:avLst/>
          </a:prstGeom>
          <a:noFill/>
          <a:ln w="9525">
            <a:noFill/>
          </a:ln>
        </p:spPr>
        <p:txBody>
          <a:bodyPr lIns="0" tIns="12700" rIns="0" bIns="0">
            <a:spAutoFit/>
          </a:bodyPr>
          <a:p>
            <a:pPr marL="12700" eaLnBrk="1" hangingPunct="1">
              <a:spcBef>
                <a:spcPts val="100"/>
              </a:spcBef>
              <a:buNone/>
            </a:pPr>
            <a:r>
              <a:rPr lang="en-US" altLang="zh-CN" sz="1000">
                <a:solidFill>
                  <a:srgbClr val="595959"/>
                </a:solidFill>
                <a:cs typeface="Arial" panose="020B0604020202020204" pitchFamily="34" charset="0"/>
              </a:rPr>
              <a:t>7</a:t>
            </a:r>
            <a:endParaRPr lang="en-US" altLang="zh-CN" sz="1000">
              <a:solidFill>
                <a:srgbClr val="000000"/>
              </a:solidFill>
              <a:ea typeface="Arial" panose="020B0604020202020204" pitchFamily="34" charset="0"/>
            </a:endParaRPr>
          </a:p>
        </p:txBody>
      </p:sp>
      <p:sp>
        <p:nvSpPr>
          <p:cNvPr id="8199" name="object 13"/>
          <p:cNvSpPr/>
          <p:nvPr/>
        </p:nvSpPr>
        <p:spPr>
          <a:xfrm>
            <a:off x="8158163" y="0"/>
            <a:ext cx="985837" cy="603250"/>
          </a:xfrm>
          <a:custGeom>
            <a:avLst/>
            <a:gdLst/>
            <a:ahLst/>
            <a:cxnLst/>
            <a:pathLst>
              <a:path w="985520" h="603885">
                <a:moveTo>
                  <a:pt x="985499" y="603299"/>
                </a:moveTo>
                <a:lnTo>
                  <a:pt x="0" y="603299"/>
                </a:lnTo>
                <a:lnTo>
                  <a:pt x="0" y="0"/>
                </a:lnTo>
                <a:lnTo>
                  <a:pt x="985499" y="0"/>
                </a:lnTo>
                <a:lnTo>
                  <a:pt x="985499" y="60329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909638" y="584200"/>
            <a:ext cx="7327900" cy="374650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300" b="1" i="0" u="none" strike="noStrike" kern="0" cap="none" spc="37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ENJOY</a:t>
            </a:r>
            <a:r>
              <a:rPr kumimoji="0" sz="2300" b="1" i="0" u="none" strike="noStrike" kern="0" cap="none" spc="14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300" b="1" i="0" u="none" strike="noStrike" kern="0" cap="none" spc="39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WORLD-CLASS</a:t>
            </a:r>
            <a:r>
              <a:rPr kumimoji="0" sz="2300" b="1" i="0" u="none" strike="noStrike" kern="0" cap="none" spc="15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300" b="1" i="0" u="none" strike="noStrike" kern="0" cap="none" spc="35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SERVICE</a:t>
            </a:r>
            <a:r>
              <a:rPr kumimoji="0" sz="2300" b="1" i="0" u="none" strike="noStrike" kern="0" cap="none" spc="15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300" b="1" i="0" u="none" strike="noStrike" kern="0" cap="none" spc="34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LIKE</a:t>
            </a:r>
            <a:r>
              <a:rPr kumimoji="0" sz="2300" b="1" i="0" u="none" strike="noStrike" kern="0" cap="none" spc="15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300" b="1" i="0" u="none" strike="noStrike" kern="0" cap="none" spc="35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NO</a:t>
            </a:r>
            <a:r>
              <a:rPr kumimoji="0" sz="2300" b="1" i="0" u="none" strike="noStrike" kern="0" cap="none" spc="15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2300" b="1" i="0" u="none" strike="noStrike" kern="0" cap="none" spc="35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OTHER</a:t>
            </a:r>
            <a:endParaRPr kumimoji="0" sz="23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674813" y="1066800"/>
            <a:ext cx="6605588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36525" indent="-123825" eaLnBrk="1" hangingPunct="1">
              <a:spcBef>
                <a:spcPts val="100"/>
              </a:spcBef>
              <a:buNone/>
            </a:pPr>
            <a:r>
              <a:rPr lang="en-US" altLang="zh-CN" sz="20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With Maxicare, you can count on our top-of-the-line primary care providers and laboratory equipment.</a:t>
            </a:r>
            <a:endParaRPr lang="en-US" altLang="zh-CN" sz="2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218" name="object 2"/>
          <p:cNvSpPr/>
          <p:nvPr/>
        </p:nvSpPr>
        <p:spPr>
          <a:xfrm>
            <a:off x="322263" y="1689100"/>
            <a:ext cx="8501062" cy="3384550"/>
          </a:xfrm>
          <a:custGeom>
            <a:avLst/>
            <a:gdLst/>
            <a:ahLst/>
            <a:cxnLst/>
            <a:pathLst>
              <a:path w="8501380" h="3385185">
                <a:moveTo>
                  <a:pt x="8500799" y="3384599"/>
                </a:moveTo>
                <a:lnTo>
                  <a:pt x="0" y="3384599"/>
                </a:lnTo>
                <a:lnTo>
                  <a:pt x="0" y="0"/>
                </a:lnTo>
                <a:lnTo>
                  <a:pt x="8500799" y="0"/>
                </a:lnTo>
                <a:lnTo>
                  <a:pt x="8500799" y="338459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395288" y="1744663"/>
            <a:ext cx="2332038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Ayala</a:t>
            </a:r>
            <a:r>
              <a:rPr kumimoji="0" sz="1000" b="1" kern="0" cap="none" spc="7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14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North</a:t>
            </a:r>
            <a:r>
              <a:rPr kumimoji="0" sz="1000" b="1" kern="0" cap="none" spc="7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Exchange</a:t>
            </a:r>
            <a:r>
              <a:rPr kumimoji="0" sz="1000" b="1" kern="0" cap="none" spc="7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14" normalizeH="0" baseline="0" noProof="0" dirty="0">
                <a:solidFill>
                  <a:srgbClr val="CC0000"/>
                </a:solidFill>
                <a:latin typeface="Calibri" panose="020F0502020204030204"/>
                <a:cs typeface="Calibri" panose="020F0502020204030204"/>
              </a:rPr>
              <a:t>(open</a:t>
            </a:r>
            <a:r>
              <a:rPr kumimoji="0" sz="1000" b="1" kern="0" cap="none" spc="70" normalizeH="0" baseline="0" noProof="0" dirty="0">
                <a:solidFill>
                  <a:srgbClr val="CC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45" normalizeH="0" baseline="0" noProof="0" dirty="0">
                <a:solidFill>
                  <a:srgbClr val="CC0000"/>
                </a:solidFill>
                <a:latin typeface="Calibri" panose="020F0502020204030204"/>
                <a:cs typeface="Calibri" panose="020F0502020204030204"/>
              </a:rPr>
              <a:t>24/7!)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46100" y="1897063"/>
            <a:ext cx="230822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Second Floor, The Shops, Ayala North Exchange, Ayala Ave. Cor Amorsolo and Salcedo Sts, Makati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95288" y="2506663"/>
            <a:ext cx="172402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3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Bridgetowne</a:t>
            </a:r>
            <a:r>
              <a:rPr kumimoji="0" sz="1000" b="1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14" normalizeH="0" baseline="0" noProof="0" dirty="0">
                <a:solidFill>
                  <a:srgbClr val="CC0000"/>
                </a:solidFill>
                <a:latin typeface="Calibri" panose="020F0502020204030204"/>
                <a:cs typeface="Calibri" panose="020F0502020204030204"/>
              </a:rPr>
              <a:t>(open</a:t>
            </a:r>
            <a:r>
              <a:rPr kumimoji="0" sz="1000" b="1" kern="0" cap="none" spc="70" normalizeH="0" baseline="0" noProof="0" dirty="0">
                <a:solidFill>
                  <a:srgbClr val="CC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45" normalizeH="0" baseline="0" noProof="0" dirty="0">
                <a:solidFill>
                  <a:srgbClr val="CC0000"/>
                </a:solidFill>
                <a:latin typeface="Calibri" panose="020F0502020204030204"/>
                <a:cs typeface="Calibri" panose="020F0502020204030204"/>
              </a:rPr>
              <a:t>24/7!)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6100" y="2659063"/>
            <a:ext cx="229870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Unit 1-3, Zeta Tower, Bridgetowne, C-5 Road, Ugong Norte, Quezon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95288" y="3116263"/>
            <a:ext cx="8413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2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Eton</a:t>
            </a:r>
            <a:r>
              <a:rPr kumimoji="0" sz="1000" b="1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Centris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46100" y="3268663"/>
            <a:ext cx="2336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Ground Floor, Cyberpod Centris 5, Eton Centris, Quezon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95288" y="3573463"/>
            <a:ext cx="147955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2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Robinsons</a:t>
            </a:r>
            <a:r>
              <a:rPr kumimoji="0" sz="1000" b="1" kern="0" cap="none" spc="8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Novaliches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100" y="3725863"/>
            <a:ext cx="216852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algn="just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Level 1 Expansion, Robinsons Novaliches, Quirino Highway, Quezon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95288" y="4183063"/>
            <a:ext cx="59055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Fairview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46100" y="4335463"/>
            <a:ext cx="2414588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Unit 1&amp;2 AD Center (beside PNB), Regalado Ave, Fairview, Quezon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1350" y="68263"/>
            <a:ext cx="747713" cy="238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|</a:t>
            </a:r>
            <a:r>
              <a:rPr kumimoji="0" sz="1400" kern="0" cap="none" spc="1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Clinics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9230" name="object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063" y="488950"/>
            <a:ext cx="3063875" cy="90011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3625850" y="217488"/>
            <a:ext cx="1892300" cy="304800"/>
          </a:xfrm>
        </p:spPr>
        <p:txBody>
          <a:bodyPr vert="horz" wrap="square" lIns="0" tIns="1651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3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800" b="1" i="0" u="none" strike="noStrike" kern="0" cap="none" spc="26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EASILY</a:t>
            </a:r>
            <a:r>
              <a:rPr kumimoji="0" sz="1800" b="1" i="0" u="none" strike="noStrike" kern="0" cap="none" spc="114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800" b="1" i="0" u="none" strike="noStrike" kern="0" cap="none" spc="31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ACCESS</a:t>
            </a:r>
            <a:endParaRPr kumimoji="0" sz="18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sp>
        <p:nvSpPr>
          <p:cNvPr id="9232" name="object 16"/>
          <p:cNvSpPr/>
          <p:nvPr/>
        </p:nvSpPr>
        <p:spPr>
          <a:xfrm>
            <a:off x="455613" y="1487488"/>
            <a:ext cx="2243137" cy="182562"/>
          </a:xfrm>
          <a:custGeom>
            <a:avLst/>
            <a:gdLst/>
            <a:ahLst/>
            <a:cxnLst/>
            <a:pathLst>
              <a:path w="2242185" h="182880">
                <a:moveTo>
                  <a:pt x="2241656" y="182879"/>
                </a:moveTo>
                <a:lnTo>
                  <a:pt x="0" y="182879"/>
                </a:lnTo>
                <a:lnTo>
                  <a:pt x="0" y="0"/>
                </a:lnTo>
                <a:lnTo>
                  <a:pt x="2241656" y="0"/>
                </a:lnTo>
                <a:lnTo>
                  <a:pt x="2241656" y="182879"/>
                </a:lnTo>
                <a:close/>
              </a:path>
            </a:pathLst>
          </a:custGeom>
          <a:solidFill>
            <a:srgbClr val="FFFF00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  <p:sp>
        <p:nvSpPr>
          <p:cNvPr id="17" name="object 17"/>
          <p:cNvSpPr txBox="1"/>
          <p:nvPr/>
        </p:nvSpPr>
        <p:spPr>
          <a:xfrm>
            <a:off x="442913" y="1090613"/>
            <a:ext cx="7616825" cy="585788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658495" marR="0" defTabSz="914400" eaLnBrk="1" fontAlgn="auto" hangingPunct="1">
              <a:spcBef>
                <a:spcPts val="14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50" kern="0" cap="none" spc="1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Wherever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you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2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may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2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be,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Maxicare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1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is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6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within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reach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0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for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your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6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healthcare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4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needs!</a:t>
            </a:r>
            <a:endParaRPr kumimoji="0" sz="145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119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16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NATIONAL</a:t>
            </a:r>
            <a:r>
              <a:rPr kumimoji="0" sz="1200" b="1" kern="0" cap="none" spc="7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200" b="1" kern="0" cap="none" spc="17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CAPITAL</a:t>
            </a:r>
            <a:r>
              <a:rPr kumimoji="0" sz="1200" b="1" kern="0" cap="none" spc="7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200" b="1" kern="0" cap="none" spc="16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REGION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136900" y="1846263"/>
            <a:ext cx="2686050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eaLnBrk="1" hangingPunct="1">
              <a:spcBef>
                <a:spcPts val="100"/>
              </a:spcBef>
              <a:buNone/>
            </a:pPr>
            <a:r>
              <a:rPr lang="en-US" altLang="zh-CN" sz="9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Hemady (Upper Ground Floor)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Clr>
                <a:srgbClr val="000000"/>
              </a:buClr>
              <a:buFont typeface="Arial" panose="020B0604020202020204" pitchFamily="34" charset="0"/>
              <a:buChar char="●"/>
            </a:pPr>
            <a:r>
              <a:rPr lang="en-US" altLang="zh-CN" sz="9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Upper Ground Floor, Unit 102, Hemady Square 86 Dona Hemady St. cor. E. Rodriguez Sr. Ave., Quezon City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None/>
            </a:pPr>
            <a:r>
              <a:rPr lang="en-US" altLang="zh-CN" sz="9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Hemady (Second Floor)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297238" y="2532063"/>
            <a:ext cx="2298700" cy="3000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09880" indent="-297180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09880" algn="l"/>
              </a:tabLst>
            </a:pPr>
            <a:r>
              <a:rPr lang="en-US" altLang="zh-CN" sz="9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2nd Floor, Unit 203-205, Hemady Square 86 Dona Hemady St. cor. E.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136900" y="2806700"/>
            <a:ext cx="2251075" cy="3000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900" kern="0" cap="none" spc="10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Rodriguez</a:t>
            </a:r>
            <a:r>
              <a:rPr kumimoji="0" sz="900" kern="0" cap="none" spc="11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00" kern="0" cap="none" spc="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Sr.</a:t>
            </a:r>
            <a:r>
              <a:rPr kumimoji="0" sz="900" kern="0" cap="none" spc="114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00" kern="0" cap="none" spc="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Ave.,</a:t>
            </a:r>
            <a:r>
              <a:rPr kumimoji="0" sz="900" kern="0" cap="none" spc="114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00" kern="0" cap="none" spc="11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Quezon</a:t>
            </a:r>
            <a:r>
              <a:rPr kumimoji="0" sz="900" kern="0" cap="none" spc="114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00" kern="0" cap="none" spc="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City</a:t>
            </a:r>
            <a:endParaRPr kumimoji="0" sz="9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900" b="1" kern="0" cap="none" spc="13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VV</a:t>
            </a:r>
            <a:r>
              <a:rPr kumimoji="0" sz="900" b="1" kern="0" cap="none" spc="5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00" b="1" kern="0" cap="none" spc="9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Soliven</a:t>
            </a:r>
            <a:endParaRPr kumimoji="0" sz="9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297238" y="3081338"/>
            <a:ext cx="2427288" cy="2984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09880" indent="-297180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09880" algn="l"/>
              </a:tabLst>
            </a:pPr>
            <a:r>
              <a:rPr lang="en-US" altLang="zh-CN" sz="9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GF-SOL1 (Centro Del Sol), VV Soliven Shopping Complex, EDSA Greenhills,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136900" y="3354388"/>
            <a:ext cx="2690813" cy="1260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469900" eaLnBrk="1" hangingPunct="1">
              <a:spcBef>
                <a:spcPts val="100"/>
              </a:spcBef>
              <a:buNone/>
            </a:pPr>
            <a:r>
              <a:rPr lang="en-US" altLang="zh-CN" sz="9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San Juan City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69900" eaLnBrk="1" hangingPunct="1">
              <a:buNone/>
            </a:pPr>
            <a:r>
              <a:rPr lang="en-US" altLang="zh-CN" sz="9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SM BF Paranaque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69900" eaLnBrk="1" hangingPunct="1">
              <a:buFont typeface="Arial" panose="020B0604020202020204" pitchFamily="34" charset="0"/>
              <a:buChar char="●"/>
            </a:pPr>
            <a:r>
              <a:rPr lang="en-US" altLang="zh-CN" sz="9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Ground Floor SM BF Paranaque, Dr. A Santos Ave. Sucat, Paranaque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69900" eaLnBrk="1" hangingPunct="1">
              <a:buNone/>
            </a:pPr>
            <a:r>
              <a:rPr lang="en-US" altLang="zh-CN" sz="9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Alabang (Filinvest)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69900" eaLnBrk="1" hangingPunct="1">
              <a:buClr>
                <a:srgbClr val="000000"/>
              </a:buClr>
              <a:buFont typeface="Arial" panose="020B0604020202020204" pitchFamily="34" charset="0"/>
              <a:buChar char="●"/>
            </a:pPr>
            <a:r>
              <a:rPr lang="en-US" altLang="zh-CN" sz="9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GF Filinvest Three, Alabang-Zapote Road, Northgate, Alabang, Muntinlupa City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69900" eaLnBrk="1" hangingPunct="1">
              <a:buNone/>
            </a:pPr>
            <a:r>
              <a:rPr lang="en-US" altLang="zh-CN" sz="9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PNB Makati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297238" y="4589463"/>
            <a:ext cx="2436813" cy="3000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09880" indent="-297180" defTabSz="914400" eaLnBrk="1" hangingPunct="1"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309880" algn="l"/>
              </a:tabLst>
            </a:pPr>
            <a:r>
              <a:rPr lang="en-US" altLang="zh-CN" sz="9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Mezzanine, PNB Makati Center 6754 Ayala Ave, cor. Legazpi St. Makati City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027738" y="1885950"/>
            <a:ext cx="2435225" cy="10382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eaLnBrk="1" hangingPunct="1">
              <a:spcBef>
                <a:spcPts val="100"/>
              </a:spcBef>
              <a:buNone/>
            </a:pPr>
            <a:r>
              <a:rPr lang="en-US" altLang="zh-CN" sz="9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Cubao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Clr>
                <a:srgbClr val="000000"/>
              </a:buClr>
              <a:buFont typeface="Arial" panose="020B0604020202020204" pitchFamily="34" charset="0"/>
              <a:buChar char="●"/>
            </a:pPr>
            <a:r>
              <a:rPr lang="en-US" altLang="zh-CN" sz="9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Upper Ground Floor, Cyberpark Tower 2, Araneta City, Cubao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None/>
            </a:pPr>
            <a:r>
              <a:rPr lang="en-US" altLang="zh-CN" sz="9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Robinsons Metro East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Clr>
                <a:srgbClr val="000000"/>
              </a:buClr>
              <a:buFont typeface="Arial" panose="020B0604020202020204" pitchFamily="34" charset="0"/>
              <a:buChar char="●"/>
            </a:pPr>
            <a:r>
              <a:rPr lang="en-US" altLang="zh-CN" sz="9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4th Level, Robinsons Metro East, Marikina-Infanta Highway, Pasig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None/>
            </a:pPr>
            <a:r>
              <a:rPr lang="en-US" altLang="zh-CN" sz="9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Robinsons Otis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183313" y="2898775"/>
            <a:ext cx="1979613" cy="1714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3690" marR="0" indent="-301625" defTabSz="914400" eaLnBrk="1" fontAlgn="auto" hangingPunct="1"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Char char="●"/>
              <a:tabLst>
                <a:tab pos="313690" algn="l"/>
                <a:tab pos="314325" algn="l"/>
              </a:tabLst>
              <a:defRPr/>
            </a:pPr>
            <a:r>
              <a:rPr kumimoji="0" sz="950" kern="0" cap="none" spc="8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Level</a:t>
            </a:r>
            <a:r>
              <a:rPr kumimoji="0" sz="950" kern="0" cap="none" spc="4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50" kern="0" cap="none" spc="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2,</a:t>
            </a:r>
            <a:r>
              <a:rPr kumimoji="0" sz="950" kern="0" cap="none" spc="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50" kern="0" cap="none" spc="11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Robinsons</a:t>
            </a:r>
            <a:r>
              <a:rPr kumimoji="0" sz="950" kern="0" cap="none" spc="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50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Otis,</a:t>
            </a:r>
            <a:r>
              <a:rPr kumimoji="0" sz="950" kern="0" cap="none" spc="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50" kern="0" cap="none" spc="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Paz</a:t>
            </a:r>
            <a:endParaRPr kumimoji="0" sz="95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484938" y="3044825"/>
            <a:ext cx="2159000" cy="1698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950" kern="0" cap="none" spc="10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Mendoza</a:t>
            </a:r>
            <a:r>
              <a:rPr kumimoji="0" sz="950" kern="0" cap="none" spc="7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50" kern="0" cap="none" spc="12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Guanzon</a:t>
            </a:r>
            <a:r>
              <a:rPr kumimoji="0" sz="950" kern="0" cap="none" spc="7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50" kern="0" cap="none" spc="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St.,</a:t>
            </a:r>
            <a:r>
              <a:rPr kumimoji="0" sz="950" kern="0" cap="none" spc="7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50" kern="0" cap="none" spc="8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Paco,</a:t>
            </a:r>
            <a:r>
              <a:rPr kumimoji="0" sz="950" kern="0" cap="none" spc="7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50" kern="0" cap="none" spc="7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Manila</a:t>
            </a:r>
            <a:endParaRPr kumimoji="0" sz="95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027738" y="3189288"/>
            <a:ext cx="623888" cy="1698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950" b="1" kern="0" cap="none" spc="8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Sta.</a:t>
            </a:r>
            <a:r>
              <a:rPr kumimoji="0" sz="950" b="1" kern="0" cap="none" spc="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950" b="1" kern="0" cap="none" spc="8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Mesa</a:t>
            </a:r>
            <a:endParaRPr kumimoji="0" sz="95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183313" y="3333750"/>
            <a:ext cx="2317750" cy="314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3055" indent="-301625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13055" algn="l"/>
                <a:tab pos="314325" algn="l"/>
              </a:tabLst>
            </a:pPr>
            <a:r>
              <a:rPr lang="en-US" altLang="zh-CN" sz="9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Mezzanine, Dona Elena Tower, P. Sanchez St. Cor 3rd St., Sta. Mesa,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027738" y="3622675"/>
            <a:ext cx="2657475" cy="13287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469900" eaLnBrk="1" hangingPunct="1">
              <a:spcBef>
                <a:spcPts val="100"/>
              </a:spcBef>
              <a:buNone/>
            </a:pPr>
            <a:r>
              <a:rPr lang="en-US" altLang="zh-CN" sz="9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Manila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69900" eaLnBrk="1" hangingPunct="1">
              <a:buNone/>
            </a:pPr>
            <a:r>
              <a:rPr lang="en-US" altLang="zh-CN" sz="9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Bonifacio Technology Center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69900" eaLnBrk="1" hangingPunct="1">
              <a:buClr>
                <a:srgbClr val="000000"/>
              </a:buClr>
              <a:buFont typeface="Arial" panose="020B0604020202020204" pitchFamily="34" charset="0"/>
              <a:buChar char="●"/>
            </a:pPr>
            <a:r>
              <a:rPr lang="en-US" altLang="zh-CN" sz="9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2nd Ave cor 31st St. Bonifacio Technology Center, Bonifacio Global City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69900" eaLnBrk="1" hangingPunct="1">
              <a:buNone/>
            </a:pPr>
            <a:r>
              <a:rPr lang="en-US" altLang="zh-CN" sz="9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Double Dragon Meridian Park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69900" eaLnBrk="1" hangingPunct="1">
              <a:buClr>
                <a:srgbClr val="000000"/>
              </a:buClr>
              <a:buFont typeface="Arial" panose="020B0604020202020204" pitchFamily="34" charset="0"/>
              <a:buChar char="●"/>
            </a:pPr>
            <a:r>
              <a:rPr lang="en-US" altLang="zh-CN" sz="9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G/F Tower 2, Double Dragon Meridian Park, Diosdado Macapagal Ave. cor EDSA Extension, Pasay City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242" name="object 2"/>
          <p:cNvSpPr/>
          <p:nvPr/>
        </p:nvSpPr>
        <p:spPr>
          <a:xfrm>
            <a:off x="322263" y="1817688"/>
            <a:ext cx="8501062" cy="3238500"/>
          </a:xfrm>
          <a:custGeom>
            <a:avLst/>
            <a:gdLst/>
            <a:ahLst/>
            <a:cxnLst/>
            <a:pathLst>
              <a:path w="8501380" h="3237865">
                <a:moveTo>
                  <a:pt x="8500808" y="0"/>
                </a:moveTo>
                <a:lnTo>
                  <a:pt x="0" y="0"/>
                </a:lnTo>
                <a:lnTo>
                  <a:pt x="0" y="23787"/>
                </a:lnTo>
                <a:lnTo>
                  <a:pt x="0" y="3237306"/>
                </a:lnTo>
                <a:lnTo>
                  <a:pt x="8500808" y="3237306"/>
                </a:lnTo>
                <a:lnTo>
                  <a:pt x="8500808" y="23787"/>
                </a:lnTo>
                <a:lnTo>
                  <a:pt x="8500808" y="0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3395663" y="1885950"/>
            <a:ext cx="249872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2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Robinsons</a:t>
            </a:r>
            <a:r>
              <a:rPr kumimoji="0" sz="1000" b="1" kern="0" cap="none" spc="7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9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Galleria</a:t>
            </a:r>
            <a:r>
              <a:rPr kumimoji="0" sz="1000" b="1" kern="0" cap="none" spc="7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3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South</a:t>
            </a:r>
            <a:r>
              <a:rPr kumimoji="0" sz="1000" b="1" kern="0" cap="none" spc="7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14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(San</a:t>
            </a:r>
            <a:r>
              <a:rPr kumimoji="0" sz="1000" b="1" kern="0" cap="none" spc="7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Pedro)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48063" y="2038350"/>
            <a:ext cx="241617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Level 2, Robinsons Galleria South National Highway City of San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395663" y="2343150"/>
            <a:ext cx="1951038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8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Pedro,</a:t>
            </a:r>
            <a:r>
              <a:rPr kumimoji="0" sz="1000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13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Laguna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3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The</a:t>
            </a:r>
            <a:r>
              <a:rPr kumimoji="0" sz="1000" b="1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9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Mezzo,</a:t>
            </a:r>
            <a:r>
              <a:rPr kumimoji="0" sz="1000" b="1" kern="0" cap="none" spc="6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2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Calamba,</a:t>
            </a:r>
            <a:r>
              <a:rPr kumimoji="0" sz="1000" b="1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4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Laguna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48063" y="2647950"/>
            <a:ext cx="1931988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Ground Floor, The Mezzo, Barangay Turbina, City of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395663" y="2952750"/>
            <a:ext cx="18669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11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Calamba,</a:t>
            </a:r>
            <a:r>
              <a:rPr kumimoji="0" sz="1000" kern="0" cap="none" spc="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14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Laguna</a:t>
            </a:r>
            <a:r>
              <a:rPr kumimoji="0" sz="1000" kern="0" cap="none" spc="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City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4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San</a:t>
            </a:r>
            <a:r>
              <a:rPr kumimoji="0" sz="1000" b="1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Pablo,</a:t>
            </a:r>
            <a:r>
              <a:rPr kumimoji="0" sz="1000" b="1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4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Laguna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48063" y="3257550"/>
            <a:ext cx="2303463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2/F Mainstreet Plaza, Maharlika Highway, Brgy. San Roque, San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395663" y="3562350"/>
            <a:ext cx="1658938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11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Pablo</a:t>
            </a:r>
            <a:r>
              <a:rPr kumimoji="0" sz="1000" kern="0" cap="none" spc="4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City,</a:t>
            </a:r>
            <a:r>
              <a:rPr kumimoji="0" sz="1000" kern="0" cap="none" spc="4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13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Laguna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14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North</a:t>
            </a:r>
            <a:r>
              <a:rPr kumimoji="0" sz="1000" b="1" kern="0" cap="none" spc="6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14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Caloocan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548063" y="3867150"/>
            <a:ext cx="235902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2nd Floor, The Plaza Bagong Silang, Langit rd, Bagong Silang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395663" y="4171950"/>
            <a:ext cx="1874838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13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Phase</a:t>
            </a:r>
            <a:r>
              <a:rPr kumimoji="0" sz="1000" kern="0" cap="none" spc="4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-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1,</a:t>
            </a:r>
            <a:r>
              <a:rPr kumimoji="0" sz="1000" kern="0" cap="none" spc="4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11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Caloocan</a:t>
            </a:r>
            <a:r>
              <a:rPr kumimoji="0" sz="1000" kern="0" cap="none" spc="4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City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4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Baguio</a:t>
            </a:r>
            <a:r>
              <a:rPr kumimoji="0" sz="1000" b="1" kern="0" cap="none" spc="7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8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City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548063" y="4476750"/>
            <a:ext cx="231775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Ground Floor, Patria de Baguio, Porta Vaga Mall, Session Road, Baguio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42913" y="1949450"/>
            <a:ext cx="138112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2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Robinsons</a:t>
            </a:r>
            <a:r>
              <a:rPr kumimoji="0" sz="1000" b="1" kern="0" cap="none" spc="7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4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Las</a:t>
            </a:r>
            <a:r>
              <a:rPr kumimoji="0" sz="1000" b="1" kern="0" cap="none" spc="7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2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Piñas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95313" y="2101850"/>
            <a:ext cx="211772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Level 2, Robinsons Place Las Piñas, Talon Uno, Alabang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42913" y="2406650"/>
            <a:ext cx="2351088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469900" eaLnBrk="1" hangingPunct="1">
              <a:spcBef>
                <a:spcPts val="100"/>
              </a:spcBef>
              <a:buNone/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Zapote Road, Las Piñas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69900" eaLnBrk="1" hangingPunct="1">
              <a:buNone/>
            </a:pPr>
            <a:r>
              <a:rPr lang="en-US" altLang="zh-CN" sz="10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Bacoor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69900" eaLnBrk="1" hangingPunct="1">
              <a:buClr>
                <a:srgbClr val="000000"/>
              </a:buClr>
              <a:buFont typeface="Arial" panose="020B0604020202020204" pitchFamily="34" charset="0"/>
              <a:buChar char="●"/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Ground Floor, SOMO A Vista Mall, Molino - Paliparan Road, Bacoor, Cavite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69900" eaLnBrk="1" hangingPunct="1">
              <a:buNone/>
            </a:pPr>
            <a:r>
              <a:rPr lang="en-US" altLang="zh-CN" sz="10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Imus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95313" y="3321050"/>
            <a:ext cx="17938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7500" marR="0" indent="-305435" defTabSz="914400" eaLnBrk="1" fontAlgn="auto" hangingPunct="1">
              <a:spcBef>
                <a:spcPts val="10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Char char="●"/>
              <a:tabLst>
                <a:tab pos="317500" algn="l"/>
                <a:tab pos="318135" algn="l"/>
              </a:tabLst>
              <a:defRPr/>
            </a:pPr>
            <a:r>
              <a:rPr kumimoji="0" sz="1000" kern="0" cap="none" spc="8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Metro</a:t>
            </a:r>
            <a:r>
              <a:rPr kumimoji="0" sz="1000" kern="0" cap="none" spc="4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15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MPC</a:t>
            </a:r>
            <a:r>
              <a:rPr kumimoji="0" sz="1000" kern="0" cap="none" spc="4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10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Building,</a:t>
            </a:r>
            <a:r>
              <a:rPr kumimoji="0" sz="1000" kern="0" cap="none" spc="4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4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E.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900113" y="3473450"/>
            <a:ext cx="2103438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114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Aguinaldo</a:t>
            </a:r>
            <a:r>
              <a:rPr kumimoji="0" sz="1000" kern="0" cap="none" spc="5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Highway,</a:t>
            </a:r>
            <a:r>
              <a:rPr kumimoji="0" sz="1000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Imus,</a:t>
            </a:r>
            <a:r>
              <a:rPr kumimoji="0" sz="1000" kern="0" cap="none" spc="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7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Cavite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42913" y="3625850"/>
            <a:ext cx="814388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2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Dasmariñas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95313" y="3778250"/>
            <a:ext cx="22415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Level 2 Annex, Robinsons Dasmariñas, Emilio Aguinaldo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42913" y="4083050"/>
            <a:ext cx="230822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Highway,</a:t>
            </a:r>
            <a:r>
              <a:rPr kumimoji="0" sz="1000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10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Dasmariñas,</a:t>
            </a:r>
            <a:r>
              <a:rPr kumimoji="0" sz="1000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7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Cavite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0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General</a:t>
            </a:r>
            <a:r>
              <a:rPr kumimoji="0" sz="1000" b="1" kern="0" cap="none" spc="5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8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Trias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95313" y="4387850"/>
            <a:ext cx="2055813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L2 Robinsons General Trias, Antero Soriano Highway, General Trias Cavite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41350" y="239713"/>
            <a:ext cx="747713" cy="238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|</a:t>
            </a:r>
            <a:r>
              <a:rPr kumimoji="0" sz="1400" kern="0" cap="none" spc="1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Clinics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10263" name="object 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063" y="546100"/>
            <a:ext cx="3063875" cy="90011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4" name="object 24"/>
          <p:cNvSpPr txBox="1">
            <a:spLocks noGrp="1"/>
          </p:cNvSpPr>
          <p:nvPr>
            <p:ph type="title"/>
          </p:nvPr>
        </p:nvSpPr>
        <p:spPr>
          <a:xfrm>
            <a:off x="3625850" y="274638"/>
            <a:ext cx="1892300" cy="304800"/>
          </a:xfrm>
        </p:spPr>
        <p:txBody>
          <a:bodyPr vert="horz" wrap="square" lIns="0" tIns="1651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3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800" b="1" i="0" u="none" strike="noStrike" kern="0" cap="none" spc="26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EASILY</a:t>
            </a:r>
            <a:r>
              <a:rPr kumimoji="0" sz="1800" b="1" i="0" u="none" strike="noStrike" kern="0" cap="none" spc="114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800" b="1" i="0" u="none" strike="noStrike" kern="0" cap="none" spc="31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ACCESS</a:t>
            </a:r>
            <a:endParaRPr kumimoji="0" sz="18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sp>
        <p:nvSpPr>
          <p:cNvPr id="10265" name="object 25"/>
          <p:cNvSpPr/>
          <p:nvPr/>
        </p:nvSpPr>
        <p:spPr>
          <a:xfrm>
            <a:off x="455613" y="1658938"/>
            <a:ext cx="563562" cy="182562"/>
          </a:xfrm>
          <a:custGeom>
            <a:avLst/>
            <a:gdLst/>
            <a:ahLst/>
            <a:cxnLst/>
            <a:pathLst>
              <a:path w="563880" h="182880">
                <a:moveTo>
                  <a:pt x="563728" y="182879"/>
                </a:moveTo>
                <a:lnTo>
                  <a:pt x="0" y="182879"/>
                </a:lnTo>
                <a:lnTo>
                  <a:pt x="0" y="0"/>
                </a:lnTo>
                <a:lnTo>
                  <a:pt x="563728" y="0"/>
                </a:lnTo>
                <a:lnTo>
                  <a:pt x="563728" y="182879"/>
                </a:lnTo>
                <a:close/>
              </a:path>
            </a:pathLst>
          </a:custGeom>
          <a:solidFill>
            <a:srgbClr val="FFFF00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  <p:sp>
        <p:nvSpPr>
          <p:cNvPr id="26" name="object 26"/>
          <p:cNvSpPr txBox="1"/>
          <p:nvPr/>
        </p:nvSpPr>
        <p:spPr>
          <a:xfrm>
            <a:off x="442913" y="1262063"/>
            <a:ext cx="7616825" cy="585788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658495" marR="0" defTabSz="914400" eaLnBrk="1" fontAlgn="auto" hangingPunct="1">
              <a:spcBef>
                <a:spcPts val="14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50" kern="0" cap="none" spc="1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Wherever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you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2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may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2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be,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Maxicare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1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is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6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within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reach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0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for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your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6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healthcare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4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needs!</a:t>
            </a:r>
            <a:endParaRPr kumimoji="0" sz="145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119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18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LUZON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176963" y="1885950"/>
            <a:ext cx="132715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2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Robinsons</a:t>
            </a:r>
            <a:r>
              <a:rPr kumimoji="0" sz="1000" b="1" kern="0" cap="none" spc="8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Antipolo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27775" y="2038350"/>
            <a:ext cx="219075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UG, Robinsons Antipolo Brgy. Antipolo City, Sumulong Highway, cor L. Sumulong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176963" y="2495550"/>
            <a:ext cx="147637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9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Memorial</a:t>
            </a:r>
            <a:r>
              <a:rPr kumimoji="0" sz="1000" kern="0" cap="none" spc="5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7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Circle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2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Clark</a:t>
            </a:r>
            <a:r>
              <a:rPr kumimoji="0" sz="1000" b="1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Freeport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327775" y="2800350"/>
            <a:ext cx="2151063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Ground Floor, SM City Clark, Tech Hub 6, Manuel A. Roxas Highway, Clark Freeport,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176963" y="3257550"/>
            <a:ext cx="1763713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9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Angeles,</a:t>
            </a:r>
            <a:r>
              <a:rPr kumimoji="0" sz="1000" kern="0" cap="none" spc="6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1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Pampanga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2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Robinsons</a:t>
            </a:r>
            <a:r>
              <a:rPr kumimoji="0" sz="1000" b="1" kern="0" cap="none" spc="8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9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Starmills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327775" y="3562350"/>
            <a:ext cx="2420938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Level 1, Robinsons Starmills, Jose Abad Santos Ave., Brgy. San Jose,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176963" y="3867150"/>
            <a:ext cx="213677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13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San</a:t>
            </a:r>
            <a:r>
              <a:rPr kumimoji="0" sz="1000" kern="0" cap="none" spc="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9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Fernando,</a:t>
            </a:r>
            <a:r>
              <a:rPr kumimoji="0" sz="1000" kern="0" cap="none" spc="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15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Pampanga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2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Robinsons</a:t>
            </a:r>
            <a:r>
              <a:rPr kumimoji="0" sz="1000" b="1" kern="0" cap="none" spc="8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0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Malabon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6327775" y="4171950"/>
            <a:ext cx="21653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L2 Robinsons Town Mall Malabon, 5 Governor Pascual Avenue, corner Crispin St, Malabon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266" name="object 2"/>
          <p:cNvSpPr/>
          <p:nvPr/>
        </p:nvSpPr>
        <p:spPr>
          <a:xfrm>
            <a:off x="322263" y="1817688"/>
            <a:ext cx="8501062" cy="3238500"/>
          </a:xfrm>
          <a:custGeom>
            <a:avLst/>
            <a:gdLst/>
            <a:ahLst/>
            <a:cxnLst/>
            <a:pathLst>
              <a:path w="8501380" h="3237865">
                <a:moveTo>
                  <a:pt x="8500799" y="3237299"/>
                </a:moveTo>
                <a:lnTo>
                  <a:pt x="0" y="3237299"/>
                </a:lnTo>
                <a:lnTo>
                  <a:pt x="0" y="0"/>
                </a:lnTo>
                <a:lnTo>
                  <a:pt x="8500799" y="0"/>
                </a:lnTo>
                <a:lnTo>
                  <a:pt x="8500799" y="323729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641350" y="239713"/>
            <a:ext cx="747713" cy="238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|</a:t>
            </a:r>
            <a:r>
              <a:rPr kumimoji="0" sz="1400" kern="0" cap="none" spc="1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Clinics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11268" name="object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063" y="546100"/>
            <a:ext cx="3063875" cy="90011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3625850" y="274638"/>
            <a:ext cx="1892300" cy="304800"/>
          </a:xfrm>
        </p:spPr>
        <p:txBody>
          <a:bodyPr vert="horz" wrap="square" lIns="0" tIns="1651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3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800" b="1" i="0" u="none" strike="noStrike" kern="0" cap="none" spc="26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EASILY</a:t>
            </a:r>
            <a:r>
              <a:rPr kumimoji="0" sz="1800" b="1" i="0" u="none" strike="noStrike" kern="0" cap="none" spc="114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800" b="1" i="0" u="none" strike="noStrike" kern="0" cap="none" spc="31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ACCESS</a:t>
            </a:r>
            <a:endParaRPr kumimoji="0" sz="18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89025" y="1262063"/>
            <a:ext cx="6970713" cy="252413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4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50" kern="0" cap="none" spc="1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Wherever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you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2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may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2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be,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Maxicare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1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is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6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within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reach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0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for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your</a:t>
            </a:r>
            <a:r>
              <a:rPr kumimoji="0" sz="1450" kern="0" cap="none" spc="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6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healthcare</a:t>
            </a:r>
            <a:r>
              <a:rPr kumimoji="0" sz="1450" kern="0" cap="none" spc="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50" kern="0" cap="none" spc="14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needs!</a:t>
            </a:r>
            <a:endParaRPr kumimoji="0" sz="145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1271" name="object 7"/>
          <p:cNvSpPr/>
          <p:nvPr/>
        </p:nvSpPr>
        <p:spPr>
          <a:xfrm>
            <a:off x="455613" y="1571625"/>
            <a:ext cx="563562" cy="182563"/>
          </a:xfrm>
          <a:custGeom>
            <a:avLst/>
            <a:gdLst/>
            <a:ahLst/>
            <a:cxnLst/>
            <a:pathLst>
              <a:path w="563880" h="182880">
                <a:moveTo>
                  <a:pt x="563728" y="182879"/>
                </a:moveTo>
                <a:lnTo>
                  <a:pt x="0" y="182879"/>
                </a:lnTo>
                <a:lnTo>
                  <a:pt x="0" y="0"/>
                </a:lnTo>
                <a:lnTo>
                  <a:pt x="563728" y="0"/>
                </a:lnTo>
                <a:lnTo>
                  <a:pt x="563728" y="182879"/>
                </a:lnTo>
                <a:close/>
              </a:path>
            </a:pathLst>
          </a:custGeom>
          <a:solidFill>
            <a:srgbClr val="FFFF00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  <p:sp>
        <p:nvSpPr>
          <p:cNvPr id="8" name="object 8"/>
          <p:cNvSpPr txBox="1"/>
          <p:nvPr/>
        </p:nvSpPr>
        <p:spPr>
          <a:xfrm>
            <a:off x="455613" y="1552575"/>
            <a:ext cx="565150" cy="2095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18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LUZON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2913" y="1836738"/>
            <a:ext cx="2501900" cy="3225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eaLnBrk="1" hangingPunct="1">
              <a:spcBef>
                <a:spcPts val="100"/>
              </a:spcBef>
              <a:buNone/>
            </a:pPr>
            <a:r>
              <a:rPr lang="en-US" altLang="zh-CN" sz="10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Robinsons Malolos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Font typeface="Arial" panose="020B0604020202020204" pitchFamily="34" charset="0"/>
              <a:buChar char="●"/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Level 4, Robinsons Malolos, MacArthur Highway, Malolos, Bulacan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None/>
            </a:pPr>
            <a:r>
              <a:rPr lang="en-US" altLang="zh-CN" sz="10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San Jose Del Monte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Font typeface="Arial" panose="020B0604020202020204" pitchFamily="34" charset="0"/>
              <a:buChar char="●"/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2F, Skyline Drive Plaza, Quirino Highway, San Jose Del Monte Bulacan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None/>
            </a:pPr>
            <a:r>
              <a:rPr lang="en-US" altLang="zh-CN" sz="10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Valenzuela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Font typeface="Arial" panose="020B0604020202020204" pitchFamily="34" charset="0"/>
              <a:buChar char="●"/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GF, H &amp; L Santiago Building, MacArthur Hwy, Valenzuela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None/>
            </a:pPr>
            <a:r>
              <a:rPr lang="en-US" altLang="zh-CN" sz="10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Sto. Tomas, Batangas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Font typeface="Arial" panose="020B0604020202020204" pitchFamily="34" charset="0"/>
              <a:buChar char="●"/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G/F ATC Courtyard Maharlika Highway, Sto. Tomas, Batangas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None/>
            </a:pPr>
            <a:r>
              <a:rPr lang="en-US" altLang="zh-CN" sz="10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Biñan, Laguna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Font typeface="Arial" panose="020B0604020202020204" pitchFamily="34" charset="0"/>
              <a:buChar char="●"/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Ofﬁce Tower, 4/F Tower 2 Southwoods Mall Commerce Avenue, Biñan Laguna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None/>
            </a:pPr>
            <a:r>
              <a:rPr lang="en-US" altLang="zh-CN" sz="10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Solenad, Laguna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Clr>
                <a:srgbClr val="000000"/>
              </a:buClr>
              <a:buFont typeface="Arial" panose="020B0604020202020204" pitchFamily="34" charset="0"/>
              <a:buChar char="●"/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Ground Floor, Solenad 2, Nuvali, Sta. Rosa, Laguna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11274" name="object 10"/>
          <p:cNvGrpSpPr/>
          <p:nvPr/>
        </p:nvGrpSpPr>
        <p:grpSpPr>
          <a:xfrm>
            <a:off x="5973763" y="1617663"/>
            <a:ext cx="1119187" cy="3192462"/>
            <a:chOff x="5974112" y="1618350"/>
            <a:chExt cx="1118235" cy="3191510"/>
          </a:xfrm>
        </p:grpSpPr>
        <p:sp>
          <p:nvSpPr>
            <p:cNvPr id="11284" name="object 11"/>
            <p:cNvSpPr/>
            <p:nvPr/>
          </p:nvSpPr>
          <p:spPr>
            <a:xfrm>
              <a:off x="5978874" y="1710613"/>
              <a:ext cx="13970" cy="3094355"/>
            </a:xfrm>
            <a:custGeom>
              <a:avLst/>
              <a:gdLst/>
              <a:ahLst/>
              <a:cxnLst/>
              <a:pathLst>
                <a:path w="13970" h="3094354">
                  <a:moveTo>
                    <a:pt x="0" y="0"/>
                  </a:moveTo>
                  <a:lnTo>
                    <a:pt x="13799" y="3093899"/>
                  </a:lnTo>
                </a:path>
              </a:pathLst>
            </a:custGeom>
            <a:noFill/>
            <a:ln w="9524" cap="flat" cmpd="sng">
              <a:solidFill>
                <a:srgbClr val="595959">
                  <a:alpha val="100000"/>
                </a:srgbClr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p>
              <a:endParaRPr lang="en-US"/>
            </a:p>
          </p:txBody>
        </p:sp>
        <p:sp>
          <p:nvSpPr>
            <p:cNvPr id="11285" name="object 12"/>
            <p:cNvSpPr/>
            <p:nvPr/>
          </p:nvSpPr>
          <p:spPr>
            <a:xfrm>
              <a:off x="6165500" y="1618350"/>
              <a:ext cx="927100" cy="182880"/>
            </a:xfrm>
            <a:custGeom>
              <a:avLst/>
              <a:gdLst/>
              <a:ahLst/>
              <a:cxnLst/>
              <a:pathLst>
                <a:path w="927100" h="182880">
                  <a:moveTo>
                    <a:pt x="926746" y="182879"/>
                  </a:moveTo>
                  <a:lnTo>
                    <a:pt x="0" y="182879"/>
                  </a:lnTo>
                  <a:lnTo>
                    <a:pt x="0" y="0"/>
                  </a:lnTo>
                  <a:lnTo>
                    <a:pt x="926746" y="0"/>
                  </a:lnTo>
                  <a:lnTo>
                    <a:pt x="926746" y="182879"/>
                  </a:lnTo>
                  <a:close/>
                </a:path>
              </a:pathLst>
            </a:custGeom>
            <a:solidFill>
              <a:srgbClr val="FFFF00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113463" y="2024063"/>
            <a:ext cx="73660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2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Davao</a:t>
            </a:r>
            <a:r>
              <a:rPr kumimoji="0" sz="1000" b="1" kern="0" cap="none" spc="6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8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City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264275" y="2176463"/>
            <a:ext cx="238125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defTabSz="914400" eaLnBrk="1" hangingPunct="1"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Ground Floor, Space 1C-1D, Abreeza Mall, J.P. Laurel Avenue, Bajada, Davao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113463" y="2633663"/>
            <a:ext cx="139700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kern="0" cap="none" spc="14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Cagayan</a:t>
            </a:r>
            <a:r>
              <a:rPr kumimoji="0" sz="1000" b="1" kern="0" cap="none" spc="7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5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De</a:t>
            </a:r>
            <a:r>
              <a:rPr kumimoji="0" sz="1000" b="1" kern="0" cap="none" spc="7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11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Oro</a:t>
            </a:r>
            <a:r>
              <a:rPr kumimoji="0" sz="1000" b="1" kern="0" cap="none" spc="70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b="1" kern="0" cap="none" spc="85" normalizeH="0" baseline="0" noProof="0" dirty="0">
                <a:solidFill>
                  <a:srgbClr val="1B4176"/>
                </a:solidFill>
                <a:latin typeface="Calibri" panose="020F0502020204030204"/>
                <a:cs typeface="Calibri" panose="020F0502020204030204"/>
              </a:rPr>
              <a:t>City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264275" y="2786063"/>
            <a:ext cx="235267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7500" indent="-304800" algn="just" defTabSz="914400" eaLnBrk="1" hangingPunct="1"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Ground Floor, Primavera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17500" indent="-304800" algn="just" defTabSz="914400" eaLnBrk="1" hangingPunct="1">
              <a:buNone/>
              <a:tabLst>
                <a:tab pos="317500" algn="l"/>
              </a:tabLst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City-Citta Verde, Pueblo de Oro, Upper Carmen, Cagayan de Oro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165850" y="1600200"/>
            <a:ext cx="927100" cy="2079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15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MINDANAO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214688" y="1839913"/>
            <a:ext cx="2581275" cy="3073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eaLnBrk="1" hangingPunct="1">
              <a:spcBef>
                <a:spcPts val="100"/>
              </a:spcBef>
              <a:buNone/>
            </a:pPr>
            <a:r>
              <a:rPr lang="en-US" altLang="zh-CN" sz="10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Bacolod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Font typeface="Arial" panose="020B0604020202020204" pitchFamily="34" charset="0"/>
              <a:buChar char="●"/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Ground Floor, Lopues Mandalagan, Lacson Street, Mandalagan, Bacolod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None/>
            </a:pPr>
            <a:r>
              <a:rPr lang="en-US" altLang="zh-CN" sz="10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Iloilo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Font typeface="Arial" panose="020B0604020202020204" pitchFamily="34" charset="0"/>
              <a:buChar char="●"/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Unit 4, Three Techno Place, Megaworld Blvd., Mandurriao, Iloilo City, Iloilo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None/>
            </a:pPr>
            <a:r>
              <a:rPr lang="en-US" altLang="zh-CN" sz="10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Cebu Skyrise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algn="just" eaLnBrk="1" hangingPunct="1">
              <a:buFont typeface="Arial" panose="020B0604020202020204" pitchFamily="34" charset="0"/>
              <a:buChar char="●"/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Block 8, Lot 3, Skyrise 4B, Cebu IT Park Subdivision, Barangay Apas, Cebu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algn="just" eaLnBrk="1" hangingPunct="1">
              <a:buNone/>
            </a:pPr>
            <a:r>
              <a:rPr lang="en-US" altLang="zh-CN" sz="10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Cebu Exchange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Font typeface="Arial" panose="020B0604020202020204" pitchFamily="34" charset="0"/>
              <a:buChar char="●"/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Unit 4, Three Techno Place, Ground Floor, Cebu Exchange Tower, Salinas Dr., Cebu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None/>
            </a:pPr>
            <a:r>
              <a:rPr lang="en-US" altLang="zh-CN" sz="1000" b="1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Cebu Business Park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Font typeface="Arial" panose="020B0604020202020204" pitchFamily="34" charset="0"/>
              <a:buChar char="●"/>
            </a:pPr>
            <a:r>
              <a:rPr lang="en-US" altLang="zh-CN" sz="1000">
                <a:solidFill>
                  <a:srgbClr val="1B417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Lot 5, Block 6, Mindanao Avenue, Cebu Business Park, Ayala, Brgy. Luz, Cebu City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1281" name="object 19"/>
          <p:cNvSpPr/>
          <p:nvPr/>
        </p:nvSpPr>
        <p:spPr>
          <a:xfrm>
            <a:off x="3176588" y="1597025"/>
            <a:ext cx="676275" cy="182563"/>
          </a:xfrm>
          <a:custGeom>
            <a:avLst/>
            <a:gdLst/>
            <a:ahLst/>
            <a:cxnLst/>
            <a:pathLst>
              <a:path w="676275" h="182880">
                <a:moveTo>
                  <a:pt x="676200" y="182879"/>
                </a:moveTo>
                <a:lnTo>
                  <a:pt x="0" y="182879"/>
                </a:lnTo>
                <a:lnTo>
                  <a:pt x="0" y="0"/>
                </a:lnTo>
                <a:lnTo>
                  <a:pt x="676200" y="0"/>
                </a:lnTo>
                <a:lnTo>
                  <a:pt x="676200" y="182879"/>
                </a:lnTo>
                <a:close/>
              </a:path>
            </a:pathLst>
          </a:custGeom>
          <a:solidFill>
            <a:srgbClr val="FFFF00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  <p:sp>
        <p:nvSpPr>
          <p:cNvPr id="20" name="object 20"/>
          <p:cNvSpPr txBox="1"/>
          <p:nvPr/>
        </p:nvSpPr>
        <p:spPr>
          <a:xfrm>
            <a:off x="3176588" y="1577975"/>
            <a:ext cx="676275" cy="2079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14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VISAYAS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1283" name="object 21"/>
          <p:cNvSpPr/>
          <p:nvPr/>
        </p:nvSpPr>
        <p:spPr>
          <a:xfrm>
            <a:off x="3040063" y="1755775"/>
            <a:ext cx="14287" cy="3094038"/>
          </a:xfrm>
          <a:custGeom>
            <a:avLst/>
            <a:gdLst/>
            <a:ahLst/>
            <a:cxnLst/>
            <a:pathLst>
              <a:path w="13969" h="3094354">
                <a:moveTo>
                  <a:pt x="0" y="0"/>
                </a:moveTo>
                <a:lnTo>
                  <a:pt x="13799" y="3093899"/>
                </a:lnTo>
              </a:path>
            </a:pathLst>
          </a:custGeom>
          <a:noFill/>
          <a:ln w="9524" cap="flat" cmpd="sng">
            <a:solidFill>
              <a:srgbClr val="595959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641350" y="239713"/>
            <a:ext cx="747713" cy="238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|</a:t>
            </a:r>
            <a:r>
              <a:rPr kumimoji="0" sz="1400" kern="0" cap="none" spc="1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Clinics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2291" name="object 3"/>
          <p:cNvGrpSpPr/>
          <p:nvPr/>
        </p:nvGrpSpPr>
        <p:grpSpPr>
          <a:xfrm>
            <a:off x="320675" y="0"/>
            <a:ext cx="8823325" cy="4070350"/>
            <a:chOff x="321300" y="0"/>
            <a:chExt cx="8823325" cy="4069715"/>
          </a:xfrm>
        </p:grpSpPr>
        <p:sp>
          <p:nvSpPr>
            <p:cNvPr id="12299" name="object 4"/>
            <p:cNvSpPr/>
            <p:nvPr/>
          </p:nvSpPr>
          <p:spPr>
            <a:xfrm>
              <a:off x="8158599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12300" name="object 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21300" y="1396048"/>
              <a:ext cx="3218126" cy="2673037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6" name="object 6"/>
          <p:cNvSpPr txBox="1"/>
          <p:nvPr/>
        </p:nvSpPr>
        <p:spPr>
          <a:xfrm>
            <a:off x="3983038" y="1357313"/>
            <a:ext cx="4630738" cy="2576513"/>
          </a:xfrm>
          <a:prstGeom prst="rect">
            <a:avLst/>
          </a:prstGeom>
        </p:spPr>
        <p:txBody>
          <a:bodyPr vert="horz" wrap="square" lIns="0" tIns="153035" rIns="0" bIns="0" rtlCol="0">
            <a:spAutoFit/>
          </a:bodyPr>
          <a:p>
            <a:pPr marL="307975" indent="-295275" defTabSz="914400" eaLnBrk="1" hangingPunct="1">
              <a:spcBef>
                <a:spcPts val="1200"/>
              </a:spcBef>
              <a:buFont typeface="Arial" panose="020B0604020202020204" pitchFamily="34" charset="0"/>
              <a:buChar char="●"/>
              <a:tabLst>
                <a:tab pos="307975" algn="l"/>
              </a:tabLst>
            </a:pPr>
            <a:r>
              <a:rPr lang="en-US" altLang="zh-CN" sz="17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Consultations</a:t>
            </a: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07975" indent="-295275" defTabSz="914400" eaLnBrk="1" hangingPunct="1">
              <a:spcBef>
                <a:spcPts val="1100"/>
              </a:spcBef>
              <a:buFont typeface="Arial" panose="020B0604020202020204" pitchFamily="34" charset="0"/>
              <a:buChar char="●"/>
              <a:tabLst>
                <a:tab pos="307975" algn="l"/>
              </a:tabLst>
            </a:pPr>
            <a:r>
              <a:rPr lang="en-US" altLang="zh-CN" sz="17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Rehabilitation</a:t>
            </a: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07975" indent="-295275" defTabSz="914400" eaLnBrk="1" hangingPunct="1">
              <a:spcBef>
                <a:spcPts val="1100"/>
              </a:spcBef>
              <a:buFont typeface="Arial" panose="020B0604020202020204" pitchFamily="34" charset="0"/>
              <a:buChar char="●"/>
              <a:tabLst>
                <a:tab pos="307975" algn="l"/>
              </a:tabLst>
            </a:pPr>
            <a:r>
              <a:rPr lang="en-US" altLang="zh-CN" sz="17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Physical Therapy Services</a:t>
            </a: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07975" indent="-295275" defTabSz="914400" eaLnBrk="1" hangingPunct="1">
              <a:spcBef>
                <a:spcPts val="1525"/>
              </a:spcBef>
              <a:buNone/>
              <a:tabLst>
                <a:tab pos="307975" algn="l"/>
              </a:tabLst>
            </a:pPr>
            <a:r>
              <a:rPr lang="en-US" altLang="zh-CN" sz="14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Commercial Space 2, Cyberpod 5, Eton Centris, Edsa Cor. Quezon City Ave., Brgy. Piñahan, QC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07975" indent="-295275" defTabSz="914400" eaLnBrk="1" hangingPunct="1">
              <a:spcBef>
                <a:spcPts val="25"/>
              </a:spcBef>
              <a:buNone/>
              <a:tabLst>
                <a:tab pos="307975" algn="l"/>
              </a:tabLst>
            </a:pPr>
            <a:endParaRPr lang="en-US" altLang="zh-CN" sz="2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07975" indent="-295275" defTabSz="914400" eaLnBrk="1" hangingPunct="1">
              <a:buNone/>
              <a:tabLst>
                <a:tab pos="307975" algn="l"/>
              </a:tabLst>
            </a:pPr>
            <a:r>
              <a:rPr lang="en-US" altLang="zh-CN" sz="12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(02) 7798 – 7739</a:t>
            </a:r>
            <a:endParaRPr lang="en-US" altLang="zh-CN" sz="12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07975" indent="-295275" defTabSz="914400" eaLnBrk="1" hangingPunct="1">
              <a:buNone/>
              <a:tabLst>
                <a:tab pos="307975" algn="l"/>
              </a:tabLst>
            </a:pPr>
            <a:r>
              <a:rPr lang="en-US" altLang="zh-CN" sz="12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pcc.centris@maxicare.com.ph</a:t>
            </a:r>
            <a:endParaRPr lang="en-US" altLang="zh-CN" sz="12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12293" name="object 7"/>
          <p:cNvGrpSpPr/>
          <p:nvPr/>
        </p:nvGrpSpPr>
        <p:grpSpPr>
          <a:xfrm>
            <a:off x="3798888" y="2755900"/>
            <a:ext cx="238125" cy="1152525"/>
            <a:chOff x="3799204" y="2756065"/>
            <a:chExt cx="237490" cy="1152525"/>
          </a:xfrm>
        </p:grpSpPr>
        <p:pic>
          <p:nvPicPr>
            <p:cNvPr id="12296" name="object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99204" y="2756065"/>
              <a:ext cx="184436" cy="292437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2297" name="object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51750" y="3463529"/>
              <a:ext cx="184442" cy="206088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2298" name="object 10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7837" y="3706490"/>
              <a:ext cx="184442" cy="201730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3743325" y="304800"/>
            <a:ext cx="1658938" cy="376238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300" b="1" i="0" u="none" strike="noStrike" kern="0" cap="none" spc="300" normalizeH="0" baseline="0" noProof="0" dirty="0">
                <a:ln>
                  <a:noFill/>
                </a:ln>
                <a:solidFill>
                  <a:srgbClr val="0C3879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MAXICARE</a:t>
            </a:r>
            <a:endParaRPr kumimoji="0" sz="23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22388" y="655638"/>
            <a:ext cx="6502400" cy="3762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300" b="1" kern="0" cap="none" spc="409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WELLNESS</a:t>
            </a:r>
            <a:r>
              <a:rPr kumimoji="0" sz="2300" b="1" kern="0" cap="none" spc="1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2300" b="1" kern="0" cap="none" spc="37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AND</a:t>
            </a:r>
            <a:r>
              <a:rPr kumimoji="0" sz="2300" b="1" kern="0" cap="none" spc="1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2300" b="1" kern="0" cap="none" spc="30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REHABILITATION</a:t>
            </a:r>
            <a:r>
              <a:rPr kumimoji="0" sz="2300" b="1" kern="0" cap="none" spc="1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2300" b="1" kern="0" cap="none" spc="3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CENTER</a:t>
            </a:r>
            <a:endParaRPr kumimoji="0" sz="2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1212850" y="803275"/>
            <a:ext cx="3692525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algn="ctr" eaLnBrk="1" hangingPunct="1">
              <a:spcBef>
                <a:spcPts val="100"/>
              </a:spcBef>
              <a:buNone/>
            </a:pPr>
            <a:r>
              <a:rPr lang="en-US" altLang="zh-CN" sz="15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EXPERIENCE HASSLE-FREE</a:t>
            </a:r>
            <a:endParaRPr lang="en-US" altLang="zh-CN" sz="15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 eaLnBrk="1" hangingPunct="1">
              <a:buNone/>
            </a:pPr>
            <a:r>
              <a:rPr lang="en-US" altLang="zh-CN" sz="15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LAB PROCEDURE FROM THE SAFETY OF YOUR OWN VEHICLE WITH</a:t>
            </a:r>
            <a:endParaRPr lang="en-US" altLang="zh-CN" sz="15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41350" y="239713"/>
            <a:ext cx="3322638" cy="238125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|</a:t>
            </a:r>
            <a:r>
              <a:rPr kumimoji="0" sz="1400" b="0" i="0" u="none" strike="noStrike" kern="0" cap="none" spc="34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400" b="0" i="0" u="none" strike="noStrike" kern="0" cap="none" spc="12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Laboratory</a:t>
            </a:r>
            <a:r>
              <a:rPr kumimoji="0" sz="1400" b="0" i="0" u="none" strike="noStrike" kern="0" cap="none" spc="1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400" b="0" i="0" u="none" strike="noStrike" kern="0" cap="none" spc="204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And</a:t>
            </a:r>
            <a:r>
              <a:rPr kumimoji="0" sz="1400" b="0" i="0" u="none" strike="noStrike" kern="0" cap="none" spc="1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400" b="0" i="0" u="none" strike="noStrike" kern="0" cap="none" spc="18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HomeCare</a:t>
            </a:r>
            <a:r>
              <a:rPr kumimoji="0" sz="1400" b="0" i="0" u="none" strike="noStrike" kern="0" cap="none" spc="1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400" b="0" i="0" u="none" strike="noStrike" kern="0" cap="none" spc="12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Services</a:t>
            </a:r>
            <a:endParaRPr kumimoji="0" sz="14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grpSp>
        <p:nvGrpSpPr>
          <p:cNvPr id="13316" name="object 4"/>
          <p:cNvGrpSpPr/>
          <p:nvPr/>
        </p:nvGrpSpPr>
        <p:grpSpPr>
          <a:xfrm>
            <a:off x="1987550" y="1465263"/>
            <a:ext cx="7156450" cy="3678237"/>
            <a:chOff x="1987487" y="1465400"/>
            <a:chExt cx="7157084" cy="3678554"/>
          </a:xfrm>
        </p:grpSpPr>
        <p:pic>
          <p:nvPicPr>
            <p:cNvPr id="13321" name="object 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987487" y="1503500"/>
              <a:ext cx="2085533" cy="87719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3322" name="object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4751" y="1465400"/>
              <a:ext cx="3709248" cy="367809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3323" name="object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1901" y="1512800"/>
              <a:ext cx="3652098" cy="3630700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8" name="object 8"/>
          <p:cNvSpPr txBox="1"/>
          <p:nvPr/>
        </p:nvSpPr>
        <p:spPr>
          <a:xfrm>
            <a:off x="869950" y="2522538"/>
            <a:ext cx="4389438" cy="17541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635" algn="ctr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13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Always</a:t>
            </a:r>
            <a:r>
              <a:rPr kumimoji="0" sz="1400" kern="0" cap="none" spc="6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on</a:t>
            </a:r>
            <a:r>
              <a:rPr kumimoji="0" sz="1400" kern="0" cap="none" spc="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the</a:t>
            </a:r>
            <a:r>
              <a:rPr kumimoji="0" sz="1400" kern="0" cap="none" spc="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go?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R="0" algn="ctr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1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Skip</a:t>
            </a:r>
            <a:r>
              <a:rPr kumimoji="0" sz="1400" kern="0" cap="none" spc="6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the</a:t>
            </a:r>
            <a:r>
              <a:rPr kumimoji="0" sz="1400" kern="0" cap="none" spc="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1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line</a:t>
            </a:r>
            <a:r>
              <a:rPr kumimoji="0" sz="1400" kern="0" cap="none" spc="6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9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and</a:t>
            </a:r>
            <a:r>
              <a:rPr kumimoji="0" sz="1400" kern="0" cap="none" spc="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9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avail</a:t>
            </a:r>
            <a:r>
              <a:rPr kumimoji="0" sz="1400" kern="0" cap="none" spc="6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3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healthcare</a:t>
            </a:r>
            <a:r>
              <a:rPr kumimoji="0" sz="1400" kern="0" cap="none" spc="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from</a:t>
            </a:r>
            <a:r>
              <a:rPr kumimoji="0" sz="1400" kern="0" cap="none" spc="6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your</a:t>
            </a:r>
            <a:r>
              <a:rPr kumimoji="0" sz="1400" kern="0" cap="none" spc="6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6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car!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R="0" defTabSz="914400" eaLnBrk="1" fontAlgn="auto" hangingPunct="1"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b="1" kern="0" cap="none" spc="15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Get</a:t>
            </a:r>
            <a:r>
              <a:rPr kumimoji="0" sz="1400" b="1" kern="0" cap="none" spc="8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7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the</a:t>
            </a:r>
            <a:r>
              <a:rPr kumimoji="0" sz="1400" b="1" kern="0" cap="none" spc="8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6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service</a:t>
            </a:r>
            <a:r>
              <a:rPr kumimoji="0" sz="1400" b="1" kern="0" cap="none" spc="8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7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you</a:t>
            </a:r>
            <a:r>
              <a:rPr kumimoji="0" sz="1400" b="1" kern="0" cap="none" spc="8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9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need</a:t>
            </a:r>
            <a:r>
              <a:rPr kumimoji="0" sz="1400" b="1" kern="0" cap="none" spc="8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4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in</a:t>
            </a:r>
            <a:r>
              <a:rPr kumimoji="0" sz="1400" b="1" kern="0" cap="none" spc="8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5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three</a:t>
            </a:r>
            <a:r>
              <a:rPr kumimoji="0" sz="1400" b="1" kern="0" cap="none" spc="8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6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easy</a:t>
            </a:r>
            <a:r>
              <a:rPr kumimoji="0" sz="1400" b="1" kern="0" cap="none" spc="8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2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steps!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545465" marR="0" indent="-327025" defTabSz="914400" eaLnBrk="1" fontAlgn="auto" hangingPunct="1">
              <a:spcBef>
                <a:spcPts val="800"/>
              </a:spcBef>
              <a:spcAft>
                <a:spcPts val="0"/>
              </a:spcAft>
              <a:buClrTx/>
              <a:buSzTx/>
              <a:buFont typeface="Century Gothic" panose="020B0502020202020204"/>
              <a:buAutoNum type="arabicPeriod"/>
              <a:tabLst>
                <a:tab pos="545465" algn="l"/>
                <a:tab pos="546100" algn="l"/>
              </a:tabLst>
              <a:defRPr/>
            </a:pPr>
            <a:r>
              <a:rPr kumimoji="0" sz="1400" kern="0" cap="none" spc="1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Park</a:t>
            </a:r>
            <a:r>
              <a:rPr kumimoji="0" sz="14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your</a:t>
            </a:r>
            <a:r>
              <a:rPr kumimoji="0" sz="14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4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car</a:t>
            </a:r>
            <a:r>
              <a:rPr kumimoji="0" sz="1400" kern="0" cap="none" spc="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at</a:t>
            </a:r>
            <a:r>
              <a:rPr kumimoji="0" sz="14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5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the</a:t>
            </a:r>
            <a:r>
              <a:rPr kumimoji="0" sz="14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designated</a:t>
            </a:r>
            <a:r>
              <a:rPr kumimoji="0" sz="1400" kern="0" cap="none" spc="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areas.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545465" marR="0" indent="-369570" defTabSz="914400" eaLnBrk="1" fontAlgn="auto" hangingPunct="1">
              <a:spcBef>
                <a:spcPts val="255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45465" algn="l"/>
                <a:tab pos="546100" algn="l"/>
              </a:tabLst>
              <a:defRPr/>
            </a:pPr>
            <a:r>
              <a:rPr kumimoji="0" sz="1400" kern="0" cap="none" spc="19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Send</a:t>
            </a:r>
            <a:r>
              <a:rPr kumimoji="0" sz="14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an</a:t>
            </a:r>
            <a:r>
              <a:rPr kumimoji="0" sz="14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9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SMS</a:t>
            </a:r>
            <a:r>
              <a:rPr kumimoji="0" sz="14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0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to</a:t>
            </a:r>
            <a:r>
              <a:rPr kumimoji="0" sz="14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0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notify</a:t>
            </a:r>
            <a:r>
              <a:rPr kumimoji="0" sz="14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us</a:t>
            </a:r>
            <a:r>
              <a:rPr kumimoji="0" sz="14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9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of</a:t>
            </a:r>
            <a:r>
              <a:rPr kumimoji="0" sz="14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your</a:t>
            </a:r>
            <a:r>
              <a:rPr kumimoji="0" sz="14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14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availment.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545465" marR="0" indent="-367030" defTabSz="914400" eaLnBrk="1" fontAlgn="auto" hangingPunct="1">
              <a:spcBef>
                <a:spcPts val="250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45465" algn="l"/>
                <a:tab pos="546100" algn="l"/>
              </a:tabLst>
              <a:defRPr/>
            </a:pPr>
            <a:r>
              <a:rPr kumimoji="0" sz="1400" kern="0" cap="none" spc="14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Relax</a:t>
            </a:r>
            <a:r>
              <a:rPr kumimoji="0" sz="14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9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and</a:t>
            </a:r>
            <a:r>
              <a:rPr kumimoji="0" sz="14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wait</a:t>
            </a:r>
            <a:r>
              <a:rPr kumimoji="0" sz="14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for</a:t>
            </a:r>
            <a:r>
              <a:rPr kumimoji="0" sz="14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your</a:t>
            </a:r>
            <a:r>
              <a:rPr kumimoji="0" sz="14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phlebotomist.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782050" y="4765675"/>
            <a:ext cx="166688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-25" normalizeH="0" baseline="0" noProof="0" dirty="0">
                <a:solidFill>
                  <a:srgbClr val="595959"/>
                </a:solidFill>
                <a:latin typeface="Arial" panose="020B0604020202020204"/>
                <a:cs typeface="Arial" panose="020B0604020202020204"/>
              </a:rPr>
              <a:t>12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319" name="object 10"/>
          <p:cNvSpPr/>
          <p:nvPr/>
        </p:nvSpPr>
        <p:spPr>
          <a:xfrm>
            <a:off x="8158163" y="0"/>
            <a:ext cx="985837" cy="603250"/>
          </a:xfrm>
          <a:custGeom>
            <a:avLst/>
            <a:gdLst/>
            <a:ahLst/>
            <a:cxnLst/>
            <a:pathLst>
              <a:path w="985520" h="603885">
                <a:moveTo>
                  <a:pt x="985499" y="603299"/>
                </a:moveTo>
                <a:lnTo>
                  <a:pt x="0" y="603299"/>
                </a:lnTo>
                <a:lnTo>
                  <a:pt x="0" y="0"/>
                </a:lnTo>
                <a:lnTo>
                  <a:pt x="985499" y="0"/>
                </a:lnTo>
                <a:lnTo>
                  <a:pt x="985499" y="60329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  <p:sp>
        <p:nvSpPr>
          <p:cNvPr id="11" name="object 11"/>
          <p:cNvSpPr txBox="1"/>
          <p:nvPr/>
        </p:nvSpPr>
        <p:spPr>
          <a:xfrm>
            <a:off x="1198563" y="4521200"/>
            <a:ext cx="2938463" cy="344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eaLnBrk="1" hangingPunct="1">
              <a:spcBef>
                <a:spcPts val="100"/>
              </a:spcBef>
              <a:buNone/>
            </a:pPr>
            <a:r>
              <a:rPr lang="en-US" altLang="zh-CN" sz="1000" i="1">
                <a:solidFill>
                  <a:srgbClr val="000000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Park ‘n Lab is currently available at PCC VV Soliven and Cebu Business Park.</a:t>
            </a:r>
            <a:endParaRPr lang="en-US" altLang="zh-CN" sz="1000">
              <a:solidFill>
                <a:srgbClr val="000000"/>
              </a:solidFill>
              <a:latin typeface="Century Gothic" panose="020B0502020202020204" pitchFamily="34" charset="0"/>
              <a:ea typeface="Century Gothic" panose="020B0502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4338" name="object 2"/>
          <p:cNvGrpSpPr/>
          <p:nvPr/>
        </p:nvGrpSpPr>
        <p:grpSpPr>
          <a:xfrm>
            <a:off x="0" y="0"/>
            <a:ext cx="9144000" cy="5143500"/>
            <a:chOff x="0" y="0"/>
            <a:chExt cx="9144635" cy="5143500"/>
          </a:xfrm>
        </p:grpSpPr>
        <p:pic>
          <p:nvPicPr>
            <p:cNvPr id="14339" name="object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174689" y="2129850"/>
              <a:ext cx="6489824" cy="573549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14340" name="object 4"/>
            <p:cNvSpPr/>
            <p:nvPr/>
          </p:nvSpPr>
          <p:spPr>
            <a:xfrm>
              <a:off x="8158599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14341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32779" y="1221513"/>
              <a:ext cx="4278426" cy="2963823"/>
            </a:xfrm>
            <a:prstGeom prst="rect">
              <a:avLst/>
            </a:prstGeom>
            <a:noFill/>
            <a:ln w="9525">
              <a:noFill/>
            </a:ln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641350" y="239713"/>
            <a:ext cx="1365250" cy="238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|</a:t>
            </a:r>
            <a:r>
              <a:rPr kumimoji="0" sz="1400" kern="0" cap="none" spc="1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3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Telemedicine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5363" name="object 3"/>
          <p:cNvGrpSpPr/>
          <p:nvPr/>
        </p:nvGrpSpPr>
        <p:grpSpPr>
          <a:xfrm>
            <a:off x="333375" y="0"/>
            <a:ext cx="8810625" cy="4491038"/>
            <a:chOff x="333398" y="0"/>
            <a:chExt cx="8810625" cy="4491355"/>
          </a:xfrm>
        </p:grpSpPr>
        <p:pic>
          <p:nvPicPr>
            <p:cNvPr id="15379" name="object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5858550" y="0"/>
              <a:ext cx="3285449" cy="335657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5380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15699" y="0"/>
              <a:ext cx="3228299" cy="32803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5381" name="object 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5503" y="1483747"/>
              <a:ext cx="3154467" cy="748596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5382" name="object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3398" y="2991250"/>
              <a:ext cx="1499848" cy="1499848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5383" name="object 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6583" y="3033373"/>
              <a:ext cx="1373477" cy="1373477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738188" y="808038"/>
            <a:ext cx="4732338" cy="565150"/>
          </a:xfrm>
        </p:spPr>
        <p:txBody>
          <a:bodyPr vert="horz" wrap="square" lIns="0" tIns="12065" rIns="0" bIns="0" rtlCol="0">
            <a:spAutoFit/>
          </a:bodyPr>
          <a:p>
            <a:pPr marL="12700" indent="104775" eaLnBrk="1" hangingPunct="1">
              <a:lnSpc>
                <a:spcPct val="101000"/>
              </a:lnSpc>
              <a:spcBef>
                <a:spcPts val="100"/>
              </a:spcBef>
              <a:buNone/>
            </a:pPr>
            <a:r>
              <a:rPr lang="en-US" altLang="zh-CN">
                <a:solidFill>
                  <a:srgbClr val="0C3879"/>
                </a:solidFill>
                <a:latin typeface="+mj-lt"/>
                <a:ea typeface="+mj-ea"/>
                <a:cs typeface="Calibri" panose="020F0502020204030204" pitchFamily="34" charset="0"/>
              </a:rPr>
              <a:t>CALL A DOCTOR FROM THE COMFORT AND SAFETY OF YOUR HOME THROUGH</a:t>
            </a:r>
            <a:endParaRPr lang="en-US" altLang="zh-CN">
              <a:solidFill>
                <a:srgbClr val="0053CC"/>
              </a:solidFill>
              <a:latin typeface="+mj-lt"/>
              <a:ea typeface="Calibri" panose="020F0502020204030204" pitchFamily="34" charset="0"/>
              <a:cs typeface="+mj-cs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47750" y="2336800"/>
            <a:ext cx="4111625" cy="498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1208405" indent="-1196975" eaLnBrk="1" hangingPunct="1">
              <a:spcBef>
                <a:spcPts val="100"/>
              </a:spcBef>
              <a:buNone/>
            </a:pPr>
            <a:r>
              <a:rPr lang="en-US" altLang="zh-CN" sz="15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Consult with Maxicare-accredited doctors wherever you are</a:t>
            </a:r>
            <a:endParaRPr lang="en-US" altLang="zh-CN" sz="15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44525" y="3927475"/>
            <a:ext cx="92392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114" normalizeH="0" baseline="0" noProof="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E-</a:t>
            </a:r>
            <a:r>
              <a:rPr kumimoji="0" sz="1000" kern="0" cap="none" spc="80" normalizeH="0" baseline="0" noProof="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prescription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5367" name="object 12"/>
          <p:cNvGrpSpPr/>
          <p:nvPr/>
        </p:nvGrpSpPr>
        <p:grpSpPr>
          <a:xfrm>
            <a:off x="1706563" y="2990850"/>
            <a:ext cx="1500187" cy="1500188"/>
            <a:chOff x="1706875" y="2991250"/>
            <a:chExt cx="1499870" cy="1499870"/>
          </a:xfrm>
        </p:grpSpPr>
        <p:pic>
          <p:nvPicPr>
            <p:cNvPr id="15377" name="object 1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06875" y="2991250"/>
              <a:ext cx="1499848" cy="1499848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5378" name="object 1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70060" y="3033373"/>
              <a:ext cx="1373477" cy="1373477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15" name="object 15"/>
          <p:cNvSpPr txBox="1"/>
          <p:nvPr/>
        </p:nvSpPr>
        <p:spPr>
          <a:xfrm>
            <a:off x="2043113" y="3927475"/>
            <a:ext cx="87312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114" normalizeH="0" baseline="0" noProof="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E-</a:t>
            </a:r>
            <a:r>
              <a:rPr kumimoji="0" sz="1000" kern="0" cap="none" spc="95" normalizeH="0" baseline="0" noProof="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lab</a:t>
            </a:r>
            <a:r>
              <a:rPr kumimoji="0" sz="1000" kern="0" cap="none" spc="50" normalizeH="0" baseline="0" noProof="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90" normalizeH="0" baseline="0" noProof="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request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5369" name="object 16"/>
          <p:cNvGrpSpPr/>
          <p:nvPr/>
        </p:nvGrpSpPr>
        <p:grpSpPr>
          <a:xfrm>
            <a:off x="3079750" y="2990850"/>
            <a:ext cx="1500188" cy="1500188"/>
            <a:chOff x="3080353" y="2991250"/>
            <a:chExt cx="1499870" cy="1499870"/>
          </a:xfrm>
        </p:grpSpPr>
        <p:pic>
          <p:nvPicPr>
            <p:cNvPr id="15375" name="object 1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80353" y="2991250"/>
              <a:ext cx="1499848" cy="1499848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5376" name="object 18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143538" y="3033373"/>
              <a:ext cx="1373477" cy="1373477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19" name="object 19"/>
          <p:cNvSpPr txBox="1"/>
          <p:nvPr/>
        </p:nvSpPr>
        <p:spPr>
          <a:xfrm>
            <a:off x="3408363" y="3851275"/>
            <a:ext cx="873125" cy="447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indent="59055" eaLnBrk="1" hangingPunct="1">
              <a:lnSpc>
                <a:spcPct val="123000"/>
              </a:lnSpc>
              <a:spcBef>
                <a:spcPts val="100"/>
              </a:spcBef>
              <a:buNone/>
            </a:pPr>
            <a:r>
              <a:rPr lang="en-US" altLang="zh-CN" sz="8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Call summary at the end of the</a:t>
            </a:r>
            <a:endParaRPr lang="en-US" altLang="zh-CN" sz="8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indent="59055" eaLnBrk="1" hangingPunct="1">
              <a:buNone/>
            </a:pPr>
            <a:r>
              <a:rPr lang="en-US" altLang="zh-CN" sz="8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consultation</a:t>
            </a:r>
            <a:endParaRPr lang="en-US" altLang="zh-CN" sz="8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15371" name="object 20"/>
          <p:cNvGrpSpPr/>
          <p:nvPr/>
        </p:nvGrpSpPr>
        <p:grpSpPr>
          <a:xfrm>
            <a:off x="4454525" y="2990850"/>
            <a:ext cx="1498600" cy="1500188"/>
            <a:chOff x="4453830" y="2991250"/>
            <a:chExt cx="1499870" cy="1499870"/>
          </a:xfrm>
        </p:grpSpPr>
        <p:pic>
          <p:nvPicPr>
            <p:cNvPr id="15373" name="object 2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53830" y="2991250"/>
              <a:ext cx="1499848" cy="1499848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5374" name="object 2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517015" y="3033373"/>
              <a:ext cx="1373477" cy="1373477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23" name="object 23"/>
          <p:cNvSpPr txBox="1"/>
          <p:nvPr/>
        </p:nvSpPr>
        <p:spPr>
          <a:xfrm>
            <a:off x="4937125" y="3927475"/>
            <a:ext cx="579438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indent="6350" eaLnBrk="1" hangingPunct="1">
              <a:spcBef>
                <a:spcPts val="100"/>
              </a:spcBef>
              <a:buNone/>
            </a:pPr>
            <a:r>
              <a:rPr lang="en-US" altLang="zh-CN" sz="10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Callback feature**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41350" y="239713"/>
            <a:ext cx="1365250" cy="238125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|</a:t>
            </a:r>
            <a:r>
              <a:rPr kumimoji="0" sz="1400" b="0" i="0" u="none" strike="noStrike" kern="0" cap="none" spc="17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400" b="0" i="0" u="none" strike="noStrike" kern="0" cap="none" spc="13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Telemedicine</a:t>
            </a:r>
            <a:endParaRPr kumimoji="0" sz="14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400175" y="465138"/>
            <a:ext cx="6346825" cy="100012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R="0" algn="ctr" defTabSz="914400" eaLnBrk="1" fontAlgn="auto" hangingPunct="1">
              <a:spcBef>
                <a:spcPts val="116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650" b="1" kern="0" cap="none" spc="27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ACCESS</a:t>
            </a:r>
            <a:r>
              <a:rPr kumimoji="0" sz="1650" b="1" kern="0" cap="none" spc="11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50" b="1" kern="0" cap="none" spc="14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24/7</a:t>
            </a:r>
            <a:r>
              <a:rPr kumimoji="0" sz="1650" b="1" kern="0" cap="none" spc="11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50" b="1" kern="0" cap="none" spc="22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MAXICARE</a:t>
            </a:r>
            <a:r>
              <a:rPr kumimoji="0" sz="1650" b="1" kern="0" cap="none" spc="114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50" b="1" kern="0" cap="none" spc="25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TELECONSULT</a:t>
            </a:r>
            <a:r>
              <a:rPr kumimoji="0" sz="1650" b="1" kern="0" cap="none" spc="11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50" b="1" kern="0" cap="none" spc="24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HOTLINE</a:t>
            </a:r>
            <a:r>
              <a:rPr kumimoji="0" sz="1650" b="1" kern="0" cap="none" spc="11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650" b="1" kern="0" cap="none" spc="24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SERVICE</a:t>
            </a:r>
            <a:endParaRPr kumimoji="0" sz="165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" marR="0" algn="ctr" defTabSz="914400" eaLnBrk="1" fontAlgn="auto" hangingPunct="1">
              <a:spcBef>
                <a:spcPts val="89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18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Need</a:t>
            </a:r>
            <a:r>
              <a:rPr kumimoji="0" sz="1400" kern="0" cap="none" spc="6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65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medical</a:t>
            </a:r>
            <a:r>
              <a:rPr kumimoji="0" sz="1400" kern="0" cap="none" spc="6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3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assistance?</a:t>
            </a:r>
            <a:r>
              <a:rPr kumimoji="0" sz="1400" kern="0" cap="none" spc="6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7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Our</a:t>
            </a:r>
            <a:r>
              <a:rPr kumimoji="0" sz="1400" kern="0" cap="none" spc="6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specialists</a:t>
            </a:r>
            <a:r>
              <a:rPr kumimoji="0" sz="1400" kern="0" cap="none" spc="6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14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are</a:t>
            </a:r>
            <a:r>
              <a:rPr kumimoji="0" sz="1400" kern="0" cap="none" spc="65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2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just</a:t>
            </a:r>
            <a:r>
              <a:rPr kumimoji="0" sz="1400" kern="0" cap="none" spc="6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5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a</a:t>
            </a:r>
            <a:r>
              <a:rPr kumimoji="0" sz="1400" kern="0" cap="none" spc="6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14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dial</a:t>
            </a:r>
            <a:r>
              <a:rPr kumimoji="0" sz="1400" kern="0" cap="none" spc="6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75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away!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R="0" algn="ctr" defTabSz="914400" eaLnBrk="1" fontAlgn="auto" hangingPunct="1"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15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Contact</a:t>
            </a:r>
            <a:r>
              <a:rPr kumimoji="0" sz="1400" kern="0" cap="none" spc="55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35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our</a:t>
            </a:r>
            <a:r>
              <a:rPr kumimoji="0" sz="1400" kern="0" cap="none" spc="6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3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hotlines</a:t>
            </a:r>
            <a:r>
              <a:rPr kumimoji="0" sz="1400" kern="0" cap="none" spc="6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1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listed</a:t>
            </a:r>
            <a:r>
              <a:rPr kumimoji="0" sz="1400" kern="0" cap="none" spc="6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45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below</a:t>
            </a:r>
            <a:r>
              <a:rPr kumimoji="0" sz="1400" kern="0" cap="none" spc="55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0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or</a:t>
            </a:r>
            <a:r>
              <a:rPr kumimoji="0" sz="1400" kern="0" cap="none" spc="4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05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0919</a:t>
            </a:r>
            <a:r>
              <a:rPr kumimoji="0" sz="1400" b="1" kern="0" cap="none" spc="85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9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0588</a:t>
            </a:r>
            <a:r>
              <a:rPr kumimoji="0" sz="1400" b="1" kern="0" cap="none" spc="85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00" normalizeH="0" baseline="0" noProof="0" dirty="0">
                <a:solidFill>
                  <a:srgbClr val="094A97"/>
                </a:solidFill>
                <a:latin typeface="Calibri" panose="020F0502020204030204"/>
                <a:cs typeface="Calibri" panose="020F0502020204030204"/>
              </a:rPr>
              <a:t>933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458913" y="1609725"/>
          <a:ext cx="3003550" cy="3286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2085"/>
                <a:gridCol w="1562100"/>
              </a:tblGrid>
              <a:tr h="7308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endParaRPr sz="12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85725">
                        <a:lnSpc>
                          <a:spcPct val="100000"/>
                        </a:lnSpc>
                      </a:pPr>
                      <a:r>
                        <a:rPr sz="1200" b="1" spc="9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(02)</a:t>
                      </a:r>
                      <a:r>
                        <a:rPr sz="1200" b="1" spc="8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3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8582</a:t>
                      </a:r>
                      <a:r>
                        <a:rPr sz="1200" b="1" spc="8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1980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  <a:p>
                      <a:pPr marL="85725">
                        <a:lnSpc>
                          <a:spcPct val="100000"/>
                        </a:lnSpc>
                      </a:pPr>
                      <a:r>
                        <a:rPr sz="1200" b="1" spc="9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(02)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5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7798</a:t>
                      </a:r>
                      <a:r>
                        <a:rPr sz="1200" b="1" spc="8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3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7798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1270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18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85725">
                        <a:lnSpc>
                          <a:spcPct val="100000"/>
                        </a:lnSpc>
                      </a:pPr>
                      <a:r>
                        <a:rPr sz="1200" spc="9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Metro</a:t>
                      </a:r>
                      <a:r>
                        <a:rPr sz="1200" spc="5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spc="9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Manila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5080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12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(034)</a:t>
                      </a:r>
                      <a:r>
                        <a:rPr sz="1200" b="1" spc="7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6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458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7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6714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3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Bacolod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11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(074)</a:t>
                      </a:r>
                      <a:r>
                        <a:rPr sz="1200" b="1" spc="8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5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661</a:t>
                      </a:r>
                      <a:r>
                        <a:rPr sz="1200" b="1" spc="8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14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8832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5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Baguio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12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(043)</a:t>
                      </a:r>
                      <a:r>
                        <a:rPr sz="1200" b="1" spc="8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3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779</a:t>
                      </a:r>
                      <a:r>
                        <a:rPr sz="1200" b="1" spc="8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9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8014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4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Batangas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13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(088)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8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864</a:t>
                      </a:r>
                      <a:r>
                        <a:rPr sz="1200" b="1" spc="8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4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8803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5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Cagayan</a:t>
                      </a:r>
                      <a:r>
                        <a:rPr sz="1200" spc="5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spc="15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de</a:t>
                      </a:r>
                      <a:r>
                        <a:rPr sz="1200" spc="5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spc="9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Oro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13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(046)</a:t>
                      </a:r>
                      <a:r>
                        <a:rPr sz="1200" b="1" spc="7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6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419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8016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9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Cavite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9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(032)</a:t>
                      </a:r>
                      <a:r>
                        <a:rPr sz="1200" b="1" spc="6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5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260</a:t>
                      </a:r>
                      <a:r>
                        <a:rPr sz="1200" b="1" spc="7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5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9068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4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Cebu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114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(082)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2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238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5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7016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2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Davao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4643438" y="1609725"/>
          <a:ext cx="3003550" cy="3286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42085"/>
                <a:gridCol w="1562100"/>
              </a:tblGrid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9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(035)</a:t>
                      </a:r>
                      <a:r>
                        <a:rPr sz="1200" b="1" spc="6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9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522</a:t>
                      </a:r>
                      <a:r>
                        <a:rPr sz="1200" b="1" spc="7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5014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6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Dumaguete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114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(083)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6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887</a:t>
                      </a:r>
                      <a:r>
                        <a:rPr sz="1200" b="1" spc="8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5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9813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1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General</a:t>
                      </a:r>
                      <a:r>
                        <a:rPr sz="1200" spc="5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spc="12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Santos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9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(033)</a:t>
                      </a:r>
                      <a:r>
                        <a:rPr sz="1200" b="1" spc="7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2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328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3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7034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6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Iloilo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13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(064)</a:t>
                      </a:r>
                      <a:r>
                        <a:rPr sz="1200" b="1" spc="9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521</a:t>
                      </a:r>
                      <a:r>
                        <a:rPr sz="1200" b="1" spc="9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4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8002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4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Kidapawan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13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(049)</a:t>
                      </a:r>
                      <a:r>
                        <a:rPr sz="1200" b="1" spc="6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14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559</a:t>
                      </a:r>
                      <a:r>
                        <a:rPr sz="1200" b="1" spc="7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5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8007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6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Laguna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10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(053)</a:t>
                      </a:r>
                      <a:r>
                        <a:rPr sz="1200" b="1" spc="6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2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832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3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9902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5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Ormoc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14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(048)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5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716</a:t>
                      </a:r>
                      <a:r>
                        <a:rPr sz="1200" b="1" spc="8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-2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5122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3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Palawan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12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(045)</a:t>
                      </a:r>
                      <a:r>
                        <a:rPr sz="1200" b="1" spc="7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7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649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5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8005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8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Pampanga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  <a:tr h="365125"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b="1" spc="12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(054)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6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871</a:t>
                      </a:r>
                      <a:r>
                        <a:rPr sz="1200" b="1" spc="75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 </a:t>
                      </a:r>
                      <a:r>
                        <a:rPr sz="1200" b="1" spc="13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2070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200" spc="160" dirty="0">
                          <a:solidFill>
                            <a:srgbClr val="0C3879"/>
                          </a:solidFill>
                          <a:latin typeface="Calibri" panose="020F0502020204030204"/>
                          <a:cs typeface="Calibri" panose="020F0502020204030204"/>
                        </a:rPr>
                        <a:t>Naga</a:t>
                      </a:r>
                      <a:endParaRPr sz="1200">
                        <a:latin typeface="Calibri" panose="020F0502020204030204"/>
                        <a:cs typeface="Calibri" panose="020F0502020204030204"/>
                      </a:endParaRPr>
                    </a:p>
                  </a:txBody>
                  <a:tcPr marL="0" marR="0" marT="79375" marB="0">
                    <a:lnL w="38100">
                      <a:solidFill>
                        <a:srgbClr val="FFFFFF"/>
                      </a:solidFill>
                      <a:prstDash val="solid"/>
                    </a:lnL>
                    <a:lnR w="381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C9DAF7"/>
                    </a:solidFill>
                  </a:tcPr>
                </a:tc>
              </a:tr>
            </a:tbl>
          </a:graphicData>
        </a:graphic>
      </p:graphicFrame>
      <p:sp>
        <p:nvSpPr>
          <p:cNvPr id="16449" name="object 6"/>
          <p:cNvSpPr/>
          <p:nvPr/>
        </p:nvSpPr>
        <p:spPr>
          <a:xfrm>
            <a:off x="8158163" y="0"/>
            <a:ext cx="985837" cy="603250"/>
          </a:xfrm>
          <a:custGeom>
            <a:avLst/>
            <a:gdLst/>
            <a:ahLst/>
            <a:cxnLst/>
            <a:pathLst>
              <a:path w="985520" h="603885">
                <a:moveTo>
                  <a:pt x="985499" y="603299"/>
                </a:moveTo>
                <a:lnTo>
                  <a:pt x="0" y="603299"/>
                </a:lnTo>
                <a:lnTo>
                  <a:pt x="0" y="0"/>
                </a:lnTo>
                <a:lnTo>
                  <a:pt x="985499" y="0"/>
                </a:lnTo>
                <a:lnTo>
                  <a:pt x="985499" y="60329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641350" y="239713"/>
            <a:ext cx="1365250" cy="238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|</a:t>
            </a:r>
            <a:r>
              <a:rPr kumimoji="0" sz="1400" kern="0" cap="none" spc="1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3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Telemedicine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pic>
        <p:nvPicPr>
          <p:cNvPr id="17411" name="object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4525" y="1881188"/>
            <a:ext cx="3549650" cy="11747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" name="object 4"/>
          <p:cNvSpPr txBox="1"/>
          <p:nvPr/>
        </p:nvSpPr>
        <p:spPr>
          <a:xfrm>
            <a:off x="3641725" y="1431925"/>
            <a:ext cx="5176838" cy="27463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3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600" kern="0" cap="none" spc="85" normalizeH="0" baseline="0" noProof="0" dirty="0">
                <a:solidFill>
                  <a:srgbClr val="233C73"/>
                </a:solidFill>
                <a:latin typeface="Century Gothic" panose="020B0502020202020204"/>
                <a:cs typeface="Century Gothic" panose="020B0502020202020204"/>
              </a:rPr>
              <a:t>CONSULT</a:t>
            </a:r>
            <a:r>
              <a:rPr kumimoji="0" sz="1600" kern="0" cap="none" spc="-20" normalizeH="0" baseline="0" noProof="0" dirty="0">
                <a:solidFill>
                  <a:srgbClr val="233C73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600" kern="0" cap="none" spc="0" normalizeH="0" baseline="0" noProof="0" dirty="0">
                <a:solidFill>
                  <a:srgbClr val="233C73"/>
                </a:solidFill>
                <a:latin typeface="Century Gothic" panose="020B0502020202020204"/>
                <a:cs typeface="Century Gothic" panose="020B0502020202020204"/>
              </a:rPr>
              <a:t>A</a:t>
            </a:r>
            <a:r>
              <a:rPr kumimoji="0" sz="1600" kern="0" cap="none" spc="-20" normalizeH="0" baseline="0" noProof="0" dirty="0">
                <a:solidFill>
                  <a:srgbClr val="233C73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600" kern="0" cap="none" spc="50" normalizeH="0" baseline="0" noProof="0" dirty="0">
                <a:solidFill>
                  <a:srgbClr val="233C73"/>
                </a:solidFill>
                <a:latin typeface="Century Gothic" panose="020B0502020202020204"/>
                <a:cs typeface="Century Gothic" panose="020B0502020202020204"/>
              </a:rPr>
              <a:t>DOCTOR</a:t>
            </a:r>
            <a:r>
              <a:rPr kumimoji="0" sz="1600" kern="0" cap="none" spc="-15" normalizeH="0" baseline="0" noProof="0" dirty="0">
                <a:solidFill>
                  <a:srgbClr val="233C73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600" kern="0" cap="none" spc="80" normalizeH="0" baseline="0" noProof="0" dirty="0">
                <a:solidFill>
                  <a:srgbClr val="233C73"/>
                </a:solidFill>
                <a:latin typeface="Century Gothic" panose="020B0502020202020204"/>
                <a:cs typeface="Century Gothic" panose="020B0502020202020204"/>
              </a:rPr>
              <a:t>ANYTIME,</a:t>
            </a:r>
            <a:r>
              <a:rPr kumimoji="0" sz="1600" kern="0" cap="none" spc="-20" normalizeH="0" baseline="0" noProof="0" dirty="0">
                <a:solidFill>
                  <a:srgbClr val="233C73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600" kern="0" cap="none" spc="150" normalizeH="0" baseline="0" noProof="0" dirty="0">
                <a:solidFill>
                  <a:srgbClr val="233C73"/>
                </a:solidFill>
                <a:latin typeface="Century Gothic" panose="020B0502020202020204"/>
                <a:cs typeface="Century Gothic" panose="020B0502020202020204"/>
              </a:rPr>
              <a:t>ANYWHERE</a:t>
            </a:r>
            <a:r>
              <a:rPr kumimoji="0" sz="1600" kern="0" cap="none" spc="-20" normalizeH="0" baseline="0" noProof="0" dirty="0">
                <a:solidFill>
                  <a:srgbClr val="233C73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600" kern="0" cap="none" spc="175" normalizeH="0" baseline="0" noProof="0" dirty="0">
                <a:solidFill>
                  <a:srgbClr val="233C73"/>
                </a:solidFill>
                <a:latin typeface="Century Gothic" panose="020B0502020202020204"/>
                <a:cs typeface="Century Gothic" panose="020B0502020202020204"/>
              </a:rPr>
              <a:t>WITH</a:t>
            </a:r>
            <a:endParaRPr kumimoji="0" sz="1600" kern="0" cap="none" spc="0" normalizeH="0" baseline="0" noProof="0">
              <a:solidFill>
                <a:sysClr val="windowText" lastClr="000000"/>
              </a:solidFill>
              <a:latin typeface="Century Gothic" panose="020B0502020202020204"/>
              <a:cs typeface="Century Gothic" panose="020B0502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051300" y="3370263"/>
            <a:ext cx="4784725" cy="7175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12700" algn="ctr" eaLnBrk="1" hangingPunct="1">
              <a:lnSpc>
                <a:spcPct val="101000"/>
              </a:lnSpc>
              <a:spcBef>
                <a:spcPts val="100"/>
              </a:spcBef>
              <a:buNone/>
            </a:pPr>
            <a:r>
              <a:rPr lang="en-US" altLang="zh-CN" sz="15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Download the app and schedule an appointment in just a few taps! E-prescriptions and referrals</a:t>
            </a:r>
            <a:endParaRPr lang="en-US" altLang="zh-CN" sz="15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algn="ctr" eaLnBrk="1" hangingPunct="1">
              <a:spcBef>
                <a:spcPts val="15"/>
              </a:spcBef>
              <a:buNone/>
            </a:pPr>
            <a:r>
              <a:rPr lang="en-US" altLang="zh-CN" sz="15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are given after consultations.</a:t>
            </a:r>
            <a:endParaRPr lang="en-US" altLang="zh-CN" sz="15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17414" name="object 6"/>
          <p:cNvGrpSpPr/>
          <p:nvPr/>
        </p:nvGrpSpPr>
        <p:grpSpPr>
          <a:xfrm>
            <a:off x="0" y="728663"/>
            <a:ext cx="3954463" cy="4414837"/>
            <a:chOff x="0" y="728625"/>
            <a:chExt cx="3954145" cy="4415155"/>
          </a:xfrm>
        </p:grpSpPr>
        <p:pic>
          <p:nvPicPr>
            <p:cNvPr id="17417" name="object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728625"/>
              <a:ext cx="3953744" cy="44148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7418" name="object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779424"/>
              <a:ext cx="3896594" cy="4364075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3619500" y="800100"/>
            <a:ext cx="5221288" cy="273050"/>
          </a:xfrm>
        </p:spPr>
        <p:txBody>
          <a:bodyPr vert="horz" wrap="square" lIns="0" tIns="1651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3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600" b="1" i="0" u="none" strike="noStrike" kern="0" cap="none" spc="21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Feeling</a:t>
            </a:r>
            <a:r>
              <a:rPr kumimoji="0" sz="1600" b="1" i="0" u="none" strike="noStrike" kern="0" cap="none" spc="11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600" b="1" i="0" u="none" strike="noStrike" kern="0" cap="none" spc="20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unwell</a:t>
            </a:r>
            <a:r>
              <a:rPr kumimoji="0" sz="1600" b="1" i="0" u="none" strike="noStrike" kern="0" cap="none" spc="11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600" b="1" i="0" u="none" strike="noStrike" kern="0" cap="none" spc="24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and</a:t>
            </a:r>
            <a:r>
              <a:rPr kumimoji="0" sz="1600" b="1" i="0" u="none" strike="noStrike" kern="0" cap="none" spc="114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600" b="1" i="0" u="none" strike="noStrike" kern="0" cap="none" spc="22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want</a:t>
            </a:r>
            <a:r>
              <a:rPr kumimoji="0" sz="1600" b="1" i="0" u="none" strike="noStrike" kern="0" cap="none" spc="11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600" b="1" i="0" u="none" strike="noStrike" kern="0" cap="none" spc="16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to</a:t>
            </a:r>
            <a:r>
              <a:rPr kumimoji="0" sz="1600" b="1" i="0" u="none" strike="noStrike" kern="0" cap="none" spc="114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600" b="1" i="0" u="none" strike="noStrike" kern="0" cap="none" spc="21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consult</a:t>
            </a:r>
            <a:r>
              <a:rPr kumimoji="0" sz="1600" b="1" i="0" u="none" strike="noStrike" kern="0" cap="none" spc="11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600" b="1" i="0" u="none" strike="noStrike" kern="0" cap="none" spc="204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from</a:t>
            </a:r>
            <a:r>
              <a:rPr kumimoji="0" sz="1600" b="1" i="0" u="none" strike="noStrike" kern="0" cap="none" spc="114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600" b="1" i="0" u="none" strike="noStrike" kern="0" cap="none" spc="24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home?</a:t>
            </a:r>
            <a:endParaRPr kumimoji="0" sz="16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sp>
        <p:nvSpPr>
          <p:cNvPr id="17416" name="object 10"/>
          <p:cNvSpPr/>
          <p:nvPr/>
        </p:nvSpPr>
        <p:spPr>
          <a:xfrm>
            <a:off x="8158163" y="0"/>
            <a:ext cx="985837" cy="603250"/>
          </a:xfrm>
          <a:custGeom>
            <a:avLst/>
            <a:gdLst/>
            <a:ahLst/>
            <a:cxnLst/>
            <a:pathLst>
              <a:path w="985520" h="603885">
                <a:moveTo>
                  <a:pt x="985499" y="603299"/>
                </a:moveTo>
                <a:lnTo>
                  <a:pt x="0" y="603299"/>
                </a:lnTo>
                <a:lnTo>
                  <a:pt x="0" y="0"/>
                </a:lnTo>
                <a:lnTo>
                  <a:pt x="985499" y="0"/>
                </a:lnTo>
                <a:lnTo>
                  <a:pt x="985499" y="60329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/>
      <p:pic>
        <p:nvPicPr>
          <p:cNvPr id="18434" name="object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1492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8435" name="object 3"/>
          <p:cNvSpPr txBox="1"/>
          <p:nvPr/>
        </p:nvSpPr>
        <p:spPr>
          <a:xfrm>
            <a:off x="7362825" y="2262188"/>
            <a:ext cx="103188" cy="209550"/>
          </a:xfrm>
          <a:prstGeom prst="rect">
            <a:avLst/>
          </a:prstGeom>
          <a:noFill/>
          <a:ln w="9525">
            <a:noFill/>
          </a:ln>
        </p:spPr>
        <p:txBody>
          <a:bodyPr lIns="0" tIns="13335" rIns="0" bIns="0">
            <a:spAutoFit/>
          </a:bodyPr>
          <a:p>
            <a:pPr marL="12700" eaLnBrk="1" hangingPunct="1">
              <a:spcBef>
                <a:spcPts val="100"/>
              </a:spcBef>
              <a:buNone/>
            </a:pPr>
            <a:r>
              <a:rPr lang="en-US" altLang="zh-CN" sz="1200">
                <a:solidFill>
                  <a:srgbClr val="8C879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altLang="zh-CN" sz="120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661150" y="2474913"/>
            <a:ext cx="485775" cy="1095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550" kern="0" cap="none" spc="-10" normalizeH="0" baseline="0" noProof="0" dirty="0">
                <a:solidFill>
                  <a:srgbClr val="626262"/>
                </a:solidFill>
                <a:latin typeface="Times New Roman" panose="02020603050405020304"/>
                <a:cs typeface="Times New Roman" panose="02020603050405020304"/>
              </a:rPr>
              <a:t>Consult</a:t>
            </a:r>
            <a:r>
              <a:rPr kumimoji="0" sz="550" kern="0" cap="none" spc="-30" normalizeH="0" baseline="0" noProof="0" dirty="0">
                <a:solidFill>
                  <a:srgbClr val="626262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kumimoji="0" sz="550" kern="0" cap="none" spc="0" normalizeH="0" baseline="0" noProof="0" dirty="0">
                <a:solidFill>
                  <a:srgbClr val="525252"/>
                </a:solidFill>
                <a:latin typeface="Times New Roman" panose="02020603050405020304"/>
                <a:cs typeface="Times New Roman" panose="02020603050405020304"/>
              </a:rPr>
              <a:t>a</a:t>
            </a:r>
            <a:r>
              <a:rPr kumimoji="0" sz="550" kern="0" cap="none" spc="-15" normalizeH="0" baseline="0" noProof="0" dirty="0">
                <a:solidFill>
                  <a:srgbClr val="525252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kumimoji="0" sz="450" kern="0" cap="none" spc="-10" normalizeH="0" baseline="0" noProof="0" dirty="0">
                <a:solidFill>
                  <a:srgbClr val="525252"/>
                </a:solidFill>
                <a:latin typeface="Arial" panose="020B0604020202020204"/>
                <a:cs typeface="Arial" panose="020B0604020202020204"/>
              </a:rPr>
              <a:t>doctOf</a:t>
            </a:r>
            <a:endParaRPr kumimoji="0" sz="450" kern="0" cap="none" spc="0" normalizeH="0" baseline="0" noProof="0">
              <a:solidFill>
                <a:sysClr val="windowText" lastClr="000000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297738" y="2452688"/>
            <a:ext cx="485775" cy="2270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74625" indent="-161925" eaLnBrk="1" hangingPunct="1">
              <a:lnSpc>
                <a:spcPct val="132000"/>
              </a:lnSpc>
              <a:spcBef>
                <a:spcPts val="100"/>
              </a:spcBef>
              <a:buNone/>
            </a:pPr>
            <a:r>
              <a:rPr lang="en-US" altLang="zh-CN" sz="500">
                <a:solidFill>
                  <a:srgbClr val="3F3F3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ReqUHt </a:t>
            </a:r>
            <a:r>
              <a:rPr lang="en-US" altLang="zh-CN" sz="50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medkal tes1.s</a:t>
            </a:r>
            <a:endParaRPr lang="en-US" altLang="zh-CN" sz="50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827838" y="2925763"/>
            <a:ext cx="161925" cy="26193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550" kern="0" cap="none" spc="-45" normalizeH="0" baseline="0" noProof="0" dirty="0">
                <a:solidFill>
                  <a:srgbClr val="486BA1"/>
                </a:solidFill>
                <a:latin typeface="Arial" panose="020B0604020202020204"/>
                <a:cs typeface="Arial" panose="020B0604020202020204"/>
              </a:rPr>
              <a:t>cf</a:t>
            </a:r>
            <a:endParaRPr kumimoji="0" sz="1550" kern="0" cap="none" spc="0" normalizeH="0" baseline="0" noProof="0">
              <a:solidFill>
                <a:sysClr val="windowText" lastClr="000000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675438" y="3128963"/>
            <a:ext cx="458788" cy="111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550" kern="0" cap="none" spc="-30" normalizeH="0" baseline="0" noProof="0" dirty="0">
                <a:solidFill>
                  <a:srgbClr val="3F3F3F"/>
                </a:solidFill>
                <a:latin typeface="Times New Roman" panose="02020603050405020304"/>
                <a:cs typeface="Times New Roman" panose="02020603050405020304"/>
              </a:rPr>
              <a:t>T</a:t>
            </a:r>
            <a:r>
              <a:rPr kumimoji="0" sz="550" kern="0" cap="none" spc="-30" normalizeH="0" baseline="0" noProof="0" dirty="0">
                <a:solidFill>
                  <a:srgbClr val="757575"/>
                </a:solidFill>
                <a:latin typeface="Times New Roman" panose="02020603050405020304"/>
                <a:cs typeface="Times New Roman" panose="02020603050405020304"/>
              </a:rPr>
              <a:t>a</a:t>
            </a:r>
            <a:r>
              <a:rPr kumimoji="0" sz="550" kern="0" cap="none" spc="-30" normalizeH="0" baseline="0" noProof="0" dirty="0">
                <a:solidFill>
                  <a:srgbClr val="525252"/>
                </a:solidFill>
                <a:latin typeface="Times New Roman" panose="02020603050405020304"/>
                <a:cs typeface="Times New Roman" panose="02020603050405020304"/>
              </a:rPr>
              <a:t>lk</a:t>
            </a:r>
            <a:r>
              <a:rPr kumimoji="0" sz="550" kern="0" cap="none" spc="-75" normalizeH="0" baseline="0" noProof="0" dirty="0">
                <a:solidFill>
                  <a:srgbClr val="525252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kumimoji="0" sz="550" kern="0" cap="none" spc="0" normalizeH="0" baseline="0" noProof="0" dirty="0">
                <a:solidFill>
                  <a:srgbClr val="525252"/>
                </a:solidFill>
                <a:latin typeface="Times New Roman" panose="02020603050405020304"/>
                <a:cs typeface="Times New Roman" panose="02020603050405020304"/>
              </a:rPr>
              <a:t>to</a:t>
            </a:r>
            <a:r>
              <a:rPr kumimoji="0" sz="550" kern="0" cap="none" spc="-5" normalizeH="0" baseline="0" noProof="0" dirty="0">
                <a:solidFill>
                  <a:srgbClr val="525252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kumimoji="0" sz="550" kern="0" cap="none" spc="0" normalizeH="0" baseline="0" noProof="0" dirty="0">
                <a:solidFill>
                  <a:srgbClr val="626262"/>
                </a:solidFill>
                <a:latin typeface="Times New Roman" panose="02020603050405020304"/>
                <a:cs typeface="Times New Roman" panose="02020603050405020304"/>
              </a:rPr>
              <a:t>a </a:t>
            </a:r>
            <a:r>
              <a:rPr kumimoji="0" sz="550" kern="0" cap="none" spc="-10" normalizeH="0" baseline="0" noProof="0" dirty="0">
                <a:solidFill>
                  <a:srgbClr val="626262"/>
                </a:solidFill>
                <a:latin typeface="Times New Roman" panose="02020603050405020304"/>
                <a:cs typeface="Times New Roman" panose="02020603050405020304"/>
              </a:rPr>
              <a:t>doctor</a:t>
            </a:r>
            <a:endParaRPr kumimoji="0" sz="550" kern="0" cap="none" spc="0" normalizeH="0" baseline="0" noProof="0">
              <a:solidFill>
                <a:sysClr val="windowText" lastClr="000000"/>
              </a:solidFill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326313" y="2897188"/>
            <a:ext cx="422275" cy="34131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35" marR="0" algn="ctr" defTabSz="914400" eaLnBrk="1" fontAlgn="auto" hangingPunct="1">
              <a:lnSpc>
                <a:spcPts val="1845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550" kern="0" cap="none" spc="-25" normalizeH="0" baseline="0" noProof="0" dirty="0">
                <a:solidFill>
                  <a:srgbClr val="344D77"/>
                </a:solidFill>
                <a:latin typeface="Arial" panose="020B0604020202020204"/>
                <a:cs typeface="Arial" panose="020B0604020202020204"/>
              </a:rPr>
              <a:t>p&gt;</a:t>
            </a:r>
            <a:endParaRPr kumimoji="0" sz="1550" kern="0" cap="none" spc="0" normalizeH="0" baseline="0" noProof="0">
              <a:solidFill>
                <a:sysClr val="windowText" lastClr="000000"/>
              </a:solidFill>
              <a:latin typeface="Arial" panose="020B0604020202020204"/>
              <a:cs typeface="Arial" panose="020B0604020202020204"/>
            </a:endParaRPr>
          </a:p>
          <a:p>
            <a:pPr marR="0" algn="ctr" defTabSz="914400" eaLnBrk="1" fontAlgn="auto" hangingPunct="1">
              <a:lnSpc>
                <a:spcPts val="6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500" kern="0" cap="none" spc="-10" normalizeH="0" baseline="0" noProof="0" dirty="0">
                <a:solidFill>
                  <a:srgbClr val="626262"/>
                </a:solidFill>
                <a:latin typeface="Arial" panose="020B0604020202020204"/>
                <a:cs typeface="Arial" panose="020B0604020202020204"/>
              </a:rPr>
              <a:t>Video</a:t>
            </a:r>
            <a:r>
              <a:rPr kumimoji="0" sz="550" kern="0" cap="none" spc="-10" normalizeH="0" baseline="0" noProof="0" dirty="0">
                <a:solidFill>
                  <a:srgbClr val="525252"/>
                </a:solidFill>
                <a:latin typeface="Times New Roman" panose="02020603050405020304"/>
                <a:cs typeface="Times New Roman" panose="02020603050405020304"/>
              </a:rPr>
              <a:t>Consult</a:t>
            </a:r>
            <a:endParaRPr kumimoji="0" sz="550" kern="0" cap="none" spc="0" normalizeH="0" baseline="0" noProof="0">
              <a:solidFill>
                <a:sysClr val="windowText" lastClr="000000"/>
              </a:solidFill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686550" y="3524250"/>
            <a:ext cx="747713" cy="952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450" kern="0" cap="none" spc="0" normalizeH="0" baseline="0" noProof="0" dirty="0">
                <a:solidFill>
                  <a:srgbClr val="757575"/>
                </a:solidFill>
                <a:latin typeface="Times New Roman" panose="02020603050405020304"/>
                <a:cs typeface="Times New Roman" panose="02020603050405020304"/>
              </a:rPr>
              <a:t>Fotoehlf</a:t>
            </a:r>
            <a:r>
              <a:rPr kumimoji="0" sz="450" kern="0" cap="none" spc="315" normalizeH="0" baseline="0" noProof="0" dirty="0">
                <a:solidFill>
                  <a:srgbClr val="757575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kumimoji="0" sz="400" kern="0" cap="none" spc="105" normalizeH="0" baseline="0" noProof="0" dirty="0">
                <a:solidFill>
                  <a:srgbClr val="757575"/>
                </a:solidFill>
                <a:latin typeface="Times New Roman" panose="02020603050405020304"/>
                <a:cs typeface="Times New Roman" panose="02020603050405020304"/>
              </a:rPr>
              <a:t>and</a:t>
            </a:r>
            <a:r>
              <a:rPr kumimoji="0" sz="450" kern="0" cap="none" spc="105" normalizeH="0" baseline="0" noProof="0" dirty="0">
                <a:solidFill>
                  <a:srgbClr val="757575"/>
                </a:solidFill>
                <a:latin typeface="Arial" panose="020B0604020202020204"/>
                <a:cs typeface="Arial" panose="020B0604020202020204"/>
              </a:rPr>
              <a:t>PNMClffl</a:t>
            </a:r>
            <a:endParaRPr kumimoji="0" sz="450" kern="0" cap="none" spc="0" normalizeH="0" baseline="0" noProof="0">
              <a:solidFill>
                <a:sysClr val="windowText" lastClr="000000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8442" name="object 10"/>
          <p:cNvSpPr/>
          <p:nvPr/>
        </p:nvSpPr>
        <p:spPr>
          <a:xfrm>
            <a:off x="6699250" y="3609975"/>
            <a:ext cx="106363" cy="85725"/>
          </a:xfrm>
          <a:custGeom>
            <a:avLst/>
            <a:gdLst/>
            <a:ahLst/>
            <a:cxnLst/>
            <a:pathLst>
              <a:path w="106679" h="86360">
                <a:moveTo>
                  <a:pt x="28638" y="13258"/>
                </a:moveTo>
                <a:lnTo>
                  <a:pt x="0" y="13258"/>
                </a:lnTo>
                <a:lnTo>
                  <a:pt x="0" y="81889"/>
                </a:lnTo>
                <a:lnTo>
                  <a:pt x="28638" y="81889"/>
                </a:lnTo>
                <a:lnTo>
                  <a:pt x="28638" y="13258"/>
                </a:lnTo>
                <a:close/>
              </a:path>
              <a:path w="106679" h="86360">
                <a:moveTo>
                  <a:pt x="106286" y="0"/>
                </a:moveTo>
                <a:lnTo>
                  <a:pt x="87198" y="0"/>
                </a:lnTo>
                <a:lnTo>
                  <a:pt x="87198" y="85801"/>
                </a:lnTo>
                <a:lnTo>
                  <a:pt x="106286" y="85801"/>
                </a:lnTo>
                <a:lnTo>
                  <a:pt x="106286" y="0"/>
                </a:lnTo>
                <a:close/>
              </a:path>
            </a:pathLst>
          </a:custGeom>
          <a:solidFill>
            <a:srgbClr val="EFF0F0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  <p:sp>
        <p:nvSpPr>
          <p:cNvPr id="11" name="object 11"/>
          <p:cNvSpPr txBox="1"/>
          <p:nvPr/>
        </p:nvSpPr>
        <p:spPr>
          <a:xfrm>
            <a:off x="6686550" y="3598863"/>
            <a:ext cx="130175" cy="1031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400" kern="0" cap="none" spc="0" normalizeH="0" baseline="0" noProof="0" dirty="0">
                <a:solidFill>
                  <a:srgbClr val="A8B8C6"/>
                </a:solidFill>
                <a:latin typeface="Times New Roman" panose="02020603050405020304"/>
                <a:cs typeface="Times New Roman" panose="02020603050405020304"/>
              </a:rPr>
              <a:t>f</a:t>
            </a:r>
            <a:r>
              <a:rPr kumimoji="0" sz="400" kern="0" cap="none" spc="450" normalizeH="0" baseline="0" noProof="0" dirty="0">
                <a:solidFill>
                  <a:srgbClr val="A8B8C6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kumimoji="0" sz="500" kern="0" cap="none" spc="-60" normalizeH="0" baseline="0" noProof="0" dirty="0">
                <a:solidFill>
                  <a:srgbClr val="A8B8C6"/>
                </a:solidFill>
                <a:latin typeface="Times New Roman" panose="02020603050405020304"/>
                <a:cs typeface="Times New Roman" panose="02020603050405020304"/>
              </a:rPr>
              <a:t>t</a:t>
            </a:r>
            <a:endParaRPr kumimoji="0" sz="500" kern="0" cap="none" spc="0" normalizeH="0" baseline="0" noProof="0">
              <a:solidFill>
                <a:sysClr val="windowText" lastClr="000000"/>
              </a:solidFill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8444" name="object 12"/>
          <p:cNvSpPr/>
          <p:nvPr/>
        </p:nvSpPr>
        <p:spPr>
          <a:xfrm>
            <a:off x="6859588" y="3622675"/>
            <a:ext cx="395287" cy="69850"/>
          </a:xfrm>
          <a:custGeom>
            <a:avLst/>
            <a:gdLst/>
            <a:ahLst/>
            <a:cxnLst/>
            <a:pathLst>
              <a:path w="395604" h="69850">
                <a:moveTo>
                  <a:pt x="205219" y="0"/>
                </a:moveTo>
                <a:lnTo>
                  <a:pt x="0" y="0"/>
                </a:lnTo>
                <a:lnTo>
                  <a:pt x="0" y="69557"/>
                </a:lnTo>
                <a:lnTo>
                  <a:pt x="205219" y="69557"/>
                </a:lnTo>
                <a:lnTo>
                  <a:pt x="205219" y="0"/>
                </a:lnTo>
                <a:close/>
              </a:path>
              <a:path w="395604" h="69850">
                <a:moveTo>
                  <a:pt x="395605" y="0"/>
                </a:moveTo>
                <a:lnTo>
                  <a:pt x="223799" y="0"/>
                </a:lnTo>
                <a:lnTo>
                  <a:pt x="223799" y="69557"/>
                </a:lnTo>
                <a:lnTo>
                  <a:pt x="395605" y="69557"/>
                </a:lnTo>
                <a:lnTo>
                  <a:pt x="395605" y="0"/>
                </a:lnTo>
                <a:close/>
              </a:path>
            </a:pathLst>
          </a:custGeom>
          <a:solidFill>
            <a:srgbClr val="EFF0F0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  <p:sp>
        <p:nvSpPr>
          <p:cNvPr id="13" name="object 13"/>
          <p:cNvSpPr txBox="1"/>
          <p:nvPr/>
        </p:nvSpPr>
        <p:spPr>
          <a:xfrm>
            <a:off x="6859588" y="3622675"/>
            <a:ext cx="407988" cy="6985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R="0" defTabSz="914400" eaLnBrk="1" fontAlgn="auto" hangingPunct="1"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400" kern="0" cap="none" spc="55" normalizeH="0" baseline="0" noProof="0" dirty="0">
                <a:solidFill>
                  <a:srgbClr val="A8B8C6"/>
                </a:solidFill>
                <a:latin typeface="Arial" panose="020B0604020202020204"/>
                <a:cs typeface="Arial" panose="020B0604020202020204"/>
              </a:rPr>
              <a:t>LOftr-</a:t>
            </a:r>
            <a:r>
              <a:rPr kumimoji="0" sz="400" kern="0" cap="none" spc="-10" normalizeH="0" baseline="0" noProof="0" dirty="0">
                <a:solidFill>
                  <a:srgbClr val="A8B8C6"/>
                </a:solidFill>
                <a:latin typeface="Arial" panose="020B0604020202020204"/>
                <a:cs typeface="Arial" panose="020B0604020202020204"/>
              </a:rPr>
              <a:t>..,h&amp;.fC-</a:t>
            </a:r>
            <a:endParaRPr kumimoji="0" sz="400" kern="0" cap="none" spc="0" normalizeH="0" baseline="0" noProof="0">
              <a:solidFill>
                <a:sysClr val="windowText" lastClr="000000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348538" y="3624263"/>
            <a:ext cx="74613" cy="730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300" kern="0" cap="none" spc="-25" normalizeH="0" baseline="0" noProof="0" dirty="0">
                <a:solidFill>
                  <a:srgbClr val="A8B8C6"/>
                </a:solidFill>
                <a:latin typeface="Arial" panose="020B0604020202020204"/>
                <a:cs typeface="Arial" panose="020B0604020202020204"/>
              </a:rPr>
              <a:t>,c</a:t>
            </a:r>
            <a:r>
              <a:rPr kumimoji="0" sz="300" kern="0" cap="none" spc="500" normalizeH="0" baseline="0" noProof="0" dirty="0">
                <a:solidFill>
                  <a:srgbClr val="A8B8C6"/>
                </a:solidFill>
                <a:latin typeface="Arial" panose="020B0604020202020204"/>
                <a:cs typeface="Arial" panose="020B0604020202020204"/>
              </a:rPr>
              <a:t> </a:t>
            </a:r>
            <a:endParaRPr kumimoji="0" sz="300" kern="0" cap="none" spc="0" normalizeH="0" baseline="0" noProof="0">
              <a:solidFill>
                <a:sysClr val="windowText" lastClr="000000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475538" y="3622675"/>
            <a:ext cx="155575" cy="69850"/>
          </a:xfrm>
          <a:prstGeom prst="rect">
            <a:avLst/>
          </a:prstGeom>
          <a:solidFill>
            <a:srgbClr val="EFF0F0"/>
          </a:solidFill>
        </p:spPr>
        <p:txBody>
          <a:bodyPr vert="horz" wrap="square" lIns="0" tIns="1905" rIns="0" bIns="0" rtlCol="0">
            <a:spAutoFit/>
          </a:bodyPr>
          <a:lstStyle/>
          <a:p>
            <a:pPr marR="0" defTabSz="914400" eaLnBrk="1" fontAlgn="auto" hangingPunct="1"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400" kern="0" cap="none" spc="-10" normalizeH="0" baseline="0" noProof="0" dirty="0">
                <a:solidFill>
                  <a:srgbClr val="A8B8C6"/>
                </a:solidFill>
                <a:latin typeface="Arial" panose="020B0604020202020204"/>
                <a:cs typeface="Arial" panose="020B0604020202020204"/>
              </a:rPr>
              <a:t>nOt'!"</a:t>
            </a:r>
            <a:r>
              <a:rPr kumimoji="0" sz="400" kern="0" cap="none" spc="-10" normalizeH="0" baseline="0" noProof="0" dirty="0">
                <a:solidFill>
                  <a:srgbClr val="C1D1DD"/>
                </a:solidFill>
                <a:latin typeface="Arial" panose="020B0604020202020204"/>
                <a:cs typeface="Arial" panose="020B0604020202020204"/>
              </a:rPr>
              <a:t>t</a:t>
            </a:r>
            <a:endParaRPr kumimoji="0" sz="400" kern="0" cap="none" spc="0" normalizeH="0" baseline="0" noProof="0">
              <a:solidFill>
                <a:sysClr val="windowText" lastClr="000000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611938" y="3863975"/>
            <a:ext cx="714375" cy="952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450" kern="0" cap="none" spc="-10" normalizeH="0" baseline="0" noProof="0" dirty="0">
                <a:solidFill>
                  <a:srgbClr val="525252"/>
                </a:solidFill>
                <a:latin typeface="Arial" panose="020B0604020202020204"/>
                <a:cs typeface="Arial" panose="020B0604020202020204"/>
              </a:rPr>
              <a:t>Upcoming;</a:t>
            </a:r>
            <a:r>
              <a:rPr kumimoji="0" sz="450" kern="0" cap="none" spc="-10" normalizeH="0" baseline="0" noProof="0" dirty="0">
                <a:solidFill>
                  <a:srgbClr val="626262"/>
                </a:solidFill>
                <a:latin typeface="Arial" panose="020B0604020202020204"/>
                <a:cs typeface="Arial" panose="020B0604020202020204"/>
              </a:rPr>
              <a:t>appointments</a:t>
            </a:r>
            <a:endParaRPr kumimoji="0" sz="450" kern="0" cap="none" spc="0" normalizeH="0" baseline="0" noProof="0">
              <a:solidFill>
                <a:sysClr val="windowText" lastClr="000000"/>
              </a:solidFill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41350" y="239713"/>
            <a:ext cx="1751013" cy="238125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|</a:t>
            </a:r>
            <a:r>
              <a:rPr kumimoji="0" sz="1400" b="0" i="0" u="none" strike="noStrike" kern="0" cap="none" spc="254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400" b="0" i="0" u="none" strike="noStrike" kern="0" cap="none" spc="18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Member</a:t>
            </a:r>
            <a:r>
              <a:rPr kumimoji="0" sz="1400" b="0" i="0" u="none" strike="noStrike" kern="0" cap="none" spc="-2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400" b="0" i="0" u="none" strike="noStrike" kern="0" cap="none" spc="13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Gateway</a:t>
            </a:r>
            <a:endParaRPr kumimoji="0" sz="14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grpSp>
        <p:nvGrpSpPr>
          <p:cNvPr id="19459" name="object 3"/>
          <p:cNvGrpSpPr/>
          <p:nvPr/>
        </p:nvGrpSpPr>
        <p:grpSpPr>
          <a:xfrm>
            <a:off x="858838" y="3187700"/>
            <a:ext cx="1201737" cy="1201738"/>
            <a:chOff x="858637" y="3188325"/>
            <a:chExt cx="1201420" cy="1201420"/>
          </a:xfrm>
        </p:grpSpPr>
        <p:pic>
          <p:nvPicPr>
            <p:cNvPr id="19481" name="object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858637" y="3188325"/>
              <a:ext cx="1201306" cy="1201316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9482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15787" y="3226425"/>
              <a:ext cx="1087005" cy="1087015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6" name="object 6"/>
          <p:cNvSpPr txBox="1"/>
          <p:nvPr/>
        </p:nvSpPr>
        <p:spPr>
          <a:xfrm>
            <a:off x="1127125" y="3867150"/>
            <a:ext cx="665163" cy="2365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indent="59055" eaLnBrk="1" hangingPunct="1">
              <a:lnSpc>
                <a:spcPct val="115000"/>
              </a:lnSpc>
              <a:spcBef>
                <a:spcPts val="100"/>
              </a:spcBef>
              <a:buNone/>
            </a:pPr>
            <a:r>
              <a:rPr lang="en-US" altLang="zh-CN" sz="6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Inquire about plan information</a:t>
            </a:r>
            <a:endParaRPr lang="en-US" altLang="zh-CN" sz="6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19461" name="object 7"/>
          <p:cNvGrpSpPr/>
          <p:nvPr/>
        </p:nvGrpSpPr>
        <p:grpSpPr>
          <a:xfrm>
            <a:off x="1825625" y="3187700"/>
            <a:ext cx="1200150" cy="1201738"/>
            <a:chOff x="1825144" y="3188325"/>
            <a:chExt cx="1201420" cy="1201420"/>
          </a:xfrm>
        </p:grpSpPr>
        <p:pic>
          <p:nvPicPr>
            <p:cNvPr id="19479" name="object 8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825144" y="3188325"/>
              <a:ext cx="1201306" cy="1201316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9480" name="object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82294" y="3226425"/>
              <a:ext cx="1087005" cy="1087015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10" name="object 10"/>
          <p:cNvSpPr txBox="1"/>
          <p:nvPr/>
        </p:nvSpPr>
        <p:spPr>
          <a:xfrm>
            <a:off x="2112963" y="3862388"/>
            <a:ext cx="661988" cy="2365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46050" indent="-133350" eaLnBrk="1" hangingPunct="1">
              <a:lnSpc>
                <a:spcPct val="115000"/>
              </a:lnSpc>
              <a:spcBef>
                <a:spcPts val="100"/>
              </a:spcBef>
              <a:buNone/>
            </a:pPr>
            <a:r>
              <a:rPr lang="en-US" altLang="zh-CN" sz="6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View transaction summary</a:t>
            </a:r>
            <a:endParaRPr lang="en-US" altLang="zh-CN" sz="6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19463" name="object 11"/>
          <p:cNvGrpSpPr/>
          <p:nvPr/>
        </p:nvGrpSpPr>
        <p:grpSpPr>
          <a:xfrm>
            <a:off x="2827338" y="3187700"/>
            <a:ext cx="1201737" cy="1201738"/>
            <a:chOff x="2827350" y="3188325"/>
            <a:chExt cx="1201420" cy="1201420"/>
          </a:xfrm>
        </p:grpSpPr>
        <p:pic>
          <p:nvPicPr>
            <p:cNvPr id="19477" name="object 1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827350" y="3188325"/>
              <a:ext cx="1201306" cy="1201316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9478" name="object 1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84500" y="3226425"/>
              <a:ext cx="1087005" cy="1087015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14" name="object 14"/>
          <p:cNvSpPr txBox="1"/>
          <p:nvPr/>
        </p:nvSpPr>
        <p:spPr>
          <a:xfrm>
            <a:off x="3054350" y="3886200"/>
            <a:ext cx="782638" cy="234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266700" indent="-255270" eaLnBrk="1" hangingPunct="1">
              <a:lnSpc>
                <a:spcPct val="115000"/>
              </a:lnSpc>
              <a:spcBef>
                <a:spcPts val="100"/>
              </a:spcBef>
              <a:buNone/>
            </a:pPr>
            <a:r>
              <a:rPr lang="en-US" altLang="zh-CN" sz="6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File reimbursement claims</a:t>
            </a:r>
            <a:endParaRPr lang="en-US" altLang="zh-CN" sz="6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19465" name="object 15"/>
          <p:cNvGrpSpPr/>
          <p:nvPr/>
        </p:nvGrpSpPr>
        <p:grpSpPr>
          <a:xfrm>
            <a:off x="3829050" y="3187700"/>
            <a:ext cx="1201738" cy="1201738"/>
            <a:chOff x="3829555" y="3188325"/>
            <a:chExt cx="1201420" cy="1201420"/>
          </a:xfrm>
        </p:grpSpPr>
        <p:pic>
          <p:nvPicPr>
            <p:cNvPr id="19475" name="object 16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829555" y="3188325"/>
              <a:ext cx="1201306" cy="1201316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9476" name="object 1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86705" y="3226425"/>
              <a:ext cx="1087006" cy="1087015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18" name="object 18"/>
          <p:cNvSpPr txBox="1"/>
          <p:nvPr/>
        </p:nvSpPr>
        <p:spPr>
          <a:xfrm>
            <a:off x="4148138" y="3862388"/>
            <a:ext cx="600075" cy="2365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208280" indent="-195580" eaLnBrk="1" hangingPunct="1">
              <a:lnSpc>
                <a:spcPct val="115000"/>
              </a:lnSpc>
              <a:spcBef>
                <a:spcPts val="100"/>
              </a:spcBef>
              <a:buNone/>
            </a:pPr>
            <a:r>
              <a:rPr lang="en-US" altLang="zh-CN" sz="6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Request online LOA*</a:t>
            </a:r>
            <a:endParaRPr lang="en-US" altLang="zh-CN" sz="6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28675" y="939800"/>
            <a:ext cx="4175125" cy="2225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algn="ctr" eaLnBrk="1" hangingPunct="1">
              <a:spcBef>
                <a:spcPts val="100"/>
              </a:spcBef>
              <a:buNone/>
            </a:pPr>
            <a:r>
              <a:rPr lang="en-US" altLang="zh-CN" sz="1400">
                <a:solidFill>
                  <a:srgbClr val="0C3879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REGISTER TO</a:t>
            </a:r>
            <a:endParaRPr lang="en-US" altLang="zh-CN" sz="1400">
              <a:solidFill>
                <a:srgbClr val="000000"/>
              </a:solidFill>
              <a:latin typeface="Century Gothic" panose="020B0502020202020204" pitchFamily="34" charset="0"/>
              <a:cs typeface="Century Gothic" panose="020B0502020202020204" pitchFamily="34" charset="0"/>
            </a:endParaRPr>
          </a:p>
          <a:p>
            <a:pPr eaLnBrk="1" hangingPunct="1">
              <a:buNone/>
            </a:pPr>
            <a:endParaRPr lang="en-US" altLang="zh-CN" sz="1700">
              <a:solidFill>
                <a:srgbClr val="000000"/>
              </a:solidFill>
              <a:latin typeface="Century Gothic" panose="020B0502020202020204" pitchFamily="34" charset="0"/>
              <a:cs typeface="Century Gothic" panose="020B0502020202020204" pitchFamily="34" charset="0"/>
            </a:endParaRPr>
          </a:p>
          <a:p>
            <a:pPr eaLnBrk="1" hangingPunct="1">
              <a:buNone/>
            </a:pPr>
            <a:endParaRPr lang="en-US" altLang="zh-CN" sz="1300">
              <a:solidFill>
                <a:srgbClr val="000000"/>
              </a:solidFill>
              <a:latin typeface="Century Gothic" panose="020B0502020202020204" pitchFamily="34" charset="0"/>
              <a:cs typeface="Century Gothic" panose="020B0502020202020204" pitchFamily="34" charset="0"/>
            </a:endParaRPr>
          </a:p>
          <a:p>
            <a:pPr algn="ctr" eaLnBrk="1" hangingPunct="1">
              <a:buNone/>
            </a:pPr>
            <a:r>
              <a:rPr lang="en-US" altLang="zh-CN" sz="1400">
                <a:solidFill>
                  <a:srgbClr val="0C3879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TO ACCESS HEALTH BENEFITS AND REQUEST LOA* WITH EASE</a:t>
            </a:r>
            <a:endParaRPr lang="en-US" altLang="zh-CN" sz="1400">
              <a:solidFill>
                <a:srgbClr val="000000"/>
              </a:solidFill>
              <a:latin typeface="Century Gothic" panose="020B0502020202020204" pitchFamily="34" charset="0"/>
              <a:cs typeface="Century Gothic" panose="020B0502020202020204" pitchFamily="34" charset="0"/>
            </a:endParaRPr>
          </a:p>
          <a:p>
            <a:pPr eaLnBrk="1" hangingPunct="1">
              <a:buNone/>
            </a:pPr>
            <a:endParaRPr lang="en-US" altLang="zh-CN" sz="1500">
              <a:solidFill>
                <a:srgbClr val="000000"/>
              </a:solidFill>
              <a:latin typeface="Century Gothic" panose="020B0502020202020204" pitchFamily="34" charset="0"/>
              <a:cs typeface="Century Gothic" panose="020B0502020202020204" pitchFamily="34" charset="0"/>
            </a:endParaRPr>
          </a:p>
          <a:p>
            <a:pPr eaLnBrk="1" hangingPunct="1">
              <a:buNone/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Member Gateway is an online portal dedicated to Maxicare members.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1" hangingPunct="1">
              <a:buNone/>
            </a:pP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1" hangingPunct="1">
              <a:buNone/>
            </a:pPr>
            <a:r>
              <a:rPr lang="en-US" altLang="zh-CN" sz="1300" b="1">
                <a:solidFill>
                  <a:srgbClr val="0053C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Enjoy convenient healthcare in just a few clicks!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19468" name="object 20"/>
          <p:cNvGrpSpPr/>
          <p:nvPr/>
        </p:nvGrpSpPr>
        <p:grpSpPr>
          <a:xfrm>
            <a:off x="1471613" y="0"/>
            <a:ext cx="7672387" cy="5143500"/>
            <a:chOff x="1470921" y="0"/>
            <a:chExt cx="7673340" cy="5143500"/>
          </a:xfrm>
        </p:grpSpPr>
        <p:pic>
          <p:nvPicPr>
            <p:cNvPr id="19470" name="object 21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921" y="1221589"/>
              <a:ext cx="2795263" cy="38489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9471" name="object 22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981375" y="0"/>
              <a:ext cx="4162624" cy="387667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9472" name="object 23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038525" y="0"/>
              <a:ext cx="4105474" cy="359360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9473" name="object 24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082075" y="2718200"/>
              <a:ext cx="3061924" cy="242529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19474" name="object 25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139224" y="2756300"/>
              <a:ext cx="3004774" cy="2387199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26" name="object 26"/>
          <p:cNvSpPr txBox="1"/>
          <p:nvPr/>
        </p:nvSpPr>
        <p:spPr>
          <a:xfrm>
            <a:off x="101600" y="4838700"/>
            <a:ext cx="1371600" cy="1635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900" i="1" kern="0" cap="none" spc="0" normalizeH="0" baseline="0" noProof="0" dirty="0">
                <a:solidFill>
                  <a:srgbClr val="FFFFFF"/>
                </a:solidFill>
                <a:latin typeface="Century Gothic" panose="020B0502020202020204"/>
                <a:cs typeface="Century Gothic" panose="020B0502020202020204"/>
              </a:rPr>
              <a:t>*Letter</a:t>
            </a:r>
            <a:r>
              <a:rPr kumimoji="0" sz="900" i="1" kern="0" cap="none" spc="50" normalizeH="0" baseline="0" noProof="0" dirty="0">
                <a:solidFill>
                  <a:srgbClr val="FFFFFF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900" i="1" kern="0" cap="none" spc="0" normalizeH="0" baseline="0" noProof="0" dirty="0">
                <a:solidFill>
                  <a:srgbClr val="FFFFFF"/>
                </a:solidFill>
                <a:latin typeface="Century Gothic" panose="020B0502020202020204"/>
                <a:cs typeface="Century Gothic" panose="020B0502020202020204"/>
              </a:rPr>
              <a:t>of</a:t>
            </a:r>
            <a:r>
              <a:rPr kumimoji="0" sz="900" i="1" kern="0" cap="none" spc="55" normalizeH="0" baseline="0" noProof="0" dirty="0">
                <a:solidFill>
                  <a:srgbClr val="FFFFFF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900" i="1" kern="0" cap="none" spc="-10" normalizeH="0" baseline="0" noProof="0" dirty="0">
                <a:solidFill>
                  <a:srgbClr val="FFFFFF"/>
                </a:solidFill>
                <a:latin typeface="Century Gothic" panose="020B0502020202020204"/>
                <a:cs typeface="Century Gothic" panose="020B0502020202020204"/>
              </a:rPr>
              <a:t>Authorization</a:t>
            </a:r>
            <a:endParaRPr kumimoji="0" sz="900" kern="0" cap="none" spc="0" normalizeH="0" baseline="0" noProof="0">
              <a:solidFill>
                <a:sysClr val="windowText" lastClr="000000"/>
              </a:solidFill>
              <a:latin typeface="Century Gothic" panose="020B0502020202020204"/>
              <a:cs typeface="Century Gothic" panose="020B050202020202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475288" y="1558925"/>
            <a:ext cx="2598738" cy="1154113"/>
          </a:xfrm>
        </p:spPr>
        <p:txBody>
          <a:bodyPr vert="horz" wrap="square" lIns="0" tIns="12700" rIns="0" bIns="0" rtlCol="0">
            <a:spAutoFit/>
          </a:bodyPr>
          <a:p>
            <a:pPr marL="12700" indent="244475" eaLnBrk="1" hangingPunct="1">
              <a:spcBef>
                <a:spcPts val="100"/>
              </a:spcBef>
              <a:buNone/>
            </a:pPr>
            <a:r>
              <a:rPr lang="en-US" altLang="zh-CN" sz="3700">
                <a:solidFill>
                  <a:srgbClr val="0053CC"/>
                </a:solidFill>
                <a:latin typeface="+mj-lt"/>
                <a:ea typeface="+mj-ea"/>
                <a:cs typeface="Calibri" panose="020F0502020204030204" pitchFamily="34" charset="0"/>
              </a:rPr>
              <a:t>SALIENT FEATURES</a:t>
            </a:r>
            <a:endParaRPr lang="en-US" altLang="zh-CN" sz="3700">
              <a:solidFill>
                <a:srgbClr val="0053CC"/>
              </a:solidFill>
              <a:latin typeface="+mj-lt"/>
              <a:ea typeface="Calibri" panose="020F0502020204030204" pitchFamily="34" charset="0"/>
              <a:cs typeface="+mj-cs"/>
            </a:endParaRPr>
          </a:p>
        </p:txBody>
      </p:sp>
      <p:grpSp>
        <p:nvGrpSpPr>
          <p:cNvPr id="20483" name="object 3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20484" name="object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0"/>
              <a:ext cx="4388875" cy="380902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0485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4331724" cy="3646462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0486" name="object 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319325"/>
              <a:ext cx="3605375" cy="28241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0487" name="object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2362524"/>
              <a:ext cx="3548224" cy="2757191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0488" name="object 8"/>
            <p:cNvSpPr/>
            <p:nvPr/>
          </p:nvSpPr>
          <p:spPr>
            <a:xfrm>
              <a:off x="8158599" y="80074"/>
              <a:ext cx="882015" cy="523240"/>
            </a:xfrm>
            <a:custGeom>
              <a:avLst/>
              <a:gdLst/>
              <a:ahLst/>
              <a:cxnLst/>
              <a:pathLst>
                <a:path w="882015" h="523240">
                  <a:moveTo>
                    <a:pt x="881999" y="523199"/>
                  </a:moveTo>
                  <a:lnTo>
                    <a:pt x="0" y="523199"/>
                  </a:lnTo>
                  <a:lnTo>
                    <a:pt x="0" y="0"/>
                  </a:lnTo>
                  <a:lnTo>
                    <a:pt x="881999" y="0"/>
                  </a:lnTo>
                  <a:lnTo>
                    <a:pt x="881999" y="523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20489" name="object 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69375" y="3626049"/>
              <a:ext cx="2174622" cy="1506448"/>
            </a:xfrm>
            <a:prstGeom prst="rect">
              <a:avLst/>
            </a:prstGeom>
            <a:noFill/>
            <a:ln w="9525">
              <a:noFill/>
            </a:ln>
          </p:spPr>
        </p:pic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09738" y="482600"/>
            <a:ext cx="5724525" cy="665163"/>
          </a:xfrm>
        </p:spPr>
        <p:txBody>
          <a:bodyPr vert="horz" wrap="square" lIns="0" tIns="12700" rIns="0" bIns="0" rtlCol="0">
            <a:spAutoFit/>
          </a:bodyPr>
          <a:p>
            <a:pPr marL="957580" indent="-946150" eaLnBrk="1" hangingPunct="1">
              <a:spcBef>
                <a:spcPts val="100"/>
              </a:spcBef>
              <a:buNone/>
            </a:pPr>
            <a:r>
              <a:rPr lang="en-US" altLang="zh-CN" sz="2100">
                <a:solidFill>
                  <a:srgbClr val="0053CC"/>
                </a:solidFill>
                <a:latin typeface="+mj-lt"/>
                <a:ea typeface="+mj-ea"/>
                <a:cs typeface="Calibri" panose="020F0502020204030204" pitchFamily="34" charset="0"/>
              </a:rPr>
              <a:t>GET HEALTHCARE PROGRAM COVERAGE TAILORED TO YOUR NEEDS</a:t>
            </a:r>
            <a:endParaRPr lang="en-US" altLang="zh-CN" sz="2100">
              <a:solidFill>
                <a:srgbClr val="0053CC"/>
              </a:solidFill>
              <a:latin typeface="+mj-lt"/>
              <a:ea typeface="Calibri" panose="020F0502020204030204" pitchFamily="34" charset="0"/>
              <a:cs typeface="+mj-c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595563" y="2101850"/>
            <a:ext cx="1655763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500" b="1" kern="0" cap="none" spc="19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Annual</a:t>
            </a:r>
            <a:r>
              <a:rPr kumimoji="0" sz="1500" b="1" kern="0" cap="none" spc="11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500" b="1" kern="0" cap="none" spc="21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checkup</a:t>
            </a:r>
            <a:endParaRPr kumimoji="0" sz="15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00663" y="2154238"/>
            <a:ext cx="1427163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500" b="1" kern="0" cap="none" spc="1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Inpatient</a:t>
            </a:r>
            <a:r>
              <a:rPr kumimoji="0" sz="1500" b="1" kern="0" cap="none" spc="9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500" b="1" kern="0" cap="none" spc="1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care</a:t>
            </a:r>
            <a:endParaRPr kumimoji="0" sz="15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595563" y="2763838"/>
            <a:ext cx="160655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500" b="1" kern="0" cap="none" spc="1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Outpatient</a:t>
            </a:r>
            <a:r>
              <a:rPr kumimoji="0" sz="1500" b="1" kern="0" cap="none" spc="11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500" b="1" kern="0" cap="none" spc="1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care</a:t>
            </a:r>
            <a:endParaRPr kumimoji="0" sz="15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1510" name="object 6"/>
          <p:cNvGrpSpPr/>
          <p:nvPr/>
        </p:nvGrpSpPr>
        <p:grpSpPr>
          <a:xfrm>
            <a:off x="2019300" y="1997075"/>
            <a:ext cx="3267075" cy="1231900"/>
            <a:chOff x="2019938" y="1997825"/>
            <a:chExt cx="3265804" cy="1230630"/>
          </a:xfrm>
        </p:grpSpPr>
        <p:pic>
          <p:nvPicPr>
            <p:cNvPr id="21520" name="object 7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019938" y="1997825"/>
              <a:ext cx="559421" cy="57622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1521" name="object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77088" y="2035925"/>
              <a:ext cx="445120" cy="46191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1522" name="object 9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725988" y="2046955"/>
              <a:ext cx="559421" cy="57622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1523" name="object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83138" y="2085055"/>
              <a:ext cx="445120" cy="46191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1524" name="object 1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019938" y="2652155"/>
              <a:ext cx="559421" cy="57622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1525" name="object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77088" y="2690255"/>
              <a:ext cx="445120" cy="461919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13" name="object 13"/>
          <p:cNvSpPr txBox="1"/>
          <p:nvPr/>
        </p:nvSpPr>
        <p:spPr>
          <a:xfrm>
            <a:off x="3711575" y="1544638"/>
            <a:ext cx="1720850" cy="2984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b="1" kern="0" cap="none" spc="1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Main</a:t>
            </a:r>
            <a:r>
              <a:rPr kumimoji="0" b="1" kern="0" cap="none" spc="114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b="1" kern="0" cap="none" spc="20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Features</a:t>
            </a:r>
            <a:endParaRPr kumimoji="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300663" y="2760663"/>
            <a:ext cx="1652588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500" b="1" kern="0" cap="none" spc="229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Emergency</a:t>
            </a:r>
            <a:r>
              <a:rPr kumimoji="0" sz="1500" b="1" kern="0" cap="none" spc="12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500" b="1" kern="0" cap="none" spc="1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care</a:t>
            </a:r>
            <a:endParaRPr kumimoji="0" sz="15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003675" y="3370263"/>
            <a:ext cx="1173163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500" b="1" kern="0" cap="none" spc="1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Dental</a:t>
            </a:r>
            <a:r>
              <a:rPr kumimoji="0" sz="1500" b="1" kern="0" cap="none" spc="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500" b="1" kern="0" cap="none" spc="1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care</a:t>
            </a:r>
            <a:endParaRPr kumimoji="0" sz="15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1514" name="object 16"/>
          <p:cNvGrpSpPr/>
          <p:nvPr/>
        </p:nvGrpSpPr>
        <p:grpSpPr>
          <a:xfrm>
            <a:off x="3427413" y="0"/>
            <a:ext cx="5716587" cy="3833813"/>
            <a:chOff x="3427989" y="0"/>
            <a:chExt cx="5716270" cy="3834129"/>
          </a:xfrm>
        </p:grpSpPr>
        <p:pic>
          <p:nvPicPr>
            <p:cNvPr id="21515" name="object 17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725990" y="2652152"/>
              <a:ext cx="559421" cy="57622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1516" name="object 1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83140" y="2690252"/>
              <a:ext cx="445120" cy="46191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1517" name="object 19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427989" y="3257339"/>
              <a:ext cx="559421" cy="57622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1518" name="object 20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485139" y="3295439"/>
              <a:ext cx="445120" cy="461919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1519" name="object 21"/>
            <p:cNvSpPr/>
            <p:nvPr/>
          </p:nvSpPr>
          <p:spPr>
            <a:xfrm>
              <a:off x="8158599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281488" y="300038"/>
            <a:ext cx="3714750" cy="574675"/>
          </a:xfrm>
        </p:spPr>
        <p:txBody>
          <a:bodyPr vert="horz" wrap="square" lIns="0" tIns="12700" rIns="0" bIns="0" rtlCol="0">
            <a:spAutoFit/>
          </a:bodyPr>
          <a:p>
            <a:pPr marL="12700" indent="198755" eaLnBrk="1" hangingPunct="1">
              <a:spcBef>
                <a:spcPts val="100"/>
              </a:spcBef>
              <a:buNone/>
            </a:pPr>
            <a:r>
              <a:rPr lang="en-US" altLang="zh-CN">
                <a:solidFill>
                  <a:srgbClr val="0053CC"/>
                </a:solidFill>
                <a:latin typeface="+mj-lt"/>
                <a:ea typeface="+mj-ea"/>
                <a:cs typeface="Calibri" panose="020F0502020204030204" pitchFamily="34" charset="0"/>
              </a:rPr>
              <a:t>WHO ARE ELIGIBLE UNDER OUR HEALTHCARE PROGRAM?</a:t>
            </a:r>
            <a:endParaRPr lang="en-US" altLang="zh-CN">
              <a:solidFill>
                <a:srgbClr val="0053CC"/>
              </a:solidFill>
              <a:latin typeface="+mj-lt"/>
              <a:ea typeface="Calibri" panose="020F0502020204030204" pitchFamily="34" charset="0"/>
              <a:cs typeface="+mj-c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232275" y="868363"/>
            <a:ext cx="3759200" cy="755650"/>
          </a:xfrm>
          <a:prstGeom prst="rect">
            <a:avLst/>
          </a:prstGeom>
        </p:spPr>
        <p:txBody>
          <a:bodyPr vert="horz" wrap="square" lIns="0" tIns="80645" rIns="0" bIns="0" rtlCol="0">
            <a:spAutoFit/>
          </a:bodyPr>
          <a:lstStyle/>
          <a:p>
            <a:pPr marL="251460" marR="0" indent="-239395" defTabSz="914400" eaLnBrk="1" fontAlgn="auto" hangingPunct="1">
              <a:spcBef>
                <a:spcPts val="635"/>
              </a:spcBef>
              <a:spcAft>
                <a:spcPts val="0"/>
              </a:spcAft>
              <a:buClrTx/>
              <a:buSzTx/>
              <a:buFont typeface="MS PGothic" panose="020B0600070205080204" pitchFamily="34" charset="-128"/>
              <a:buChar char="✓"/>
              <a:tabLst>
                <a:tab pos="252095" algn="l"/>
              </a:tabLst>
              <a:defRPr/>
            </a:pPr>
            <a:r>
              <a:rPr kumimoji="0" sz="1150" kern="0" cap="none" spc="13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Regular</a:t>
            </a:r>
            <a:r>
              <a:rPr kumimoji="0" sz="1150" kern="0" cap="none" spc="4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50" kern="0" cap="none" spc="12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employees</a:t>
            </a:r>
            <a:r>
              <a:rPr kumimoji="0" sz="1150" kern="0" cap="none" spc="4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50" kern="0" cap="none" spc="1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aged</a:t>
            </a:r>
            <a:r>
              <a:rPr kumimoji="0" sz="1150" kern="0" cap="none" spc="5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50" kern="0" cap="none" spc="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65</a:t>
            </a:r>
            <a:r>
              <a:rPr kumimoji="0" sz="1150" kern="0" cap="none" spc="4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50" kern="0" cap="none" spc="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years</a:t>
            </a:r>
            <a:r>
              <a:rPr kumimoji="0" sz="1150" kern="0" cap="none" spc="5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50" kern="0" cap="none" spc="10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old</a:t>
            </a:r>
            <a:r>
              <a:rPr kumimoji="0" sz="1150" kern="0" cap="none" spc="4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50" kern="0" cap="none" spc="15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and</a:t>
            </a:r>
            <a:r>
              <a:rPr kumimoji="0" sz="1150" kern="0" cap="none" spc="5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50" kern="0" cap="none" spc="9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below</a:t>
            </a:r>
            <a:endParaRPr kumimoji="0" sz="115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251460" marR="0" indent="-239395" defTabSz="914400" eaLnBrk="1" fontAlgn="auto" hangingPunct="1">
              <a:spcBef>
                <a:spcPts val="540"/>
              </a:spcBef>
              <a:spcAft>
                <a:spcPts val="0"/>
              </a:spcAft>
              <a:buClrTx/>
              <a:buSzTx/>
              <a:buFont typeface="MS PGothic" panose="020B0600070205080204" pitchFamily="34" charset="-128"/>
              <a:buChar char="✓"/>
              <a:tabLst>
                <a:tab pos="252095" algn="l"/>
              </a:tabLst>
              <a:defRPr/>
            </a:pPr>
            <a:r>
              <a:rPr kumimoji="0" sz="1150" kern="0" cap="none" spc="14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Dependents</a:t>
            </a:r>
            <a:r>
              <a:rPr kumimoji="0" sz="1150" kern="0" cap="none" spc="4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50" kern="0" cap="none" spc="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of</a:t>
            </a:r>
            <a:r>
              <a:rPr kumimoji="0" sz="1150" kern="0" cap="none" spc="4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50" kern="0" cap="none" spc="11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regular</a:t>
            </a:r>
            <a:r>
              <a:rPr kumimoji="0" sz="1150" kern="0" cap="none" spc="4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50" kern="0" cap="none" spc="11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employees</a:t>
            </a:r>
            <a:endParaRPr kumimoji="0" sz="115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251460" marR="0" indent="-239395" defTabSz="914400" eaLnBrk="1" fontAlgn="auto" hangingPunct="1">
              <a:spcBef>
                <a:spcPts val="540"/>
              </a:spcBef>
              <a:spcAft>
                <a:spcPts val="0"/>
              </a:spcAft>
              <a:buClrTx/>
              <a:buSzTx/>
              <a:buFont typeface="MS PGothic" panose="020B0600070205080204" pitchFamily="34" charset="-128"/>
              <a:buChar char="✓"/>
              <a:tabLst>
                <a:tab pos="252095" algn="l"/>
              </a:tabLst>
              <a:defRPr/>
            </a:pPr>
            <a:r>
              <a:rPr kumimoji="0" sz="1150" kern="0" cap="none" spc="9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Hierarchy</a:t>
            </a:r>
            <a:r>
              <a:rPr kumimoji="0" sz="1150" kern="0" cap="none" spc="5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50" kern="0" cap="none" spc="1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must</a:t>
            </a:r>
            <a:r>
              <a:rPr kumimoji="0" sz="115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50" kern="0" cap="none" spc="14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be</a:t>
            </a:r>
            <a:r>
              <a:rPr kumimoji="0" sz="115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50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followed</a:t>
            </a:r>
            <a:endParaRPr kumimoji="0" sz="115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2532" name="object 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22561" name="object 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0"/>
              <a:ext cx="3842400" cy="380902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2562" name="object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3785249" cy="3646462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2563" name="object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395525"/>
              <a:ext cx="3338675" cy="27479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2564" name="object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2438724"/>
              <a:ext cx="3281524" cy="270477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2565" name="object 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76138" y="448950"/>
              <a:ext cx="3105374" cy="2068649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2566" name="object 10"/>
            <p:cNvSpPr/>
            <p:nvPr/>
          </p:nvSpPr>
          <p:spPr>
            <a:xfrm>
              <a:off x="8158499" y="82181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graphicFrame>
        <p:nvGraphicFramePr>
          <p:cNvPr id="22533" name="Table 22532"/>
          <p:cNvGraphicFramePr/>
          <p:nvPr/>
        </p:nvGraphicFramePr>
        <p:xfrm>
          <a:off x="4276725" y="1984375"/>
          <a:ext cx="4360863" cy="2182813"/>
        </p:xfrm>
        <a:graphic>
          <a:graphicData uri="http://schemas.openxmlformats.org/drawingml/2006/table">
            <a:tbl>
              <a:tblPr/>
              <a:tblGrid>
                <a:gridCol w="1157288"/>
                <a:gridCol w="1158875"/>
                <a:gridCol w="2044700"/>
              </a:tblGrid>
              <a:tr h="511175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212725" lvl="0" indent="0" eaLnBrk="1" hangingPunct="1">
                        <a:lnSpc>
                          <a:spcPct val="115000"/>
                        </a:lnSpc>
                        <a:spcBef>
                          <a:spcPts val="50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STATUS OF EMPLOYEE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6350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C9EEB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209550" lvl="0" indent="92075" eaLnBrk="1" hangingPunct="1">
                        <a:lnSpc>
                          <a:spcPct val="115000"/>
                        </a:lnSpc>
                        <a:spcBef>
                          <a:spcPts val="800"/>
                        </a:spcBef>
                        <a:buNone/>
                      </a:pPr>
                      <a:r>
                        <a:rPr lang="en-US" altLang="zh-CN" sz="8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ALLOWED DEPENDENTS</a:t>
                      </a:r>
                      <a:endParaRPr lang="en-US" sz="8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10160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C9EEB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538480" lvl="0" indent="-282575" eaLnBrk="1" hangingPunct="1">
                        <a:lnSpc>
                          <a:spcPct val="115000"/>
                        </a:lnSpc>
                        <a:spcBef>
                          <a:spcPts val="45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AGE REQUIREMENT OF DEPENDENT/S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5778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C9EEB"/>
                    </a:solidFill>
                  </a:tcPr>
                </a:tc>
              </a:tr>
              <a:tr h="333375">
                <a:tc rowSpan="2"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spcBef>
                          <a:spcPts val="40"/>
                        </a:spcBef>
                        <a:buNone/>
                      </a:pPr>
                      <a:endParaRPr lang="en-US" altLang="zh-CN" sz="17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Married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44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Spouse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Up to 65 years old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</a:tr>
              <a:tr h="333375">
                <a:tc vMerge="1">
                  <a:tcPr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Children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A4C1F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 days old to 21 years old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A4C1F4"/>
                    </a:solidFill>
                  </a:tcPr>
                </a:tc>
              </a:tr>
              <a:tr h="334963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371475" lvl="0" indent="0" eaLnBrk="1" hangingPunct="1">
                        <a:spcBef>
                          <a:spcPts val="675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Single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636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Parents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Up to 65 years old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</a:tr>
              <a:tr h="334962">
                <a:tc rowSpan="2"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spcBef>
                          <a:spcPts val="40"/>
                        </a:spcBef>
                        <a:buNone/>
                      </a:pPr>
                      <a:endParaRPr lang="en-US" altLang="zh-CN" sz="9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lnSpc>
                          <a:spcPct val="115000"/>
                        </a:lnSpc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Single Parent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44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Children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 days old to 21 years old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</a:tr>
              <a:tr h="334963">
                <a:tc vMerge="1">
                  <a:tcPr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Parents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A4C1F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Up to 65 years old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A4C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85900" y="652463"/>
            <a:ext cx="6173788" cy="300038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418965" algn="l"/>
              </a:tabLst>
              <a:defRPr/>
            </a:pPr>
            <a:r>
              <a:rPr kumimoji="0" sz="1800" b="1" i="0" u="none" strike="noStrike" kern="0" cap="none" spc="27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MAKE</a:t>
            </a:r>
            <a:r>
              <a:rPr kumimoji="0" sz="1800" b="1" i="0" u="none" strike="noStrike" kern="0" cap="none" spc="10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800" b="1" i="0" u="none" strike="noStrike" kern="0" cap="none" spc="28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THE</a:t>
            </a:r>
            <a:r>
              <a:rPr kumimoji="0" sz="1800" b="1" i="0" u="none" strike="noStrike" kern="0" cap="none" spc="10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800" b="1" i="0" u="none" strike="noStrike" kern="0" cap="none" spc="229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MOST</a:t>
            </a:r>
            <a:r>
              <a:rPr kumimoji="0" sz="1800" b="1" i="0" u="none" strike="noStrike" kern="0" cap="none" spc="10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800" b="1" i="0" u="none" strike="noStrike" kern="0" cap="none" spc="30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OF</a:t>
            </a:r>
            <a:r>
              <a:rPr kumimoji="0" sz="1800" b="1" i="0" u="none" strike="noStrike" kern="0" cap="none" spc="10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800" b="1" i="0" u="none" strike="noStrike" kern="0" cap="none" spc="26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YOUR</a:t>
            </a:r>
            <a:r>
              <a:rPr kumimoji="0" sz="1800" b="1" i="0" u="none" strike="noStrike" kern="0" cap="none" spc="11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800" b="1" i="0" u="none" strike="noStrike" kern="0" cap="none" spc="26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ANNUAL</a:t>
            </a:r>
            <a:r>
              <a:rPr kumimoji="0" sz="1800" b="1" i="0" u="none" strike="noStrike" kern="0" cap="none" spc="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	</a:t>
            </a:r>
            <a:r>
              <a:rPr kumimoji="0" sz="1800" b="1" i="0" u="none" strike="noStrike" kern="0" cap="none" spc="27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BENEFIT</a:t>
            </a:r>
            <a:r>
              <a:rPr kumimoji="0" sz="1800" b="1" i="0" u="none" strike="noStrike" kern="0" cap="none" spc="114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800" b="1" i="0" u="none" strike="noStrike" kern="0" cap="none" spc="16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LIMIT</a:t>
            </a:r>
            <a:endParaRPr kumimoji="0" sz="18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704975" y="1077913"/>
            <a:ext cx="5737225" cy="2238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eaLnBrk="1" hangingPunct="1">
              <a:spcBef>
                <a:spcPts val="100"/>
              </a:spcBef>
              <a:buNone/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 about the Annual Beneﬁt Limit per illness/injury/member/year.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aphicFrame>
        <p:nvGraphicFramePr>
          <p:cNvPr id="23556" name="Table 23555"/>
          <p:cNvGraphicFramePr/>
          <p:nvPr/>
        </p:nvGraphicFramePr>
        <p:xfrm>
          <a:off x="1504950" y="1425575"/>
          <a:ext cx="5919788" cy="1287463"/>
        </p:xfrm>
        <a:graphic>
          <a:graphicData uri="http://schemas.openxmlformats.org/drawingml/2006/table">
            <a:tbl>
              <a:tblPr/>
              <a:tblGrid>
                <a:gridCol w="2355850"/>
                <a:gridCol w="1552575"/>
                <a:gridCol w="2011363"/>
              </a:tblGrid>
              <a:tr h="527050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700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CLASSIFICATION</a:t>
                      </a:r>
                      <a:endParaRPr lang="en-US" altLang="zh-CN" sz="11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algn="ctr" eaLnBrk="1" hangingPunct="1"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(Principal &amp; Dependents)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9535" marB="0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rgbClr val="EEEEEE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C9EEB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spcBef>
                          <a:spcPts val="40"/>
                        </a:spcBef>
                        <a:buNone/>
                      </a:pPr>
                      <a:endParaRPr lang="en-US" altLang="zh-CN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algn="ctr" eaLnBrk="1" hangingPunct="1"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PLAN TYPE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5080" marB="0">
                    <a:lnL w="28575" cap="flat" cmpd="sng">
                      <a:solidFill>
                        <a:srgbClr val="EEEEEE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rgbClr val="EEEEEE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C9EEB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381000" lvl="0" indent="-93345" eaLnBrk="1" hangingPunct="1">
                        <a:spcBef>
                          <a:spcPts val="700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ROOM AND BOARD ACCOMODATION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9535" marB="0">
                    <a:lnL w="28575" cap="flat" cmpd="sng">
                      <a:solidFill>
                        <a:srgbClr val="EEEEEE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C9EEB"/>
                    </a:solidFill>
                  </a:tcPr>
                </a:tc>
              </a:tr>
              <a:tr h="379413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800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PRINCIPAL)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100965" marB="0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rgbClr val="EEEEEE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800"/>
                        </a:spcBef>
                        <a:buNone/>
                      </a:pPr>
                      <a:r>
                        <a:rPr lang="en-US" altLang="zh-CN" sz="11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GOLD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100965" marB="0">
                    <a:lnL w="28575" cap="flat" cmpd="sng">
                      <a:solidFill>
                        <a:srgbClr val="EEEEEE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rgbClr val="EEEEEE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800"/>
                        </a:spcBef>
                        <a:buNone/>
                      </a:pPr>
                      <a:r>
                        <a:rPr lang="en-US" altLang="zh-CN" sz="11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Regular Private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100965" marB="0">
                    <a:lnL w="28575" cap="flat" cmpd="sng">
                      <a:solidFill>
                        <a:srgbClr val="EEEEEE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</a:tr>
              <a:tr h="381000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800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DEPENDENTS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100965" marB="0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rgbClr val="EEEEEE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800"/>
                        </a:spcBef>
                        <a:buNone/>
                      </a:pPr>
                      <a:r>
                        <a:rPr lang="en-US" altLang="zh-CN" sz="11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GOLD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100965" marB="0">
                    <a:lnL w="28575" cap="flat" cmpd="sng">
                      <a:solidFill>
                        <a:srgbClr val="EEEEEE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rgbClr val="EEEEEE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800"/>
                        </a:spcBef>
                        <a:buNone/>
                      </a:pPr>
                      <a:r>
                        <a:rPr lang="en-US" altLang="zh-CN" sz="11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Regular Private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100965" marB="0">
                    <a:lnL w="28575" cap="flat" cmpd="sng">
                      <a:solidFill>
                        <a:srgbClr val="EEEEEE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</a:tr>
            </a:tbl>
          </a:graphicData>
        </a:graphic>
      </p:graphicFrame>
      <p:grpSp>
        <p:nvGrpSpPr>
          <p:cNvPr id="23574" name="object 5"/>
          <p:cNvGrpSpPr/>
          <p:nvPr/>
        </p:nvGrpSpPr>
        <p:grpSpPr>
          <a:xfrm>
            <a:off x="1441450" y="0"/>
            <a:ext cx="7702550" cy="5073650"/>
            <a:chOff x="1442125" y="0"/>
            <a:chExt cx="7702550" cy="5074285"/>
          </a:xfrm>
        </p:grpSpPr>
        <p:sp>
          <p:nvSpPr>
            <p:cNvPr id="23579" name="object 6"/>
            <p:cNvSpPr/>
            <p:nvPr/>
          </p:nvSpPr>
          <p:spPr>
            <a:xfrm>
              <a:off x="8158600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23580" name="object 7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442125" y="3223461"/>
              <a:ext cx="6166200" cy="1850700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3581" name="object 8"/>
            <p:cNvSpPr/>
            <p:nvPr/>
          </p:nvSpPr>
          <p:spPr>
            <a:xfrm>
              <a:off x="1499275" y="3261560"/>
              <a:ext cx="6052185" cy="1736725"/>
            </a:xfrm>
            <a:custGeom>
              <a:avLst/>
              <a:gdLst/>
              <a:ahLst/>
              <a:cxnLst/>
              <a:pathLst>
                <a:path w="6052184" h="1736725">
                  <a:moveTo>
                    <a:pt x="6051899" y="1736399"/>
                  </a:moveTo>
                  <a:lnTo>
                    <a:pt x="0" y="1736399"/>
                  </a:lnTo>
                  <a:lnTo>
                    <a:pt x="0" y="0"/>
                  </a:lnTo>
                  <a:lnTo>
                    <a:pt x="6051899" y="0"/>
                  </a:lnTo>
                  <a:lnTo>
                    <a:pt x="6051899" y="17363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725" y="3343275"/>
            <a:ext cx="5262563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04800" indent="-304800" defTabSz="914400" eaLnBrk="1" hangingPunct="1"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304800" algn="l"/>
              </a:tabLst>
            </a:pPr>
            <a:r>
              <a:rPr lang="en-US" altLang="zh-CN" sz="10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With access to Healthway Medical clinics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04800" indent="-304800" defTabSz="914400" eaLnBrk="1" hangingPunct="1">
              <a:buFont typeface="Arial" panose="020B0604020202020204" pitchFamily="34" charset="0"/>
              <a:buChar char="●"/>
              <a:tabLst>
                <a:tab pos="304800" algn="l"/>
              </a:tabLst>
            </a:pPr>
            <a:r>
              <a:rPr lang="en-US" altLang="zh-CN" sz="10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With nationwide access to all afﬁliated hospitals or clinics including major hospitals: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3576" name="object 10"/>
          <p:cNvSpPr txBox="1"/>
          <p:nvPr/>
        </p:nvSpPr>
        <p:spPr>
          <a:xfrm>
            <a:off x="2039938" y="4508500"/>
            <a:ext cx="74612" cy="147638"/>
          </a:xfrm>
          <a:prstGeom prst="rect">
            <a:avLst/>
          </a:prstGeom>
          <a:noFill/>
          <a:ln w="9525">
            <a:noFill/>
          </a:ln>
        </p:spPr>
        <p:txBody>
          <a:bodyPr lIns="0" tIns="12700" rIns="0" bIns="0">
            <a:spAutoFit/>
          </a:bodyPr>
          <a:p>
            <a:pPr eaLnBrk="1" hangingPunct="1">
              <a:spcBef>
                <a:spcPts val="100"/>
              </a:spcBef>
              <a:buNone/>
            </a:pPr>
            <a:r>
              <a:rPr lang="en-US" altLang="zh-CN" sz="800" b="1">
                <a:solidFill>
                  <a:srgbClr val="0C3879"/>
                </a:solidFill>
                <a:cs typeface="Arial" panose="020B0604020202020204" pitchFamily="34" charset="0"/>
              </a:rPr>
              <a:t>○</a:t>
            </a:r>
            <a:endParaRPr lang="en-US" altLang="zh-CN" sz="800">
              <a:solidFill>
                <a:srgbClr val="000000"/>
              </a:solidFill>
              <a:ea typeface="Arial" panose="020B0604020202020204" pitchFamily="34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81500" y="3846513"/>
            <a:ext cx="1550988" cy="3571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9560" marR="0" indent="-290195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 typeface="Arial" panose="020B0604020202020204"/>
              <a:buChar char="○"/>
              <a:tabLst>
                <a:tab pos="289560" algn="l"/>
                <a:tab pos="290195" algn="l"/>
              </a:tabLst>
              <a:defRPr/>
            </a:pPr>
            <a:r>
              <a:rPr kumimoji="0" sz="800" b="1" kern="0" cap="none" spc="10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Davao</a:t>
            </a:r>
            <a:r>
              <a:rPr kumimoji="0" sz="800" b="1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800" b="1" kern="0" cap="none" spc="9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Doctors</a:t>
            </a:r>
            <a:r>
              <a:rPr kumimoji="0" sz="800" b="1" kern="0" cap="none" spc="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800" b="1" kern="0" cap="none" spc="7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Hospital</a:t>
            </a:r>
            <a:endParaRPr kumimoji="0" sz="8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289560" marR="0" indent="-290195" defTabSz="914400" eaLnBrk="1" fontAlgn="auto" hangingPunct="1">
              <a:spcBef>
                <a:spcPts val="695"/>
              </a:spcBef>
              <a:spcAft>
                <a:spcPts val="0"/>
              </a:spcAft>
              <a:buClrTx/>
              <a:buSzTx/>
              <a:buFont typeface="Arial" panose="020B0604020202020204"/>
              <a:buChar char="○"/>
              <a:tabLst>
                <a:tab pos="289560" algn="l"/>
                <a:tab pos="290195" algn="l"/>
              </a:tabLst>
              <a:defRPr/>
            </a:pPr>
            <a:r>
              <a:rPr kumimoji="0" sz="8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Makati</a:t>
            </a:r>
            <a:r>
              <a:rPr kumimoji="0" sz="800" b="1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800" b="1" kern="0" cap="none" spc="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Medical</a:t>
            </a:r>
            <a:r>
              <a:rPr kumimoji="0" sz="800" b="1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8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Center</a:t>
            </a:r>
            <a:endParaRPr kumimoji="0" sz="8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14538" y="3873500"/>
            <a:ext cx="4800600" cy="9715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14325" indent="-288925" defTabSz="914400" eaLnBrk="1" hangingPunct="1">
              <a:spcBef>
                <a:spcPts val="100"/>
              </a:spcBef>
              <a:buFont typeface="Arial" panose="020B0604020202020204" pitchFamily="34" charset="0"/>
              <a:buChar char="○"/>
              <a:tabLst>
                <a:tab pos="314325" algn="l"/>
              </a:tabLst>
            </a:pPr>
            <a:r>
              <a:rPr lang="en-US" altLang="zh-CN" sz="8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Asian Hospital and Medical Center</a:t>
            </a:r>
            <a:endParaRPr lang="en-US" altLang="zh-CN" sz="8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14325" indent="-288925" defTabSz="914400" eaLnBrk="1" hangingPunct="1">
              <a:spcBef>
                <a:spcPts val="625"/>
              </a:spcBef>
              <a:buFont typeface="Arial" panose="020B0604020202020204" pitchFamily="34" charset="0"/>
              <a:buChar char="○"/>
              <a:tabLst>
                <a:tab pos="314325" algn="l"/>
              </a:tabLst>
            </a:pPr>
            <a:r>
              <a:rPr lang="en-US" altLang="zh-CN" sz="8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Cardinal Santos Medical Center</a:t>
            </a:r>
            <a:endParaRPr lang="en-US" altLang="zh-CN" sz="8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14325" indent="-288925" defTabSz="914400" eaLnBrk="1" hangingPunct="1">
              <a:lnSpc>
                <a:spcPct val="162000"/>
              </a:lnSpc>
              <a:spcBef>
                <a:spcPts val="175"/>
              </a:spcBef>
              <a:buFont typeface="Arial" panose="020B0604020202020204" pitchFamily="34" charset="0"/>
              <a:buChar char="○"/>
              <a:tabLst>
                <a:tab pos="314325" algn="l"/>
              </a:tabLst>
            </a:pPr>
            <a:r>
              <a:rPr lang="en-US" altLang="zh-CN" sz="1200" b="1" baseline="30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Cebu Doctor Hospital	 </a:t>
            </a:r>
            <a:r>
              <a:rPr lang="en-US" altLang="zh-CN" sz="800" b="1">
                <a:solidFill>
                  <a:srgbClr val="0C3879"/>
                </a:solidFill>
                <a:cs typeface="Arial" panose="020B0604020202020204" pitchFamily="34" charset="0"/>
              </a:rPr>
              <a:t>○	 </a:t>
            </a:r>
            <a:r>
              <a:rPr lang="en-US" altLang="zh-CN" sz="8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St. Luke’s Medical Center – Quezon City </a:t>
            </a:r>
            <a:r>
              <a:rPr lang="en-US" altLang="zh-CN" sz="1200" b="1" baseline="-100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Chong Hua Hospital	</a:t>
            </a:r>
            <a:r>
              <a:rPr lang="en-US" altLang="zh-CN" sz="800" b="1">
                <a:solidFill>
                  <a:srgbClr val="0C3879"/>
                </a:solidFill>
                <a:cs typeface="Arial" panose="020B0604020202020204" pitchFamily="34" charset="0"/>
              </a:rPr>
              <a:t>○	</a:t>
            </a:r>
            <a:r>
              <a:rPr lang="en-US" altLang="zh-CN" sz="8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St. Luke’s Medical Center – Global City</a:t>
            </a:r>
            <a:endParaRPr lang="en-US" altLang="zh-CN" sz="8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660650" lvl="1" indent="-288925" defTabSz="914400" eaLnBrk="1" hangingPunct="1">
              <a:spcBef>
                <a:spcPts val="665"/>
              </a:spcBef>
              <a:buFont typeface="Arial" panose="020B0604020202020204" pitchFamily="34" charset="0"/>
              <a:buChar char="○"/>
              <a:tabLst>
                <a:tab pos="314325" algn="l"/>
              </a:tabLst>
            </a:pPr>
            <a:r>
              <a:rPr lang="en-US" altLang="zh-CN" sz="8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Medical City</a:t>
            </a:r>
            <a:endParaRPr lang="en-US" altLang="zh-CN" sz="8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28925" y="1127125"/>
            <a:ext cx="3090863" cy="392113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400" b="1" i="0" u="none" strike="noStrike" kern="0" cap="none" spc="20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ANNUAL</a:t>
            </a:r>
            <a:r>
              <a:rPr kumimoji="0" sz="2400" b="1" i="0" u="none" strike="noStrike" kern="0" cap="none" spc="5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400" b="1" i="0" u="none" strike="noStrike" kern="0" cap="none" spc="19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CHECKUP</a:t>
            </a:r>
            <a:endParaRPr kumimoji="0" sz="24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entury Gothic" panose="020B0502020202020204"/>
              <a:ea typeface="+mj-ea"/>
              <a:cs typeface="Century Gothic" panose="020B0502020202020204"/>
            </a:endParaRPr>
          </a:p>
        </p:txBody>
      </p:sp>
      <p:grpSp>
        <p:nvGrpSpPr>
          <p:cNvPr id="24579" name="object 3"/>
          <p:cNvGrpSpPr/>
          <p:nvPr/>
        </p:nvGrpSpPr>
        <p:grpSpPr>
          <a:xfrm>
            <a:off x="4100513" y="0"/>
            <a:ext cx="5043487" cy="1193800"/>
            <a:chOff x="4100463" y="0"/>
            <a:chExt cx="5043805" cy="1194435"/>
          </a:xfrm>
        </p:grpSpPr>
        <p:pic>
          <p:nvPicPr>
            <p:cNvPr id="24582" name="object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100463" y="523050"/>
              <a:ext cx="671275" cy="67127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4583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57613" y="561150"/>
              <a:ext cx="556974" cy="556974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4584" name="object 6"/>
            <p:cNvSpPr/>
            <p:nvPr/>
          </p:nvSpPr>
          <p:spPr>
            <a:xfrm>
              <a:off x="8158600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768475" y="2079625"/>
            <a:ext cx="6261100" cy="14112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0995" marR="0" indent="-328295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340360" algn="l"/>
                <a:tab pos="340995" algn="l"/>
              </a:tabLst>
              <a:defRPr/>
            </a:pPr>
            <a:r>
              <a:rPr kumimoji="0" sz="1300" kern="0" cap="none" spc="13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Physical</a:t>
            </a:r>
            <a:r>
              <a:rPr kumimoji="0" sz="1300" kern="0" cap="none" spc="7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4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Examination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340995" marR="0" indent="-328295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340360" algn="l"/>
                <a:tab pos="340995" algn="l"/>
              </a:tabLst>
              <a:defRPr/>
            </a:pPr>
            <a:r>
              <a:rPr kumimoji="0" sz="1300" kern="0" cap="none" spc="9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Urinalysis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340995" marR="0" indent="-328295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340360" algn="l"/>
                <a:tab pos="340995" algn="l"/>
              </a:tabLst>
              <a:defRPr/>
            </a:pPr>
            <a:r>
              <a:rPr kumimoji="0" sz="1300" kern="0" cap="none" spc="11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Fecalysis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340995" marR="0" indent="-328295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340360" algn="l"/>
                <a:tab pos="340995" algn="l"/>
              </a:tabLst>
              <a:defRPr/>
            </a:pPr>
            <a:r>
              <a:rPr kumimoji="0" sz="1300" kern="0" cap="none" spc="15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Chest</a:t>
            </a:r>
            <a:r>
              <a:rPr kumimoji="0" sz="1300" kern="0" cap="none" spc="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1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X-</a:t>
            </a:r>
            <a:r>
              <a:rPr kumimoji="0" sz="13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ray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340995" marR="0" indent="-328295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340360" algn="l"/>
                <a:tab pos="340995" algn="l"/>
              </a:tabLst>
              <a:defRPr/>
            </a:pPr>
            <a:r>
              <a:rPr kumimoji="0" sz="1300" kern="0" cap="none" spc="1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Complete</a:t>
            </a:r>
            <a:r>
              <a:rPr kumimoji="0" sz="13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5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Blood</a:t>
            </a:r>
            <a:r>
              <a:rPr kumimoji="0" sz="13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Count</a:t>
            </a:r>
            <a:r>
              <a:rPr kumimoji="0" sz="13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4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(CBC)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340995" marR="0" indent="-328295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340360" algn="l"/>
                <a:tab pos="340995" algn="l"/>
              </a:tabLst>
              <a:defRPr/>
            </a:pPr>
            <a:r>
              <a:rPr kumimoji="0" sz="1300" kern="0" cap="none" spc="13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Electrocardiogram</a:t>
            </a:r>
            <a:r>
              <a:rPr kumimoji="0" sz="13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2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(ECG)</a:t>
            </a:r>
            <a:r>
              <a:rPr kumimoji="0" sz="13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for</a:t>
            </a:r>
            <a:r>
              <a:rPr kumimoji="0" sz="1300" kern="0" cap="none" spc="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9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members</a:t>
            </a:r>
            <a:r>
              <a:rPr kumimoji="0" sz="13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35</a:t>
            </a:r>
            <a:r>
              <a:rPr kumimoji="0" sz="13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0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years</a:t>
            </a:r>
            <a:r>
              <a:rPr kumimoji="0" sz="1300" kern="0" cap="none" spc="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2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old</a:t>
            </a:r>
            <a:r>
              <a:rPr kumimoji="0" sz="13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7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and</a:t>
            </a:r>
            <a:r>
              <a:rPr kumimoji="0" sz="1300" kern="0" cap="none" spc="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3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above</a:t>
            </a:r>
            <a:r>
              <a:rPr kumimoji="0" sz="13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9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(optional)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340995" marR="0" indent="-328295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340360" algn="l"/>
                <a:tab pos="340995" algn="l"/>
              </a:tabLst>
              <a:defRPr/>
            </a:pPr>
            <a:r>
              <a:rPr kumimoji="0" sz="1300" kern="0" cap="none" spc="19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Pap</a:t>
            </a:r>
            <a:r>
              <a:rPr kumimoji="0" sz="13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Smear</a:t>
            </a:r>
            <a:r>
              <a:rPr kumimoji="0" sz="13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for</a:t>
            </a:r>
            <a:r>
              <a:rPr kumimoji="0" sz="13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3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female</a:t>
            </a:r>
            <a:r>
              <a:rPr kumimoji="0" sz="13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9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members</a:t>
            </a:r>
            <a:r>
              <a:rPr kumimoji="0" sz="13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35</a:t>
            </a:r>
            <a:r>
              <a:rPr kumimoji="0" sz="13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0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years</a:t>
            </a:r>
            <a:r>
              <a:rPr kumimoji="0" sz="13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2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old</a:t>
            </a:r>
            <a:r>
              <a:rPr kumimoji="0" sz="13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7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and</a:t>
            </a:r>
            <a:r>
              <a:rPr kumimoji="0" sz="13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3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above</a:t>
            </a:r>
            <a:r>
              <a:rPr kumimoji="0" sz="1300" kern="0" cap="none" spc="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9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(optional)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774825" y="3878263"/>
            <a:ext cx="294005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b="1" i="1" kern="0" cap="none" spc="9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Note:</a:t>
            </a:r>
            <a:r>
              <a:rPr kumimoji="0" sz="1000" b="1" i="1" kern="0" cap="none" spc="1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Annual</a:t>
            </a:r>
            <a:r>
              <a:rPr kumimoji="0" sz="1000" i="1" kern="0" cap="none" spc="8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0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checkups</a:t>
            </a:r>
            <a:r>
              <a:rPr kumimoji="0" sz="1000" i="1" kern="0" cap="none" spc="85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0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should</a:t>
            </a:r>
            <a:r>
              <a:rPr kumimoji="0" sz="1000" i="1" kern="0" cap="none" spc="85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00" i="1" kern="0" cap="none" spc="-1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be</a:t>
            </a:r>
            <a:r>
              <a:rPr kumimoji="0" sz="1000" i="1" kern="0" cap="none" spc="7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00" b="1" i="1" kern="0" cap="none" spc="11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scheduled</a:t>
            </a:r>
            <a:r>
              <a:rPr kumimoji="0" sz="1000" i="1" kern="0" cap="none" spc="11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.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entury Gothic" panose="020B0502020202020204"/>
              <a:cs typeface="Century Gothic" panose="020B050202020202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14663" y="898525"/>
            <a:ext cx="3165475" cy="392113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63775" algn="l"/>
              </a:tabLst>
              <a:defRPr/>
            </a:pPr>
            <a:r>
              <a:rPr kumimoji="0" sz="2400" b="1" i="0" u="none" strike="noStrike" kern="0" cap="none" spc="27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OUTPATIENT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	</a:t>
            </a:r>
            <a:r>
              <a:rPr kumimoji="0" sz="2400" b="1" i="0" u="none" strike="noStrike" kern="0" cap="none" spc="14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CARE</a:t>
            </a:r>
            <a:endParaRPr kumimoji="0" sz="24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entury Gothic" panose="020B0502020202020204"/>
              <a:ea typeface="+mj-ea"/>
              <a:cs typeface="Century Gothic" panose="020B0502020202020204"/>
            </a:endParaRPr>
          </a:p>
        </p:txBody>
      </p:sp>
      <p:graphicFrame>
        <p:nvGraphicFramePr>
          <p:cNvPr id="25603" name="Table 25602"/>
          <p:cNvGraphicFramePr/>
          <p:nvPr/>
        </p:nvGraphicFramePr>
        <p:xfrm>
          <a:off x="361950" y="1438275"/>
          <a:ext cx="5116513" cy="3470275"/>
        </p:xfrm>
        <a:graphic>
          <a:graphicData uri="http://schemas.openxmlformats.org/drawingml/2006/table">
            <a:tbl>
              <a:tblPr/>
              <a:tblGrid>
                <a:gridCol w="2557463"/>
                <a:gridCol w="2559050"/>
              </a:tblGrid>
              <a:tr h="396875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2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COVERAGE</a:t>
                      </a:r>
                      <a:endParaRPr lang="en-US" sz="12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7937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C78D8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en-US" sz="1000"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3C78D8"/>
                    </a:solidFill>
                  </a:tcPr>
                </a:tc>
              </a:tr>
              <a:tr h="333375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Regular consultations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 rowSpan="6"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en-US" altLang="zh-C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buNone/>
                      </a:pPr>
                      <a:endParaRPr lang="en-US" altLang="zh-C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buNone/>
                      </a:pPr>
                      <a:endParaRPr lang="en-US" altLang="zh-C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buNone/>
                      </a:pPr>
                      <a:endParaRPr lang="en-US" altLang="zh-C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buNone/>
                      </a:pPr>
                      <a:endParaRPr lang="en-US" altLang="zh-C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spcBef>
                          <a:spcPts val="40"/>
                        </a:spcBef>
                        <a:buNone/>
                      </a:pPr>
                      <a:endParaRPr lang="en-US" altLang="zh-CN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algn="ctr" eaLnBrk="1" hangingPunct="1"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Up to ABL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</a:tr>
              <a:tr h="334963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Ears, Nose, and Throat treatment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A4C1F4"/>
                    </a:solidFill>
                  </a:tcPr>
                </a:tc>
                <a:tc vMerge="1">
                  <a:tcPr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</a:tr>
              <a:tr h="365125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Pre and postnatal consultations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 vMerge="1">
                  <a:tcPr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</a:tr>
              <a:tr h="365125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Treatment of minor injuries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A4C1F4"/>
                    </a:solidFill>
                  </a:tcPr>
                </a:tc>
                <a:tc vMerge="1">
                  <a:tcPr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</a:tr>
              <a:tr h="487362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849630" lvl="0" indent="-548005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Minor surgeries not requiring conﬁnement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 vMerge="1">
                  <a:tcPr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</a:tr>
              <a:tr h="487363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89230" lvl="0" indent="17145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X-ray, laboratory exams, routine, and other diagnostic procedures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A4C1F4"/>
                    </a:solidFill>
                  </a:tcPr>
                </a:tc>
                <a:tc vMerge="1">
                  <a:tcPr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700087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4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Eye laser therapy</a:t>
                      </a:r>
                      <a:endParaRPr lang="en-US" altLang="zh-CN" sz="10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algn="ctr" eaLnBrk="1" hangingPunct="1">
                        <a:buNone/>
                      </a:pPr>
                      <a:r>
                        <a:rPr lang="en-US" altLang="zh-CN" sz="800" b="1" i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(including cataract removal except cost of lens)</a:t>
                      </a:r>
                      <a:endParaRPr lang="en-US" altLang="zh-CN" sz="8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algn="ctr" eaLnBrk="1" hangingPunct="1">
                        <a:buNone/>
                      </a:pPr>
                      <a:r>
                        <a:rPr lang="en-US" altLang="zh-CN" sz="800" b="1" i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(Lasik/PRK treatment not covered)</a:t>
                      </a:r>
                      <a:endParaRPr lang="en-US" sz="8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64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en-US" altLang="zh-C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spcBef>
                          <a:spcPts val="740"/>
                        </a:spcBef>
                        <a:buNone/>
                      </a:pPr>
                      <a:r>
                        <a:rPr lang="en-US" altLang="zh-CN" sz="10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Up to P10,000 / eye</a:t>
                      </a:r>
                      <a:endParaRPr lang="en-US" sz="10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</a:tr>
            </a:tbl>
          </a:graphicData>
        </a:graphic>
      </p:graphicFrame>
      <p:grpSp>
        <p:nvGrpSpPr>
          <p:cNvPr id="25627" name="object 4"/>
          <p:cNvGrpSpPr/>
          <p:nvPr/>
        </p:nvGrpSpPr>
        <p:grpSpPr>
          <a:xfrm>
            <a:off x="4100513" y="0"/>
            <a:ext cx="5043487" cy="5022850"/>
            <a:chOff x="4100463" y="0"/>
            <a:chExt cx="5043805" cy="5022215"/>
          </a:xfrm>
        </p:grpSpPr>
        <p:pic>
          <p:nvPicPr>
            <p:cNvPr id="25628" name="object 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100463" y="294450"/>
              <a:ext cx="671275" cy="67127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5629" name="object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57613" y="332550"/>
              <a:ext cx="556974" cy="5569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5630" name="object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90654" y="1387475"/>
              <a:ext cx="2642400" cy="363450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5631" name="object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47804" y="1425575"/>
              <a:ext cx="2528099" cy="3520199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5632" name="object 9"/>
            <p:cNvSpPr/>
            <p:nvPr/>
          </p:nvSpPr>
          <p:spPr>
            <a:xfrm>
              <a:off x="8158600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14663" y="776288"/>
            <a:ext cx="3165475" cy="390525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63775" algn="l"/>
              </a:tabLst>
              <a:defRPr/>
            </a:pPr>
            <a:r>
              <a:rPr kumimoji="0" sz="2400" b="1" i="0" u="none" strike="noStrike" kern="0" cap="none" spc="27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OUTPATIENT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	</a:t>
            </a:r>
            <a:r>
              <a:rPr kumimoji="0" sz="2400" b="1" i="0" u="none" strike="noStrike" kern="0" cap="none" spc="14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CARE</a:t>
            </a:r>
            <a:endParaRPr kumimoji="0" sz="24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entury Gothic" panose="020B0502020202020204"/>
              <a:ea typeface="+mj-ea"/>
              <a:cs typeface="Century Gothic" panose="020B0502020202020204"/>
            </a:endParaRPr>
          </a:p>
        </p:txBody>
      </p:sp>
      <p:graphicFrame>
        <p:nvGraphicFramePr>
          <p:cNvPr id="26627" name="Table 26626"/>
          <p:cNvGraphicFramePr/>
          <p:nvPr/>
        </p:nvGraphicFramePr>
        <p:xfrm>
          <a:off x="825500" y="1282700"/>
          <a:ext cx="7202488" cy="3376613"/>
        </p:xfrm>
        <a:graphic>
          <a:graphicData uri="http://schemas.openxmlformats.org/drawingml/2006/table">
            <a:tbl>
              <a:tblPr/>
              <a:tblGrid>
                <a:gridCol w="3600450"/>
                <a:gridCol w="3602038"/>
              </a:tblGrid>
              <a:tr h="395288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3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COVERAGE</a:t>
                      </a:r>
                      <a:endParaRPr lang="en-US" sz="13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7874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C9EEB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3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LIMITS</a:t>
                      </a:r>
                      <a:endParaRPr lang="en-US" sz="13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7874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C9EEB"/>
                    </a:solidFill>
                  </a:tcPr>
                </a:tc>
              </a:tr>
              <a:tr h="349250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905" lvl="0" indent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Cauterization of warts (except genital warts)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01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1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₱1,000 per member per year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01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</a:tr>
              <a:tr h="487362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905" lvl="0" indent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Sclerotherapy – removal of varicose veins</a:t>
                      </a:r>
                      <a:endParaRPr lang="en-US" altLang="zh-CN" sz="11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1905" lvl="0" indent="0" algn="ctr" eaLnBrk="1" hangingPunct="1">
                        <a:spcBef>
                          <a:spcPts val="15"/>
                        </a:spcBef>
                        <a:buNone/>
                      </a:pPr>
                      <a:r>
                        <a:rPr lang="en-US" altLang="zh-CN" sz="900" b="1" i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(must be prescribed by an accredited vascular surgeon)</a:t>
                      </a:r>
                      <a:endParaRPr lang="en-US" sz="9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01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A4C1F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905" lvl="0" indent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1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Up to ₱5,000 per leg / member / year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01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A4C1F4"/>
                    </a:solidFill>
                  </a:tcPr>
                </a:tc>
              </a:tr>
              <a:tr h="363538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Allergy testing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01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1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Up to ₱2,500 per member per year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01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</a:tr>
              <a:tr h="487362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Speech therapy</a:t>
                      </a:r>
                      <a:endParaRPr lang="en-US" altLang="zh-CN" sz="11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algn="ctr" eaLnBrk="1" hangingPunct="1">
                        <a:spcBef>
                          <a:spcPts val="15"/>
                        </a:spcBef>
                        <a:buNone/>
                      </a:pPr>
                      <a:r>
                        <a:rPr lang="en-US" altLang="zh-CN" sz="900" b="1" i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(medically necessary and on a reimbursement basis)</a:t>
                      </a:r>
                      <a:endParaRPr lang="en-US" sz="9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01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A4C1F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905" lvl="0" indent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1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Covered as charged up to ₱10,000</a:t>
                      </a:r>
                      <a:endParaRPr lang="en-US" altLang="zh-CN" sz="11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1905" lvl="0" indent="0" algn="ctr" eaLnBrk="1" hangingPunct="1">
                        <a:spcBef>
                          <a:spcPts val="15"/>
                        </a:spcBef>
                        <a:buNone/>
                      </a:pPr>
                      <a:r>
                        <a:rPr lang="en-US" altLang="zh-CN" sz="900" i="1">
                          <a:solidFill>
                            <a:srgbClr val="0C3879"/>
                          </a:solidFill>
                          <a:latin typeface="Century Gothic" panose="020B0502020202020204" pitchFamily="34" charset="0"/>
                          <a:cs typeface="Century Gothic" panose="020B0502020202020204" pitchFamily="34" charset="0"/>
                        </a:rPr>
                        <a:t>Note: Consultations shall be part of the limit</a:t>
                      </a:r>
                      <a:endParaRPr lang="en-US" sz="900">
                        <a:latin typeface="Century Gothic" panose="020B0502020202020204" pitchFamily="34" charset="0"/>
                        <a:ea typeface="Century Gothic" panose="020B0502020202020204" pitchFamily="34" charset="0"/>
                      </a:endParaRPr>
                    </a:p>
                  </a:txBody>
                  <a:tcPr marL="0" marR="0" marT="8001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A4C1F4"/>
                    </a:solidFill>
                  </a:tcPr>
                </a:tc>
              </a:tr>
              <a:tr h="349250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Tuberculin test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01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100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₱600 per member per year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01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</a:tr>
              <a:tr h="457200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905" lvl="0" indent="0" algn="ctr" eaLnBrk="1" hangingPunct="1">
                        <a:spcBef>
                          <a:spcPts val="1100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Physical therapy / Occupational therapy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139065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A4C1F4"/>
                    </a:solidFill>
                  </a:tcPr>
                </a:tc>
                <a:tc rowSpan="2"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en-US" altLang="zh-CN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spcBef>
                          <a:spcPts val="800"/>
                        </a:spcBef>
                        <a:buNone/>
                      </a:pPr>
                      <a:r>
                        <a:rPr lang="en-US" altLang="zh-CN" sz="900" i="1">
                          <a:solidFill>
                            <a:srgbClr val="0C3879"/>
                          </a:solidFill>
                          <a:latin typeface="Century Gothic" panose="020B0502020202020204" pitchFamily="34" charset="0"/>
                          <a:cs typeface="Century Gothic" panose="020B0502020202020204" pitchFamily="34" charset="0"/>
                        </a:rPr>
                        <a:t>Up to twelve (12) sessions subject to ABL</a:t>
                      </a:r>
                      <a:endParaRPr lang="en-US" sz="900">
                        <a:latin typeface="Century Gothic" panose="020B0502020202020204" pitchFamily="34" charset="0"/>
                        <a:ea typeface="Century Gothic" panose="020B0502020202020204" pitchFamily="34" charset="0"/>
                      </a:endParaRPr>
                    </a:p>
                  </a:txBody>
                  <a:tcPr marL="0" marR="0" marT="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A4C1F4"/>
                    </a:solidFill>
                  </a:tcPr>
                </a:tc>
              </a:tr>
              <a:tr h="487363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Therapeutic Procedure</a:t>
                      </a:r>
                      <a:endParaRPr lang="en-US" altLang="zh-CN" sz="11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algn="ctr" eaLnBrk="1" hangingPunct="1">
                        <a:spcBef>
                          <a:spcPts val="15"/>
                        </a:spcBef>
                        <a:buNone/>
                      </a:pPr>
                      <a:r>
                        <a:rPr lang="en-US" altLang="zh-CN" sz="900" b="1" i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(IV Chemotherapy, Dialysis, etc)</a:t>
                      </a:r>
                      <a:endParaRPr lang="en-US" sz="9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01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 vMerge="1">
                  <a:tcPr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26655" name="object 4"/>
          <p:cNvGrpSpPr/>
          <p:nvPr/>
        </p:nvGrpSpPr>
        <p:grpSpPr>
          <a:xfrm>
            <a:off x="4100513" y="0"/>
            <a:ext cx="5043487" cy="842963"/>
            <a:chOff x="4100463" y="0"/>
            <a:chExt cx="5043805" cy="842644"/>
          </a:xfrm>
        </p:grpSpPr>
        <p:pic>
          <p:nvPicPr>
            <p:cNvPr id="26656" name="object 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100463" y="171185"/>
              <a:ext cx="671275" cy="67127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6657" name="object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57613" y="209284"/>
              <a:ext cx="556974" cy="556974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6658" name="object 7"/>
            <p:cNvSpPr/>
            <p:nvPr/>
          </p:nvSpPr>
          <p:spPr>
            <a:xfrm>
              <a:off x="8158600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713038" y="635000"/>
            <a:ext cx="3721100" cy="285750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700" b="1" i="0" u="none" strike="noStrike" kern="0" cap="none" spc="19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Outpatient</a:t>
            </a:r>
            <a:r>
              <a:rPr kumimoji="0" sz="1700" b="1" i="0" u="none" strike="noStrike" kern="0" cap="none" spc="10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0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Availment</a:t>
            </a:r>
            <a:r>
              <a:rPr kumimoji="0" sz="1700" b="1" i="0" u="none" strike="noStrike" kern="0" cap="none" spc="10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04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Procedure</a:t>
            </a:r>
            <a:endParaRPr kumimoji="0" sz="1700" b="1" i="0" u="none" strike="noStrike" kern="0" cap="none" spc="204" normalizeH="0" baseline="0" noProof="0" dirty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grpSp>
        <p:nvGrpSpPr>
          <p:cNvPr id="27651" name="object 3"/>
          <p:cNvGrpSpPr/>
          <p:nvPr/>
        </p:nvGrpSpPr>
        <p:grpSpPr>
          <a:xfrm>
            <a:off x="449263" y="974725"/>
            <a:ext cx="2543175" cy="3594100"/>
            <a:chOff x="448791" y="975409"/>
            <a:chExt cx="2543810" cy="3594100"/>
          </a:xfrm>
        </p:grpSpPr>
        <p:pic>
          <p:nvPicPr>
            <p:cNvPr id="27676" name="object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48791" y="975409"/>
              <a:ext cx="2543212" cy="359356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7677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2188" y="1017674"/>
              <a:ext cx="2416417" cy="3466769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6" name="object 6"/>
          <p:cNvSpPr txBox="1"/>
          <p:nvPr/>
        </p:nvSpPr>
        <p:spPr>
          <a:xfrm>
            <a:off x="1449388" y="2178050"/>
            <a:ext cx="541338" cy="211138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2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204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kumimoji="0" sz="12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200" b="1" kern="0" cap="none" spc="-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1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20725" y="2825750"/>
            <a:ext cx="2008188" cy="4810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12700" algn="ctr" eaLnBrk="1" hangingPunct="1">
              <a:spcBef>
                <a:spcPts val="100"/>
              </a:spcBef>
              <a:buNone/>
            </a:pPr>
            <a:r>
              <a:rPr lang="en-US" altLang="zh-CN" sz="10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Acquire LOA* by presenting your Maxicare card and valid ID through the following: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27654" name="object 8"/>
          <p:cNvGrpSpPr/>
          <p:nvPr/>
        </p:nvGrpSpPr>
        <p:grpSpPr>
          <a:xfrm>
            <a:off x="2865438" y="974725"/>
            <a:ext cx="2978150" cy="2987675"/>
            <a:chOff x="2865210" y="975410"/>
            <a:chExt cx="2978785" cy="2986405"/>
          </a:xfrm>
        </p:grpSpPr>
        <p:pic>
          <p:nvPicPr>
            <p:cNvPr id="27672" name="object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65210" y="2471042"/>
              <a:ext cx="455594" cy="352094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7673" name="object 10"/>
            <p:cNvSpPr/>
            <p:nvPr/>
          </p:nvSpPr>
          <p:spPr>
            <a:xfrm>
              <a:off x="2928607" y="2513306"/>
              <a:ext cx="328930" cy="225425"/>
            </a:xfrm>
            <a:custGeom>
              <a:avLst/>
              <a:gdLst/>
              <a:ahLst/>
              <a:cxnLst/>
              <a:pathLst>
                <a:path w="328929" h="225425">
                  <a:moveTo>
                    <a:pt x="216149" y="225299"/>
                  </a:moveTo>
                  <a:lnTo>
                    <a:pt x="216149" y="168974"/>
                  </a:lnTo>
                  <a:lnTo>
                    <a:pt x="0" y="168974"/>
                  </a:lnTo>
                  <a:lnTo>
                    <a:pt x="0" y="56324"/>
                  </a:lnTo>
                  <a:lnTo>
                    <a:pt x="216149" y="56324"/>
                  </a:lnTo>
                  <a:lnTo>
                    <a:pt x="216149" y="0"/>
                  </a:lnTo>
                  <a:lnTo>
                    <a:pt x="328799" y="112649"/>
                  </a:lnTo>
                  <a:lnTo>
                    <a:pt x="216149" y="225299"/>
                  </a:lnTo>
                  <a:close/>
                </a:path>
              </a:pathLst>
            </a:custGeom>
            <a:solidFill>
              <a:srgbClr val="0053CC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27674" name="object 1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00394" y="975410"/>
              <a:ext cx="2543211" cy="2985967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7675" name="object 1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63791" y="1017675"/>
              <a:ext cx="2416416" cy="2859172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13" name="object 13"/>
          <p:cNvSpPr txBox="1"/>
          <p:nvPr/>
        </p:nvSpPr>
        <p:spPr>
          <a:xfrm>
            <a:off x="4286250" y="2178050"/>
            <a:ext cx="571500" cy="211138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2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204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kumimoji="0" sz="12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200" b="1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2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554413" y="2917825"/>
            <a:ext cx="2016125" cy="4810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11430" algn="ctr" eaLnBrk="1" hangingPunct="1">
              <a:spcBef>
                <a:spcPts val="100"/>
              </a:spcBef>
              <a:buNone/>
            </a:pPr>
            <a:r>
              <a:rPr lang="en-US" altLang="zh-CN" sz="10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 LOA* or referral slip to a referred Maxicare-accredited doctor or specialist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27657" name="object 15"/>
          <p:cNvGrpSpPr/>
          <p:nvPr/>
        </p:nvGrpSpPr>
        <p:grpSpPr>
          <a:xfrm>
            <a:off x="5716588" y="974725"/>
            <a:ext cx="2979737" cy="2987675"/>
            <a:chOff x="5716813" y="975410"/>
            <a:chExt cx="2978785" cy="2986405"/>
          </a:xfrm>
        </p:grpSpPr>
        <p:pic>
          <p:nvPicPr>
            <p:cNvPr id="27668" name="object 1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6813" y="2471042"/>
              <a:ext cx="455594" cy="352094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7669" name="object 17"/>
            <p:cNvSpPr/>
            <p:nvPr/>
          </p:nvSpPr>
          <p:spPr>
            <a:xfrm>
              <a:off x="5780209" y="2513306"/>
              <a:ext cx="328930" cy="225425"/>
            </a:xfrm>
            <a:custGeom>
              <a:avLst/>
              <a:gdLst/>
              <a:ahLst/>
              <a:cxnLst/>
              <a:pathLst>
                <a:path w="328929" h="225425">
                  <a:moveTo>
                    <a:pt x="216149" y="225299"/>
                  </a:moveTo>
                  <a:lnTo>
                    <a:pt x="216149" y="168974"/>
                  </a:lnTo>
                  <a:lnTo>
                    <a:pt x="0" y="168974"/>
                  </a:lnTo>
                  <a:lnTo>
                    <a:pt x="0" y="56324"/>
                  </a:lnTo>
                  <a:lnTo>
                    <a:pt x="216149" y="56324"/>
                  </a:lnTo>
                  <a:lnTo>
                    <a:pt x="216149" y="0"/>
                  </a:lnTo>
                  <a:lnTo>
                    <a:pt x="328799" y="112649"/>
                  </a:lnTo>
                  <a:lnTo>
                    <a:pt x="216149" y="225299"/>
                  </a:lnTo>
                  <a:close/>
                </a:path>
              </a:pathLst>
            </a:custGeom>
            <a:solidFill>
              <a:srgbClr val="0053CC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27670" name="object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51997" y="975410"/>
              <a:ext cx="2543211" cy="2985967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7671" name="object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15394" y="1017675"/>
              <a:ext cx="2416416" cy="2859172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20" name="object 20"/>
          <p:cNvSpPr txBox="1"/>
          <p:nvPr/>
        </p:nvSpPr>
        <p:spPr>
          <a:xfrm>
            <a:off x="7137400" y="2198688"/>
            <a:ext cx="571500" cy="211138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2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204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kumimoji="0" sz="12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200" b="1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3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715125" y="3843338"/>
            <a:ext cx="1590675" cy="2619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444500" indent="-431800" eaLnBrk="1" hangingPunct="1">
              <a:lnSpc>
                <a:spcPct val="103000"/>
              </a:lnSpc>
              <a:spcBef>
                <a:spcPts val="100"/>
              </a:spcBef>
              <a:buNone/>
            </a:pPr>
            <a:r>
              <a:rPr lang="en-US" altLang="zh-CN" sz="700" b="1" i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If laboratory exam is required, repeat STEP 1</a:t>
            </a:r>
            <a:endParaRPr lang="en-US" altLang="zh-CN" sz="7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54075" y="3387725"/>
            <a:ext cx="1676400" cy="904875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p>
            <a:pPr marL="167005" indent="-155575" defTabSz="914400" eaLnBrk="1" hangingPunct="1">
              <a:spcBef>
                <a:spcPts val="515"/>
              </a:spcBef>
              <a:buAutoNum type="alphaUcPeriod"/>
              <a:tabLst>
                <a:tab pos="168275" algn="l"/>
              </a:tabLst>
            </a:pPr>
            <a:r>
              <a:rPr lang="en-US" altLang="zh-CN" sz="10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PCC or Helpdesk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67005" indent="-155575" defTabSz="914400" eaLnBrk="1" hangingPunct="1">
              <a:spcBef>
                <a:spcPts val="400"/>
              </a:spcBef>
              <a:buAutoNum type="alphaUcPeriod"/>
              <a:tabLst>
                <a:tab pos="168275" algn="l"/>
              </a:tabLst>
            </a:pPr>
            <a:r>
              <a:rPr lang="en-US" altLang="zh-CN" sz="10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Maxicare coordinator of any accredited hospital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67005" indent="-155575" defTabSz="914400" eaLnBrk="1" hangingPunct="1">
              <a:spcBef>
                <a:spcPts val="115"/>
              </a:spcBef>
              <a:buAutoNum type="alphaUcPeriod"/>
              <a:tabLst>
                <a:tab pos="168275" algn="l"/>
              </a:tabLst>
            </a:pPr>
            <a:r>
              <a:rPr lang="en-US" altLang="zh-CN" sz="10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Member Gateway or e-mail</a:t>
            </a:r>
            <a:endParaRPr lang="en-US" altLang="zh-CN" sz="10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108075" y="4572000"/>
            <a:ext cx="1184275" cy="144463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75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*Letter</a:t>
            </a:r>
            <a:r>
              <a:rPr kumimoji="0" sz="750" i="1" kern="0" cap="none" spc="11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75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of</a:t>
            </a:r>
            <a:r>
              <a:rPr kumimoji="0" sz="750" i="1" kern="0" cap="none" spc="11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750" i="1" kern="0" cap="none" spc="-1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Authorization</a:t>
            </a:r>
            <a:endParaRPr kumimoji="0" sz="750" kern="0" cap="none" spc="0" normalizeH="0" baseline="0" noProof="0">
              <a:solidFill>
                <a:sysClr val="windowText" lastClr="000000"/>
              </a:solidFill>
              <a:latin typeface="Century Gothic" panose="020B0502020202020204"/>
              <a:cs typeface="Century Gothic" panose="020B050202020202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648450" y="2794000"/>
            <a:ext cx="1482725" cy="654050"/>
          </a:xfrm>
          <a:prstGeom prst="rect">
            <a:avLst/>
          </a:prstGeom>
        </p:spPr>
        <p:txBody>
          <a:bodyPr vert="horz" wrap="square" lIns="0" tIns="98425" rIns="0" bIns="0" rtlCol="0">
            <a:spAutoFit/>
          </a:bodyPr>
          <a:lstStyle/>
          <a:p>
            <a:pPr marL="356235" marR="0" defTabSz="914400" eaLnBrk="1" fontAlgn="auto" hangingPunct="1">
              <a:spcBef>
                <a:spcPts val="77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65" normalizeH="0" baseline="0" noProof="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Avail</a:t>
            </a:r>
            <a:r>
              <a:rPr kumimoji="0" sz="1000" kern="0" cap="none" spc="55" normalizeH="0" baseline="0" noProof="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75" normalizeH="0" baseline="0" noProof="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services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342265" marR="0" indent="-330200" defTabSz="914400" eaLnBrk="1" fontAlgn="auto" hangingPunct="1">
              <a:lnSpc>
                <a:spcPts val="1200"/>
              </a:lnSpc>
              <a:spcBef>
                <a:spcPts val="675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342265" algn="l"/>
                <a:tab pos="342900" algn="l"/>
              </a:tabLst>
              <a:defRPr/>
            </a:pPr>
            <a:r>
              <a:rPr kumimoji="0" sz="1000" kern="0" cap="none" spc="85" normalizeH="0" baseline="0" noProof="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Consultation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342265" marR="0" indent="-330200" defTabSz="914400" eaLnBrk="1" fontAlgn="auto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/>
              <a:buChar char="●"/>
              <a:tabLst>
                <a:tab pos="342265" algn="l"/>
                <a:tab pos="342900" algn="l"/>
              </a:tabLst>
              <a:defRPr/>
            </a:pPr>
            <a:r>
              <a:rPr kumimoji="0" sz="1000" kern="0" cap="none" spc="90" normalizeH="0" baseline="0" noProof="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Laboratory</a:t>
            </a:r>
            <a:r>
              <a:rPr kumimoji="0" sz="1000" kern="0" cap="none" spc="45" normalizeH="0" baseline="0" noProof="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000" kern="0" cap="none" spc="114" normalizeH="0" baseline="0" noProof="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exams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7663" name="object 25"/>
          <p:cNvGrpSpPr/>
          <p:nvPr/>
        </p:nvGrpSpPr>
        <p:grpSpPr>
          <a:xfrm>
            <a:off x="1450975" y="0"/>
            <a:ext cx="7693025" cy="1836738"/>
            <a:chOff x="1450806" y="0"/>
            <a:chExt cx="7693659" cy="1837055"/>
          </a:xfrm>
        </p:grpSpPr>
        <p:pic>
          <p:nvPicPr>
            <p:cNvPr id="27664" name="object 26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315915" y="1297667"/>
              <a:ext cx="539168" cy="539168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7665" name="object 2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154013" y="1294353"/>
              <a:ext cx="539168" cy="539168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7666" name="object 28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50806" y="1297667"/>
              <a:ext cx="539168" cy="539168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7667" name="object 29"/>
            <p:cNvSpPr/>
            <p:nvPr/>
          </p:nvSpPr>
          <p:spPr>
            <a:xfrm>
              <a:off x="8158599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08313" y="1127125"/>
            <a:ext cx="2732088" cy="392113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400" b="1" i="0" u="none" strike="noStrike" kern="0" cap="none" spc="25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INPATIENT</a:t>
            </a:r>
            <a:r>
              <a:rPr kumimoji="0" sz="2400" b="1" i="0" u="none" strike="noStrike" kern="0" cap="none" spc="5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400" b="1" i="0" u="none" strike="noStrike" kern="0" cap="none" spc="14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CARE</a:t>
            </a:r>
            <a:endParaRPr kumimoji="0" sz="24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entury Gothic" panose="020B0502020202020204"/>
              <a:ea typeface="+mj-ea"/>
              <a:cs typeface="Century Gothic" panose="020B0502020202020204"/>
            </a:endParaRPr>
          </a:p>
        </p:txBody>
      </p:sp>
      <p:grpSp>
        <p:nvGrpSpPr>
          <p:cNvPr id="28675" name="object 3"/>
          <p:cNvGrpSpPr/>
          <p:nvPr/>
        </p:nvGrpSpPr>
        <p:grpSpPr>
          <a:xfrm>
            <a:off x="4100513" y="0"/>
            <a:ext cx="5043487" cy="1193800"/>
            <a:chOff x="4100463" y="0"/>
            <a:chExt cx="5043805" cy="1194435"/>
          </a:xfrm>
        </p:grpSpPr>
        <p:pic>
          <p:nvPicPr>
            <p:cNvPr id="28677" name="object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100463" y="523050"/>
              <a:ext cx="671275" cy="67127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8678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57613" y="561150"/>
              <a:ext cx="556974" cy="556974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8679" name="object 6"/>
            <p:cNvSpPr/>
            <p:nvPr/>
          </p:nvSpPr>
          <p:spPr>
            <a:xfrm>
              <a:off x="8158600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354138" y="1625600"/>
            <a:ext cx="6713538" cy="2616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71475" indent="-358775" defTabSz="914400" eaLnBrk="1" hangingPunct="1"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371475" algn="l"/>
              </a:tabLst>
            </a:pPr>
            <a:r>
              <a:rPr lang="en-US" altLang="zh-CN" sz="17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Room and board accommodation based on your plan type and entitlement</a:t>
            </a: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71475" indent="-358775" defTabSz="914400" eaLnBrk="1" hangingPunct="1">
              <a:buFont typeface="Arial" panose="020B0604020202020204" pitchFamily="34" charset="0"/>
              <a:buChar char="●"/>
              <a:tabLst>
                <a:tab pos="371475" algn="l"/>
              </a:tabLst>
            </a:pPr>
            <a:r>
              <a:rPr lang="en-US" altLang="zh-CN" sz="17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 of Recovery Room and Intensive Care unit (ICU)</a:t>
            </a: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71475" indent="-358775" defTabSz="914400" eaLnBrk="1" hangingPunct="1">
              <a:buFont typeface="Arial" panose="020B0604020202020204" pitchFamily="34" charset="0"/>
              <a:buChar char="●"/>
              <a:tabLst>
                <a:tab pos="371475" algn="l"/>
              </a:tabLst>
            </a:pPr>
            <a:r>
              <a:rPr lang="en-US" altLang="zh-CN" sz="17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Professional fee of attending doctors and nursing services</a:t>
            </a: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71475" indent="-358775" defTabSz="914400" eaLnBrk="1" hangingPunct="1">
              <a:buFont typeface="Arial" panose="020B0604020202020204" pitchFamily="34" charset="0"/>
              <a:buChar char="●"/>
              <a:tabLst>
                <a:tab pos="371475" algn="l"/>
              </a:tabLst>
            </a:pPr>
            <a:r>
              <a:rPr lang="en-US" altLang="zh-CN" sz="17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Drug and medicines for use in the hospital</a:t>
            </a: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71475" indent="-358775" defTabSz="914400" eaLnBrk="1" hangingPunct="1">
              <a:buFont typeface="Arial" panose="020B0604020202020204" pitchFamily="34" charset="0"/>
              <a:buChar char="●"/>
              <a:tabLst>
                <a:tab pos="371475" algn="l"/>
              </a:tabLst>
            </a:pPr>
            <a:r>
              <a:rPr lang="en-US" altLang="zh-CN" sz="17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Human whole blood products and IV ﬂuids transfusion</a:t>
            </a: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71475" indent="-358775" defTabSz="914400" eaLnBrk="1" hangingPunct="1">
              <a:buFont typeface="Arial" panose="020B0604020202020204" pitchFamily="34" charset="0"/>
              <a:buChar char="●"/>
              <a:tabLst>
                <a:tab pos="371475" algn="l"/>
              </a:tabLst>
            </a:pPr>
            <a:r>
              <a:rPr lang="en-US" altLang="zh-CN" sz="17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Anesthesia, oxygen, and its administration</a:t>
            </a: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71475" indent="-358775" defTabSz="914400" eaLnBrk="1" hangingPunct="1">
              <a:buFont typeface="Arial" panose="020B0604020202020204" pitchFamily="34" charset="0"/>
              <a:buChar char="●"/>
              <a:tabLst>
                <a:tab pos="371475" algn="l"/>
              </a:tabLst>
            </a:pPr>
            <a:r>
              <a:rPr lang="en-US" altLang="zh-CN" sz="17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Standard hospital admission kit</a:t>
            </a: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71475" indent="-358775" defTabSz="914400" eaLnBrk="1" hangingPunct="1">
              <a:buFont typeface="Arial" panose="020B0604020202020204" pitchFamily="34" charset="0"/>
              <a:buChar char="●"/>
              <a:tabLst>
                <a:tab pos="371475" algn="l"/>
              </a:tabLst>
            </a:pPr>
            <a:r>
              <a:rPr lang="en-US" altLang="zh-CN" sz="17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Dressings, casts, sutures, and other supplies/services directly related to the medical management of the patient</a:t>
            </a:r>
            <a:endParaRPr lang="en-US" altLang="zh-CN" sz="17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9698" name="object 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29723" name="object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922759" y="1468716"/>
              <a:ext cx="2075005" cy="2653701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9724" name="object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84834" y="1510100"/>
              <a:ext cx="1950852" cy="2529548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9725" name="object 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663918" y="1468716"/>
              <a:ext cx="2075005" cy="2653701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9726" name="object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25994" y="1510100"/>
              <a:ext cx="1950852" cy="2529548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9727" name="object 7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405077" y="1468716"/>
              <a:ext cx="2075005" cy="2653701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9728" name="object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67153" y="1510100"/>
              <a:ext cx="1950852" cy="2529548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9" name="object 9"/>
          <p:cNvSpPr txBox="1">
            <a:spLocks noGrp="1"/>
          </p:cNvSpPr>
          <p:nvPr>
            <p:ph type="title"/>
          </p:nvPr>
        </p:nvSpPr>
        <p:spPr/>
        <p:txBody>
          <a:bodyPr vert="horz" wrap="square" lIns="0" tIns="157608" rIns="0" bIns="0" rtlCol="0">
            <a:spAutoFit/>
          </a:bodyPr>
          <a:lstStyle/>
          <a:p>
            <a:pPr marL="1776095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700" b="1" i="0" u="none" strike="noStrike" kern="0" cap="none" spc="204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INPATIENT</a:t>
            </a:r>
            <a:r>
              <a:rPr kumimoji="0" sz="1700" b="1" i="0" u="none" strike="noStrike" kern="0" cap="none" spc="12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1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AVAILMENT</a:t>
            </a:r>
            <a:r>
              <a:rPr kumimoji="0" sz="1700" b="1" i="0" u="none" strike="noStrike" kern="0" cap="none" spc="12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8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PROCEDURE</a:t>
            </a:r>
            <a:endParaRPr kumimoji="0" sz="1700" b="1" i="0" u="none" strike="noStrike" kern="0" cap="none" spc="285" normalizeH="0" baseline="0" noProof="0" dirty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grpSp>
        <p:nvGrpSpPr>
          <p:cNvPr id="29700" name="object 10"/>
          <p:cNvGrpSpPr/>
          <p:nvPr/>
        </p:nvGrpSpPr>
        <p:grpSpPr>
          <a:xfrm>
            <a:off x="146050" y="1468438"/>
            <a:ext cx="2074863" cy="2654300"/>
            <a:chOff x="146235" y="1468716"/>
            <a:chExt cx="2075180" cy="2654300"/>
          </a:xfrm>
        </p:grpSpPr>
        <p:pic>
          <p:nvPicPr>
            <p:cNvPr id="29721" name="object 1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46235" y="1468716"/>
              <a:ext cx="2075005" cy="2653701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9722" name="object 1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8312" y="1510100"/>
              <a:ext cx="1950852" cy="2529548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13" name="object 13"/>
          <p:cNvSpPr txBox="1"/>
          <p:nvPr/>
        </p:nvSpPr>
        <p:spPr>
          <a:xfrm>
            <a:off x="903288" y="2457450"/>
            <a:ext cx="530225" cy="2079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1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kumimoji="0" sz="12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200" b="1" kern="0" cap="none" spc="-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1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19113" y="2951163"/>
            <a:ext cx="1298575" cy="62071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11430" algn="ctr" eaLnBrk="1" hangingPunct="1">
              <a:lnSpc>
                <a:spcPct val="103000"/>
              </a:lnSpc>
              <a:spcBef>
                <a:spcPts val="100"/>
              </a:spcBef>
              <a:buNone/>
            </a:pPr>
            <a:r>
              <a:rPr lang="en-US" altLang="zh-CN" sz="900">
                <a:solidFill>
                  <a:srgbClr val="F9F9F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Secure an admitting order from a Maxicare-accredited doctor or specialist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29703" name="object 15"/>
          <p:cNvGrpSpPr/>
          <p:nvPr/>
        </p:nvGrpSpPr>
        <p:grpSpPr>
          <a:xfrm>
            <a:off x="955675" y="0"/>
            <a:ext cx="8188325" cy="3336925"/>
            <a:chOff x="955636" y="0"/>
            <a:chExt cx="8188959" cy="3336290"/>
          </a:xfrm>
        </p:grpSpPr>
        <p:pic>
          <p:nvPicPr>
            <p:cNvPr id="29710" name="object 1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97088" y="2991203"/>
              <a:ext cx="446052" cy="344652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9711" name="object 17"/>
            <p:cNvSpPr/>
            <p:nvPr/>
          </p:nvSpPr>
          <p:spPr>
            <a:xfrm>
              <a:off x="2159164" y="3032586"/>
              <a:ext cx="321945" cy="220979"/>
            </a:xfrm>
            <a:custGeom>
              <a:avLst/>
              <a:gdLst/>
              <a:ahLst/>
              <a:cxnLst/>
              <a:pathLst>
                <a:path w="321944" h="220979">
                  <a:moveTo>
                    <a:pt x="211649" y="220499"/>
                  </a:moveTo>
                  <a:lnTo>
                    <a:pt x="211649" y="165374"/>
                  </a:lnTo>
                  <a:lnTo>
                    <a:pt x="0" y="165374"/>
                  </a:lnTo>
                  <a:lnTo>
                    <a:pt x="0" y="55124"/>
                  </a:lnTo>
                  <a:lnTo>
                    <a:pt x="211649" y="55124"/>
                  </a:lnTo>
                  <a:lnTo>
                    <a:pt x="211649" y="0"/>
                  </a:lnTo>
                  <a:lnTo>
                    <a:pt x="321899" y="110249"/>
                  </a:lnTo>
                  <a:lnTo>
                    <a:pt x="211649" y="220499"/>
                  </a:lnTo>
                  <a:close/>
                </a:path>
              </a:pathLst>
            </a:custGeom>
            <a:solidFill>
              <a:srgbClr val="0053CC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29712" name="object 1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55929" y="2991203"/>
              <a:ext cx="446052" cy="344652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9713" name="object 19"/>
            <p:cNvSpPr/>
            <p:nvPr/>
          </p:nvSpPr>
          <p:spPr>
            <a:xfrm>
              <a:off x="4418004" y="3032586"/>
              <a:ext cx="321945" cy="220979"/>
            </a:xfrm>
            <a:custGeom>
              <a:avLst/>
              <a:gdLst/>
              <a:ahLst/>
              <a:cxnLst/>
              <a:pathLst>
                <a:path w="321945" h="220979">
                  <a:moveTo>
                    <a:pt x="211649" y="220499"/>
                  </a:moveTo>
                  <a:lnTo>
                    <a:pt x="211649" y="165374"/>
                  </a:lnTo>
                  <a:lnTo>
                    <a:pt x="0" y="165374"/>
                  </a:lnTo>
                  <a:lnTo>
                    <a:pt x="0" y="55124"/>
                  </a:lnTo>
                  <a:lnTo>
                    <a:pt x="211649" y="55124"/>
                  </a:lnTo>
                  <a:lnTo>
                    <a:pt x="211649" y="0"/>
                  </a:lnTo>
                  <a:lnTo>
                    <a:pt x="321899" y="110249"/>
                  </a:lnTo>
                  <a:lnTo>
                    <a:pt x="211649" y="220499"/>
                  </a:lnTo>
                  <a:close/>
                </a:path>
              </a:pathLst>
            </a:custGeom>
            <a:solidFill>
              <a:srgbClr val="0053CC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29714" name="object 2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14770" y="2991203"/>
              <a:ext cx="446052" cy="344652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9715" name="object 21"/>
            <p:cNvSpPr/>
            <p:nvPr/>
          </p:nvSpPr>
          <p:spPr>
            <a:xfrm>
              <a:off x="6676846" y="3032586"/>
              <a:ext cx="321945" cy="220979"/>
            </a:xfrm>
            <a:custGeom>
              <a:avLst/>
              <a:gdLst/>
              <a:ahLst/>
              <a:cxnLst/>
              <a:pathLst>
                <a:path w="321945" h="220979">
                  <a:moveTo>
                    <a:pt x="211649" y="220499"/>
                  </a:moveTo>
                  <a:lnTo>
                    <a:pt x="211649" y="165374"/>
                  </a:lnTo>
                  <a:lnTo>
                    <a:pt x="0" y="165374"/>
                  </a:lnTo>
                  <a:lnTo>
                    <a:pt x="0" y="55124"/>
                  </a:lnTo>
                  <a:lnTo>
                    <a:pt x="211649" y="55124"/>
                  </a:lnTo>
                  <a:lnTo>
                    <a:pt x="211649" y="0"/>
                  </a:lnTo>
                  <a:lnTo>
                    <a:pt x="321899" y="110249"/>
                  </a:lnTo>
                  <a:lnTo>
                    <a:pt x="211649" y="220499"/>
                  </a:lnTo>
                  <a:close/>
                </a:path>
              </a:pathLst>
            </a:custGeom>
            <a:solidFill>
              <a:srgbClr val="0053CC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29716" name="object 2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68005" y="1751099"/>
              <a:ext cx="384512" cy="38451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9717" name="object 2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00140" y="1700916"/>
              <a:ext cx="484874" cy="4848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9718" name="object 2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55636" y="1715227"/>
              <a:ext cx="456226" cy="456227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29719" name="object 2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58982" y="1700917"/>
              <a:ext cx="484874" cy="484874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9720" name="object 26"/>
            <p:cNvSpPr/>
            <p:nvPr/>
          </p:nvSpPr>
          <p:spPr>
            <a:xfrm>
              <a:off x="8158600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146425" y="2457450"/>
            <a:ext cx="560388" cy="2079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1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kumimoji="0" sz="12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200" b="1" kern="0" cap="none" spc="4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2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405438" y="2478088"/>
            <a:ext cx="560388" cy="2079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1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kumimoji="0" sz="12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200" b="1" kern="0" cap="none" spc="4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3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7704138" y="2457450"/>
            <a:ext cx="574675" cy="2079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1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kumimoji="0" sz="12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200" b="1" kern="0" cap="none" spc="1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4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2751138" y="2930525"/>
            <a:ext cx="1360488" cy="9191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11430" algn="ctr" eaLnBrk="1" hangingPunct="1">
              <a:lnSpc>
                <a:spcPct val="103000"/>
              </a:lnSpc>
              <a:spcBef>
                <a:spcPts val="100"/>
              </a:spcBef>
              <a:buNone/>
            </a:pPr>
            <a:r>
              <a:rPr lang="en-US" altLang="zh-CN" sz="900">
                <a:solidFill>
                  <a:srgbClr val="F9F9F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Acquire a Letter of Eligibility (LOE) at the admitting section by presenting your Maxicare card and valid ID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4975225" y="2970213"/>
            <a:ext cx="1466850" cy="3222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155575" indent="-144145" eaLnBrk="1" hangingPunct="1">
              <a:lnSpc>
                <a:spcPct val="103000"/>
              </a:lnSpc>
              <a:spcBef>
                <a:spcPts val="100"/>
              </a:spcBef>
              <a:buNone/>
            </a:pPr>
            <a:r>
              <a:rPr lang="en-US" altLang="zh-CN" sz="900">
                <a:solidFill>
                  <a:srgbClr val="F9F9F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Avail inpatient services, treatment, or both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235825" y="2894013"/>
            <a:ext cx="1443038" cy="4730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11430" algn="ctr" eaLnBrk="1" hangingPunct="1">
              <a:lnSpc>
                <a:spcPct val="103000"/>
              </a:lnSpc>
              <a:spcBef>
                <a:spcPts val="100"/>
              </a:spcBef>
              <a:buNone/>
            </a:pPr>
            <a:r>
              <a:rPr lang="en-US" altLang="zh-CN" sz="900">
                <a:solidFill>
                  <a:srgbClr val="F9F9F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File PhilHealth upon discharge and settle non-coverable charges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/>
        <p:txBody>
          <a:bodyPr vert="horz" wrap="square" lIns="0" tIns="103164" rIns="0" bIns="0" rtlCol="0">
            <a:spAutoFit/>
          </a:bodyPr>
          <a:lstStyle/>
          <a:p>
            <a:pPr marL="212471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400" b="1" i="0" u="none" strike="noStrike" kern="0" cap="none" spc="17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EMERGENCY</a:t>
            </a:r>
            <a:r>
              <a:rPr kumimoji="0" sz="2400" b="1" i="0" u="none" strike="noStrike" kern="0" cap="none" spc="3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400" b="1" i="0" u="none" strike="noStrike" kern="0" cap="none" spc="14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CARE</a:t>
            </a:r>
            <a:endParaRPr kumimoji="0" sz="24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entury Gothic" panose="020B0502020202020204"/>
              <a:ea typeface="+mj-ea"/>
              <a:cs typeface="Century Gothic" panose="020B0502020202020204"/>
            </a:endParaRPr>
          </a:p>
        </p:txBody>
      </p:sp>
      <p:grpSp>
        <p:nvGrpSpPr>
          <p:cNvPr id="30723" name="object 3"/>
          <p:cNvGrpSpPr/>
          <p:nvPr/>
        </p:nvGrpSpPr>
        <p:grpSpPr>
          <a:xfrm>
            <a:off x="4100513" y="0"/>
            <a:ext cx="5043487" cy="965200"/>
            <a:chOff x="4100463" y="0"/>
            <a:chExt cx="5043805" cy="965835"/>
          </a:xfrm>
        </p:grpSpPr>
        <p:pic>
          <p:nvPicPr>
            <p:cNvPr id="30725" name="object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100463" y="294450"/>
              <a:ext cx="671275" cy="67127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0726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57613" y="332550"/>
              <a:ext cx="556974" cy="556974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0727" name="object 6"/>
            <p:cNvSpPr/>
            <p:nvPr/>
          </p:nvSpPr>
          <p:spPr>
            <a:xfrm>
              <a:off x="8158600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/>
        <p:txBody>
          <a:bodyPr vert="horz" wrap="square" lIns="0" tIns="12700" rIns="0" bIns="0" rtlCol="0">
            <a:spAutoFit/>
          </a:bodyPr>
          <a:p>
            <a:pPr marL="836930" indent="-336550" defTabSz="914400" eaLnBrk="1" hangingPunct="1"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836930" algn="l"/>
                <a:tab pos="83820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Doctor’s services</a:t>
            </a:r>
            <a:endParaRPr lang="en-US" altLang="zh-CN" sz="1400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836930" indent="-336550" defTabSz="914400" eaLnBrk="1" hangingPunct="1">
              <a:spcBef>
                <a:spcPct val="0"/>
              </a:spcBef>
              <a:buFont typeface="Arial" panose="020B0604020202020204" pitchFamily="34" charset="0"/>
              <a:buChar char="●"/>
              <a:tabLst>
                <a:tab pos="836930" algn="l"/>
                <a:tab pos="83820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Emergency room fees</a:t>
            </a:r>
            <a:endParaRPr lang="en-US" altLang="zh-CN" sz="1400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836930" indent="-336550" defTabSz="914400" eaLnBrk="1" hangingPunct="1">
              <a:spcBef>
                <a:spcPct val="0"/>
              </a:spcBef>
              <a:buFont typeface="Arial" panose="020B0604020202020204" pitchFamily="34" charset="0"/>
              <a:buChar char="●"/>
              <a:tabLst>
                <a:tab pos="836930" algn="l"/>
                <a:tab pos="83820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Medicines used for immediate relief and during treatment</a:t>
            </a:r>
            <a:endParaRPr lang="en-US" altLang="zh-CN" sz="1400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836930" indent="-336550" defTabSz="914400" eaLnBrk="1" hangingPunct="1">
              <a:spcBef>
                <a:spcPct val="0"/>
              </a:spcBef>
              <a:buFont typeface="Arial" panose="020B0604020202020204" pitchFamily="34" charset="0"/>
              <a:buChar char="●"/>
              <a:tabLst>
                <a:tab pos="836930" algn="l"/>
                <a:tab pos="83820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Initial treatment of animal bites</a:t>
            </a:r>
            <a:endParaRPr lang="en-US" altLang="zh-CN" sz="1400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1294130" lvl="1" indent="-336550" defTabSz="914400" eaLnBrk="1" hangingPunct="1">
              <a:spcBef>
                <a:spcPct val="0"/>
              </a:spcBef>
              <a:buFont typeface="Arial" panose="020B0604020202020204" pitchFamily="34" charset="0"/>
              <a:buChar char="○"/>
              <a:tabLst>
                <a:tab pos="836930" algn="l"/>
                <a:tab pos="838200" algn="l"/>
              </a:tabLst>
            </a:pPr>
            <a:r>
              <a:rPr lang="en-US" altLang="zh-CN" sz="1400" b="1">
                <a:solidFill>
                  <a:srgbClr val="0C3879"/>
                </a:solidFill>
                <a:cs typeface="Calibri" panose="020F0502020204030204" pitchFamily="34" charset="0"/>
              </a:rPr>
              <a:t>Covered up to ABL </a:t>
            </a:r>
            <a:r>
              <a:rPr lang="en-US" altLang="zh-CN" sz="1400">
                <a:solidFill>
                  <a:srgbClr val="0C3879"/>
                </a:solidFill>
                <a:cs typeface="Calibri" panose="020F0502020204030204" pitchFamily="34" charset="0"/>
              </a:rPr>
              <a:t>(for the ﬁrst 24 hours from the time of the bite)</a:t>
            </a:r>
            <a:endParaRPr lang="en-US" altLang="zh-CN" sz="1400">
              <a:solidFill>
                <a:srgbClr val="000000"/>
              </a:solidFill>
              <a:cs typeface="Calibri" panose="020F0502020204030204" pitchFamily="34" charset="0"/>
            </a:endParaRPr>
          </a:p>
          <a:p>
            <a:pPr marL="836930" indent="-336550" defTabSz="914400" eaLnBrk="1" hangingPunct="1">
              <a:spcBef>
                <a:spcPct val="0"/>
              </a:spcBef>
              <a:buFont typeface="Arial" panose="020B0604020202020204" pitchFamily="34" charset="0"/>
              <a:buChar char="●"/>
              <a:tabLst>
                <a:tab pos="836930" algn="l"/>
                <a:tab pos="83820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Passive and active vaccines for animal bites</a:t>
            </a:r>
            <a:endParaRPr lang="en-US" altLang="zh-CN" sz="1400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1294130" lvl="1" indent="-336550" defTabSz="914400" eaLnBrk="1" hangingPunct="1">
              <a:spcBef>
                <a:spcPct val="0"/>
              </a:spcBef>
              <a:buFont typeface="Arial" panose="020B0604020202020204" pitchFamily="34" charset="0"/>
              <a:buChar char="○"/>
              <a:tabLst>
                <a:tab pos="836930" algn="l"/>
                <a:tab pos="838200" algn="l"/>
              </a:tabLst>
            </a:pPr>
            <a:r>
              <a:rPr lang="en-US" altLang="zh-CN" sz="1400">
                <a:solidFill>
                  <a:srgbClr val="0C3879"/>
                </a:solidFill>
                <a:cs typeface="Calibri" panose="020F0502020204030204" pitchFamily="34" charset="0"/>
              </a:rPr>
              <a:t>Succeeding dose of anti-rabies, anti-venom, or anti-tetanus vaccines covered </a:t>
            </a:r>
            <a:r>
              <a:rPr lang="en-US" altLang="zh-CN" sz="1400" b="1">
                <a:solidFill>
                  <a:srgbClr val="0C3879"/>
                </a:solidFill>
                <a:cs typeface="Calibri" panose="020F0502020204030204" pitchFamily="34" charset="0"/>
              </a:rPr>
              <a:t>up to ₱18,000 </a:t>
            </a:r>
            <a:r>
              <a:rPr lang="en-US" altLang="zh-CN" sz="1400">
                <a:solidFill>
                  <a:srgbClr val="0C3879"/>
                </a:solidFill>
                <a:cs typeface="Calibri" panose="020F0502020204030204" pitchFamily="34" charset="0"/>
              </a:rPr>
              <a:t>/ member / year</a:t>
            </a:r>
            <a:endParaRPr lang="en-US" altLang="zh-CN" sz="1400">
              <a:solidFill>
                <a:srgbClr val="000000"/>
              </a:solidFill>
              <a:cs typeface="Calibri" panose="020F0502020204030204" pitchFamily="34" charset="0"/>
            </a:endParaRPr>
          </a:p>
          <a:p>
            <a:pPr marL="1294130" lvl="1" indent="-336550" defTabSz="914400" eaLnBrk="1" hangingPunct="1">
              <a:spcBef>
                <a:spcPct val="0"/>
              </a:spcBef>
              <a:buFont typeface="Arial" panose="020B0604020202020204" pitchFamily="34" charset="0"/>
              <a:buChar char="○"/>
              <a:tabLst>
                <a:tab pos="836930" algn="l"/>
                <a:tab pos="838200" algn="l"/>
              </a:tabLst>
            </a:pPr>
            <a:r>
              <a:rPr lang="en-US" altLang="zh-CN" sz="1400">
                <a:solidFill>
                  <a:srgbClr val="0C3879"/>
                </a:solidFill>
                <a:cs typeface="Calibri" panose="020F0502020204030204" pitchFamily="34" charset="0"/>
              </a:rPr>
              <a:t>For second dose onwards, vaccine must be outpatient availment</a:t>
            </a:r>
            <a:endParaRPr lang="en-US" altLang="zh-CN" sz="1400">
              <a:solidFill>
                <a:srgbClr val="000000"/>
              </a:solidFill>
              <a:cs typeface="Calibri" panose="020F0502020204030204" pitchFamily="34" charset="0"/>
            </a:endParaRPr>
          </a:p>
          <a:p>
            <a:pPr marL="836930" indent="-336550" defTabSz="914400" eaLnBrk="1" hangingPunct="1">
              <a:spcBef>
                <a:spcPct val="0"/>
              </a:spcBef>
              <a:buFont typeface="Arial" panose="020B0604020202020204" pitchFamily="34" charset="0"/>
              <a:buChar char="●"/>
              <a:tabLst>
                <a:tab pos="836930" algn="l"/>
                <a:tab pos="83820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Ambulance services</a:t>
            </a:r>
            <a:endParaRPr lang="en-US" altLang="zh-CN" sz="1400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1294130" lvl="1" indent="-336550" defTabSz="914400" eaLnBrk="1" hangingPunct="1">
              <a:spcBef>
                <a:spcPct val="0"/>
              </a:spcBef>
              <a:buFont typeface="Arial" panose="020B0604020202020204" pitchFamily="34" charset="0"/>
              <a:buChar char="○"/>
              <a:tabLst>
                <a:tab pos="836930" algn="l"/>
                <a:tab pos="838200" algn="l"/>
              </a:tabLst>
            </a:pPr>
            <a:r>
              <a:rPr lang="en-US" altLang="zh-CN" sz="1400">
                <a:solidFill>
                  <a:srgbClr val="0C3879"/>
                </a:solidFill>
                <a:cs typeface="Calibri" panose="020F0502020204030204" pitchFamily="34" charset="0"/>
              </a:rPr>
              <a:t>Within the network - </a:t>
            </a:r>
            <a:r>
              <a:rPr lang="en-US" altLang="zh-CN" sz="1400" b="1">
                <a:solidFill>
                  <a:srgbClr val="0C3879"/>
                </a:solidFill>
                <a:cs typeface="Calibri" panose="020F0502020204030204" pitchFamily="34" charset="0"/>
              </a:rPr>
              <a:t>Up to ABL</a:t>
            </a:r>
            <a:endParaRPr lang="en-US" altLang="zh-CN" sz="1400">
              <a:solidFill>
                <a:srgbClr val="000000"/>
              </a:solidFill>
              <a:cs typeface="Calibri" panose="020F0502020204030204" pitchFamily="34" charset="0"/>
            </a:endParaRPr>
          </a:p>
          <a:p>
            <a:pPr marL="1294130" lvl="1" indent="-336550" defTabSz="914400" eaLnBrk="1" hangingPunct="1">
              <a:spcBef>
                <a:spcPct val="0"/>
              </a:spcBef>
              <a:buFont typeface="Arial" panose="020B0604020202020204" pitchFamily="34" charset="0"/>
              <a:buChar char="○"/>
              <a:tabLst>
                <a:tab pos="836930" algn="l"/>
                <a:tab pos="838200" algn="l"/>
              </a:tabLst>
            </a:pPr>
            <a:r>
              <a:rPr lang="en-US" altLang="zh-CN" sz="1400">
                <a:solidFill>
                  <a:srgbClr val="0C3879"/>
                </a:solidFill>
                <a:cs typeface="Calibri" panose="020F0502020204030204" pitchFamily="34" charset="0"/>
              </a:rPr>
              <a:t>Outside the network - Reimbursable </a:t>
            </a:r>
            <a:r>
              <a:rPr lang="en-US" altLang="zh-CN" sz="1400" b="1">
                <a:solidFill>
                  <a:srgbClr val="0C3879"/>
                </a:solidFill>
                <a:cs typeface="Calibri" panose="020F0502020204030204" pitchFamily="34" charset="0"/>
              </a:rPr>
              <a:t>up to ₱2,500 </a:t>
            </a:r>
            <a:r>
              <a:rPr lang="en-US" altLang="zh-CN" sz="1400">
                <a:solidFill>
                  <a:srgbClr val="0C3879"/>
                </a:solidFill>
                <a:cs typeface="Calibri" panose="020F0502020204030204" pitchFamily="34" charset="0"/>
              </a:rPr>
              <a:t>per Conduction</a:t>
            </a:r>
            <a:endParaRPr lang="en-US" altLang="zh-CN" sz="1400">
              <a:solidFill>
                <a:srgbClr val="000000"/>
              </a:solidFill>
              <a:cs typeface="Calibri" panose="020F0502020204030204" pitchFamily="34" charset="0"/>
            </a:endParaRPr>
          </a:p>
          <a:p>
            <a:pPr marL="836930" indent="-336550" defTabSz="914400" eaLnBrk="1" hangingPunct="1">
              <a:spcBef>
                <a:spcPct val="0"/>
              </a:spcBef>
              <a:buFont typeface="Arial" panose="020B0604020202020204" pitchFamily="34" charset="0"/>
              <a:buChar char="●"/>
              <a:tabLst>
                <a:tab pos="836930" algn="l"/>
                <a:tab pos="83820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Involuntary room upgrade</a:t>
            </a:r>
            <a:endParaRPr lang="en-US" altLang="zh-CN" sz="1400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1294130" lvl="1" indent="-336550" defTabSz="914400" eaLnBrk="1" hangingPunct="1">
              <a:spcBef>
                <a:spcPct val="0"/>
              </a:spcBef>
              <a:buFont typeface="Arial" panose="020B0604020202020204" pitchFamily="34" charset="0"/>
              <a:buChar char="○"/>
              <a:tabLst>
                <a:tab pos="836930" algn="l"/>
                <a:tab pos="838200" algn="l"/>
              </a:tabLst>
            </a:pPr>
            <a:r>
              <a:rPr lang="en-US" altLang="zh-CN" sz="1400">
                <a:solidFill>
                  <a:srgbClr val="0C3879"/>
                </a:solidFill>
                <a:cs typeface="Calibri" panose="020F0502020204030204" pitchFamily="34" charset="0"/>
              </a:rPr>
              <a:t>Covered for the </a:t>
            </a:r>
            <a:r>
              <a:rPr lang="en-US" altLang="zh-CN" sz="1400" b="1">
                <a:solidFill>
                  <a:srgbClr val="0C3879"/>
                </a:solidFill>
                <a:cs typeface="Calibri" panose="020F0502020204030204" pitchFamily="34" charset="0"/>
              </a:rPr>
              <a:t>ﬁrst 24 hours</a:t>
            </a:r>
            <a:endParaRPr lang="en-US" altLang="zh-CN" sz="1400">
              <a:solidFill>
                <a:srgbClr val="000000"/>
              </a:solidFill>
              <a:ea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1746" name="object 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31770" name="object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672913" y="1757407"/>
              <a:ext cx="2072922" cy="220052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1771" name="object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34926" y="1798750"/>
              <a:ext cx="1948895" cy="2076498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1772" name="object 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416338" y="1757407"/>
              <a:ext cx="2072922" cy="220052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1773" name="object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78351" y="1798750"/>
              <a:ext cx="1948895" cy="2076498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/>
        <p:txBody>
          <a:bodyPr vert="horz" wrap="square" lIns="0" tIns="157608" rIns="0" bIns="0" rtlCol="0">
            <a:spAutoFit/>
          </a:bodyPr>
          <a:lstStyle/>
          <a:p>
            <a:pPr marL="165989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700" b="1" i="0" u="none" strike="noStrike" kern="0" cap="none" spc="26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EMERGENCY</a:t>
            </a:r>
            <a:r>
              <a:rPr kumimoji="0" sz="1700" b="1" i="0" u="none" strike="noStrike" kern="0" cap="none" spc="12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1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AVAILMENT</a:t>
            </a:r>
            <a:r>
              <a:rPr kumimoji="0" sz="1700" b="1" i="0" u="none" strike="noStrike" kern="0" cap="none" spc="12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8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PROCEDURE</a:t>
            </a:r>
            <a:endParaRPr kumimoji="0" sz="1700" b="1" i="0" u="none" strike="noStrike" kern="0" cap="none" spc="285" normalizeH="0" baseline="0" noProof="0" dirty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grpSp>
        <p:nvGrpSpPr>
          <p:cNvPr id="31748" name="object 8"/>
          <p:cNvGrpSpPr/>
          <p:nvPr/>
        </p:nvGrpSpPr>
        <p:grpSpPr>
          <a:xfrm>
            <a:off x="160338" y="1757363"/>
            <a:ext cx="2073275" cy="2200275"/>
            <a:chOff x="159762" y="1757407"/>
            <a:chExt cx="2073275" cy="2200910"/>
          </a:xfrm>
        </p:grpSpPr>
        <p:pic>
          <p:nvPicPr>
            <p:cNvPr id="31768" name="object 9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59762" y="1757407"/>
              <a:ext cx="2072922" cy="220052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1769" name="object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1775" y="1798750"/>
              <a:ext cx="1948895" cy="2076498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11" name="object 11"/>
          <p:cNvSpPr txBox="1"/>
          <p:nvPr/>
        </p:nvSpPr>
        <p:spPr>
          <a:xfrm>
            <a:off x="915988" y="2746375"/>
            <a:ext cx="528638" cy="2063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9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1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kumimoji="0" sz="12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200" b="1" kern="0" cap="none" spc="-7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1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1750" name="object 12"/>
          <p:cNvGrpSpPr/>
          <p:nvPr/>
        </p:nvGrpSpPr>
        <p:grpSpPr>
          <a:xfrm>
            <a:off x="987425" y="0"/>
            <a:ext cx="8156575" cy="3292475"/>
            <a:chOff x="987340" y="0"/>
            <a:chExt cx="8157209" cy="3292475"/>
          </a:xfrm>
        </p:grpSpPr>
        <p:pic>
          <p:nvPicPr>
            <p:cNvPr id="31758" name="object 1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08657" y="2947626"/>
              <a:ext cx="445626" cy="344526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1759" name="object 14"/>
            <p:cNvSpPr/>
            <p:nvPr/>
          </p:nvSpPr>
          <p:spPr>
            <a:xfrm>
              <a:off x="2170669" y="2988967"/>
              <a:ext cx="321945" cy="220979"/>
            </a:xfrm>
            <a:custGeom>
              <a:avLst/>
              <a:gdLst/>
              <a:ahLst/>
              <a:cxnLst/>
              <a:pathLst>
                <a:path w="321944" h="220980">
                  <a:moveTo>
                    <a:pt x="211349" y="220499"/>
                  </a:moveTo>
                  <a:lnTo>
                    <a:pt x="211349" y="165374"/>
                  </a:lnTo>
                  <a:lnTo>
                    <a:pt x="0" y="165374"/>
                  </a:lnTo>
                  <a:lnTo>
                    <a:pt x="0" y="55124"/>
                  </a:lnTo>
                  <a:lnTo>
                    <a:pt x="211349" y="55124"/>
                  </a:lnTo>
                  <a:lnTo>
                    <a:pt x="211349" y="0"/>
                  </a:lnTo>
                  <a:lnTo>
                    <a:pt x="321599" y="110249"/>
                  </a:lnTo>
                  <a:lnTo>
                    <a:pt x="211349" y="220499"/>
                  </a:lnTo>
                  <a:close/>
                </a:path>
              </a:pathLst>
            </a:custGeom>
            <a:solidFill>
              <a:srgbClr val="0053CC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31760" name="object 1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5232" y="2947626"/>
              <a:ext cx="445626" cy="344526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1761" name="object 16"/>
            <p:cNvSpPr/>
            <p:nvPr/>
          </p:nvSpPr>
          <p:spPr>
            <a:xfrm>
              <a:off x="4427245" y="2988967"/>
              <a:ext cx="321945" cy="220979"/>
            </a:xfrm>
            <a:custGeom>
              <a:avLst/>
              <a:gdLst/>
              <a:ahLst/>
              <a:cxnLst/>
              <a:pathLst>
                <a:path w="321945" h="220980">
                  <a:moveTo>
                    <a:pt x="211349" y="220499"/>
                  </a:moveTo>
                  <a:lnTo>
                    <a:pt x="211349" y="165374"/>
                  </a:lnTo>
                  <a:lnTo>
                    <a:pt x="0" y="165374"/>
                  </a:lnTo>
                  <a:lnTo>
                    <a:pt x="0" y="55124"/>
                  </a:lnTo>
                  <a:lnTo>
                    <a:pt x="211349" y="55124"/>
                  </a:lnTo>
                  <a:lnTo>
                    <a:pt x="211349" y="0"/>
                  </a:lnTo>
                  <a:lnTo>
                    <a:pt x="321599" y="110249"/>
                  </a:lnTo>
                  <a:lnTo>
                    <a:pt x="211349" y="220499"/>
                  </a:lnTo>
                  <a:close/>
                </a:path>
              </a:pathLst>
            </a:custGeom>
            <a:solidFill>
              <a:srgbClr val="0053CC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31762" name="object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14810" y="2947626"/>
              <a:ext cx="445626" cy="344526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1763" name="object 18"/>
            <p:cNvSpPr/>
            <p:nvPr/>
          </p:nvSpPr>
          <p:spPr>
            <a:xfrm>
              <a:off x="6676822" y="2988967"/>
              <a:ext cx="321945" cy="220979"/>
            </a:xfrm>
            <a:custGeom>
              <a:avLst/>
              <a:gdLst/>
              <a:ahLst/>
              <a:cxnLst/>
              <a:pathLst>
                <a:path w="321945" h="220980">
                  <a:moveTo>
                    <a:pt x="211349" y="220499"/>
                  </a:moveTo>
                  <a:lnTo>
                    <a:pt x="211349" y="165374"/>
                  </a:lnTo>
                  <a:lnTo>
                    <a:pt x="0" y="165374"/>
                  </a:lnTo>
                  <a:lnTo>
                    <a:pt x="0" y="55124"/>
                  </a:lnTo>
                  <a:lnTo>
                    <a:pt x="211349" y="55124"/>
                  </a:lnTo>
                  <a:lnTo>
                    <a:pt x="211349" y="0"/>
                  </a:lnTo>
                  <a:lnTo>
                    <a:pt x="321599" y="110249"/>
                  </a:lnTo>
                  <a:lnTo>
                    <a:pt x="211349" y="220499"/>
                  </a:lnTo>
                  <a:close/>
                </a:path>
              </a:pathLst>
            </a:custGeom>
            <a:solidFill>
              <a:srgbClr val="0053CC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31764" name="object 1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7340" y="2028547"/>
              <a:ext cx="410818" cy="410818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1765" name="object 20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10603" y="1991775"/>
              <a:ext cx="484389" cy="484388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1766" name="object 21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507437" y="2038543"/>
              <a:ext cx="410818" cy="410818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1767" name="object 22"/>
            <p:cNvSpPr/>
            <p:nvPr/>
          </p:nvSpPr>
          <p:spPr>
            <a:xfrm>
              <a:off x="8158600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3157538" y="2746375"/>
            <a:ext cx="558800" cy="2063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9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1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kumimoji="0" sz="12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200" b="1" kern="0" cap="none" spc="4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2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413375" y="2765425"/>
            <a:ext cx="558800" cy="20796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9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kern="0" cap="none" spc="1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kumimoji="0" sz="12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200" b="1" kern="0" cap="none" spc="4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3</a:t>
            </a:r>
            <a:endParaRPr kumimoji="0" sz="12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19113" y="3189288"/>
            <a:ext cx="1349375" cy="47148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12700" algn="ctr" eaLnBrk="1" hangingPunct="1">
              <a:lnSpc>
                <a:spcPct val="103000"/>
              </a:lnSpc>
              <a:spcBef>
                <a:spcPts val="100"/>
              </a:spcBef>
              <a:buNone/>
            </a:pPr>
            <a:r>
              <a:rPr lang="en-US" altLang="zh-CN" sz="900">
                <a:solidFill>
                  <a:srgbClr val="F9F9F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Go to the Emergency Room of the nearest hospital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2755900" y="3175000"/>
            <a:ext cx="1401763" cy="3222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179705" indent="-167005" eaLnBrk="1" hangingPunct="1">
              <a:lnSpc>
                <a:spcPct val="103000"/>
              </a:lnSpc>
              <a:spcBef>
                <a:spcPts val="100"/>
              </a:spcBef>
              <a:buNone/>
            </a:pPr>
            <a:r>
              <a:rPr lang="en-US" altLang="zh-CN" sz="900">
                <a:solidFill>
                  <a:srgbClr val="F9F9F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 your Maxicare card and valid ID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022850" y="3214688"/>
            <a:ext cx="1381125" cy="3238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127000" indent="-114300" eaLnBrk="1" hangingPunct="1">
              <a:lnSpc>
                <a:spcPct val="103000"/>
              </a:lnSpc>
              <a:spcBef>
                <a:spcPts val="100"/>
              </a:spcBef>
              <a:buNone/>
            </a:pPr>
            <a:r>
              <a:rPr lang="en-US" altLang="zh-CN" sz="900">
                <a:solidFill>
                  <a:srgbClr val="F9F9F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Avail treatment at the Emergency Room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3041650" y="1468438"/>
            <a:ext cx="2790825" cy="2397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b="1" kern="0" cap="none" spc="23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FOR</a:t>
            </a:r>
            <a:r>
              <a:rPr kumimoji="0" sz="1400" b="1" kern="0" cap="none" spc="7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22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ACCREDITED</a:t>
            </a:r>
            <a:r>
              <a:rPr kumimoji="0" sz="14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9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HOSPITALS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7175500" y="2774950"/>
            <a:ext cx="1638300" cy="6207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algn="ctr" eaLnBrk="1" hangingPunct="1">
              <a:spcBef>
                <a:spcPts val="100"/>
              </a:spcBef>
              <a:buNone/>
            </a:pPr>
            <a:r>
              <a:rPr lang="en-US" altLang="zh-CN" sz="1300" b="1">
                <a:solidFill>
                  <a:srgbClr val="0A379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Proceed to STEP 4 for non-accredited hospitals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2770" name="object 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32792" name="object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716589" y="1853005"/>
              <a:ext cx="2191689" cy="2326108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2793" name="object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85967" y="1899256"/>
              <a:ext cx="2052932" cy="2187351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2794" name="object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60281" y="1717257"/>
              <a:ext cx="2319095" cy="246185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2795" name="object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29659" y="1763510"/>
              <a:ext cx="2180338" cy="2323097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/>
        <p:txBody>
          <a:bodyPr vert="horz" wrap="square" lIns="0" tIns="157608" rIns="0" bIns="0" rtlCol="0">
            <a:spAutoFit/>
          </a:bodyPr>
          <a:lstStyle/>
          <a:p>
            <a:pPr marL="165989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700" b="1" i="0" u="none" strike="noStrike" kern="0" cap="none" spc="26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EMERGENCY</a:t>
            </a:r>
            <a:r>
              <a:rPr kumimoji="0" sz="1700" b="1" i="0" u="none" strike="noStrike" kern="0" cap="none" spc="12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1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AVAILMENT</a:t>
            </a:r>
            <a:r>
              <a:rPr kumimoji="0" sz="1700" b="1" i="0" u="none" strike="noStrike" kern="0" cap="none" spc="12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8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PROCEDURE</a:t>
            </a:r>
            <a:endParaRPr kumimoji="0" sz="1700" b="1" i="0" u="none" strike="noStrike" kern="0" cap="none" spc="285" normalizeH="0" baseline="0" noProof="0" dirty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grpSp>
        <p:nvGrpSpPr>
          <p:cNvPr id="32772" name="object 8"/>
          <p:cNvGrpSpPr/>
          <p:nvPr/>
        </p:nvGrpSpPr>
        <p:grpSpPr>
          <a:xfrm>
            <a:off x="234950" y="1717675"/>
            <a:ext cx="2320925" cy="2462213"/>
            <a:chOff x="235721" y="1717257"/>
            <a:chExt cx="2319655" cy="2461895"/>
          </a:xfrm>
        </p:grpSpPr>
        <p:pic>
          <p:nvPicPr>
            <p:cNvPr id="32790" name="object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5721" y="1717257"/>
              <a:ext cx="2319095" cy="246185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2791" name="object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5099" y="1763510"/>
              <a:ext cx="2180338" cy="2323097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11" name="object 11"/>
          <p:cNvSpPr txBox="1"/>
          <p:nvPr/>
        </p:nvSpPr>
        <p:spPr>
          <a:xfrm>
            <a:off x="1057275" y="2822575"/>
            <a:ext cx="639763" cy="2286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3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b="1" kern="0" cap="none" spc="229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kumimoji="0" sz="1300" b="1" kern="0" cap="none" spc="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b="1" kern="0" cap="none" spc="204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4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2774" name="object 12"/>
          <p:cNvGrpSpPr/>
          <p:nvPr/>
        </p:nvGrpSpPr>
        <p:grpSpPr>
          <a:xfrm>
            <a:off x="2416175" y="2782888"/>
            <a:ext cx="3684588" cy="652462"/>
            <a:chOff x="2416062" y="2782661"/>
            <a:chExt cx="3684270" cy="652145"/>
          </a:xfrm>
        </p:grpSpPr>
        <p:pic>
          <p:nvPicPr>
            <p:cNvPr id="32786" name="object 1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16062" y="3048822"/>
              <a:ext cx="498456" cy="385356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2787" name="object 14"/>
            <p:cNvSpPr/>
            <p:nvPr/>
          </p:nvSpPr>
          <p:spPr>
            <a:xfrm>
              <a:off x="2485439" y="3095074"/>
              <a:ext cx="360045" cy="247015"/>
            </a:xfrm>
            <a:custGeom>
              <a:avLst/>
              <a:gdLst/>
              <a:ahLst/>
              <a:cxnLst/>
              <a:pathLst>
                <a:path w="360044" h="247014">
                  <a:moveTo>
                    <a:pt x="236399" y="246599"/>
                  </a:moveTo>
                  <a:lnTo>
                    <a:pt x="236399" y="184949"/>
                  </a:lnTo>
                  <a:lnTo>
                    <a:pt x="0" y="184949"/>
                  </a:lnTo>
                  <a:lnTo>
                    <a:pt x="0" y="61649"/>
                  </a:lnTo>
                  <a:lnTo>
                    <a:pt x="236399" y="61649"/>
                  </a:lnTo>
                  <a:lnTo>
                    <a:pt x="236399" y="0"/>
                  </a:lnTo>
                  <a:lnTo>
                    <a:pt x="359699" y="123299"/>
                  </a:lnTo>
                  <a:lnTo>
                    <a:pt x="236399" y="246599"/>
                  </a:lnTo>
                  <a:close/>
                </a:path>
              </a:pathLst>
            </a:custGeom>
            <a:solidFill>
              <a:srgbClr val="0053CC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32788" name="object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1532" y="2782661"/>
              <a:ext cx="498456" cy="385356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2789" name="object 16"/>
            <p:cNvSpPr/>
            <p:nvPr/>
          </p:nvSpPr>
          <p:spPr>
            <a:xfrm>
              <a:off x="5670911" y="2828913"/>
              <a:ext cx="360045" cy="247015"/>
            </a:xfrm>
            <a:custGeom>
              <a:avLst/>
              <a:gdLst/>
              <a:ahLst/>
              <a:cxnLst/>
              <a:pathLst>
                <a:path w="360045" h="247014">
                  <a:moveTo>
                    <a:pt x="236399" y="246599"/>
                  </a:moveTo>
                  <a:lnTo>
                    <a:pt x="236399" y="184949"/>
                  </a:lnTo>
                  <a:lnTo>
                    <a:pt x="0" y="184949"/>
                  </a:lnTo>
                  <a:lnTo>
                    <a:pt x="0" y="61649"/>
                  </a:lnTo>
                  <a:lnTo>
                    <a:pt x="236399" y="61649"/>
                  </a:lnTo>
                  <a:lnTo>
                    <a:pt x="236399" y="0"/>
                  </a:lnTo>
                  <a:lnTo>
                    <a:pt x="359699" y="123299"/>
                  </a:lnTo>
                  <a:lnTo>
                    <a:pt x="236399" y="246599"/>
                  </a:lnTo>
                  <a:close/>
                </a:path>
              </a:pathLst>
            </a:custGeom>
            <a:solidFill>
              <a:srgbClr val="0053CC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589338" y="2822575"/>
            <a:ext cx="623888" cy="2286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3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b="1" kern="0" cap="none" spc="229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STEP</a:t>
            </a:r>
            <a:r>
              <a:rPr kumimoji="0" sz="1300" b="1" kern="0" cap="none" spc="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5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790825" y="1468438"/>
            <a:ext cx="3294063" cy="2397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b="1" kern="0" cap="none" spc="23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FOR</a:t>
            </a:r>
            <a:r>
              <a:rPr kumimoji="0" sz="14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7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NON-</a:t>
            </a:r>
            <a:r>
              <a:rPr kumimoji="0" sz="1400" b="1" kern="0" cap="none" spc="22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ACCREDITED</a:t>
            </a:r>
            <a:r>
              <a:rPr kumimoji="0" sz="1400" b="1" kern="0" cap="none" spc="8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b="1" kern="0" cap="none" spc="19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HOSPITALS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84213" y="3276600"/>
            <a:ext cx="1439863" cy="69056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p>
            <a:pPr marL="12700" algn="ctr" eaLnBrk="1" hangingPunct="1">
              <a:spcBef>
                <a:spcPts val="90"/>
              </a:spcBef>
              <a:buNone/>
            </a:pPr>
            <a:r>
              <a:rPr lang="en-US" altLang="zh-CN" sz="1100">
                <a:solidFill>
                  <a:srgbClr val="F9F9F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Secure pertinent documents (medical certiﬁcate, receipts, and others)</a:t>
            </a:r>
            <a:endParaRPr lang="en-US" altLang="zh-CN" sz="11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074988" y="3276600"/>
            <a:ext cx="1708150" cy="69056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p>
            <a:pPr marL="12700" algn="ctr" eaLnBrk="1" hangingPunct="1">
              <a:spcBef>
                <a:spcPts val="90"/>
              </a:spcBef>
              <a:buNone/>
            </a:pPr>
            <a:r>
              <a:rPr lang="en-US" altLang="zh-CN" sz="1100">
                <a:solidFill>
                  <a:srgbClr val="F9F9F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Forward to Maxicare for reimbursement within 30 days from the date of discharge</a:t>
            </a:r>
            <a:endParaRPr lang="en-US" altLang="zh-CN" sz="11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133975" y="3100388"/>
            <a:ext cx="1433513" cy="581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11430" algn="ctr" eaLnBrk="1" hangingPunct="1">
              <a:lnSpc>
                <a:spcPct val="101000"/>
              </a:lnSpc>
              <a:spcBef>
                <a:spcPts val="100"/>
              </a:spcBef>
              <a:buNone/>
            </a:pPr>
            <a:r>
              <a:rPr lang="en-US" altLang="zh-CN" sz="1200">
                <a:solidFill>
                  <a:srgbClr val="0A379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If emergency case leads to conﬁnement</a:t>
            </a:r>
            <a:endParaRPr lang="en-US" altLang="zh-CN" sz="12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239000" y="3024188"/>
            <a:ext cx="1149350" cy="3587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p>
            <a:pPr marL="27305" indent="-14605" eaLnBrk="1" hangingPunct="1">
              <a:spcBef>
                <a:spcPts val="90"/>
              </a:spcBef>
              <a:buNone/>
            </a:pPr>
            <a:r>
              <a:rPr lang="en-US" altLang="zh-CN" sz="11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Follow inpatient availment steps</a:t>
            </a:r>
            <a:endParaRPr lang="en-US" altLang="zh-CN" sz="11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32781" name="object 23"/>
          <p:cNvGrpSpPr/>
          <p:nvPr/>
        </p:nvGrpSpPr>
        <p:grpSpPr>
          <a:xfrm>
            <a:off x="1181100" y="0"/>
            <a:ext cx="7962900" cy="2576513"/>
            <a:chOff x="1180398" y="0"/>
            <a:chExt cx="7964170" cy="2576195"/>
          </a:xfrm>
        </p:grpSpPr>
        <p:pic>
          <p:nvPicPr>
            <p:cNvPr id="32782" name="object 24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80398" y="2035540"/>
              <a:ext cx="429741" cy="429741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2783" name="object 2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712757" y="2035543"/>
              <a:ext cx="429742" cy="429741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2784" name="object 26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86818" y="1924817"/>
              <a:ext cx="651199" cy="651199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2785" name="object 27"/>
            <p:cNvSpPr/>
            <p:nvPr/>
          </p:nvSpPr>
          <p:spPr>
            <a:xfrm>
              <a:off x="8158599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51150" y="898525"/>
            <a:ext cx="3046413" cy="392113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400" b="1" i="0" u="none" strike="noStrike" kern="0" cap="none" spc="17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EMERGENCY</a:t>
            </a:r>
            <a:r>
              <a:rPr kumimoji="0" sz="2400" b="1" i="0" u="none" strike="noStrike" kern="0" cap="none" spc="3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400" b="1" i="0" u="none" strike="noStrike" kern="0" cap="none" spc="14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CARE</a:t>
            </a:r>
            <a:endParaRPr kumimoji="0" sz="24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entury Gothic" panose="020B0502020202020204"/>
              <a:ea typeface="+mj-ea"/>
              <a:cs typeface="Century Gothic" panose="020B0502020202020204"/>
            </a:endParaRPr>
          </a:p>
        </p:txBody>
      </p:sp>
      <p:grpSp>
        <p:nvGrpSpPr>
          <p:cNvPr id="33795" name="object 3"/>
          <p:cNvGrpSpPr/>
          <p:nvPr/>
        </p:nvGrpSpPr>
        <p:grpSpPr>
          <a:xfrm>
            <a:off x="4100513" y="0"/>
            <a:ext cx="5043487" cy="965200"/>
            <a:chOff x="4100463" y="0"/>
            <a:chExt cx="5043805" cy="965835"/>
          </a:xfrm>
        </p:grpSpPr>
        <p:pic>
          <p:nvPicPr>
            <p:cNvPr id="33797" name="object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100463" y="294450"/>
              <a:ext cx="671275" cy="67127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3798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57613" y="332550"/>
              <a:ext cx="556974" cy="556974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3799" name="object 6"/>
            <p:cNvSpPr/>
            <p:nvPr/>
          </p:nvSpPr>
          <p:spPr>
            <a:xfrm>
              <a:off x="8158600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754063" y="1246188"/>
            <a:ext cx="7626350" cy="2976563"/>
          </a:xfrm>
          <a:prstGeom prst="rect">
            <a:avLst/>
          </a:prstGeom>
        </p:spPr>
        <p:txBody>
          <a:bodyPr vert="horz" wrap="square" lIns="0" tIns="100965" rIns="0" bIns="0" rtlCol="0">
            <a:spAutoFit/>
          </a:bodyPr>
          <a:p>
            <a:pPr algn="ctr" eaLnBrk="1" hangingPunct="1">
              <a:spcBef>
                <a:spcPts val="800"/>
              </a:spcBef>
              <a:buNone/>
            </a:pPr>
            <a:r>
              <a:rPr lang="en-US" altLang="zh-CN" sz="14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FOR NON-AFFILIATED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1" hangingPunct="1">
              <a:spcBef>
                <a:spcPts val="700"/>
              </a:spcBef>
              <a:buFont typeface="Arial" panose="020B0604020202020204" pitchFamily="34" charset="0"/>
              <a:buChar char="●"/>
            </a:pPr>
            <a:r>
              <a:rPr lang="en-US" altLang="zh-CN" sz="14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Availment in Non-accredited hospital within the Philippines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1" hangingPunct="1">
              <a:buNone/>
            </a:pPr>
            <a:r>
              <a:rPr lang="en-US" altLang="zh-CN" sz="14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Maxicare shall reimburse </a:t>
            </a:r>
            <a:r>
              <a:rPr lang="en-US" altLang="zh-CN" sz="14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80% </a:t>
            </a:r>
            <a:r>
              <a:rPr lang="en-US" altLang="zh-CN" sz="14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the hospital bills and professional fees, based on </a:t>
            </a:r>
            <a:r>
              <a:rPr lang="en-US" altLang="zh-CN" sz="14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Maxicare standard rates </a:t>
            </a:r>
            <a:r>
              <a:rPr lang="en-US" altLang="zh-CN" sz="14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up to </a:t>
            </a:r>
            <a:r>
              <a:rPr lang="en-US" altLang="zh-CN" sz="14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P30,000</a:t>
            </a:r>
            <a:r>
              <a:rPr lang="en-US" altLang="zh-CN" sz="14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/availment/member/year for the ﬁrst 24 hours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1" hangingPunct="1">
              <a:spcBef>
                <a:spcPts val="25"/>
              </a:spcBef>
              <a:buNone/>
            </a:pP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1" hangingPunct="1">
              <a:buFont typeface="Arial" panose="020B0604020202020204" pitchFamily="34" charset="0"/>
              <a:buChar char="●"/>
            </a:pPr>
            <a:r>
              <a:rPr lang="en-US" altLang="zh-CN" sz="14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Areas without afﬁliated hospitals within the Philippines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1" hangingPunct="1">
              <a:buNone/>
            </a:pPr>
            <a:r>
              <a:rPr lang="en-US" altLang="zh-CN" sz="14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Maxicare shall reimburse the </a:t>
            </a:r>
            <a:r>
              <a:rPr lang="en-US" altLang="zh-CN" sz="14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100% </a:t>
            </a:r>
            <a:r>
              <a:rPr lang="en-US" altLang="zh-CN" sz="14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hospital bills and professional fees, based on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1" hangingPunct="1">
              <a:buNone/>
            </a:pPr>
            <a:r>
              <a:rPr lang="en-US" altLang="zh-CN" sz="14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Maxicare standard rates </a:t>
            </a:r>
            <a:r>
              <a:rPr lang="en-US" altLang="zh-CN" sz="14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subject to </a:t>
            </a:r>
            <a:r>
              <a:rPr lang="en-US" altLang="zh-CN" sz="14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ABL</a:t>
            </a:r>
            <a:r>
              <a:rPr lang="en-US" altLang="zh-CN" sz="14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1" hangingPunct="1">
              <a:spcBef>
                <a:spcPts val="40"/>
              </a:spcBef>
              <a:buNone/>
            </a:pP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1" hangingPunct="1">
              <a:buFont typeface="Arial" panose="020B0604020202020204" pitchFamily="34" charset="0"/>
              <a:buChar char="●"/>
            </a:pPr>
            <a:r>
              <a:rPr lang="en-US" altLang="zh-CN" sz="14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Outside the Philippines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1" hangingPunct="1">
              <a:buNone/>
            </a:pPr>
            <a:r>
              <a:rPr lang="en-US" altLang="zh-CN" sz="14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Reimbursable up to </a:t>
            </a:r>
            <a:r>
              <a:rPr lang="en-US" altLang="zh-CN" sz="14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100% </a:t>
            </a:r>
            <a:r>
              <a:rPr lang="en-US" altLang="zh-CN" sz="14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the </a:t>
            </a:r>
            <a:r>
              <a:rPr lang="en-US" altLang="zh-CN" sz="14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actual cost up </a:t>
            </a:r>
            <a:r>
              <a:rPr lang="en-US" altLang="zh-CN" sz="14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 </a:t>
            </a:r>
            <a:r>
              <a:rPr lang="en-US" altLang="zh-CN" sz="1400" b="1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P30,000 </a:t>
            </a:r>
            <a:r>
              <a:rPr lang="en-US" altLang="zh-CN" sz="14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 availment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1" hangingPunct="1">
              <a:buNone/>
            </a:pPr>
            <a:r>
              <a:rPr lang="en-US" altLang="zh-CN" sz="1400">
                <a:solidFill>
                  <a:srgbClr val="233C7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/member/year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906588" y="188913"/>
            <a:ext cx="5094288" cy="436563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700" b="1" i="0" u="none" strike="noStrike" kern="0" cap="none" spc="114" normalizeH="0" baseline="0" noProof="0" dirty="0">
                <a:ln>
                  <a:noFill/>
                </a:ln>
                <a:solidFill>
                  <a:srgbClr val="0C3879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Claims</a:t>
            </a:r>
            <a:r>
              <a:rPr kumimoji="0" sz="2700" b="1" i="0" u="none" strike="noStrike" kern="0" cap="none" spc="40" normalizeH="0" baseline="0" noProof="0" dirty="0">
                <a:ln>
                  <a:noFill/>
                </a:ln>
                <a:solidFill>
                  <a:srgbClr val="0C3879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700" b="1" i="0" u="none" strike="noStrike" kern="0" cap="none" spc="90" normalizeH="0" baseline="0" noProof="0" dirty="0">
                <a:ln>
                  <a:noFill/>
                </a:ln>
                <a:solidFill>
                  <a:srgbClr val="0C3879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and</a:t>
            </a:r>
            <a:r>
              <a:rPr kumimoji="0" sz="2700" b="1" i="0" u="none" strike="noStrike" kern="0" cap="none" spc="45" normalizeH="0" baseline="0" noProof="0" dirty="0">
                <a:ln>
                  <a:noFill/>
                </a:ln>
                <a:solidFill>
                  <a:srgbClr val="0C3879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700" b="1" i="0" u="none" strike="noStrike" kern="0" cap="none" spc="200" normalizeH="0" baseline="0" noProof="0" dirty="0">
                <a:ln>
                  <a:noFill/>
                </a:ln>
                <a:solidFill>
                  <a:srgbClr val="0C3879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Reimbursement</a:t>
            </a:r>
            <a:endParaRPr kumimoji="0" sz="27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entury Gothic" panose="020B0502020202020204"/>
              <a:ea typeface="+mj-ea"/>
              <a:cs typeface="Century Gothic" panose="020B0502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782050" y="4765675"/>
            <a:ext cx="166688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-25" normalizeH="0" baseline="0" noProof="0" dirty="0">
                <a:solidFill>
                  <a:srgbClr val="595959"/>
                </a:solidFill>
                <a:latin typeface="Arial" panose="020B0604020202020204"/>
                <a:cs typeface="Arial" panose="020B0604020202020204"/>
              </a:rPr>
              <a:t>33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676650" y="979488"/>
            <a:ext cx="5076825" cy="20208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eaLnBrk="1" hangingPunct="1">
              <a:spcBef>
                <a:spcPts val="100"/>
              </a:spcBef>
              <a:buNone/>
            </a:pPr>
            <a:r>
              <a:rPr lang="en-US" altLang="zh-CN" sz="12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All claims must be submitted to </a:t>
            </a:r>
            <a:r>
              <a:rPr lang="en-US" altLang="zh-CN" sz="1200">
                <a:solidFill>
                  <a:srgbClr val="FF0000"/>
                </a:solidFill>
                <a:latin typeface="Garamond" panose="02020404030301010803" pitchFamily="18" charset="0"/>
                <a:cs typeface="Garamond" panose="02020404030301010803" pitchFamily="18" charset="0"/>
              </a:rPr>
              <a:t>New! </a:t>
            </a:r>
            <a:r>
              <a:rPr lang="en-US" altLang="zh-CN" sz="12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Member Gateway within 30 days </a:t>
            </a:r>
            <a:r>
              <a:rPr lang="en-US" altLang="zh-CN" sz="12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 date of discharge from the hospital. The following are the required documents for reimbursement:</a:t>
            </a:r>
            <a:endParaRPr lang="en-US" altLang="zh-CN" sz="12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None/>
            </a:pP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spcBef>
                <a:spcPts val="1050"/>
              </a:spcBef>
              <a:buFont typeface="Trebuchet MS" panose="020B0603020202020204" pitchFamily="34" charset="0"/>
              <a:buChar char="•"/>
            </a:pPr>
            <a:r>
              <a:rPr lang="en-US" altLang="zh-CN" sz="12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Sales Invoice </a:t>
            </a:r>
            <a:r>
              <a:rPr lang="en-US" altLang="zh-CN" sz="12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all hospital bills &amp; professional fee of the Doctor;</a:t>
            </a:r>
            <a:endParaRPr lang="en-US" altLang="zh-CN" sz="12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Font typeface="Trebuchet MS" panose="020B0603020202020204" pitchFamily="34" charset="0"/>
              <a:buChar char="•"/>
            </a:pPr>
            <a:r>
              <a:rPr lang="en-US" altLang="zh-CN" sz="12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Charge slips </a:t>
            </a:r>
            <a:r>
              <a:rPr lang="en-US" altLang="zh-CN" sz="12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(with itemized breakdown of charges);</a:t>
            </a:r>
            <a:endParaRPr lang="en-US" altLang="zh-CN" sz="12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Font typeface="Trebuchet MS" panose="020B0603020202020204" pitchFamily="34" charset="0"/>
              <a:buChar char="•"/>
            </a:pPr>
            <a:r>
              <a:rPr lang="en-US" altLang="zh-CN" sz="12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Clinical abstract, admitting history and medical certiﬁcate</a:t>
            </a:r>
            <a:r>
              <a:rPr lang="en-US" altLang="zh-CN" sz="12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  <a:endParaRPr lang="en-US" altLang="zh-CN" sz="12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Font typeface="Trebuchet MS" panose="020B0603020202020204" pitchFamily="34" charset="0"/>
              <a:buChar char="•"/>
            </a:pPr>
            <a:r>
              <a:rPr lang="en-US" altLang="zh-CN" sz="12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Histopath/Surgical Report </a:t>
            </a:r>
            <a:r>
              <a:rPr lang="en-US" altLang="zh-CN" sz="12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(if surgical operation was done);</a:t>
            </a:r>
            <a:endParaRPr lang="en-US" altLang="zh-CN" sz="12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buFont typeface="Trebuchet MS" panose="020B0603020202020204" pitchFamily="34" charset="0"/>
              <a:buChar char="•"/>
            </a:pPr>
            <a:r>
              <a:rPr lang="en-US" altLang="zh-CN" sz="12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Police Report </a:t>
            </a:r>
            <a:r>
              <a:rPr lang="en-US" altLang="zh-CN" sz="12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 case of accident and medico legal cases:</a:t>
            </a:r>
            <a:endParaRPr lang="en-US" altLang="zh-CN" sz="12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34821" name="object 5"/>
          <p:cNvSpPr/>
          <p:nvPr/>
        </p:nvSpPr>
        <p:spPr>
          <a:xfrm>
            <a:off x="4043363" y="3486150"/>
            <a:ext cx="4410075" cy="1176338"/>
          </a:xfrm>
          <a:custGeom>
            <a:avLst/>
            <a:gdLst/>
            <a:ahLst/>
            <a:cxnLst/>
            <a:pathLst>
              <a:path w="4410709" h="1176020">
                <a:moveTo>
                  <a:pt x="195990" y="0"/>
                </a:moveTo>
                <a:lnTo>
                  <a:pt x="4410636" y="0"/>
                </a:lnTo>
                <a:lnTo>
                  <a:pt x="4410636" y="979745"/>
                </a:lnTo>
                <a:lnTo>
                  <a:pt x="4405461" y="1024676"/>
                </a:lnTo>
                <a:lnTo>
                  <a:pt x="4390719" y="1065921"/>
                </a:lnTo>
                <a:lnTo>
                  <a:pt x="4367587" y="1102305"/>
                </a:lnTo>
                <a:lnTo>
                  <a:pt x="4337242" y="1132651"/>
                </a:lnTo>
                <a:lnTo>
                  <a:pt x="4300858" y="1155782"/>
                </a:lnTo>
                <a:lnTo>
                  <a:pt x="4259613" y="1170524"/>
                </a:lnTo>
                <a:lnTo>
                  <a:pt x="4214682" y="1175699"/>
                </a:lnTo>
                <a:lnTo>
                  <a:pt x="36" y="1175699"/>
                </a:lnTo>
                <a:lnTo>
                  <a:pt x="36" y="195953"/>
                </a:lnTo>
                <a:lnTo>
                  <a:pt x="5212" y="151023"/>
                </a:lnTo>
                <a:lnTo>
                  <a:pt x="19953" y="109778"/>
                </a:lnTo>
                <a:lnTo>
                  <a:pt x="43085" y="73394"/>
                </a:lnTo>
                <a:lnTo>
                  <a:pt x="73431" y="43048"/>
                </a:lnTo>
                <a:lnTo>
                  <a:pt x="109815" y="19917"/>
                </a:lnTo>
                <a:lnTo>
                  <a:pt x="151060" y="5175"/>
                </a:lnTo>
                <a:lnTo>
                  <a:pt x="195990" y="0"/>
                </a:lnTo>
                <a:close/>
              </a:path>
            </a:pathLst>
          </a:custGeom>
          <a:noFill/>
          <a:ln w="19049" cap="flat" cmpd="sng">
            <a:solidFill>
              <a:srgbClr val="FFAB4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  <p:txBody>
          <a:bodyPr/>
          <a:p>
            <a:endParaRPr lang="en-US"/>
          </a:p>
        </p:txBody>
      </p:sp>
      <p:sp>
        <p:nvSpPr>
          <p:cNvPr id="6" name="object 6"/>
          <p:cNvSpPr txBox="1"/>
          <p:nvPr/>
        </p:nvSpPr>
        <p:spPr>
          <a:xfrm>
            <a:off x="4318000" y="3713163"/>
            <a:ext cx="3921125" cy="5286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23850" indent="-312420" defTabSz="914400" eaLnBrk="1" hangingPunct="1">
              <a:spcBef>
                <a:spcPts val="100"/>
              </a:spcBef>
              <a:buClr>
                <a:srgbClr val="000000"/>
              </a:buClr>
              <a:buFont typeface="Arial" panose="020B0604020202020204" pitchFamily="34" charset="0"/>
              <a:buChar char="●"/>
              <a:tabLst>
                <a:tab pos="323850" algn="l"/>
                <a:tab pos="325755" algn="l"/>
              </a:tabLst>
            </a:pPr>
            <a:r>
              <a:rPr lang="en-US" altLang="zh-CN" sz="1100" i="1">
                <a:solidFill>
                  <a:srgbClr val="0C3879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The processing time for reimbursements is </a:t>
            </a:r>
            <a:r>
              <a:rPr lang="en-US" altLang="zh-CN" sz="1100" b="1" i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ﬁfteen</a:t>
            </a:r>
            <a:endParaRPr lang="en-US" altLang="zh-CN" sz="11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23850" indent="-312420" defTabSz="914400" eaLnBrk="1" hangingPunct="1">
              <a:buNone/>
              <a:tabLst>
                <a:tab pos="323850" algn="l"/>
                <a:tab pos="325755" algn="l"/>
              </a:tabLst>
            </a:pPr>
            <a:r>
              <a:rPr lang="en-US" altLang="zh-CN" sz="1100" b="1" i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(15) WORKING DAYS, </a:t>
            </a:r>
            <a:r>
              <a:rPr lang="en-US" altLang="zh-CN" sz="1100" i="1">
                <a:solidFill>
                  <a:srgbClr val="0C3879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starting from the submission date of </a:t>
            </a:r>
            <a:r>
              <a:rPr lang="en-US" altLang="zh-CN" sz="1100" b="1" i="1">
                <a:solidFill>
                  <a:srgbClr val="85200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COMPLETE DOCUMENTS TO CREDITING.</a:t>
            </a:r>
            <a:endParaRPr lang="en-US" altLang="zh-CN" sz="11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pic>
        <p:nvPicPr>
          <p:cNvPr id="34823" name="object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" y="728663"/>
            <a:ext cx="3217863" cy="38068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4824" name="object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4600575"/>
            <a:ext cx="2198688" cy="474663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3173413" y="635000"/>
            <a:ext cx="2798763" cy="285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700" b="1" kern="0" cap="none" spc="24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ADDITIONAL</a:t>
            </a:r>
            <a:r>
              <a:rPr kumimoji="0" sz="1700" b="1" kern="0" cap="none" spc="10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700" b="1" kern="0" cap="none" spc="254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COVERAGE</a:t>
            </a:r>
            <a:endParaRPr kumimoji="0" sz="17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aphicFrame>
        <p:nvGraphicFramePr>
          <p:cNvPr id="35843" name="Table 35842"/>
          <p:cNvGraphicFramePr/>
          <p:nvPr/>
        </p:nvGraphicFramePr>
        <p:xfrm>
          <a:off x="942975" y="1239838"/>
          <a:ext cx="7239000" cy="2957512"/>
        </p:xfrm>
        <a:graphic>
          <a:graphicData uri="http://schemas.openxmlformats.org/drawingml/2006/table">
            <a:tbl>
              <a:tblPr/>
              <a:tblGrid>
                <a:gridCol w="4491038"/>
                <a:gridCol w="2747962"/>
              </a:tblGrid>
              <a:tr h="425450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3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COVERAGE</a:t>
                      </a:r>
                      <a:endParaRPr lang="en-US" sz="13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7874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C9EEB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3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LIMITS</a:t>
                      </a:r>
                      <a:endParaRPr lang="en-US" sz="13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7874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C9EEB"/>
                    </a:solidFill>
                  </a:tcPr>
                </a:tc>
              </a:tr>
              <a:tr h="2532063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422275" lvl="0" indent="0" algn="ctr" eaLnBrk="1" hangingPunct="1">
                        <a:lnSpc>
                          <a:spcPct val="200000"/>
                        </a:lnSpc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94A97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Pre-existing dreaded and non-dreaded conditions Work-related cases based on conditions set by</a:t>
                      </a:r>
                      <a:endParaRPr lang="en-US" altLang="zh-CN" sz="11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422275" lvl="0" indent="0" algn="ctr" eaLnBrk="1" hangingPunct="1">
                        <a:buNone/>
                      </a:pPr>
                      <a:r>
                        <a:rPr lang="en-US" altLang="zh-CN" sz="1000" b="1" i="1">
                          <a:solidFill>
                            <a:srgbClr val="094A97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Employee Compensation Commission (ECC)</a:t>
                      </a:r>
                      <a:endParaRPr lang="en-US" altLang="zh-CN" sz="10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422275" lvl="0" indent="0" eaLnBrk="1" hangingPunct="1">
                        <a:spcBef>
                          <a:spcPts val="50"/>
                        </a:spcBef>
                        <a:buNone/>
                      </a:pPr>
                      <a:endParaRPr lang="en-US" altLang="zh-CN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422275" lvl="0" indent="0" algn="ctr" eaLnBrk="1" hangingPunct="1">
                        <a:buNone/>
                      </a:pPr>
                      <a:r>
                        <a:rPr lang="en-US" altLang="zh-CN" sz="1100" b="1">
                          <a:solidFill>
                            <a:srgbClr val="094A97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Motor or Vehicular Accident</a:t>
                      </a:r>
                      <a:endParaRPr lang="en-US" altLang="zh-CN" sz="11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422275" lvl="0" indent="0" algn="ctr" eaLnBrk="1" hangingPunct="1">
                        <a:buNone/>
                      </a:pPr>
                      <a:r>
                        <a:rPr lang="en-US" altLang="zh-CN" sz="1000" i="1">
                          <a:solidFill>
                            <a:srgbClr val="094A97"/>
                          </a:solidFill>
                          <a:latin typeface="Century Gothic" panose="020B0502020202020204" pitchFamily="34" charset="0"/>
                          <a:cs typeface="Century Gothic" panose="020B0502020202020204" pitchFamily="34" charset="0"/>
                        </a:rPr>
                        <a:t>(subject to exclusions and limitations)</a:t>
                      </a:r>
                      <a:endParaRPr lang="en-US" altLang="zh-CN" sz="1000">
                        <a:latin typeface="Century Gothic" panose="020B0502020202020204" pitchFamily="34" charset="0"/>
                        <a:cs typeface="Century Gothic" panose="020B0502020202020204" pitchFamily="34" charset="0"/>
                      </a:endParaRPr>
                    </a:p>
                    <a:p>
                      <a:pPr marL="422275" lvl="0" indent="0" algn="ctr" eaLnBrk="1" hangingPunct="1">
                        <a:lnSpc>
                          <a:spcPts val="2640"/>
                        </a:lnSpc>
                        <a:spcBef>
                          <a:spcPts val="300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94A97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Provoked / unprovoked assault Consultation for chronic dermatoses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8001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en-US" altLang="zh-CN" sz="1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buNone/>
                      </a:pPr>
                      <a:endParaRPr lang="en-US" altLang="zh-CN" sz="1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buNone/>
                      </a:pPr>
                      <a:endParaRPr lang="en-US" altLang="zh-CN" sz="1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buNone/>
                      </a:pPr>
                      <a:endParaRPr lang="en-US" altLang="zh-CN" sz="1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buNone/>
                      </a:pPr>
                      <a:endParaRPr lang="en-US" altLang="zh-CN" sz="1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buNone/>
                      </a:pPr>
                      <a:endParaRPr lang="en-US" altLang="zh-CN" sz="15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algn="ctr" eaLnBrk="1" hangingPunct="1">
                        <a:buNone/>
                      </a:pPr>
                      <a:r>
                        <a:rPr lang="en-US" altLang="zh-CN" sz="1100" b="1">
                          <a:solidFill>
                            <a:srgbClr val="094A97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Up to ABL</a:t>
                      </a:r>
                      <a:endParaRPr lang="en-US" sz="11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</a:tr>
            </a:tbl>
          </a:graphicData>
        </a:graphic>
      </p:graphicFrame>
      <p:sp>
        <p:nvSpPr>
          <p:cNvPr id="35854" name="object 4"/>
          <p:cNvSpPr/>
          <p:nvPr/>
        </p:nvSpPr>
        <p:spPr>
          <a:xfrm>
            <a:off x="8158163" y="0"/>
            <a:ext cx="985837" cy="603250"/>
          </a:xfrm>
          <a:custGeom>
            <a:avLst/>
            <a:gdLst/>
            <a:ahLst/>
            <a:cxnLst/>
            <a:pathLst>
              <a:path w="985520" h="603885">
                <a:moveTo>
                  <a:pt x="985499" y="603299"/>
                </a:moveTo>
                <a:lnTo>
                  <a:pt x="0" y="603299"/>
                </a:lnTo>
                <a:lnTo>
                  <a:pt x="0" y="0"/>
                </a:lnTo>
                <a:lnTo>
                  <a:pt x="985499" y="0"/>
                </a:lnTo>
                <a:lnTo>
                  <a:pt x="985499" y="60329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2930525" y="177800"/>
            <a:ext cx="2800350" cy="2841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700" b="1" kern="0" cap="none" spc="24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ADDITIONAL</a:t>
            </a:r>
            <a:r>
              <a:rPr kumimoji="0" sz="1700" b="1" kern="0" cap="none" spc="10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700" b="1" kern="0" cap="none" spc="254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COVERAGE</a:t>
            </a:r>
            <a:endParaRPr kumimoji="0" sz="17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aphicFrame>
        <p:nvGraphicFramePr>
          <p:cNvPr id="36867" name="Table 36866"/>
          <p:cNvGraphicFramePr/>
          <p:nvPr/>
        </p:nvGraphicFramePr>
        <p:xfrm>
          <a:off x="701675" y="652463"/>
          <a:ext cx="7237413" cy="2220912"/>
        </p:xfrm>
        <a:graphic>
          <a:graphicData uri="http://schemas.openxmlformats.org/drawingml/2006/table">
            <a:tbl>
              <a:tblPr/>
              <a:tblGrid>
                <a:gridCol w="4060825"/>
                <a:gridCol w="3176588"/>
              </a:tblGrid>
              <a:tr h="479425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3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COVERAGE</a:t>
                      </a:r>
                      <a:endParaRPr lang="en-US" sz="13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7874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C9EEB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625"/>
                        </a:spcBef>
                        <a:buNone/>
                      </a:pPr>
                      <a:r>
                        <a:rPr lang="en-US" altLang="zh-CN" sz="13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LIMITS</a:t>
                      </a:r>
                      <a:endParaRPr lang="en-US" sz="13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7874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C9EEB"/>
                    </a:solidFill>
                  </a:tcPr>
                </a:tc>
              </a:tr>
              <a:tr h="936625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spcBef>
                          <a:spcPts val="40"/>
                        </a:spcBef>
                        <a:buNone/>
                      </a:pPr>
                      <a:endParaRPr lang="en-US" altLang="zh-CN" sz="1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algn="ctr" eaLnBrk="1" hangingPunct="1"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Scoliosis</a:t>
                      </a:r>
                      <a:endParaRPr lang="en-US" altLang="zh-CN" sz="11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algn="ctr" eaLnBrk="1" hangingPunct="1">
                        <a:buNone/>
                      </a:pPr>
                      <a:r>
                        <a:rPr lang="en-US" altLang="zh-CN" sz="1000" i="1">
                          <a:solidFill>
                            <a:srgbClr val="0C3879"/>
                          </a:solidFill>
                          <a:latin typeface="Century Gothic" panose="020B0502020202020204" pitchFamily="34" charset="0"/>
                          <a:cs typeface="Century Gothic" panose="020B0502020202020204" pitchFamily="34" charset="0"/>
                        </a:rPr>
                        <a:t>(including necessary procedures, except physical therapy sessions, whether congenital, pre-existing, developmental, or acquired)</a:t>
                      </a:r>
                      <a:endParaRPr lang="en-US" sz="1000">
                        <a:latin typeface="Century Gothic" panose="020B0502020202020204" pitchFamily="34" charset="0"/>
                        <a:ea typeface="Century Gothic" panose="020B0502020202020204" pitchFamily="34" charset="0"/>
                      </a:endParaRPr>
                    </a:p>
                  </a:txBody>
                  <a:tcPr marL="0" marR="0" marT="508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 rowSpan="2"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en-US" altLang="zh-CN" sz="1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buNone/>
                      </a:pPr>
                      <a:endParaRPr lang="en-US" altLang="zh-CN" sz="1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algn="ctr" eaLnBrk="1" hangingPunct="1">
                        <a:spcBef>
                          <a:spcPts val="765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Up to ₱20,000 per member per year</a:t>
                      </a:r>
                      <a:endParaRPr lang="en-US" altLang="zh-CN" sz="11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algn="ctr" eaLnBrk="1" hangingPunct="1">
                        <a:buNone/>
                      </a:pPr>
                      <a:r>
                        <a:rPr lang="en-US" altLang="zh-CN" sz="1000" i="1">
                          <a:solidFill>
                            <a:srgbClr val="0C3879"/>
                          </a:solidFill>
                          <a:latin typeface="Century Gothic" panose="020B0502020202020204" pitchFamily="34" charset="0"/>
                          <a:cs typeface="Century Gothic" panose="020B0502020202020204" pitchFamily="34" charset="0"/>
                        </a:rPr>
                        <a:t>(shared limit for IP and OP)</a:t>
                      </a:r>
                      <a:endParaRPr lang="en-US" altLang="zh-CN" sz="1000">
                        <a:latin typeface="Century Gothic" panose="020B0502020202020204" pitchFamily="34" charset="0"/>
                        <a:cs typeface="Century Gothic" panose="020B0502020202020204" pitchFamily="34" charset="0"/>
                      </a:endParaRPr>
                    </a:p>
                    <a:p>
                      <a:pPr lvl="0" algn="ctr" eaLnBrk="1" hangingPunct="1">
                        <a:buNone/>
                      </a:pPr>
                      <a:r>
                        <a:rPr lang="en-US" altLang="zh-CN" sz="1000" i="1">
                          <a:solidFill>
                            <a:srgbClr val="0C3879"/>
                          </a:solidFill>
                          <a:latin typeface="Century Gothic" panose="020B0502020202020204" pitchFamily="34" charset="0"/>
                          <a:cs typeface="Century Gothic" panose="020B0502020202020204" pitchFamily="34" charset="0"/>
                        </a:rPr>
                        <a:t>Note: Physical Therapy sessions shall form part of the Physical Therapy/ Occupational Therapy limits.</a:t>
                      </a:r>
                      <a:endParaRPr lang="en-US" sz="1000">
                        <a:latin typeface="Century Gothic" panose="020B0502020202020204" pitchFamily="34" charset="0"/>
                        <a:ea typeface="Century Gothic" panose="020B0502020202020204" pitchFamily="34" charset="0"/>
                      </a:endParaRPr>
                    </a:p>
                  </a:txBody>
                  <a:tcPr marL="0" marR="0" marT="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</a:tr>
              <a:tr h="804863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1140"/>
                        </a:spcBef>
                        <a:buNone/>
                      </a:pPr>
                      <a:r>
                        <a:rPr lang="en-US" altLang="zh-CN" sz="1100" b="1">
                          <a:solidFill>
                            <a:srgbClr val="0C3879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Congenital conditions</a:t>
                      </a:r>
                      <a:endParaRPr lang="en-US" altLang="zh-CN" sz="11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lvl="0" algn="ctr" eaLnBrk="1" hangingPunct="1">
                        <a:buNone/>
                      </a:pPr>
                      <a:r>
                        <a:rPr lang="en-US" altLang="zh-CN" sz="1100" i="1">
                          <a:solidFill>
                            <a:srgbClr val="0C3879"/>
                          </a:solidFill>
                          <a:latin typeface="Century Gothic" panose="020B0502020202020204" pitchFamily="34" charset="0"/>
                          <a:cs typeface="Century Gothic" panose="020B0502020202020204" pitchFamily="34" charset="0"/>
                        </a:rPr>
                        <a:t>(except physical therapy sessions and developmental disorders)</a:t>
                      </a:r>
                      <a:endParaRPr lang="en-US" sz="1100">
                        <a:latin typeface="Century Gothic" panose="020B0502020202020204" pitchFamily="34" charset="0"/>
                        <a:ea typeface="Century Gothic" panose="020B0502020202020204" pitchFamily="34" charset="0"/>
                      </a:endParaRPr>
                    </a:p>
                  </a:txBody>
                  <a:tcPr marL="0" marR="0" marT="144780" marB="0"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9DAF7"/>
                    </a:solidFill>
                  </a:tcPr>
                </a:tc>
                <a:tc vMerge="1">
                  <a:tcPr>
                    <a:lnL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B w="1905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880" name="object 4"/>
          <p:cNvSpPr/>
          <p:nvPr/>
        </p:nvSpPr>
        <p:spPr>
          <a:xfrm>
            <a:off x="8158163" y="0"/>
            <a:ext cx="985837" cy="603250"/>
          </a:xfrm>
          <a:custGeom>
            <a:avLst/>
            <a:gdLst/>
            <a:ahLst/>
            <a:cxnLst/>
            <a:pathLst>
              <a:path w="985520" h="603885">
                <a:moveTo>
                  <a:pt x="985499" y="603299"/>
                </a:moveTo>
                <a:lnTo>
                  <a:pt x="0" y="603299"/>
                </a:lnTo>
                <a:lnTo>
                  <a:pt x="0" y="0"/>
                </a:lnTo>
                <a:lnTo>
                  <a:pt x="985499" y="0"/>
                </a:lnTo>
                <a:lnTo>
                  <a:pt x="985499" y="60329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/>
        <p:txBody>
          <a:bodyPr vert="horz" wrap="square" lIns="0" tIns="103164" rIns="0" bIns="0" rtlCol="0">
            <a:spAutoFit/>
          </a:bodyPr>
          <a:lstStyle/>
          <a:p>
            <a:pPr marL="250571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400" b="1" i="0" u="none" strike="noStrike" kern="0" cap="none" spc="28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DENTAL</a:t>
            </a:r>
            <a:r>
              <a:rPr kumimoji="0" sz="2400" b="1" i="0" u="none" strike="noStrike" kern="0" cap="none" spc="5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400" b="1" i="0" u="none" strike="noStrike" kern="0" cap="none" spc="14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CARE</a:t>
            </a:r>
            <a:endParaRPr kumimoji="0" sz="24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entury Gothic" panose="020B0502020202020204"/>
              <a:ea typeface="+mj-ea"/>
              <a:cs typeface="Century Gothic" panose="020B0502020202020204"/>
            </a:endParaRPr>
          </a:p>
        </p:txBody>
      </p:sp>
      <p:grpSp>
        <p:nvGrpSpPr>
          <p:cNvPr id="37891" name="object 3"/>
          <p:cNvGrpSpPr/>
          <p:nvPr/>
        </p:nvGrpSpPr>
        <p:grpSpPr>
          <a:xfrm>
            <a:off x="4100513" y="0"/>
            <a:ext cx="5043487" cy="965200"/>
            <a:chOff x="4100463" y="0"/>
            <a:chExt cx="5043805" cy="965835"/>
          </a:xfrm>
        </p:grpSpPr>
        <p:pic>
          <p:nvPicPr>
            <p:cNvPr id="37894" name="object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100463" y="294450"/>
              <a:ext cx="671275" cy="67127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7895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57613" y="332550"/>
              <a:ext cx="556974" cy="556974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7896" name="object 6"/>
            <p:cNvSpPr/>
            <p:nvPr/>
          </p:nvSpPr>
          <p:spPr>
            <a:xfrm>
              <a:off x="8158600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17538" y="1624013"/>
            <a:ext cx="4029075" cy="2233613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p>
            <a:pPr marL="347980" indent="-336550" defTabSz="914400" eaLnBrk="1" hangingPunct="1">
              <a:spcBef>
                <a:spcPts val="350"/>
              </a:spcBef>
              <a:buFont typeface="Arial" panose="020B0604020202020204" pitchFamily="34" charset="0"/>
              <a:buChar char="●"/>
              <a:tabLst>
                <a:tab pos="347980" algn="l"/>
                <a:tab pos="34925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Oral consultation or examination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7980" indent="-336550" defTabSz="914400" eaLnBrk="1" hangingPunct="1">
              <a:spcBef>
                <a:spcPts val="250"/>
              </a:spcBef>
              <a:buFont typeface="Arial" panose="020B0604020202020204" pitchFamily="34" charset="0"/>
              <a:buChar char="●"/>
              <a:tabLst>
                <a:tab pos="347980" algn="l"/>
                <a:tab pos="34925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Oral prophylaxis – </a:t>
            </a:r>
            <a:r>
              <a:rPr lang="en-US" altLang="zh-CN" sz="14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twice (2x) a year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7980" indent="-336550" defTabSz="914400" eaLnBrk="1" hangingPunct="1">
              <a:spcBef>
                <a:spcPts val="250"/>
              </a:spcBef>
              <a:buFont typeface="Arial" panose="020B0604020202020204" pitchFamily="34" charset="0"/>
              <a:buChar char="●"/>
              <a:tabLst>
                <a:tab pos="347980" algn="l"/>
                <a:tab pos="34925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Simple tooth extractions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7980" indent="-336550" defTabSz="914400" eaLnBrk="1" hangingPunct="1">
              <a:spcBef>
                <a:spcPts val="250"/>
              </a:spcBef>
              <a:buFont typeface="Arial" panose="020B0604020202020204" pitchFamily="34" charset="0"/>
              <a:buChar char="●"/>
              <a:tabLst>
                <a:tab pos="347980" algn="l"/>
                <a:tab pos="34925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Temporary ﬁllings – covered as needed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7980" indent="-336550" defTabSz="914400" eaLnBrk="1" hangingPunct="1">
              <a:spcBef>
                <a:spcPts val="250"/>
              </a:spcBef>
              <a:buFont typeface="Arial" panose="020B0604020202020204" pitchFamily="34" charset="0"/>
              <a:buChar char="●"/>
              <a:tabLst>
                <a:tab pos="347980" algn="l"/>
                <a:tab pos="34925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Permanent ﬁllings – </a:t>
            </a:r>
            <a:r>
              <a:rPr lang="en-US" altLang="zh-CN" sz="14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two (2) teeth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7980" indent="-336550" defTabSz="914400" eaLnBrk="1" hangingPunct="1">
              <a:spcBef>
                <a:spcPts val="250"/>
              </a:spcBef>
              <a:buFont typeface="Arial" panose="020B0604020202020204" pitchFamily="34" charset="0"/>
              <a:buChar char="●"/>
              <a:tabLst>
                <a:tab pos="347980" algn="l"/>
                <a:tab pos="34925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Emergency dental treatment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7980" indent="-336550" defTabSz="914400" eaLnBrk="1" hangingPunct="1">
              <a:spcBef>
                <a:spcPts val="250"/>
              </a:spcBef>
              <a:buFont typeface="Arial" panose="020B0604020202020204" pitchFamily="34" charset="0"/>
              <a:buChar char="●"/>
              <a:tabLst>
                <a:tab pos="347980" algn="l"/>
                <a:tab pos="34925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Oral incision and drainage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7980" indent="-336550" defTabSz="914400" eaLnBrk="1" hangingPunct="1">
              <a:lnSpc>
                <a:spcPct val="115000"/>
              </a:lnSpc>
              <a:buFont typeface="Arial" panose="020B0604020202020204" pitchFamily="34" charset="0"/>
              <a:buChar char="●"/>
              <a:tabLst>
                <a:tab pos="347980" algn="l"/>
                <a:tab pos="34925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Recementation of jacket crowns, bridges, inlay, and onlay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65675" y="1643063"/>
            <a:ext cx="3276600" cy="1743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47980" indent="-336550" defTabSz="914400" eaLnBrk="1" hangingPunct="1">
              <a:lnSpc>
                <a:spcPct val="115000"/>
              </a:lnSpc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347980" algn="l"/>
                <a:tab pos="34925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Palliative treatment of simple mouth sores and blisters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7980" indent="-336550" defTabSz="914400" eaLnBrk="1" hangingPunct="1">
              <a:lnSpc>
                <a:spcPct val="115000"/>
              </a:lnSpc>
              <a:buFont typeface="Arial" panose="020B0604020202020204" pitchFamily="34" charset="0"/>
              <a:buChar char="●"/>
              <a:tabLst>
                <a:tab pos="347980" algn="l"/>
                <a:tab pos="34925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Gum treatment for cases like inﬂammation or bleeding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7980" indent="-336550" defTabSz="914400" eaLnBrk="1" hangingPunct="1">
              <a:lnSpc>
                <a:spcPct val="115000"/>
              </a:lnSpc>
              <a:buFont typeface="Arial" panose="020B0604020202020204" pitchFamily="34" charset="0"/>
              <a:buChar char="●"/>
              <a:tabLst>
                <a:tab pos="347980" algn="l"/>
                <a:tab pos="34925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Desensitization of hypersensitive teeth – </a:t>
            </a:r>
            <a:r>
              <a:rPr lang="en-US" altLang="zh-CN" sz="14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two (2) teeth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7980" indent="-336550" defTabSz="914400" eaLnBrk="1" hangingPunct="1">
              <a:spcBef>
                <a:spcPts val="250"/>
              </a:spcBef>
              <a:buFont typeface="Arial" panose="020B0604020202020204" pitchFamily="34" charset="0"/>
              <a:buChar char="●"/>
              <a:tabLst>
                <a:tab pos="347980" algn="l"/>
                <a:tab pos="349250" algn="l"/>
              </a:tabLst>
            </a:pPr>
            <a:r>
              <a:rPr lang="en-US" altLang="zh-CN" sz="14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Simple adjustment of dentures</a:t>
            </a: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8914" name="object 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38930" name="object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420645" y="1920560"/>
              <a:ext cx="2796304" cy="2047204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8931" name="object 4"/>
            <p:cNvSpPr/>
            <p:nvPr/>
          </p:nvSpPr>
          <p:spPr>
            <a:xfrm>
              <a:off x="4487397" y="1965061"/>
              <a:ext cx="2663190" cy="1913889"/>
            </a:xfrm>
            <a:custGeom>
              <a:avLst/>
              <a:gdLst/>
              <a:ahLst/>
              <a:cxnLst/>
              <a:pathLst>
                <a:path w="2663190" h="1913889">
                  <a:moveTo>
                    <a:pt x="2662799" y="1913699"/>
                  </a:moveTo>
                  <a:lnTo>
                    <a:pt x="0" y="1913699"/>
                  </a:lnTo>
                  <a:lnTo>
                    <a:pt x="0" y="0"/>
                  </a:lnTo>
                  <a:lnTo>
                    <a:pt x="2662799" y="0"/>
                  </a:lnTo>
                  <a:lnTo>
                    <a:pt x="2662799" y="1913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/>
        <p:txBody>
          <a:bodyPr vert="horz" wrap="square" lIns="0" tIns="103164" rIns="0" bIns="0" rtlCol="0">
            <a:spAutoFit/>
          </a:bodyPr>
          <a:lstStyle/>
          <a:p>
            <a:pPr marL="250571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2400" b="1" i="0" u="none" strike="noStrike" kern="0" cap="none" spc="28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DENTAL</a:t>
            </a:r>
            <a:r>
              <a:rPr kumimoji="0" sz="2400" b="1" i="0" u="none" strike="noStrike" kern="0" cap="none" spc="5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2400" b="1" i="0" u="none" strike="noStrike" kern="0" cap="none" spc="14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CARE</a:t>
            </a:r>
            <a:endParaRPr kumimoji="0" sz="24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entury Gothic" panose="020B0502020202020204"/>
              <a:ea typeface="+mj-ea"/>
              <a:cs typeface="Century Gothic" panose="020B0502020202020204"/>
            </a:endParaRPr>
          </a:p>
        </p:txBody>
      </p:sp>
      <p:grpSp>
        <p:nvGrpSpPr>
          <p:cNvPr id="38916" name="object 6"/>
          <p:cNvGrpSpPr/>
          <p:nvPr/>
        </p:nvGrpSpPr>
        <p:grpSpPr>
          <a:xfrm>
            <a:off x="1609725" y="293688"/>
            <a:ext cx="3162300" cy="3675062"/>
            <a:chOff x="1609641" y="294450"/>
            <a:chExt cx="3162300" cy="3674110"/>
          </a:xfrm>
        </p:grpSpPr>
        <p:pic>
          <p:nvPicPr>
            <p:cNvPr id="38924" name="object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00463" y="294450"/>
              <a:ext cx="671275" cy="67127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8925" name="object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57613" y="332550"/>
              <a:ext cx="556974" cy="5569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8926" name="object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09641" y="1436649"/>
              <a:ext cx="2095167" cy="253144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8927" name="object 10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76393" y="1481150"/>
              <a:ext cx="1961662" cy="239794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8928" name="object 11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68901" y="2652558"/>
              <a:ext cx="479704" cy="370504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8929" name="object 12"/>
            <p:cNvSpPr/>
            <p:nvPr/>
          </p:nvSpPr>
          <p:spPr>
            <a:xfrm>
              <a:off x="3935652" y="2697058"/>
              <a:ext cx="346710" cy="237490"/>
            </a:xfrm>
            <a:custGeom>
              <a:avLst/>
              <a:gdLst/>
              <a:ahLst/>
              <a:cxnLst/>
              <a:pathLst>
                <a:path w="346710" h="237489">
                  <a:moveTo>
                    <a:pt x="227699" y="236999"/>
                  </a:moveTo>
                  <a:lnTo>
                    <a:pt x="227699" y="177749"/>
                  </a:lnTo>
                  <a:lnTo>
                    <a:pt x="0" y="177749"/>
                  </a:lnTo>
                  <a:lnTo>
                    <a:pt x="0" y="59249"/>
                  </a:lnTo>
                  <a:lnTo>
                    <a:pt x="227699" y="59249"/>
                  </a:lnTo>
                  <a:lnTo>
                    <a:pt x="227699" y="0"/>
                  </a:lnTo>
                  <a:lnTo>
                    <a:pt x="346199" y="118499"/>
                  </a:lnTo>
                  <a:lnTo>
                    <a:pt x="227699" y="236999"/>
                  </a:lnTo>
                  <a:close/>
                </a:path>
              </a:pathLst>
            </a:custGeom>
            <a:solidFill>
              <a:srgbClr val="0053CC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990725" y="2654300"/>
            <a:ext cx="1343025" cy="808038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p>
            <a:pPr marL="12700" algn="ctr" eaLnBrk="1" hangingPunct="1">
              <a:lnSpc>
                <a:spcPct val="103000"/>
              </a:lnSpc>
              <a:spcBef>
                <a:spcPts val="90"/>
              </a:spcBef>
              <a:buNone/>
            </a:pPr>
            <a:r>
              <a:rPr lang="en-US" altLang="zh-CN" sz="12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Member sets an appointment by calling</a:t>
            </a:r>
            <a:endParaRPr lang="en-US" altLang="zh-CN" sz="12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spcBef>
                <a:spcPts val="50"/>
              </a:spcBef>
              <a:buNone/>
            </a:pPr>
            <a:r>
              <a:rPr lang="en-US" altLang="zh-CN" sz="12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(02) 8582-1900*</a:t>
            </a:r>
            <a:endParaRPr lang="en-US" altLang="zh-CN" sz="12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pic>
        <p:nvPicPr>
          <p:cNvPr id="38918" name="object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8838" y="2200275"/>
            <a:ext cx="2317750" cy="6492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5" name="object 15"/>
          <p:cNvSpPr txBox="1"/>
          <p:nvPr/>
        </p:nvSpPr>
        <p:spPr>
          <a:xfrm>
            <a:off x="4487863" y="1965325"/>
            <a:ext cx="2662238" cy="19129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p>
            <a:pPr eaLnBrk="1" hangingPunct="1">
              <a:buNone/>
            </a:pPr>
            <a:endParaRPr lang="en-US" altLang="zh-CN" sz="150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buNone/>
            </a:pPr>
            <a:endParaRPr lang="en-US" altLang="zh-CN" sz="150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buNone/>
            </a:pPr>
            <a:endParaRPr lang="en-US" altLang="zh-CN" sz="150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buNone/>
            </a:pPr>
            <a:endParaRPr lang="en-US" altLang="zh-CN" sz="150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spcBef>
                <a:spcPts val="875"/>
              </a:spcBef>
              <a:buNone/>
            </a:pPr>
            <a:r>
              <a:rPr lang="en-US" altLang="zh-CN" sz="12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DENTAL HUB NETWORK</a:t>
            </a:r>
            <a:endParaRPr lang="en-US" altLang="zh-CN" sz="12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1" hangingPunct="1">
              <a:lnSpc>
                <a:spcPct val="103000"/>
              </a:lnSpc>
              <a:buNone/>
            </a:pPr>
            <a:r>
              <a:rPr lang="en-US" altLang="zh-CN" sz="12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with access to accredited dental facilities nationwide</a:t>
            </a:r>
            <a:endParaRPr lang="en-US" altLang="zh-CN" sz="12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687513" y="4195763"/>
            <a:ext cx="5108575" cy="1857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5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*</a:t>
            </a:r>
            <a:r>
              <a:rPr kumimoji="0" sz="1050" i="1" kern="0" cap="none" spc="7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5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Members</a:t>
            </a:r>
            <a:r>
              <a:rPr kumimoji="0" sz="1050" i="1" kern="0" cap="none" spc="75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5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can</a:t>
            </a:r>
            <a:r>
              <a:rPr kumimoji="0" sz="1050" i="1" kern="0" cap="none" spc="75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5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also</a:t>
            </a:r>
            <a:r>
              <a:rPr kumimoji="0" sz="1050" i="1" kern="0" cap="none" spc="75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5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directly</a:t>
            </a:r>
            <a:r>
              <a:rPr kumimoji="0" sz="1050" i="1" kern="0" cap="none" spc="7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5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call</a:t>
            </a:r>
            <a:r>
              <a:rPr kumimoji="0" sz="1050" i="1" kern="0" cap="none" spc="75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50" i="1" kern="0" cap="none" spc="5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their</a:t>
            </a:r>
            <a:r>
              <a:rPr kumimoji="0" sz="1050" i="1" kern="0" cap="none" spc="75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5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preferred</a:t>
            </a:r>
            <a:r>
              <a:rPr kumimoji="0" sz="1050" i="1" kern="0" cap="none" spc="75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5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dental</a:t>
            </a:r>
            <a:r>
              <a:rPr kumimoji="0" sz="1050" i="1" kern="0" cap="none" spc="75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5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clinics</a:t>
            </a:r>
            <a:r>
              <a:rPr kumimoji="0" sz="1050" i="1" kern="0" cap="none" spc="7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5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for</a:t>
            </a:r>
            <a:r>
              <a:rPr kumimoji="0" sz="1050" i="1" kern="0" cap="none" spc="75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1050" i="1" kern="0" cap="none" spc="-1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scheduling.</a:t>
            </a:r>
            <a:endParaRPr kumimoji="0" sz="1050" kern="0" cap="none" spc="0" normalizeH="0" baseline="0" noProof="0">
              <a:solidFill>
                <a:sysClr val="windowText" lastClr="000000"/>
              </a:solidFill>
              <a:latin typeface="Century Gothic" panose="020B0502020202020204"/>
              <a:cs typeface="Century Gothic" panose="020B0502020202020204"/>
            </a:endParaRPr>
          </a:p>
        </p:txBody>
      </p:sp>
      <p:grpSp>
        <p:nvGrpSpPr>
          <p:cNvPr id="38921" name="object 17"/>
          <p:cNvGrpSpPr/>
          <p:nvPr/>
        </p:nvGrpSpPr>
        <p:grpSpPr>
          <a:xfrm>
            <a:off x="2282825" y="0"/>
            <a:ext cx="6861175" cy="2397125"/>
            <a:chOff x="2282407" y="0"/>
            <a:chExt cx="6861809" cy="2397125"/>
          </a:xfrm>
        </p:grpSpPr>
        <p:pic>
          <p:nvPicPr>
            <p:cNvPr id="38922" name="object 18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82407" y="1646892"/>
              <a:ext cx="749605" cy="749605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8923" name="object 19"/>
            <p:cNvSpPr/>
            <p:nvPr/>
          </p:nvSpPr>
          <p:spPr>
            <a:xfrm>
              <a:off x="8158599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/>
          <p:nvPr/>
        </p:nvSpPr>
        <p:spPr>
          <a:xfrm>
            <a:off x="641350" y="239713"/>
            <a:ext cx="1093788" cy="238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|</a:t>
            </a:r>
            <a:r>
              <a:rPr kumimoji="0" sz="1400" kern="0" cap="none" spc="1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5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Hospicash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9939" name="object 3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39956" name="object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5137825" y="70132"/>
              <a:ext cx="2673249" cy="124915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9957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728625"/>
              <a:ext cx="3813440" cy="44148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39958" name="object 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779425"/>
              <a:ext cx="3756289" cy="4364075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39959" name="object 7"/>
            <p:cNvSpPr/>
            <p:nvPr/>
          </p:nvSpPr>
          <p:spPr>
            <a:xfrm>
              <a:off x="8158499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39960" name="object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89262" y="1239123"/>
              <a:ext cx="3170375" cy="603244"/>
            </a:xfrm>
            <a:prstGeom prst="rect">
              <a:avLst/>
            </a:prstGeom>
            <a:noFill/>
            <a:ln w="9525">
              <a:noFill/>
            </a:ln>
          </p:spPr>
        </p:pic>
      </p:grpSp>
      <p:graphicFrame>
        <p:nvGraphicFramePr>
          <p:cNvPr id="39940" name="Table 39939"/>
          <p:cNvGraphicFramePr/>
          <p:nvPr/>
        </p:nvGraphicFramePr>
        <p:xfrm>
          <a:off x="3849688" y="2003425"/>
          <a:ext cx="5221287" cy="2695575"/>
        </p:xfrm>
        <a:graphic>
          <a:graphicData uri="http://schemas.openxmlformats.org/drawingml/2006/table">
            <a:tbl>
              <a:tblPr/>
              <a:tblGrid>
                <a:gridCol w="1789113"/>
                <a:gridCol w="3432175"/>
              </a:tblGrid>
              <a:tr h="296863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336550" lvl="0" indent="0" eaLnBrk="1" hangingPunct="1">
                        <a:spcBef>
                          <a:spcPts val="215"/>
                        </a:spcBef>
                        <a:buNone/>
                      </a:pPr>
                      <a:r>
                        <a:rPr lang="en-US" altLang="zh-CN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COVERAGE</a:t>
                      </a:r>
                      <a:endParaRPr lang="en-US" sz="15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26669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A53C9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spcBef>
                          <a:spcPts val="215"/>
                        </a:spcBef>
                        <a:buNone/>
                      </a:pPr>
                      <a:r>
                        <a:rPr lang="en-US" altLang="zh-CN" sz="15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LIMIT</a:t>
                      </a:r>
                      <a:endParaRPr lang="en-US" sz="15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26669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A53C9"/>
                    </a:solidFill>
                  </a:tcPr>
                </a:tc>
              </a:tr>
              <a:tr h="1165225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en-US" altLang="zh-C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spcBef>
                          <a:spcPts val="50"/>
                        </a:spcBef>
                        <a:buNone/>
                      </a:pPr>
                      <a:endParaRPr lang="en-US" altLang="zh-C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lvl="0" eaLnBrk="1" hangingPunct="1">
                        <a:buNone/>
                      </a:pPr>
                      <a:r>
                        <a:rPr lang="en-US" altLang="zh-CN" sz="1200" b="1">
                          <a:solidFill>
                            <a:srgbClr val="757575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Daily Hospital Income Beneﬁt</a:t>
                      </a:r>
                      <a:endParaRPr lang="en-US" sz="12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0" marB="0">
                    <a:lnL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976630" lvl="0" indent="-313055" eaLnBrk="1" hangingPunct="1">
                        <a:spcBef>
                          <a:spcPts val="225"/>
                        </a:spcBef>
                        <a:buNone/>
                      </a:pPr>
                      <a:r>
                        <a:rPr lang="en-US" altLang="zh-CN" sz="1200" b="1">
                          <a:solidFill>
                            <a:srgbClr val="757575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Coverage Amount per Day: Php 250 / member</a:t>
                      </a:r>
                      <a:endParaRPr lang="en-US" altLang="zh-CN" sz="12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976630" lvl="0" indent="-313055" eaLnBrk="1" hangingPunct="1">
                        <a:buNone/>
                      </a:pPr>
                      <a:endParaRPr lang="en-US" altLang="zh-C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976630" lvl="0" indent="-313055" eaLnBrk="1" hangingPunct="1">
                        <a:buNone/>
                      </a:pPr>
                      <a:r>
                        <a:rPr lang="en-US" altLang="zh-CN" sz="1200" b="1">
                          <a:solidFill>
                            <a:srgbClr val="757575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*31 days per hospital conﬁnement or per illness or accident</a:t>
                      </a:r>
                      <a:endParaRPr lang="en-US" altLang="zh-CN" sz="12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976630" lvl="0" indent="-313055" eaLnBrk="1" hangingPunct="1">
                        <a:buNone/>
                      </a:pPr>
                      <a:r>
                        <a:rPr lang="en-US" altLang="zh-CN" sz="1200" b="1">
                          <a:solidFill>
                            <a:srgbClr val="757575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*62 days per year</a:t>
                      </a:r>
                      <a:endParaRPr lang="en-US" sz="12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27940" marB="0">
                    <a:lnL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708025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33350" lvl="0" indent="0" algn="ctr" eaLnBrk="1" hangingPunct="1">
                        <a:spcBef>
                          <a:spcPts val="575"/>
                        </a:spcBef>
                        <a:buNone/>
                      </a:pPr>
                      <a:r>
                        <a:rPr lang="en-US" altLang="zh-CN" sz="1200" b="1">
                          <a:solidFill>
                            <a:srgbClr val="757575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Intensive Care Unit (ICU)</a:t>
                      </a:r>
                      <a:endParaRPr lang="en-US" altLang="zh-CN" sz="12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133350" lvl="0" indent="0" algn="ctr" eaLnBrk="1" hangingPunct="1">
                        <a:buNone/>
                      </a:pPr>
                      <a:r>
                        <a:rPr lang="en-US" altLang="zh-CN" sz="1200" b="1">
                          <a:solidFill>
                            <a:srgbClr val="757575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Cash Beneﬁt</a:t>
                      </a:r>
                      <a:endParaRPr lang="en-US" sz="12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73660" marB="0">
                    <a:lnL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377825" lvl="0" indent="0" eaLnBrk="1" hangingPunct="1">
                        <a:spcBef>
                          <a:spcPts val="225"/>
                        </a:spcBef>
                        <a:buNone/>
                      </a:pPr>
                      <a:r>
                        <a:rPr lang="en-US" altLang="zh-CN" sz="1200" b="1">
                          <a:solidFill>
                            <a:srgbClr val="757575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2x the Daily Hospital Cash Beneﬁt per each ICU day</a:t>
                      </a:r>
                      <a:endParaRPr lang="en-US" altLang="zh-CN" sz="12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377825" lvl="0" indent="0" eaLnBrk="1" hangingPunct="1">
                        <a:spcBef>
                          <a:spcPts val="15"/>
                        </a:spcBef>
                        <a:buNone/>
                      </a:pPr>
                      <a:r>
                        <a:rPr lang="en-US" altLang="zh-CN" sz="900">
                          <a:solidFill>
                            <a:srgbClr val="757575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Note: This is subject to a limit of (14) ICU days per policy per year</a:t>
                      </a:r>
                      <a:endParaRPr lang="en-US" sz="9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27940" marB="0">
                    <a:lnL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525462"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405130" lvl="0" indent="-244475" eaLnBrk="1" hangingPunct="1">
                        <a:spcBef>
                          <a:spcPts val="575"/>
                        </a:spcBef>
                        <a:buNone/>
                      </a:pPr>
                      <a:r>
                        <a:rPr lang="en-US" altLang="zh-CN" sz="1200" b="1">
                          <a:solidFill>
                            <a:srgbClr val="757575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In-Patient Surgery Cash Beneﬁt</a:t>
                      </a:r>
                      <a:endParaRPr lang="en-US" sz="12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73660" marB="0">
                    <a:lnL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377825" lvl="0" indent="0" eaLnBrk="1" hangingPunct="1">
                        <a:spcBef>
                          <a:spcPts val="225"/>
                        </a:spcBef>
                        <a:buNone/>
                      </a:pPr>
                      <a:r>
                        <a:rPr lang="en-US" altLang="zh-CN" sz="1200" b="1">
                          <a:solidFill>
                            <a:srgbClr val="757575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5x the Daily Hospital Cash Beneﬁt</a:t>
                      </a:r>
                      <a:endParaRPr lang="en-US" altLang="zh-CN" sz="120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377825" lvl="0" indent="0" eaLnBrk="1" hangingPunct="1">
                        <a:spcBef>
                          <a:spcPts val="15"/>
                        </a:spcBef>
                        <a:buNone/>
                      </a:pPr>
                      <a:r>
                        <a:rPr lang="en-US" altLang="zh-CN" sz="900">
                          <a:solidFill>
                            <a:srgbClr val="757575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Note: This is subject to a limit of (3) In-Patient Surgery Beneﬁt payments per policy per year</a:t>
                      </a:r>
                      <a:endParaRPr lang="en-US" sz="900"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0" marR="0" marT="27940" marB="0">
                    <a:lnL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L>
                    <a:lnR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T>
                    <a:lnB w="28575" cap="flat" cmpd="sng">
                      <a:solidFill>
                        <a:srgbClr val="0A53C9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9955" name="object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8575" y="1560513"/>
            <a:ext cx="1681163" cy="2286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962" name="object 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40989" name="object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084038" y="3730600"/>
              <a:ext cx="2117100" cy="941700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40990" name="object 4"/>
            <p:cNvSpPr/>
            <p:nvPr/>
          </p:nvSpPr>
          <p:spPr>
            <a:xfrm>
              <a:off x="6141187" y="3768699"/>
              <a:ext cx="2003425" cy="827405"/>
            </a:xfrm>
            <a:custGeom>
              <a:avLst/>
              <a:gdLst/>
              <a:ahLst/>
              <a:cxnLst/>
              <a:pathLst>
                <a:path w="2003425" h="827404">
                  <a:moveTo>
                    <a:pt x="2002800" y="827399"/>
                  </a:moveTo>
                  <a:lnTo>
                    <a:pt x="0" y="827399"/>
                  </a:lnTo>
                  <a:lnTo>
                    <a:pt x="0" y="0"/>
                  </a:lnTo>
                  <a:lnTo>
                    <a:pt x="2002800" y="0"/>
                  </a:lnTo>
                  <a:lnTo>
                    <a:pt x="2002800" y="827399"/>
                  </a:lnTo>
                  <a:close/>
                </a:path>
              </a:pathLst>
            </a:custGeom>
            <a:solidFill>
              <a:srgbClr val="F3F3F3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40991" name="object 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503913" y="3730600"/>
              <a:ext cx="2117100" cy="941700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40992" name="object 6"/>
            <p:cNvSpPr/>
            <p:nvPr/>
          </p:nvSpPr>
          <p:spPr>
            <a:xfrm>
              <a:off x="3561062" y="3768699"/>
              <a:ext cx="2003425" cy="827405"/>
            </a:xfrm>
            <a:custGeom>
              <a:avLst/>
              <a:gdLst/>
              <a:ahLst/>
              <a:cxnLst/>
              <a:pathLst>
                <a:path w="2003425" h="827404">
                  <a:moveTo>
                    <a:pt x="2002799" y="827399"/>
                  </a:moveTo>
                  <a:lnTo>
                    <a:pt x="0" y="827399"/>
                  </a:lnTo>
                  <a:lnTo>
                    <a:pt x="0" y="0"/>
                  </a:lnTo>
                  <a:lnTo>
                    <a:pt x="2002799" y="0"/>
                  </a:lnTo>
                  <a:lnTo>
                    <a:pt x="2002799" y="827399"/>
                  </a:lnTo>
                  <a:close/>
                </a:path>
              </a:pathLst>
            </a:custGeom>
            <a:solidFill>
              <a:srgbClr val="F3F3F3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40993" name="object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42725" y="3726500"/>
              <a:ext cx="2117100" cy="468300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40994" name="object 8"/>
            <p:cNvSpPr/>
            <p:nvPr/>
          </p:nvSpPr>
          <p:spPr>
            <a:xfrm>
              <a:off x="999875" y="3764600"/>
              <a:ext cx="2003425" cy="354330"/>
            </a:xfrm>
            <a:custGeom>
              <a:avLst/>
              <a:gdLst/>
              <a:ahLst/>
              <a:cxnLst/>
              <a:pathLst>
                <a:path w="2003425" h="354329">
                  <a:moveTo>
                    <a:pt x="2002799" y="353999"/>
                  </a:moveTo>
                  <a:lnTo>
                    <a:pt x="0" y="353999"/>
                  </a:lnTo>
                  <a:lnTo>
                    <a:pt x="0" y="0"/>
                  </a:lnTo>
                  <a:lnTo>
                    <a:pt x="2002799" y="0"/>
                  </a:lnTo>
                  <a:lnTo>
                    <a:pt x="2002799" y="353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641350" y="239713"/>
            <a:ext cx="1093788" cy="238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|</a:t>
            </a:r>
            <a:r>
              <a:rPr kumimoji="0" sz="1400" kern="0" cap="none" spc="17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400" kern="0" cap="none" spc="155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Hospicash</a:t>
            </a:r>
            <a:endParaRPr kumimoji="0" sz="14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title"/>
          </p:nvPr>
        </p:nvSpPr>
        <p:spPr/>
        <p:txBody>
          <a:bodyPr vert="horz" wrap="square" lIns="0" tIns="12700" rIns="0" bIns="0" rtlCol="0">
            <a:spAutoFit/>
          </a:bodyPr>
          <a:p>
            <a:pPr marL="492125" indent="0" eaLnBrk="1" hangingPunct="1">
              <a:spcBef>
                <a:spcPts val="100"/>
              </a:spcBef>
              <a:buNone/>
            </a:pPr>
            <a:r>
              <a:rPr lang="en-US" altLang="zh-CN">
                <a:solidFill>
                  <a:srgbClr val="0053CC"/>
                </a:solidFill>
                <a:latin typeface="+mj-lt"/>
                <a:ea typeface="+mj-ea"/>
                <a:cs typeface="Calibri" panose="020F0502020204030204" pitchFamily="34" charset="0"/>
              </a:rPr>
              <a:t>Claim the daily hospital income beneﬁt in three easy steps!</a:t>
            </a:r>
            <a:endParaRPr lang="en-US" altLang="zh-CN">
              <a:solidFill>
                <a:srgbClr val="0053CC"/>
              </a:solidFill>
              <a:latin typeface="+mj-lt"/>
              <a:ea typeface="Calibri" panose="020F0502020204030204" pitchFamily="34" charset="0"/>
              <a:cs typeface="+mj-cs"/>
            </a:endParaRPr>
          </a:p>
        </p:txBody>
      </p:sp>
      <p:grpSp>
        <p:nvGrpSpPr>
          <p:cNvPr id="40965" name="object 11"/>
          <p:cNvGrpSpPr/>
          <p:nvPr/>
        </p:nvGrpSpPr>
        <p:grpSpPr>
          <a:xfrm>
            <a:off x="855663" y="1143000"/>
            <a:ext cx="2292350" cy="2690813"/>
            <a:chOff x="855100" y="1142575"/>
            <a:chExt cx="2292985" cy="2691765"/>
          </a:xfrm>
        </p:grpSpPr>
        <p:pic>
          <p:nvPicPr>
            <p:cNvPr id="40987" name="object 1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55100" y="1142575"/>
              <a:ext cx="2292599" cy="269172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40988" name="object 1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12250" y="1180675"/>
              <a:ext cx="2178298" cy="2577424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14" name="object 14"/>
          <p:cNvSpPr txBox="1"/>
          <p:nvPr/>
        </p:nvSpPr>
        <p:spPr>
          <a:xfrm>
            <a:off x="1441450" y="2149475"/>
            <a:ext cx="1120775" cy="3603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indent="200025" eaLnBrk="1" hangingPunct="1">
              <a:spcBef>
                <a:spcPts val="100"/>
              </a:spcBef>
              <a:buNone/>
            </a:pPr>
            <a:r>
              <a:rPr lang="en-US" altLang="zh-CN" sz="11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PROCESS CONFINEMENT</a:t>
            </a:r>
            <a:endParaRPr lang="en-US" altLang="zh-CN" sz="11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068388" y="2754313"/>
            <a:ext cx="1847850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algn="ctr" eaLnBrk="1" hangingPunct="1">
              <a:spcBef>
                <a:spcPts val="100"/>
              </a:spcBef>
              <a:buNone/>
            </a:pPr>
            <a:r>
              <a:rPr lang="en-US" altLang="zh-CN" sz="9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Member gets hospitalized and Maxicare Inpatient Specialist veriﬁes if member has a Hospicash Daily Income Beneﬁt upon admission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000125" y="3763963"/>
            <a:ext cx="2003425" cy="355600"/>
          </a:xfrm>
          <a:prstGeom prst="rect">
            <a:avLst/>
          </a:prstGeom>
        </p:spPr>
        <p:txBody>
          <a:bodyPr vert="horz" wrap="square" lIns="0" tIns="3175" rIns="0" bIns="0" rtlCol="0">
            <a:spAutoFit/>
          </a:bodyPr>
          <a:lstStyle/>
          <a:p>
            <a:pPr marR="0" defTabSz="914400" eaLnBrk="1" fontAlgn="auto" hangingPunct="1"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800" kern="0" cap="none" spc="0" normalizeH="0" baseline="0" noProof="0">
              <a:solidFill>
                <a:sysClr val="windowText" lastClr="000000"/>
              </a:solidFill>
              <a:latin typeface="Times New Roman" panose="02020603050405020304"/>
              <a:cs typeface="Times New Roman" panose="02020603050405020304"/>
            </a:endParaRPr>
          </a:p>
          <a:p>
            <a:pPr marL="476885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70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No</a:t>
            </a:r>
            <a:r>
              <a:rPr kumimoji="0" sz="700" i="1" kern="0" cap="none" spc="75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700" i="1" kern="0" cap="none" spc="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documents</a:t>
            </a:r>
            <a:r>
              <a:rPr kumimoji="0" sz="700" i="1" kern="0" cap="none" spc="75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kumimoji="0" sz="700" i="1" kern="0" cap="none" spc="-10" normalizeH="0" baseline="0" noProof="0" dirty="0">
                <a:solidFill>
                  <a:srgbClr val="0C3879"/>
                </a:solidFill>
                <a:latin typeface="Century Gothic" panose="020B0502020202020204"/>
                <a:cs typeface="Century Gothic" panose="020B0502020202020204"/>
              </a:rPr>
              <a:t>needed.</a:t>
            </a:r>
            <a:endParaRPr kumimoji="0" sz="700" kern="0" cap="none" spc="0" normalizeH="0" baseline="0" noProof="0">
              <a:solidFill>
                <a:sysClr val="windowText" lastClr="000000"/>
              </a:solidFill>
              <a:latin typeface="Century Gothic" panose="020B0502020202020204"/>
              <a:cs typeface="Century Gothic" panose="020B0502020202020204"/>
            </a:endParaRPr>
          </a:p>
        </p:txBody>
      </p:sp>
      <p:grpSp>
        <p:nvGrpSpPr>
          <p:cNvPr id="40969" name="object 17"/>
          <p:cNvGrpSpPr/>
          <p:nvPr/>
        </p:nvGrpSpPr>
        <p:grpSpPr>
          <a:xfrm>
            <a:off x="3033713" y="1143000"/>
            <a:ext cx="2684462" cy="2690813"/>
            <a:chOff x="3033400" y="1142575"/>
            <a:chExt cx="2685415" cy="2691765"/>
          </a:xfrm>
        </p:grpSpPr>
        <p:pic>
          <p:nvPicPr>
            <p:cNvPr id="40983" name="object 1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33400" y="2490825"/>
              <a:ext cx="410700" cy="317400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40984" name="object 19"/>
            <p:cNvSpPr/>
            <p:nvPr/>
          </p:nvSpPr>
          <p:spPr>
            <a:xfrm>
              <a:off x="3090550" y="2528924"/>
              <a:ext cx="296545" cy="203200"/>
            </a:xfrm>
            <a:custGeom>
              <a:avLst/>
              <a:gdLst/>
              <a:ahLst/>
              <a:cxnLst/>
              <a:pathLst>
                <a:path w="296545" h="203200">
                  <a:moveTo>
                    <a:pt x="194849" y="203099"/>
                  </a:moveTo>
                  <a:lnTo>
                    <a:pt x="194849" y="152324"/>
                  </a:lnTo>
                  <a:lnTo>
                    <a:pt x="0" y="152324"/>
                  </a:lnTo>
                  <a:lnTo>
                    <a:pt x="0" y="50774"/>
                  </a:lnTo>
                  <a:lnTo>
                    <a:pt x="194849" y="50774"/>
                  </a:lnTo>
                  <a:lnTo>
                    <a:pt x="194849" y="0"/>
                  </a:lnTo>
                  <a:lnTo>
                    <a:pt x="296399" y="101549"/>
                  </a:lnTo>
                  <a:lnTo>
                    <a:pt x="194849" y="203099"/>
                  </a:lnTo>
                  <a:close/>
                </a:path>
              </a:pathLst>
            </a:custGeom>
            <a:solidFill>
              <a:srgbClr val="0053CC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40985" name="object 2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25700" y="1142575"/>
              <a:ext cx="2292599" cy="269172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40986" name="object 2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82850" y="1180675"/>
              <a:ext cx="2178298" cy="2577424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22" name="object 22"/>
          <p:cNvSpPr txBox="1"/>
          <p:nvPr/>
        </p:nvSpPr>
        <p:spPr>
          <a:xfrm>
            <a:off x="4003675" y="2149475"/>
            <a:ext cx="1138238" cy="3603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indent="63500" eaLnBrk="1" hangingPunct="1">
              <a:spcBef>
                <a:spcPts val="100"/>
              </a:spcBef>
              <a:buNone/>
            </a:pPr>
            <a:r>
              <a:rPr lang="en-US" altLang="zh-CN" sz="1100" b="1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ACCOMPLISH GOOGLE FORM</a:t>
            </a:r>
            <a:endParaRPr lang="en-US" altLang="zh-CN" sz="11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781425" y="2754313"/>
            <a:ext cx="1563688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algn="ctr" eaLnBrk="1" hangingPunct="1">
              <a:spcBef>
                <a:spcPts val="100"/>
              </a:spcBef>
              <a:buNone/>
            </a:pPr>
            <a:r>
              <a:rPr lang="en-US" altLang="zh-CN" sz="9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Member or Member’s representative to ﬁll up the Hospicash Google Form provided by the Maxicare Inpatient Specialist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560763" y="3768725"/>
            <a:ext cx="2003425" cy="827088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p>
            <a:pPr marL="161925" indent="85725" eaLnBrk="1" hangingPunct="1">
              <a:spcBef>
                <a:spcPts val="715"/>
              </a:spcBef>
              <a:buNone/>
            </a:pPr>
            <a:r>
              <a:rPr lang="en-US" altLang="zh-CN" sz="700" i="1">
                <a:solidFill>
                  <a:srgbClr val="0C3879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Fill up before discharge to receive the beneﬁt at least four working days</a:t>
            </a:r>
            <a:endParaRPr lang="en-US" altLang="zh-CN" sz="700">
              <a:solidFill>
                <a:srgbClr val="000000"/>
              </a:solidFill>
              <a:latin typeface="Century Gothic" panose="020B0502020202020204" pitchFamily="34" charset="0"/>
              <a:cs typeface="Century Gothic" panose="020B0502020202020204" pitchFamily="34" charset="0"/>
            </a:endParaRPr>
          </a:p>
          <a:p>
            <a:pPr marL="161925" indent="85725" eaLnBrk="1" hangingPunct="1">
              <a:buNone/>
            </a:pPr>
            <a:r>
              <a:rPr lang="en-US" altLang="zh-CN" sz="700" i="1">
                <a:solidFill>
                  <a:srgbClr val="0C3879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after being discharge.</a:t>
            </a:r>
            <a:endParaRPr lang="en-US" altLang="zh-CN" sz="700">
              <a:solidFill>
                <a:srgbClr val="000000"/>
              </a:solidFill>
              <a:latin typeface="Century Gothic" panose="020B0502020202020204" pitchFamily="34" charset="0"/>
              <a:cs typeface="Century Gothic" panose="020B0502020202020204" pitchFamily="34" charset="0"/>
            </a:endParaRPr>
          </a:p>
          <a:p>
            <a:pPr marL="161925" indent="85725" eaLnBrk="1" hangingPunct="1">
              <a:spcBef>
                <a:spcPts val="40"/>
              </a:spcBef>
              <a:buNone/>
            </a:pPr>
            <a:endParaRPr lang="en-US" altLang="zh-CN" sz="600">
              <a:solidFill>
                <a:srgbClr val="000000"/>
              </a:solidFill>
              <a:latin typeface="Century Gothic" panose="020B0502020202020204" pitchFamily="34" charset="0"/>
              <a:cs typeface="Century Gothic" panose="020B0502020202020204" pitchFamily="34" charset="0"/>
            </a:endParaRPr>
          </a:p>
          <a:p>
            <a:pPr marL="161925" indent="85725" eaLnBrk="1" hangingPunct="1">
              <a:buNone/>
            </a:pPr>
            <a:r>
              <a:rPr lang="en-US" altLang="zh-CN" sz="700" i="1">
                <a:solidFill>
                  <a:srgbClr val="0C3879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Deadline to accomplish the form: up to 90 calendar days after discharge date.</a:t>
            </a:r>
            <a:endParaRPr lang="en-US" altLang="zh-CN" sz="700">
              <a:solidFill>
                <a:srgbClr val="000000"/>
              </a:solidFill>
              <a:latin typeface="Century Gothic" panose="020B0502020202020204" pitchFamily="34" charset="0"/>
              <a:ea typeface="Century Gothic" panose="020B0502020202020204" pitchFamily="34" charset="0"/>
            </a:endParaRPr>
          </a:p>
        </p:txBody>
      </p:sp>
      <p:grpSp>
        <p:nvGrpSpPr>
          <p:cNvPr id="40973" name="object 25"/>
          <p:cNvGrpSpPr/>
          <p:nvPr/>
        </p:nvGrpSpPr>
        <p:grpSpPr>
          <a:xfrm>
            <a:off x="5603875" y="1143000"/>
            <a:ext cx="2686050" cy="2690813"/>
            <a:chOff x="5604000" y="1142575"/>
            <a:chExt cx="2685415" cy="2691765"/>
          </a:xfrm>
        </p:grpSpPr>
        <p:pic>
          <p:nvPicPr>
            <p:cNvPr id="40979" name="object 2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4000" y="2490825"/>
              <a:ext cx="410700" cy="317400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40980" name="object 27"/>
            <p:cNvSpPr/>
            <p:nvPr/>
          </p:nvSpPr>
          <p:spPr>
            <a:xfrm>
              <a:off x="5661149" y="2528924"/>
              <a:ext cx="296545" cy="203200"/>
            </a:xfrm>
            <a:custGeom>
              <a:avLst/>
              <a:gdLst/>
              <a:ahLst/>
              <a:cxnLst/>
              <a:pathLst>
                <a:path w="296545" h="203200">
                  <a:moveTo>
                    <a:pt x="194849" y="203099"/>
                  </a:moveTo>
                  <a:lnTo>
                    <a:pt x="194849" y="152324"/>
                  </a:lnTo>
                  <a:lnTo>
                    <a:pt x="0" y="152324"/>
                  </a:lnTo>
                  <a:lnTo>
                    <a:pt x="0" y="50774"/>
                  </a:lnTo>
                  <a:lnTo>
                    <a:pt x="194849" y="50774"/>
                  </a:lnTo>
                  <a:lnTo>
                    <a:pt x="194849" y="0"/>
                  </a:lnTo>
                  <a:lnTo>
                    <a:pt x="296399" y="101549"/>
                  </a:lnTo>
                  <a:lnTo>
                    <a:pt x="194849" y="203099"/>
                  </a:lnTo>
                  <a:close/>
                </a:path>
              </a:pathLst>
            </a:custGeom>
            <a:solidFill>
              <a:srgbClr val="0053CC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40981" name="object 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96300" y="1142575"/>
              <a:ext cx="2292599" cy="269172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40982" name="object 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53450" y="1180675"/>
              <a:ext cx="2178299" cy="2577424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30" name="object 30"/>
          <p:cNvSpPr txBox="1"/>
          <p:nvPr/>
        </p:nvSpPr>
        <p:spPr>
          <a:xfrm>
            <a:off x="1925638" y="1471613"/>
            <a:ext cx="5337175" cy="3762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2573655" algn="l"/>
                <a:tab pos="5144135" algn="l"/>
              </a:tabLst>
              <a:defRPr/>
            </a:pPr>
            <a:r>
              <a:rPr kumimoji="0" sz="2300" b="1" kern="0" cap="none" spc="-5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1</a:t>
            </a:r>
            <a:r>
              <a:rPr kumimoji="0" sz="2300" b="1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	</a:t>
            </a:r>
            <a:r>
              <a:rPr kumimoji="0" sz="2300" b="1" kern="0" cap="none" spc="17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2</a:t>
            </a:r>
            <a:r>
              <a:rPr kumimoji="0" sz="2300" b="1" kern="0" cap="none" spc="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	</a:t>
            </a:r>
            <a:r>
              <a:rPr kumimoji="0" sz="2300" b="1" kern="0" cap="none" spc="190" normalizeH="0" baseline="0" noProof="0" dirty="0">
                <a:solidFill>
                  <a:srgbClr val="233C73"/>
                </a:solidFill>
                <a:latin typeface="Calibri" panose="020F0502020204030204"/>
                <a:cs typeface="Calibri" panose="020F0502020204030204"/>
              </a:rPr>
              <a:t>3</a:t>
            </a:r>
            <a:endParaRPr kumimoji="0" sz="2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424613" y="2166938"/>
            <a:ext cx="1436688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100" b="1" kern="0" cap="none" spc="1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RECEIVE</a:t>
            </a:r>
            <a:r>
              <a:rPr kumimoji="0" sz="1100" b="1" kern="0" cap="none" spc="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00" b="1" kern="0" cap="none" spc="1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THE</a:t>
            </a:r>
            <a:r>
              <a:rPr kumimoji="0" sz="1100" b="1" kern="0" cap="none" spc="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100" b="1" kern="0" cap="none" spc="16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CASH</a:t>
            </a:r>
            <a:endParaRPr kumimoji="0" sz="11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221413" y="2892425"/>
            <a:ext cx="1854200" cy="4365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algn="ctr" eaLnBrk="1" hangingPunct="1">
              <a:spcBef>
                <a:spcPts val="100"/>
              </a:spcBef>
              <a:buNone/>
            </a:pPr>
            <a:r>
              <a:rPr lang="en-US" altLang="zh-CN" sz="90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Member receives the Hospicash Daily Hospital Income Beneﬁt in their provided bank account.</a:t>
            </a:r>
            <a:endParaRPr lang="en-US" altLang="zh-CN" sz="9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140450" y="3768725"/>
            <a:ext cx="2003425" cy="827088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p>
            <a:pPr eaLnBrk="1" hangingPunct="1">
              <a:spcBef>
                <a:spcPts val="40"/>
              </a:spcBef>
              <a:buNone/>
            </a:pPr>
            <a:endParaRPr lang="en-US" altLang="zh-CN" sz="90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 eaLnBrk="1" hangingPunct="1">
              <a:buNone/>
            </a:pPr>
            <a:r>
              <a:rPr lang="en-US" altLang="zh-CN" sz="700" i="1">
                <a:solidFill>
                  <a:srgbClr val="0C3879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Receive cash at least four working days after discharge.</a:t>
            </a:r>
            <a:endParaRPr lang="en-US" altLang="zh-CN" sz="700">
              <a:solidFill>
                <a:srgbClr val="000000"/>
              </a:solidFill>
              <a:latin typeface="Century Gothic" panose="020B0502020202020204" pitchFamily="34" charset="0"/>
              <a:cs typeface="Century Gothic" panose="020B0502020202020204" pitchFamily="34" charset="0"/>
            </a:endParaRPr>
          </a:p>
          <a:p>
            <a:pPr eaLnBrk="1" hangingPunct="1">
              <a:spcBef>
                <a:spcPts val="50"/>
              </a:spcBef>
              <a:buNone/>
            </a:pPr>
            <a:endParaRPr lang="en-US" altLang="zh-CN" sz="600">
              <a:solidFill>
                <a:srgbClr val="000000"/>
              </a:solidFill>
              <a:latin typeface="Century Gothic" panose="020B0502020202020204" pitchFamily="34" charset="0"/>
              <a:cs typeface="Century Gothic" panose="020B0502020202020204" pitchFamily="34" charset="0"/>
            </a:endParaRPr>
          </a:p>
          <a:p>
            <a:pPr algn="ctr" eaLnBrk="1" hangingPunct="1">
              <a:buNone/>
            </a:pPr>
            <a:r>
              <a:rPr lang="en-US" altLang="zh-CN" sz="700" i="1">
                <a:solidFill>
                  <a:srgbClr val="0C3879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Accomplished Google Form is a prerequisite.</a:t>
            </a:r>
            <a:endParaRPr lang="en-US" altLang="zh-CN" sz="700">
              <a:solidFill>
                <a:srgbClr val="000000"/>
              </a:solidFill>
              <a:latin typeface="Century Gothic" panose="020B0502020202020204" pitchFamily="34" charset="0"/>
              <a:ea typeface="Century Gothic" panose="020B0502020202020204" pitchFamily="34" charset="0"/>
            </a:endParaRPr>
          </a:p>
        </p:txBody>
      </p:sp>
      <p:sp>
        <p:nvSpPr>
          <p:cNvPr id="40978" name="object 34"/>
          <p:cNvSpPr/>
          <p:nvPr/>
        </p:nvSpPr>
        <p:spPr>
          <a:xfrm>
            <a:off x="8158163" y="0"/>
            <a:ext cx="985837" cy="603250"/>
          </a:xfrm>
          <a:custGeom>
            <a:avLst/>
            <a:gdLst/>
            <a:ahLst/>
            <a:cxnLst/>
            <a:pathLst>
              <a:path w="985520" h="603885">
                <a:moveTo>
                  <a:pt x="985499" y="603299"/>
                </a:moveTo>
                <a:lnTo>
                  <a:pt x="0" y="603299"/>
                </a:lnTo>
                <a:lnTo>
                  <a:pt x="0" y="0"/>
                </a:lnTo>
                <a:lnTo>
                  <a:pt x="985499" y="0"/>
                </a:lnTo>
                <a:lnTo>
                  <a:pt x="985499" y="60329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146675" y="1436688"/>
            <a:ext cx="3181350" cy="1154113"/>
          </a:xfrm>
        </p:spPr>
        <p:txBody>
          <a:bodyPr vert="horz" wrap="square" lIns="0" tIns="12700" rIns="0" bIns="0" rtlCol="0">
            <a:spAutoFit/>
          </a:bodyPr>
          <a:p>
            <a:pPr marL="12700" indent="396875" eaLnBrk="1" hangingPunct="1">
              <a:spcBef>
                <a:spcPts val="100"/>
              </a:spcBef>
              <a:buNone/>
            </a:pPr>
            <a:r>
              <a:rPr lang="en-US" altLang="zh-CN" sz="3700">
                <a:solidFill>
                  <a:srgbClr val="0053CC"/>
                </a:solidFill>
                <a:latin typeface="+mj-lt"/>
                <a:ea typeface="+mj-ea"/>
                <a:cs typeface="Calibri" panose="020F0502020204030204" pitchFamily="34" charset="0"/>
              </a:rPr>
              <a:t>GENERAL EXCLUSIONS</a:t>
            </a:r>
            <a:endParaRPr lang="en-US" altLang="zh-CN" sz="3700">
              <a:solidFill>
                <a:srgbClr val="0053CC"/>
              </a:solidFill>
              <a:latin typeface="+mj-lt"/>
              <a:ea typeface="Calibri" panose="020F0502020204030204" pitchFamily="34" charset="0"/>
              <a:cs typeface="+mj-cs"/>
            </a:endParaRPr>
          </a:p>
        </p:txBody>
      </p:sp>
      <p:grpSp>
        <p:nvGrpSpPr>
          <p:cNvPr id="41987" name="object 3"/>
          <p:cNvGrpSpPr/>
          <p:nvPr/>
        </p:nvGrpSpPr>
        <p:grpSpPr>
          <a:xfrm>
            <a:off x="0" y="0"/>
            <a:ext cx="9040813" cy="5143500"/>
            <a:chOff x="0" y="0"/>
            <a:chExt cx="9041130" cy="5143500"/>
          </a:xfrm>
        </p:grpSpPr>
        <p:pic>
          <p:nvPicPr>
            <p:cNvPr id="41989" name="object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0"/>
              <a:ext cx="4388875" cy="380902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41990" name="object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4331724" cy="3646462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41991" name="object 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319325"/>
              <a:ext cx="3605375" cy="28241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41992" name="object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2362524"/>
              <a:ext cx="3548224" cy="2757191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41993" name="object 8"/>
            <p:cNvSpPr/>
            <p:nvPr/>
          </p:nvSpPr>
          <p:spPr>
            <a:xfrm>
              <a:off x="8158599" y="80074"/>
              <a:ext cx="882015" cy="523240"/>
            </a:xfrm>
            <a:custGeom>
              <a:avLst/>
              <a:gdLst/>
              <a:ahLst/>
              <a:cxnLst/>
              <a:pathLst>
                <a:path w="882015" h="523240">
                  <a:moveTo>
                    <a:pt x="881999" y="523199"/>
                  </a:moveTo>
                  <a:lnTo>
                    <a:pt x="0" y="523199"/>
                  </a:lnTo>
                  <a:lnTo>
                    <a:pt x="0" y="0"/>
                  </a:lnTo>
                  <a:lnTo>
                    <a:pt x="881999" y="0"/>
                  </a:lnTo>
                  <a:lnTo>
                    <a:pt x="881999" y="523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8782050" y="4765675"/>
            <a:ext cx="166688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000" kern="0" cap="none" spc="-25" normalizeH="0" baseline="0" noProof="0" dirty="0">
                <a:solidFill>
                  <a:srgbClr val="595959"/>
                </a:solidFill>
                <a:latin typeface="Arial" panose="020B0604020202020204"/>
                <a:cs typeface="Arial" panose="020B0604020202020204"/>
              </a:rPr>
              <a:t>40</a:t>
            </a:r>
            <a:endParaRPr kumimoji="0" sz="1000" kern="0" cap="none" spc="0" normalizeH="0" baseline="0" noProof="0">
              <a:solidFill>
                <a:sysClr val="windowText" lastClr="000000"/>
              </a:solidFill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/>
      <p:pic>
        <p:nvPicPr>
          <p:cNvPr id="43010" name="object 2">
            <a:hlinkClick r:id="rId1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181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4034" name="object 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44038" name="object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100463" y="375950"/>
              <a:ext cx="671275" cy="67127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44039" name="object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57613" y="414050"/>
              <a:ext cx="556974" cy="556974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/>
        <p:txBody>
          <a:bodyPr vert="horz" wrap="square" lIns="0" tIns="239108" rIns="0" bIns="0" rtlCol="0">
            <a:spAutoFit/>
          </a:bodyPr>
          <a:lstStyle/>
          <a:p>
            <a:pPr marL="219964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700" b="1" i="0" u="none" strike="noStrike" kern="0" cap="none" spc="27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WHAT</a:t>
            </a:r>
            <a:r>
              <a:rPr kumimoji="0" sz="1700" b="1" i="0" u="none" strike="noStrike" kern="0" cap="none" spc="10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9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ARE</a:t>
            </a:r>
            <a:r>
              <a:rPr kumimoji="0" sz="1700" b="1" i="0" u="none" strike="noStrike" kern="0" cap="none" spc="10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6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THE</a:t>
            </a:r>
            <a:r>
              <a:rPr kumimoji="0" sz="1700" b="1" i="0" u="none" strike="noStrike" kern="0" cap="none" spc="10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4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EXCLUSIONS</a:t>
            </a:r>
            <a:endParaRPr kumimoji="0" sz="1700" b="1" i="0" u="none" strike="noStrike" kern="0" cap="none" spc="240" normalizeH="0" baseline="0" noProof="0" dirty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/>
        <p:txBody>
          <a:bodyPr vert="horz" wrap="square" lIns="0" tIns="111760" rIns="0" bIns="0" rtlCol="0">
            <a:spAutoFit/>
          </a:bodyPr>
          <a:p>
            <a:pPr marL="732155" indent="-327025" defTabSz="914400" eaLnBrk="1" hangingPunct="1">
              <a:spcBef>
                <a:spcPts val="875"/>
              </a:spcBef>
              <a:buFont typeface="Arial" panose="020B0604020202020204" pitchFamily="34" charset="0"/>
              <a:buChar char="●"/>
              <a:tabLst>
                <a:tab pos="732155" algn="l"/>
              </a:tabLst>
            </a:pPr>
            <a:r>
              <a:rPr lang="en-US" altLang="zh-CN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Injuries arising from war or any combat-related activities while in military service</a:t>
            </a:r>
            <a:endParaRPr lang="en-US" altLang="zh-CN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732155" indent="-327025" defTabSz="914400" eaLnBrk="1" hangingPunct="1">
              <a:spcBef>
                <a:spcPts val="775"/>
              </a:spcBef>
              <a:buFont typeface="Arial" panose="020B0604020202020204" pitchFamily="34" charset="0"/>
              <a:buChar char="●"/>
              <a:tabLst>
                <a:tab pos="732155" algn="l"/>
              </a:tabLst>
            </a:pPr>
            <a:r>
              <a:rPr lang="en-US" altLang="zh-CN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Self-inﬂicted injuries</a:t>
            </a:r>
            <a:endParaRPr lang="en-US" altLang="zh-CN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732155" indent="-327025" defTabSz="914400" eaLnBrk="1" hangingPunct="1">
              <a:spcBef>
                <a:spcPts val="775"/>
              </a:spcBef>
              <a:buFont typeface="Arial" panose="020B0604020202020204" pitchFamily="34" charset="0"/>
              <a:buChar char="●"/>
              <a:tabLst>
                <a:tab pos="732155" algn="l"/>
              </a:tabLst>
            </a:pPr>
            <a:r>
              <a:rPr lang="en-US" altLang="zh-CN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Injuries from misconduct or gross negligence</a:t>
            </a:r>
            <a:endParaRPr lang="en-US" altLang="zh-CN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732155" indent="-327025" defTabSz="914400" eaLnBrk="1" hangingPunct="1">
              <a:spcBef>
                <a:spcPts val="775"/>
              </a:spcBef>
              <a:buFont typeface="Arial" panose="020B0604020202020204" pitchFamily="34" charset="0"/>
              <a:buChar char="●"/>
              <a:tabLst>
                <a:tab pos="732155" algn="l"/>
              </a:tabLst>
            </a:pPr>
            <a:r>
              <a:rPr lang="en-US" altLang="zh-CN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Medical emergencies from beautiﬁcation procedures</a:t>
            </a:r>
            <a:endParaRPr lang="en-US" altLang="zh-CN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732155" indent="-327025" defTabSz="914400" eaLnBrk="1" hangingPunct="1">
              <a:spcBef>
                <a:spcPts val="775"/>
              </a:spcBef>
              <a:buFont typeface="Arial" panose="020B0604020202020204" pitchFamily="34" charset="0"/>
              <a:buChar char="●"/>
              <a:tabLst>
                <a:tab pos="732155" algn="l"/>
              </a:tabLst>
            </a:pPr>
            <a:r>
              <a:rPr lang="en-US" altLang="zh-CN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Chronic Dermatoses (Psoriasis and Skin Asthma) except consultations</a:t>
            </a:r>
            <a:endParaRPr lang="en-US" altLang="zh-CN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732155" indent="-327025" defTabSz="914400" eaLnBrk="1" hangingPunct="1">
              <a:spcBef>
                <a:spcPts val="775"/>
              </a:spcBef>
              <a:buFont typeface="Arial" panose="020B0604020202020204" pitchFamily="34" charset="0"/>
              <a:buChar char="●"/>
              <a:tabLst>
                <a:tab pos="732155" algn="l"/>
              </a:tabLst>
            </a:pPr>
            <a:r>
              <a:rPr lang="en-US" altLang="zh-CN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Government-funded healthcare beneﬁts</a:t>
            </a:r>
            <a:endParaRPr lang="en-US" altLang="zh-CN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732155" indent="-327025" defTabSz="914400" eaLnBrk="1" hangingPunct="1">
              <a:spcBef>
                <a:spcPts val="775"/>
              </a:spcBef>
              <a:buFont typeface="Arial" panose="020B0604020202020204" pitchFamily="34" charset="0"/>
              <a:buChar char="●"/>
              <a:tabLst>
                <a:tab pos="732155" algn="l"/>
              </a:tabLst>
            </a:pPr>
            <a:r>
              <a:rPr lang="en-US" altLang="zh-CN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Personal medical requirements</a:t>
            </a:r>
            <a:endParaRPr lang="en-US" altLang="zh-CN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732155" indent="-327025" defTabSz="914400" eaLnBrk="1" hangingPunct="1">
              <a:spcBef>
                <a:spcPts val="775"/>
              </a:spcBef>
              <a:buFont typeface="Arial" panose="020B0604020202020204" pitchFamily="34" charset="0"/>
              <a:buChar char="●"/>
              <a:tabLst>
                <a:tab pos="732155" algn="l"/>
              </a:tabLst>
            </a:pPr>
            <a:r>
              <a:rPr lang="en-US" altLang="zh-CN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Involvement in hazardous sports</a:t>
            </a:r>
            <a:endParaRPr lang="en-US" altLang="zh-CN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732155" indent="-327025" defTabSz="914400" eaLnBrk="1" hangingPunct="1">
              <a:spcBef>
                <a:spcPts val="775"/>
              </a:spcBef>
              <a:buFont typeface="Arial" panose="020B0604020202020204" pitchFamily="34" charset="0"/>
              <a:buChar char="●"/>
              <a:tabLst>
                <a:tab pos="732155" algn="l"/>
              </a:tabLst>
            </a:pPr>
            <a:r>
              <a:rPr lang="en-US" altLang="zh-CN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Non-insurable conditions</a:t>
            </a:r>
            <a:endParaRPr lang="en-US" altLang="zh-CN">
              <a:solidFill>
                <a:srgbClr val="0C3879"/>
              </a:solidFill>
              <a:latin typeface="+mn-lt"/>
              <a:ea typeface="+mn-ea"/>
              <a:cs typeface="Calibri" panose="020F0502020204030204" pitchFamily="34" charset="0"/>
            </a:endParaRPr>
          </a:p>
          <a:p>
            <a:pPr marL="732155" indent="-327025" defTabSz="914400" eaLnBrk="1" hangingPunct="1">
              <a:spcBef>
                <a:spcPts val="775"/>
              </a:spcBef>
              <a:buFont typeface="Arial" panose="020B0604020202020204" pitchFamily="34" charset="0"/>
              <a:buChar char="●"/>
              <a:tabLst>
                <a:tab pos="732155" algn="l"/>
              </a:tabLst>
            </a:pPr>
            <a:r>
              <a:rPr lang="en-US" altLang="zh-CN">
                <a:solidFill>
                  <a:srgbClr val="0C3879"/>
                </a:solidFill>
                <a:latin typeface="+mn-lt"/>
                <a:ea typeface="+mn-ea"/>
                <a:cs typeface="Calibri" panose="020F0502020204030204" pitchFamily="34" charset="0"/>
              </a:rPr>
              <a:t>Additional charges</a:t>
            </a:r>
            <a:endParaRPr lang="en-US" altLang="zh-CN">
              <a:solidFill>
                <a:srgbClr val="0C3879"/>
              </a:solidFill>
              <a:latin typeface="+mn-lt"/>
              <a:ea typeface="Calibri" panose="020F0502020204030204" pitchFamily="34" charset="0"/>
              <a:cs typeface="+mn-cs"/>
            </a:endParaRPr>
          </a:p>
        </p:txBody>
      </p:sp>
      <p:sp>
        <p:nvSpPr>
          <p:cNvPr id="44037" name="object 7"/>
          <p:cNvSpPr/>
          <p:nvPr/>
        </p:nvSpPr>
        <p:spPr>
          <a:xfrm>
            <a:off x="8158163" y="0"/>
            <a:ext cx="985837" cy="603250"/>
          </a:xfrm>
          <a:custGeom>
            <a:avLst/>
            <a:gdLst/>
            <a:ahLst/>
            <a:cxnLst/>
            <a:pathLst>
              <a:path w="985520" h="603885">
                <a:moveTo>
                  <a:pt x="985499" y="603299"/>
                </a:moveTo>
                <a:lnTo>
                  <a:pt x="0" y="603299"/>
                </a:lnTo>
                <a:lnTo>
                  <a:pt x="0" y="0"/>
                </a:lnTo>
                <a:lnTo>
                  <a:pt x="985499" y="0"/>
                </a:lnTo>
                <a:lnTo>
                  <a:pt x="985499" y="60329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17725" y="923925"/>
            <a:ext cx="4910138" cy="284163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700" b="1" i="0" u="none" strike="noStrike" kern="0" cap="none" spc="27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WHAT</a:t>
            </a:r>
            <a:r>
              <a:rPr kumimoji="0" sz="1700" b="1" i="0" u="none" strike="noStrike" kern="0" cap="none" spc="10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5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COUNTS</a:t>
            </a:r>
            <a:r>
              <a:rPr kumimoji="0" sz="1700" b="1" i="0" u="none" strike="noStrike" kern="0" cap="none" spc="10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7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AS</a:t>
            </a:r>
            <a:r>
              <a:rPr kumimoji="0" sz="1700" b="1" i="0" u="none" strike="noStrike" kern="0" cap="none" spc="10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4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ADDITIONAL</a:t>
            </a:r>
            <a:r>
              <a:rPr kumimoji="0" sz="1700" b="1" i="0" u="none" strike="noStrike" kern="0" cap="none" spc="10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6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CHARGES?</a:t>
            </a:r>
            <a:endParaRPr kumimoji="0" sz="1700" b="1" i="0" u="none" strike="noStrike" kern="0" cap="none" spc="260" normalizeH="0" baseline="0" noProof="0" dirty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81113" y="1371600"/>
            <a:ext cx="6570663" cy="2987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339725" indent="-327025" algn="just" defTabSz="914400" eaLnBrk="1" hangingPunct="1">
              <a:lnSpc>
                <a:spcPct val="115000"/>
              </a:lnSpc>
              <a:spcBef>
                <a:spcPts val="100"/>
              </a:spcBef>
              <a:buFont typeface="Arial" panose="020B0604020202020204" pitchFamily="34" charset="0"/>
              <a:buChar char="●"/>
              <a:tabLst>
                <a:tab pos="339725" algn="l"/>
              </a:tabLst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Additional charges resulting from room upgrading or additional personal comfort items not included in the room and board accommodation (T.V., telephone, etc.)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spcBef>
                <a:spcPts val="15"/>
              </a:spcBef>
              <a:buClr>
                <a:srgbClr val="0C3879"/>
              </a:buClr>
              <a:buFont typeface="Arial" panose="020B0604020202020204" pitchFamily="34" charset="0"/>
              <a:buChar char="●"/>
              <a:tabLst>
                <a:tab pos="339725" algn="l"/>
              </a:tabLst>
            </a:pPr>
            <a:endParaRPr lang="en-US" altLang="zh-CN" sz="16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buFont typeface="Arial" panose="020B0604020202020204" pitchFamily="34" charset="0"/>
              <a:buChar char="●"/>
              <a:tabLst>
                <a:tab pos="339725" algn="l"/>
              </a:tabLst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Corrective appliances, artiﬁcial aids, and prosthetic appliances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spcBef>
                <a:spcPts val="15"/>
              </a:spcBef>
              <a:buClr>
                <a:srgbClr val="0C3879"/>
              </a:buClr>
              <a:buFont typeface="Arial" panose="020B0604020202020204" pitchFamily="34" charset="0"/>
              <a:buChar char="●"/>
              <a:tabLst>
                <a:tab pos="339725" algn="l"/>
              </a:tabLst>
            </a:pPr>
            <a:endParaRPr lang="en-US" altLang="zh-CN" sz="16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buFont typeface="Arial" panose="020B0604020202020204" pitchFamily="34" charset="0"/>
              <a:buChar char="●"/>
              <a:tabLst>
                <a:tab pos="339725" algn="l"/>
              </a:tabLst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Take home medicines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spcBef>
                <a:spcPts val="25"/>
              </a:spcBef>
              <a:buClr>
                <a:srgbClr val="0C3879"/>
              </a:buClr>
              <a:buFont typeface="Arial" panose="020B0604020202020204" pitchFamily="34" charset="0"/>
              <a:buChar char="●"/>
              <a:tabLst>
                <a:tab pos="339725" algn="l"/>
              </a:tabLst>
            </a:pP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algn="just" defTabSz="914400" eaLnBrk="1" hangingPunct="1">
              <a:lnSpc>
                <a:spcPct val="115000"/>
              </a:lnSpc>
              <a:buFont typeface="Arial" panose="020B0604020202020204" pitchFamily="34" charset="0"/>
              <a:buChar char="●"/>
              <a:tabLst>
                <a:tab pos="339725" algn="l"/>
              </a:tabLst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Services obtained from non-accredited physicians and hospitals or other provider of care, except under emergency care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spcBef>
                <a:spcPts val="25"/>
              </a:spcBef>
              <a:buClr>
                <a:srgbClr val="0C3879"/>
              </a:buClr>
              <a:buFont typeface="Arial" panose="020B0604020202020204" pitchFamily="34" charset="0"/>
              <a:buChar char="●"/>
              <a:tabLst>
                <a:tab pos="339725" algn="l"/>
              </a:tabLst>
            </a:pPr>
            <a:endParaRPr lang="en-US" altLang="zh-CN" sz="14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lnSpc>
                <a:spcPct val="115000"/>
              </a:lnSpc>
              <a:buFont typeface="Arial" panose="020B0604020202020204" pitchFamily="34" charset="0"/>
              <a:buChar char="●"/>
              <a:tabLst>
                <a:tab pos="339725" algn="l"/>
              </a:tabLst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Purchase or lease of durable medical equipment and oxygen except during covered inpatient care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45060" name="object 4"/>
          <p:cNvSpPr/>
          <p:nvPr/>
        </p:nvSpPr>
        <p:spPr>
          <a:xfrm>
            <a:off x="8158163" y="0"/>
            <a:ext cx="985837" cy="603250"/>
          </a:xfrm>
          <a:custGeom>
            <a:avLst/>
            <a:gdLst/>
            <a:ahLst/>
            <a:cxnLst/>
            <a:pathLst>
              <a:path w="985520" h="603885">
                <a:moveTo>
                  <a:pt x="985499" y="603299"/>
                </a:moveTo>
                <a:lnTo>
                  <a:pt x="0" y="603299"/>
                </a:lnTo>
                <a:lnTo>
                  <a:pt x="0" y="0"/>
                </a:lnTo>
                <a:lnTo>
                  <a:pt x="985499" y="0"/>
                </a:lnTo>
                <a:lnTo>
                  <a:pt x="985499" y="60329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01800" y="695325"/>
            <a:ext cx="5743575" cy="284163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700" b="1" i="0" u="none" strike="noStrike" kern="0" cap="none" spc="27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WHAT</a:t>
            </a:r>
            <a:r>
              <a:rPr kumimoji="0" sz="1700" b="1" i="0" u="none" strike="noStrike" kern="0" cap="none" spc="11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5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COUNTS</a:t>
            </a:r>
            <a:r>
              <a:rPr kumimoji="0" sz="1700" b="1" i="0" u="none" strike="noStrike" kern="0" cap="none" spc="11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7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AS</a:t>
            </a:r>
            <a:r>
              <a:rPr kumimoji="0" sz="1700" b="1" i="0" u="none" strike="noStrike" kern="0" cap="none" spc="11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7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NON-</a:t>
            </a:r>
            <a:r>
              <a:rPr kumimoji="0" sz="1700" b="1" i="0" u="none" strike="noStrike" kern="0" cap="none" spc="24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INSURABLE</a:t>
            </a:r>
            <a:r>
              <a:rPr kumimoji="0" sz="1700" b="1" i="0" u="none" strike="noStrike" kern="0" cap="none" spc="11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700" b="1" i="0" u="none" strike="noStrike" kern="0" cap="none" spc="21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CONDITIONS?</a:t>
            </a:r>
            <a:endParaRPr kumimoji="0" sz="1700" b="1" i="0" u="none" strike="noStrike" kern="0" cap="none" spc="215" normalizeH="0" baseline="0" noProof="0" dirty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81113" y="1065213"/>
            <a:ext cx="6296025" cy="3379788"/>
          </a:xfrm>
          <a:prstGeom prst="rect">
            <a:avLst/>
          </a:prstGeom>
        </p:spPr>
        <p:txBody>
          <a:bodyPr vert="horz" wrap="square" lIns="0" tIns="120015" rIns="0" bIns="0" rtlCol="0">
            <a:spAutoFit/>
          </a:bodyPr>
          <a:p>
            <a:pPr marL="339725" indent="-327025" defTabSz="914400" eaLnBrk="1" hangingPunct="1">
              <a:spcBef>
                <a:spcPts val="950"/>
              </a:spcBef>
              <a:buFont typeface="Arial" panose="020B0604020202020204" pitchFamily="34" charset="0"/>
              <a:buChar char="●"/>
              <a:tabLst>
                <a:tab pos="339725" algn="l"/>
              </a:tabLst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Custodial, domiciliary, and convalescent care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spcBef>
                <a:spcPts val="840"/>
              </a:spcBef>
              <a:buFont typeface="Arial" panose="020B0604020202020204" pitchFamily="34" charset="0"/>
              <a:buChar char="●"/>
              <a:tabLst>
                <a:tab pos="339725" algn="l"/>
              </a:tabLst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Long-term rehabilitation and psychiatric care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spcBef>
                <a:spcPts val="850"/>
              </a:spcBef>
              <a:buFont typeface="Arial" panose="020B0604020202020204" pitchFamily="34" charset="0"/>
              <a:buChar char="●"/>
              <a:tabLst>
                <a:tab pos="339725" algn="l"/>
              </a:tabLst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Dental and maternity cases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lnSpc>
                <a:spcPct val="115000"/>
              </a:lnSpc>
              <a:spcBef>
                <a:spcPts val="615"/>
              </a:spcBef>
              <a:buFont typeface="Arial" panose="020B0604020202020204" pitchFamily="34" charset="0"/>
              <a:buChar char="●"/>
              <a:tabLst>
                <a:tab pos="339725" algn="l"/>
              </a:tabLst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Circumcision, sex transformation, diagnosis and treatment of fertility or infertility, artiﬁcial insemination, sterilization, or reversal of such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lnSpc>
                <a:spcPct val="115000"/>
              </a:lnSpc>
              <a:spcBef>
                <a:spcPts val="615"/>
              </a:spcBef>
              <a:buFont typeface="Arial" panose="020B0604020202020204" pitchFamily="34" charset="0"/>
              <a:buChar char="●"/>
              <a:tabLst>
                <a:tab pos="339725" algn="l"/>
              </a:tabLst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All expenses incurred in the process of organ donation and transplantation, unless the Member thereof is the recipient of such donation or transplantation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spcBef>
                <a:spcPts val="850"/>
              </a:spcBef>
              <a:buFont typeface="Arial" panose="020B0604020202020204" pitchFamily="34" charset="0"/>
              <a:buChar char="●"/>
              <a:tabLst>
                <a:tab pos="339725" algn="l"/>
              </a:tabLst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All physical deformities prior to enrollment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spcBef>
                <a:spcPts val="850"/>
              </a:spcBef>
              <a:buFont typeface="Arial" panose="020B0604020202020204" pitchFamily="34" charset="0"/>
              <a:buChar char="●"/>
              <a:tabLst>
                <a:tab pos="339725" algn="l"/>
              </a:tabLst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Experimental medical procedures and acupuncture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9725" indent="-327025" defTabSz="914400" eaLnBrk="1" hangingPunct="1">
              <a:lnSpc>
                <a:spcPct val="115000"/>
              </a:lnSpc>
              <a:spcBef>
                <a:spcPts val="615"/>
              </a:spcBef>
              <a:buFont typeface="Arial" panose="020B0604020202020204" pitchFamily="34" charset="0"/>
              <a:buChar char="●"/>
              <a:tabLst>
                <a:tab pos="339725" algn="l"/>
              </a:tabLst>
            </a:pPr>
            <a:r>
              <a:rPr lang="en-US" altLang="zh-CN" sz="13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Hepatitis B screening and all diagnostic examinations for Members who have preexisting Hepatitis B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46084" name="object 4"/>
          <p:cNvSpPr/>
          <p:nvPr/>
        </p:nvSpPr>
        <p:spPr>
          <a:xfrm>
            <a:off x="8158163" y="0"/>
            <a:ext cx="985837" cy="603250"/>
          </a:xfrm>
          <a:custGeom>
            <a:avLst/>
            <a:gdLst/>
            <a:ahLst/>
            <a:cxnLst/>
            <a:pathLst>
              <a:path w="985520" h="603885">
                <a:moveTo>
                  <a:pt x="985499" y="603299"/>
                </a:moveTo>
                <a:lnTo>
                  <a:pt x="0" y="603299"/>
                </a:lnTo>
                <a:lnTo>
                  <a:pt x="0" y="0"/>
                </a:lnTo>
                <a:lnTo>
                  <a:pt x="985499" y="0"/>
                </a:lnTo>
                <a:lnTo>
                  <a:pt x="985499" y="603299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9525">
            <a:noFill/>
          </a:ln>
        </p:spPr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41350" y="239713"/>
            <a:ext cx="1096963" cy="238125"/>
          </a:xfr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|</a:t>
            </a:r>
            <a:r>
              <a:rPr kumimoji="0" sz="1400" b="0" i="0" u="none" strike="noStrike" kern="0" cap="none" spc="175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400" b="0" i="0" u="none" strike="noStrike" kern="0" cap="none" spc="150" normalizeH="0" baseline="0" noProof="0" dirty="0">
                <a:ln>
                  <a:noFill/>
                </a:ln>
                <a:solidFill>
                  <a:srgbClr val="233C73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Helpdesks</a:t>
            </a:r>
            <a:endParaRPr kumimoji="0" sz="14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pic>
        <p:nvPicPr>
          <p:cNvPr id="47107" name="object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59250" y="1084263"/>
            <a:ext cx="4246563" cy="89376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" name="object 4"/>
          <p:cNvSpPr txBox="1"/>
          <p:nvPr/>
        </p:nvSpPr>
        <p:spPr>
          <a:xfrm>
            <a:off x="4079875" y="504825"/>
            <a:ext cx="4406900" cy="5667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p>
            <a:pPr marL="2062480" indent="-2051050" eaLnBrk="1" hangingPunct="1">
              <a:lnSpc>
                <a:spcPct val="101000"/>
              </a:lnSpc>
              <a:spcBef>
                <a:spcPts val="100"/>
              </a:spcBef>
              <a:buNone/>
            </a:pPr>
            <a:r>
              <a:rPr lang="en-US" altLang="zh-CN" sz="1700">
                <a:solidFill>
                  <a:srgbClr val="233C73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GET EXCELLENT CUSTOMER SUPPORT AT</a:t>
            </a:r>
            <a:endParaRPr lang="en-US" altLang="zh-CN" sz="1700">
              <a:solidFill>
                <a:srgbClr val="000000"/>
              </a:solidFill>
              <a:latin typeface="Century Gothic" panose="020B0502020202020204" pitchFamily="34" charset="0"/>
              <a:ea typeface="Century Gothic" panose="020B0502020202020204" pitchFamily="34" charset="0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256088" y="2181225"/>
            <a:ext cx="4098925" cy="66675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p>
            <a:pPr marL="11430" algn="ctr" eaLnBrk="1" hangingPunct="1">
              <a:lnSpc>
                <a:spcPct val="106000"/>
              </a:lnSpc>
              <a:spcBef>
                <a:spcPts val="15"/>
              </a:spcBef>
              <a:buNone/>
            </a:pPr>
            <a:r>
              <a:rPr lang="en-US" altLang="zh-CN" sz="13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Let our friendly Customer Care Representatives attend to your inquiries and Letter of Authorization (LOA) requests.</a:t>
            </a:r>
            <a:endParaRPr lang="en-US" altLang="zh-CN" sz="13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grpSp>
        <p:nvGrpSpPr>
          <p:cNvPr id="47110" name="object 6"/>
          <p:cNvGrpSpPr/>
          <p:nvPr/>
        </p:nvGrpSpPr>
        <p:grpSpPr>
          <a:xfrm>
            <a:off x="0" y="0"/>
            <a:ext cx="9144000" cy="5143500"/>
            <a:chOff x="0" y="0"/>
            <a:chExt cx="9144635" cy="5143500"/>
          </a:xfrm>
        </p:grpSpPr>
        <p:pic>
          <p:nvPicPr>
            <p:cNvPr id="47111" name="object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728625"/>
              <a:ext cx="4071175" cy="4414874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47112" name="object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779425"/>
              <a:ext cx="4014024" cy="4364075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47113" name="object 9"/>
            <p:cNvSpPr/>
            <p:nvPr/>
          </p:nvSpPr>
          <p:spPr>
            <a:xfrm>
              <a:off x="8158599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47114" name="object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69678" y="3072671"/>
              <a:ext cx="1425039" cy="1447249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47115" name="object 11"/>
            <p:cNvSpPr/>
            <p:nvPr/>
          </p:nvSpPr>
          <p:spPr>
            <a:xfrm>
              <a:off x="5512527" y="3015520"/>
              <a:ext cx="1539875" cy="1562100"/>
            </a:xfrm>
            <a:custGeom>
              <a:avLst/>
              <a:gdLst/>
              <a:ahLst/>
              <a:cxnLst/>
              <a:pathLst>
                <a:path w="1539875" h="1562100">
                  <a:moveTo>
                    <a:pt x="0" y="0"/>
                  </a:moveTo>
                  <a:lnTo>
                    <a:pt x="1539339" y="0"/>
                  </a:lnTo>
                  <a:lnTo>
                    <a:pt x="1539339" y="1561549"/>
                  </a:lnTo>
                  <a:lnTo>
                    <a:pt x="0" y="156154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14299" cap="flat" cmpd="sng">
              <a:solidFill>
                <a:srgbClr val="595959">
                  <a:alpha val="100000"/>
                </a:srgbClr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p>
              <a:endParaRPr lang="en-US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8130" name="object 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48139" name="object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055650" y="928698"/>
              <a:ext cx="7032700" cy="313435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48140" name="object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2800" y="966799"/>
              <a:ext cx="6918399" cy="3020049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5" name="object 5"/>
          <p:cNvSpPr txBox="1"/>
          <p:nvPr/>
        </p:nvSpPr>
        <p:spPr>
          <a:xfrm>
            <a:off x="2060575" y="1738313"/>
            <a:ext cx="1990725" cy="619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b="1" kern="0" cap="none" spc="17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Customer</a:t>
            </a:r>
            <a:r>
              <a:rPr kumimoji="0" sz="1300" b="1" kern="0" cap="none" spc="8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b="1" kern="0" cap="none" spc="16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Care</a:t>
            </a:r>
            <a:r>
              <a:rPr kumimoji="0" sz="1300" b="1" kern="0" cap="none" spc="8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b="1" kern="0" cap="none" spc="13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Hotline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kern="0" cap="none" spc="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(+632)</a:t>
            </a:r>
            <a:r>
              <a:rPr kumimoji="0" sz="1300" kern="0" cap="none" spc="4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2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7798</a:t>
            </a:r>
            <a:r>
              <a:rPr kumimoji="0" sz="1300" kern="0" cap="none" spc="5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8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7777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kern="0" cap="none" spc="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(+632)</a:t>
            </a:r>
            <a:r>
              <a:rPr kumimoji="0" sz="13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14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8582</a:t>
            </a:r>
            <a:r>
              <a:rPr kumimoji="0" sz="13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6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1900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60575" y="2530475"/>
            <a:ext cx="1695450" cy="619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b="1" kern="0" cap="none" spc="14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Teleconsult</a:t>
            </a:r>
            <a:r>
              <a:rPr kumimoji="0" sz="1300" b="1" kern="0" cap="none" spc="8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b="1" kern="0" cap="none" spc="13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Hotline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kern="0" cap="none" spc="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(+632)</a:t>
            </a:r>
            <a:r>
              <a:rPr kumimoji="0" sz="13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14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8582</a:t>
            </a:r>
            <a:r>
              <a:rPr kumimoji="0" sz="1300" kern="0" cap="none" spc="5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5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1980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kern="0" cap="none" spc="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(+632)</a:t>
            </a:r>
            <a:r>
              <a:rPr kumimoji="0" sz="1300" kern="0" cap="none" spc="4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2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7798</a:t>
            </a:r>
            <a:r>
              <a:rPr kumimoji="0" sz="1300" kern="0" cap="none" spc="5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0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7798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060575" y="3322638"/>
            <a:ext cx="1485900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b="1" kern="0" cap="none" spc="11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24/7</a:t>
            </a:r>
            <a:r>
              <a:rPr kumimoji="0" sz="1300" b="1" kern="0" cap="none" spc="8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b="1" kern="0" cap="none" spc="17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SMS</a:t>
            </a:r>
            <a:r>
              <a:rPr kumimoji="0" sz="1300" b="1" kern="0" cap="none" spc="8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b="1" kern="0" cap="none" spc="13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Inquiry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kern="0" cap="none" spc="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(+63)</a:t>
            </a:r>
            <a:r>
              <a:rPr kumimoji="0" sz="1300" kern="0" cap="none" spc="3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9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922</a:t>
            </a:r>
            <a:r>
              <a:rPr kumimoji="0" sz="1300" kern="0" cap="none" spc="3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-3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110</a:t>
            </a:r>
            <a:r>
              <a:rPr kumimoji="0" sz="1300" kern="0" cap="none" spc="3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-2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1733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521200" y="1738313"/>
            <a:ext cx="2763838" cy="4206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b="1" kern="0" cap="none" spc="17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Customer</a:t>
            </a:r>
            <a:r>
              <a:rPr kumimoji="0" sz="1300" b="1" kern="0" cap="none" spc="8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b="1" kern="0" cap="none" spc="16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Care</a:t>
            </a:r>
            <a:r>
              <a:rPr kumimoji="0" sz="1300" b="1" kern="0" cap="none" spc="8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b="1" kern="0" cap="none" spc="155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Email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kern="0" cap="none" spc="13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  <a:hlinkClick r:id="rId3"/>
              </a:rPr>
              <a:t>customercare@maxicare.com.ph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21200" y="2332038"/>
            <a:ext cx="2062163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b="1" kern="0" cap="none" spc="17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Product</a:t>
            </a:r>
            <a:r>
              <a:rPr kumimoji="0" sz="1300" b="1" kern="0" cap="none" spc="9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b="1" kern="0" cap="none" spc="14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Inquiry</a:t>
            </a:r>
            <a:r>
              <a:rPr kumimoji="0" sz="1300" b="1" kern="0" cap="none" spc="9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b="1" kern="0" cap="none" spc="130" normalizeH="0" baseline="0" noProof="0" dirty="0">
                <a:solidFill>
                  <a:srgbClr val="0053CC"/>
                </a:solidFill>
                <a:latin typeface="Calibri" panose="020F0502020204030204"/>
                <a:cs typeface="Calibri" panose="020F0502020204030204"/>
              </a:rPr>
              <a:t>Hotline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  <a:p>
            <a:pPr marL="12700" marR="0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00" kern="0" cap="none" spc="7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(+632)</a:t>
            </a:r>
            <a:r>
              <a:rPr kumimoji="0" sz="1300" kern="0" cap="none" spc="4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25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7798</a:t>
            </a:r>
            <a:r>
              <a:rPr kumimoji="0" sz="1300" kern="0" cap="none" spc="5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kumimoji="0" sz="1300" kern="0" cap="none" spc="100" normalizeH="0" baseline="0" noProof="0" dirty="0">
                <a:solidFill>
                  <a:srgbClr val="0C3879"/>
                </a:solidFill>
                <a:latin typeface="Calibri" panose="020F0502020204030204"/>
                <a:cs typeface="Calibri" panose="020F0502020204030204"/>
              </a:rPr>
              <a:t>7770</a:t>
            </a:r>
            <a:endParaRPr kumimoji="0" sz="1300" kern="0" cap="none" spc="0" normalizeH="0" baseline="0" noProof="0">
              <a:solidFill>
                <a:sysClr val="windowText" lastClr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8136" name="object 10"/>
          <p:cNvGrpSpPr/>
          <p:nvPr/>
        </p:nvGrpSpPr>
        <p:grpSpPr>
          <a:xfrm>
            <a:off x="2133600" y="0"/>
            <a:ext cx="7010400" cy="1041400"/>
            <a:chOff x="2132998" y="0"/>
            <a:chExt cx="7011670" cy="1042035"/>
          </a:xfrm>
        </p:grpSpPr>
        <p:sp>
          <p:nvSpPr>
            <p:cNvPr id="48137" name="object 11"/>
            <p:cNvSpPr/>
            <p:nvPr/>
          </p:nvSpPr>
          <p:spPr>
            <a:xfrm>
              <a:off x="8158600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pic>
          <p:nvPicPr>
            <p:cNvPr id="48138" name="object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32998" y="383561"/>
              <a:ext cx="4877990" cy="658414"/>
            </a:xfrm>
            <a:prstGeom prst="rect">
              <a:avLst/>
            </a:prstGeom>
            <a:noFill/>
            <a:ln w="9525">
              <a:noFill/>
            </a:ln>
          </p:spPr>
        </p:pic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/>
      <p:grpSp>
        <p:nvGrpSpPr>
          <p:cNvPr id="49154" name="object 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49155" name="object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0"/>
              <a:ext cx="9143999" cy="514349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49156" name="object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2879" y="424813"/>
              <a:ext cx="4282188" cy="3719163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49157" name="object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58052" y="683250"/>
              <a:ext cx="3729240" cy="3426015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49158" name="object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42155" y="4109265"/>
              <a:ext cx="643344" cy="396843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49159" name="object 7"/>
            <p:cNvSpPr/>
            <p:nvPr/>
          </p:nvSpPr>
          <p:spPr>
            <a:xfrm>
              <a:off x="2704054" y="4071165"/>
              <a:ext cx="720090" cy="473075"/>
            </a:xfrm>
            <a:custGeom>
              <a:avLst/>
              <a:gdLst/>
              <a:ahLst/>
              <a:cxnLst/>
              <a:pathLst>
                <a:path w="720089" h="473075">
                  <a:moveTo>
                    <a:pt x="0" y="0"/>
                  </a:moveTo>
                  <a:lnTo>
                    <a:pt x="719544" y="0"/>
                  </a:lnTo>
                  <a:lnTo>
                    <a:pt x="719544" y="473043"/>
                  </a:lnTo>
                  <a:lnTo>
                    <a:pt x="0" y="47304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76199" cap="flat" cmpd="sng">
              <a:solidFill>
                <a:srgbClr val="0B3799">
                  <a:alpha val="100000"/>
                </a:srgbClr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p>
              <a:endParaRPr lang="en-US"/>
            </a:p>
          </p:txBody>
        </p:sp>
        <p:pic>
          <p:nvPicPr>
            <p:cNvPr id="49160" name="object 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10017" y="3281796"/>
              <a:ext cx="1072390" cy="1518593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49161" name="object 9"/>
            <p:cNvSpPr/>
            <p:nvPr/>
          </p:nvSpPr>
          <p:spPr>
            <a:xfrm>
              <a:off x="3511737" y="4207002"/>
              <a:ext cx="333375" cy="201295"/>
            </a:xfrm>
            <a:custGeom>
              <a:avLst/>
              <a:gdLst/>
              <a:ahLst/>
              <a:cxnLst/>
              <a:pathLst>
                <a:path w="333375" h="201295">
                  <a:moveTo>
                    <a:pt x="232649" y="201299"/>
                  </a:moveTo>
                  <a:lnTo>
                    <a:pt x="232649" y="150974"/>
                  </a:lnTo>
                  <a:lnTo>
                    <a:pt x="0" y="150974"/>
                  </a:lnTo>
                  <a:lnTo>
                    <a:pt x="0" y="50324"/>
                  </a:lnTo>
                  <a:lnTo>
                    <a:pt x="232649" y="50324"/>
                  </a:lnTo>
                  <a:lnTo>
                    <a:pt x="232649" y="0"/>
                  </a:lnTo>
                  <a:lnTo>
                    <a:pt x="333299" y="100649"/>
                  </a:lnTo>
                  <a:lnTo>
                    <a:pt x="232649" y="201299"/>
                  </a:lnTo>
                  <a:close/>
                </a:path>
              </a:pathLst>
            </a:custGeom>
            <a:solidFill>
              <a:srgbClr val="EEEEEE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  <p:sp>
          <p:nvSpPr>
            <p:cNvPr id="49162" name="object 10"/>
            <p:cNvSpPr/>
            <p:nvPr/>
          </p:nvSpPr>
          <p:spPr>
            <a:xfrm>
              <a:off x="3511737" y="4207002"/>
              <a:ext cx="333375" cy="201295"/>
            </a:xfrm>
            <a:custGeom>
              <a:avLst/>
              <a:gdLst/>
              <a:ahLst/>
              <a:cxnLst/>
              <a:pathLst>
                <a:path w="333375" h="201295">
                  <a:moveTo>
                    <a:pt x="0" y="50324"/>
                  </a:moveTo>
                  <a:lnTo>
                    <a:pt x="232649" y="50324"/>
                  </a:lnTo>
                  <a:lnTo>
                    <a:pt x="232649" y="0"/>
                  </a:lnTo>
                  <a:lnTo>
                    <a:pt x="333299" y="100649"/>
                  </a:lnTo>
                  <a:lnTo>
                    <a:pt x="232649" y="201299"/>
                  </a:lnTo>
                  <a:lnTo>
                    <a:pt x="232649" y="150974"/>
                  </a:lnTo>
                  <a:lnTo>
                    <a:pt x="0" y="150974"/>
                  </a:lnTo>
                  <a:lnTo>
                    <a:pt x="0" y="50324"/>
                  </a:lnTo>
                  <a:close/>
                </a:path>
              </a:pathLst>
            </a:custGeom>
            <a:noFill/>
            <a:ln w="9524" cap="flat" cmpd="sng">
              <a:solidFill>
                <a:srgbClr val="595959">
                  <a:alpha val="100000"/>
                </a:srgbClr>
              </a:solidFill>
              <a:prstDash val="solid"/>
              <a:headEnd type="none" w="med" len="med"/>
              <a:tailEnd type="none" w="med" len="med"/>
            </a:ln>
          </p:spPr>
          <p:txBody>
            <a:bodyPr/>
            <a:p>
              <a:endParaRPr lang="en-US"/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/>
      <p:grpSp>
        <p:nvGrpSpPr>
          <p:cNvPr id="50178" name="object 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50189" name="object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0"/>
              <a:ext cx="9143999" cy="514349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50190" name="object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99324" y="0"/>
              <a:ext cx="3844674" cy="4836899"/>
            </a:xfrm>
            <a:prstGeom prst="rect">
              <a:avLst/>
            </a:prstGeom>
            <a:noFill/>
            <a:ln w="9525">
              <a:noFill/>
            </a:ln>
          </p:spPr>
        </p:pic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738313" y="1004888"/>
            <a:ext cx="3505200" cy="985838"/>
          </a:xfrm>
        </p:spPr>
        <p:txBody>
          <a:bodyPr vert="horz" wrap="square" lIns="0" tIns="12700" rIns="0" bIns="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4300" b="1" i="0" u="none" strike="noStrike" kern="0" cap="none" spc="49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THANK</a:t>
            </a:r>
            <a:r>
              <a:rPr kumimoji="0" sz="4300" b="1" i="0" u="none" strike="noStrike" kern="0" cap="none" spc="45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 </a:t>
            </a:r>
            <a:r>
              <a:rPr kumimoji="0" sz="4300" b="1" i="0" u="none" strike="noStrike" kern="0" cap="none" spc="240" normalizeH="0" baseline="0" noProof="0" dirty="0">
                <a:ln>
                  <a:noFill/>
                </a:ln>
                <a:solidFill>
                  <a:srgbClr val="0053CC"/>
                </a:solidFill>
                <a:effectLst/>
                <a:uLnTx/>
                <a:uFillTx/>
                <a:latin typeface="Century Gothic" panose="020B0502020202020204"/>
                <a:ea typeface="+mj-ea"/>
                <a:cs typeface="Century Gothic" panose="020B0502020202020204"/>
              </a:rPr>
              <a:t>YOU</a:t>
            </a:r>
            <a:endParaRPr kumimoji="0" sz="43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entury Gothic" panose="020B0502020202020204"/>
              <a:ea typeface="+mj-ea"/>
              <a:cs typeface="Century Gothic" panose="020B0502020202020204"/>
            </a:endParaRPr>
          </a:p>
          <a:p>
            <a:pPr marL="40005" marR="0" lvl="0" indent="0" algn="ctr" defTabSz="914400" eaLnBrk="1" fontAlgn="auto" latinLnBrk="0" hangingPunct="1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200" b="1" i="0" u="none" strike="noStrike" kern="0" cap="none" spc="145" normalizeH="0" baseline="0" noProof="0" dirty="0">
                <a:ln>
                  <a:noFill/>
                </a:ln>
                <a:solidFill>
                  <a:srgbClr val="1F97FA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Learn</a:t>
            </a:r>
            <a:r>
              <a:rPr kumimoji="0" sz="1200" b="1" i="0" u="none" strike="noStrike" kern="0" cap="none" spc="80" normalizeH="0" baseline="0" noProof="0" dirty="0">
                <a:ln>
                  <a:noFill/>
                </a:ln>
                <a:solidFill>
                  <a:srgbClr val="1F97FA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200" b="1" i="0" u="none" strike="noStrike" kern="0" cap="none" spc="155" normalizeH="0" baseline="0" noProof="0" dirty="0">
                <a:ln>
                  <a:noFill/>
                </a:ln>
                <a:solidFill>
                  <a:srgbClr val="1F97FA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more</a:t>
            </a:r>
            <a:r>
              <a:rPr kumimoji="0" sz="1200" b="1" i="0" u="none" strike="noStrike" kern="0" cap="none" spc="85" normalizeH="0" baseline="0" noProof="0" dirty="0">
                <a:ln>
                  <a:noFill/>
                </a:ln>
                <a:solidFill>
                  <a:srgbClr val="1F97FA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200" b="1" i="0" u="none" strike="noStrike" kern="0" cap="none" spc="145" normalizeH="0" baseline="0" noProof="0" dirty="0">
                <a:ln>
                  <a:noFill/>
                </a:ln>
                <a:solidFill>
                  <a:srgbClr val="1F97FA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about</a:t>
            </a:r>
            <a:r>
              <a:rPr kumimoji="0" sz="1200" b="1" i="0" u="none" strike="noStrike" kern="0" cap="none" spc="80" normalizeH="0" baseline="0" noProof="0" dirty="0">
                <a:ln>
                  <a:noFill/>
                </a:ln>
                <a:solidFill>
                  <a:srgbClr val="1F97FA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 </a:t>
            </a:r>
            <a:r>
              <a:rPr kumimoji="0" sz="1200" b="1" i="0" u="none" strike="noStrike" kern="0" cap="none" spc="95" normalizeH="0" baseline="0" noProof="0" dirty="0">
                <a:ln>
                  <a:noFill/>
                </a:ln>
                <a:solidFill>
                  <a:srgbClr val="1F97FA"/>
                </a:solidFill>
                <a:effectLst/>
                <a:uLnTx/>
                <a:uFillTx/>
                <a:latin typeface="Calibri" panose="020F0502020204030204"/>
                <a:ea typeface="+mj-ea"/>
                <a:cs typeface="Calibri" panose="020F0502020204030204"/>
              </a:rPr>
              <a:t>Maxicare!</a:t>
            </a:r>
            <a:endParaRPr kumimoji="0" sz="1200" b="1" i="0" u="none" strike="noStrike" kern="0" cap="none" spc="0" normalizeH="0" baseline="0" noProof="0">
              <a:ln>
                <a:noFill/>
              </a:ln>
              <a:solidFill>
                <a:srgbClr val="0053CC"/>
              </a:solidFill>
              <a:effectLst/>
              <a:uLnTx/>
              <a:uFillTx/>
              <a:latin typeface="Calibri" panose="020F0502020204030204"/>
              <a:ea typeface="+mj-ea"/>
              <a:cs typeface="Calibri" panose="020F0502020204030204"/>
            </a:endParaRPr>
          </a:p>
        </p:txBody>
      </p:sp>
      <p:grpSp>
        <p:nvGrpSpPr>
          <p:cNvPr id="50180" name="object 6"/>
          <p:cNvGrpSpPr/>
          <p:nvPr/>
        </p:nvGrpSpPr>
        <p:grpSpPr>
          <a:xfrm>
            <a:off x="1531938" y="0"/>
            <a:ext cx="7612062" cy="4152900"/>
            <a:chOff x="1532128" y="0"/>
            <a:chExt cx="7612380" cy="4152900"/>
          </a:xfrm>
        </p:grpSpPr>
        <p:pic>
          <p:nvPicPr>
            <p:cNvPr id="50182" name="object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32128" y="2303434"/>
              <a:ext cx="642259" cy="658227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50183" name="object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99950" y="2348650"/>
              <a:ext cx="506614" cy="522582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50184" name="object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32128" y="2876843"/>
              <a:ext cx="642259" cy="658227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50185" name="object 10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99950" y="2922058"/>
              <a:ext cx="506614" cy="522582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50186" name="object 1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32128" y="3494091"/>
              <a:ext cx="642259" cy="658226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50187" name="object 1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99950" y="3539306"/>
              <a:ext cx="506614" cy="522581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50188" name="object 13"/>
            <p:cNvSpPr/>
            <p:nvPr/>
          </p:nvSpPr>
          <p:spPr>
            <a:xfrm>
              <a:off x="8158600" y="0"/>
              <a:ext cx="985519" cy="603885"/>
            </a:xfrm>
            <a:custGeom>
              <a:avLst/>
              <a:gdLst/>
              <a:ahLst/>
              <a:cxnLst/>
              <a:pathLst>
                <a:path w="985520" h="603885">
                  <a:moveTo>
                    <a:pt x="985499" y="603299"/>
                  </a:moveTo>
                  <a:lnTo>
                    <a:pt x="0" y="603299"/>
                  </a:lnTo>
                  <a:lnTo>
                    <a:pt x="0" y="0"/>
                  </a:lnTo>
                  <a:lnTo>
                    <a:pt x="985499" y="0"/>
                  </a:lnTo>
                  <a:lnTo>
                    <a:pt x="985499" y="6032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308225" y="2498725"/>
            <a:ext cx="2465388" cy="145256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p>
            <a:pPr marL="12700" eaLnBrk="1" hangingPunct="1">
              <a:spcBef>
                <a:spcPts val="90"/>
              </a:spcBef>
              <a:buNone/>
            </a:pPr>
            <a:r>
              <a:rPr lang="en-US" altLang="zh-CN" sz="15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/maxicarehealthcarecorp</a:t>
            </a:r>
            <a:endParaRPr lang="en-US" altLang="zh-CN" sz="150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eaLnBrk="1" hangingPunct="1">
              <a:lnSpc>
                <a:spcPts val="4865"/>
              </a:lnSpc>
              <a:spcBef>
                <a:spcPts val="115"/>
              </a:spcBef>
              <a:buNone/>
            </a:pPr>
            <a:r>
              <a:rPr lang="en-US" altLang="zh-CN" sz="15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@maxicarehealthcare </a:t>
            </a:r>
            <a:r>
              <a:rPr lang="en-US" altLang="zh-CN" sz="1500">
                <a:solidFill>
                  <a:srgbClr val="0C3879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www.maxicare.com.ph</a:t>
            </a:r>
            <a:endParaRPr lang="en-US" altLang="zh-CN" sz="150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/>
      <p:grpSp>
        <p:nvGrpSpPr>
          <p:cNvPr id="51202" name="object 2"/>
          <p:cNvGrpSpPr/>
          <p:nvPr/>
        </p:nvGrpSpPr>
        <p:grpSpPr>
          <a:xfrm>
            <a:off x="0" y="0"/>
            <a:ext cx="5087938" cy="5143500"/>
            <a:chOff x="0" y="0"/>
            <a:chExt cx="5087620" cy="5143500"/>
          </a:xfrm>
        </p:grpSpPr>
        <p:pic>
          <p:nvPicPr>
            <p:cNvPr id="51210" name="object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0"/>
              <a:ext cx="5087100" cy="5143499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51211" name="object 4"/>
            <p:cNvSpPr/>
            <p:nvPr/>
          </p:nvSpPr>
          <p:spPr>
            <a:xfrm>
              <a:off x="0" y="0"/>
              <a:ext cx="4668520" cy="5143500"/>
            </a:xfrm>
            <a:custGeom>
              <a:avLst/>
              <a:gdLst/>
              <a:ahLst/>
              <a:cxnLst/>
              <a:pathLst>
                <a:path w="4668520" h="5143500">
                  <a:moveTo>
                    <a:pt x="3447037" y="5143499"/>
                  </a:moveTo>
                  <a:lnTo>
                    <a:pt x="0" y="5143499"/>
                  </a:lnTo>
                  <a:lnTo>
                    <a:pt x="1220962" y="0"/>
                  </a:lnTo>
                  <a:lnTo>
                    <a:pt x="4667999" y="0"/>
                  </a:lnTo>
                  <a:lnTo>
                    <a:pt x="3447037" y="5143499"/>
                  </a:lnTo>
                  <a:close/>
                </a:path>
              </a:pathLst>
            </a:custGeom>
            <a:solidFill>
              <a:srgbClr val="0A53C9">
                <a:alpha val="100000"/>
              </a:srgbClr>
            </a:solidFill>
            <a:ln w="9525">
              <a:noFill/>
            </a:ln>
          </p:spPr>
          <p:txBody>
            <a:bodyPr/>
            <a:p>
              <a:endParaRPr lang="en-US"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784225" y="3257550"/>
            <a:ext cx="2619375" cy="10985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27305" algn="ctr" eaLnBrk="1" hangingPunct="1">
              <a:spcBef>
                <a:spcPts val="100"/>
              </a:spcBef>
              <a:buNone/>
            </a:pPr>
            <a:r>
              <a:rPr lang="en-US" altLang="zh-CN" sz="2700" b="1">
                <a:solidFill>
                  <a:srgbClr val="EEEEEE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James Raphael Gonzales</a:t>
            </a:r>
            <a:endParaRPr lang="en-US" altLang="zh-CN" sz="2700">
              <a:solidFill>
                <a:srgbClr val="000000"/>
              </a:solidFill>
              <a:latin typeface="Century Gothic" panose="020B0502020202020204" pitchFamily="34" charset="0"/>
              <a:cs typeface="Century Gothic" panose="020B0502020202020204" pitchFamily="34" charset="0"/>
            </a:endParaRPr>
          </a:p>
          <a:p>
            <a:pPr marL="27305" algn="ctr" eaLnBrk="1" hangingPunct="1">
              <a:spcBef>
                <a:spcPts val="40"/>
              </a:spcBef>
              <a:buNone/>
            </a:pPr>
            <a:r>
              <a:rPr lang="en-US" altLang="zh-CN" sz="1600">
                <a:solidFill>
                  <a:srgbClr val="EEEEEE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Maxicare Learning Partner</a:t>
            </a:r>
            <a:endParaRPr lang="en-US" altLang="zh-CN" sz="1600">
              <a:solidFill>
                <a:srgbClr val="000000"/>
              </a:solidFill>
              <a:latin typeface="Century Gothic" panose="020B0502020202020204" pitchFamily="34" charset="0"/>
              <a:ea typeface="Century Gothic" panose="020B0502020202020204" pitchFamily="34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922838" y="3962400"/>
            <a:ext cx="3606800" cy="3159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defTabSz="914400" eaLnBrk="1" fontAlgn="auto" hangingPunct="1"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900" b="1" u="heavy" kern="0" cap="none" spc="-10" normalizeH="0" baseline="0" noProof="0" dirty="0">
                <a:solidFill>
                  <a:srgbClr val="0C58D3"/>
                </a:solidFill>
                <a:uFill>
                  <a:solidFill>
                    <a:srgbClr val="0C58D3"/>
                  </a:solidFill>
                </a:uFill>
                <a:latin typeface="Century Gothic" panose="020B0502020202020204"/>
                <a:cs typeface="Century Gothic" panose="020B0502020202020204"/>
                <a:hlinkClick r:id="rId2"/>
              </a:rPr>
              <a:t>https://bit.ly/Evaluation-James</a:t>
            </a:r>
            <a:endParaRPr kumimoji="0" sz="1900" kern="0" cap="none" spc="0" normalizeH="0" baseline="0" noProof="0">
              <a:solidFill>
                <a:sysClr val="windowText" lastClr="000000"/>
              </a:solidFill>
              <a:latin typeface="Century Gothic" panose="020B0502020202020204"/>
              <a:cs typeface="Century Gothic" panose="020B0502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97438" y="531813"/>
            <a:ext cx="3849688" cy="8175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p>
            <a:pPr marL="12700" algn="ctr" eaLnBrk="1" hangingPunct="1">
              <a:spcBef>
                <a:spcPts val="100"/>
              </a:spcBef>
              <a:buNone/>
            </a:pPr>
            <a:r>
              <a:rPr lang="en-US" altLang="zh-CN" sz="1300" b="1">
                <a:solidFill>
                  <a:srgbClr val="000000"/>
                </a:solidFill>
                <a:latin typeface="Century Gothic" panose="020B0502020202020204" pitchFamily="34" charset="0"/>
                <a:cs typeface="Century Gothic" panose="020B0502020202020204" pitchFamily="34" charset="0"/>
              </a:rPr>
              <a:t>Please evaluate the orientation you just attended. Rate each of the following on a rating scale of 5-1, where 5 is ‘Strongly Agree’ and 1 is ‘Strongly Disagree’</a:t>
            </a:r>
            <a:endParaRPr lang="en-US" altLang="zh-CN" sz="1300">
              <a:solidFill>
                <a:srgbClr val="000000"/>
              </a:solidFill>
              <a:latin typeface="Century Gothic" panose="020B0502020202020204" pitchFamily="34" charset="0"/>
              <a:ea typeface="Century Gothic" panose="020B0502020202020204" pitchFamily="34" charset="0"/>
            </a:endParaRPr>
          </a:p>
        </p:txBody>
      </p:sp>
      <p:pic>
        <p:nvPicPr>
          <p:cNvPr id="51206" name="object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650" y="1495425"/>
            <a:ext cx="2298700" cy="223996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51207" name="object 9"/>
          <p:cNvGrpSpPr/>
          <p:nvPr/>
        </p:nvGrpSpPr>
        <p:grpSpPr>
          <a:xfrm>
            <a:off x="996950" y="363538"/>
            <a:ext cx="2570163" cy="2632075"/>
            <a:chOff x="996709" y="363620"/>
            <a:chExt cx="2571115" cy="2632710"/>
          </a:xfrm>
        </p:grpSpPr>
        <p:pic>
          <p:nvPicPr>
            <p:cNvPr id="51208" name="object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96709" y="363620"/>
              <a:ext cx="2570999" cy="263240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51209" name="object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85899" y="597674"/>
              <a:ext cx="2228098" cy="2289499"/>
            </a:xfrm>
            <a:prstGeom prst="rect">
              <a:avLst/>
            </a:prstGeom>
            <a:noFill/>
            <a:ln w="9525">
              <a:noFill/>
            </a:ln>
          </p:spPr>
        </p:pic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/>
      <p:grpSp>
        <p:nvGrpSpPr>
          <p:cNvPr id="52226" name="object 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52227" name="object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0"/>
              <a:ext cx="9143999" cy="5143499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52228" name="object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5125" y="1457426"/>
              <a:ext cx="4645651" cy="1463400"/>
            </a:xfrm>
            <a:prstGeom prst="rect">
              <a:avLst/>
            </a:prstGeom>
            <a:noFill/>
            <a:ln w="9525">
              <a:noFill/>
            </a:ln>
          </p:spPr>
        </p:pic>
        <p:pic>
          <p:nvPicPr>
            <p:cNvPr id="52229" name="object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06900" y="951857"/>
              <a:ext cx="4206125" cy="2355416"/>
            </a:xfrm>
            <a:prstGeom prst="rect">
              <a:avLst/>
            </a:prstGeom>
            <a:noFill/>
            <a:ln w="9525"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18511</Words>
  <Application>WPS Presentation</Application>
  <PresentationFormat/>
  <Paragraphs>963</Paragraphs>
  <Slides>50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50</vt:i4>
      </vt:variant>
    </vt:vector>
  </HeadingPairs>
  <TitlesOfParts>
    <vt:vector size="66" baseType="lpstr">
      <vt:lpstr>Arial</vt:lpstr>
      <vt:lpstr>SimSun</vt:lpstr>
      <vt:lpstr>Wingdings</vt:lpstr>
      <vt:lpstr>Calibri</vt:lpstr>
      <vt:lpstr>Century Gothic</vt:lpstr>
      <vt:lpstr>Times New Roman</vt:lpstr>
      <vt:lpstr>MS PGothic</vt:lpstr>
      <vt:lpstr>Garamond</vt:lpstr>
      <vt:lpstr>Trebuchet MS</vt:lpstr>
      <vt:lpstr>Calibri</vt:lpstr>
      <vt:lpstr>Century Gothic</vt:lpstr>
      <vt:lpstr>Arial</vt:lpstr>
      <vt:lpstr>Microsoft YaHei</vt:lpstr>
      <vt:lpstr>Arial Unicode MS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FPT SOFTWARE PHILIPPINES CORP. | 2026.pptx</dc:title>
  <dc:creator/>
  <cp:lastModifiedBy>Admin</cp:lastModifiedBy>
  <cp:revision>2</cp:revision>
  <dcterms:created xsi:type="dcterms:W3CDTF">2026-04-15T15:00:16Z</dcterms:created>
  <dcterms:modified xsi:type="dcterms:W3CDTF">2026-04-16T05:00:59Z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2026-02-26T08:00:00Z</vt:filetime>
  </property>
  <property fmtid="{D5CDD505-2E9C-101B-9397-08002B2CF9AE}" pid="3" name="Creator">
    <vt:lpwstr>Google</vt:lpwstr>
  </property>
  <property fmtid="{D5CDD505-2E9C-101B-9397-08002B2CF9AE}" pid="4" name="LastSaved">
    <vt:filetime>2026-04-15T08:00:00Z</vt:filetime>
  </property>
  <property fmtid="{D5CDD505-2E9C-101B-9397-08002B2CF9AE}" pid="5" name="ICV">
    <vt:lpwstr>77122A54BD73494793AE205E8C497AA9_13</vt:lpwstr>
  </property>
  <property fmtid="{D5CDD505-2E9C-101B-9397-08002B2CF9AE}" pid="6" name="KSOProductBuildVer">
    <vt:lpwstr>1033-12.1.0.25830</vt:lpwstr>
  </property>
</Properties>
</file>